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erverZoom="100000" strictFirstAndLastChars="0" saveSubsetFonts="1">
  <p:sldMasterIdLst>
    <p:sldMasterId id="2147483648" r:id="rId1"/>
    <p:sldMasterId id="2147483649" r:id="rId2"/>
  </p:sldMasterIdLst>
  <p:notesMasterIdLst>
    <p:notesMasterId r:id="rId302"/>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 id="313" r:id="rId60"/>
    <p:sldId id="314" r:id="rId61"/>
    <p:sldId id="315" r:id="rId62"/>
    <p:sldId id="316" r:id="rId63"/>
    <p:sldId id="317" r:id="rId64"/>
    <p:sldId id="318"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 id="331" r:id="rId78"/>
    <p:sldId id="332" r:id="rId79"/>
    <p:sldId id="333" r:id="rId80"/>
    <p:sldId id="334" r:id="rId81"/>
    <p:sldId id="335" r:id="rId82"/>
    <p:sldId id="336" r:id="rId83"/>
    <p:sldId id="337" r:id="rId84"/>
    <p:sldId id="338" r:id="rId85"/>
    <p:sldId id="339" r:id="rId86"/>
    <p:sldId id="340" r:id="rId87"/>
    <p:sldId id="341" r:id="rId88"/>
    <p:sldId id="342" r:id="rId89"/>
    <p:sldId id="343" r:id="rId90"/>
    <p:sldId id="344" r:id="rId91"/>
    <p:sldId id="345" r:id="rId92"/>
    <p:sldId id="346" r:id="rId93"/>
    <p:sldId id="347" r:id="rId94"/>
    <p:sldId id="348" r:id="rId95"/>
    <p:sldId id="349" r:id="rId96"/>
    <p:sldId id="350" r:id="rId97"/>
    <p:sldId id="351" r:id="rId98"/>
    <p:sldId id="352" r:id="rId99"/>
    <p:sldId id="353" r:id="rId100"/>
    <p:sldId id="354" r:id="rId101"/>
    <p:sldId id="355" r:id="rId102"/>
    <p:sldId id="356" r:id="rId103"/>
    <p:sldId id="357" r:id="rId104"/>
    <p:sldId id="358" r:id="rId105"/>
    <p:sldId id="359" r:id="rId106"/>
    <p:sldId id="360" r:id="rId107"/>
    <p:sldId id="361" r:id="rId108"/>
    <p:sldId id="362" r:id="rId109"/>
    <p:sldId id="363" r:id="rId110"/>
    <p:sldId id="364" r:id="rId111"/>
    <p:sldId id="365" r:id="rId112"/>
    <p:sldId id="366" r:id="rId113"/>
    <p:sldId id="367" r:id="rId114"/>
    <p:sldId id="368" r:id="rId115"/>
    <p:sldId id="369" r:id="rId116"/>
    <p:sldId id="370" r:id="rId117"/>
    <p:sldId id="371" r:id="rId118"/>
    <p:sldId id="372" r:id="rId119"/>
    <p:sldId id="373" r:id="rId120"/>
    <p:sldId id="374" r:id="rId121"/>
    <p:sldId id="375" r:id="rId122"/>
    <p:sldId id="376" r:id="rId123"/>
    <p:sldId id="377" r:id="rId124"/>
    <p:sldId id="378" r:id="rId125"/>
    <p:sldId id="379" r:id="rId126"/>
    <p:sldId id="380" r:id="rId127"/>
    <p:sldId id="381" r:id="rId128"/>
    <p:sldId id="382" r:id="rId129"/>
    <p:sldId id="383" r:id="rId130"/>
    <p:sldId id="384" r:id="rId131"/>
    <p:sldId id="385" r:id="rId132"/>
    <p:sldId id="386" r:id="rId133"/>
    <p:sldId id="387" r:id="rId134"/>
    <p:sldId id="388" r:id="rId135"/>
    <p:sldId id="389" r:id="rId136"/>
    <p:sldId id="390" r:id="rId137"/>
    <p:sldId id="391" r:id="rId138"/>
    <p:sldId id="392" r:id="rId139"/>
    <p:sldId id="393" r:id="rId140"/>
    <p:sldId id="394" r:id="rId141"/>
    <p:sldId id="395" r:id="rId142"/>
    <p:sldId id="396" r:id="rId143"/>
    <p:sldId id="397" r:id="rId144"/>
    <p:sldId id="398" r:id="rId145"/>
    <p:sldId id="399" r:id="rId146"/>
    <p:sldId id="400" r:id="rId147"/>
    <p:sldId id="401" r:id="rId148"/>
    <p:sldId id="402" r:id="rId149"/>
    <p:sldId id="403" r:id="rId150"/>
    <p:sldId id="404" r:id="rId151"/>
    <p:sldId id="405" r:id="rId152"/>
    <p:sldId id="406" r:id="rId153"/>
    <p:sldId id="407" r:id="rId154"/>
    <p:sldId id="408" r:id="rId155"/>
    <p:sldId id="409" r:id="rId156"/>
    <p:sldId id="410" r:id="rId157"/>
    <p:sldId id="411" r:id="rId158"/>
    <p:sldId id="412" r:id="rId159"/>
    <p:sldId id="413" r:id="rId160"/>
    <p:sldId id="414" r:id="rId161"/>
    <p:sldId id="415" r:id="rId162"/>
    <p:sldId id="416" r:id="rId163"/>
    <p:sldId id="417" r:id="rId164"/>
    <p:sldId id="418" r:id="rId165"/>
    <p:sldId id="419" r:id="rId166"/>
    <p:sldId id="420" r:id="rId167"/>
    <p:sldId id="421" r:id="rId168"/>
    <p:sldId id="422" r:id="rId169"/>
    <p:sldId id="423" r:id="rId170"/>
    <p:sldId id="424" r:id="rId171"/>
    <p:sldId id="425" r:id="rId172"/>
    <p:sldId id="426" r:id="rId173"/>
    <p:sldId id="427" r:id="rId174"/>
    <p:sldId id="428" r:id="rId175"/>
    <p:sldId id="429" r:id="rId176"/>
    <p:sldId id="430" r:id="rId177"/>
    <p:sldId id="431" r:id="rId178"/>
    <p:sldId id="432" r:id="rId179"/>
    <p:sldId id="433" r:id="rId180"/>
    <p:sldId id="434" r:id="rId181"/>
    <p:sldId id="435" r:id="rId182"/>
    <p:sldId id="436" r:id="rId183"/>
    <p:sldId id="437" r:id="rId184"/>
    <p:sldId id="438" r:id="rId185"/>
    <p:sldId id="439" r:id="rId186"/>
    <p:sldId id="440" r:id="rId187"/>
    <p:sldId id="441" r:id="rId188"/>
    <p:sldId id="442" r:id="rId189"/>
    <p:sldId id="443" r:id="rId190"/>
    <p:sldId id="444" r:id="rId191"/>
    <p:sldId id="445" r:id="rId192"/>
    <p:sldId id="446" r:id="rId193"/>
    <p:sldId id="447" r:id="rId194"/>
    <p:sldId id="448" r:id="rId195"/>
    <p:sldId id="449" r:id="rId196"/>
    <p:sldId id="450" r:id="rId197"/>
    <p:sldId id="451" r:id="rId198"/>
    <p:sldId id="452" r:id="rId199"/>
    <p:sldId id="453" r:id="rId200"/>
    <p:sldId id="454" r:id="rId201"/>
    <p:sldId id="455" r:id="rId202"/>
    <p:sldId id="456" r:id="rId203"/>
    <p:sldId id="457" r:id="rId204"/>
    <p:sldId id="458" r:id="rId205"/>
    <p:sldId id="459" r:id="rId206"/>
    <p:sldId id="460" r:id="rId207"/>
    <p:sldId id="461" r:id="rId208"/>
    <p:sldId id="462" r:id="rId209"/>
    <p:sldId id="463" r:id="rId210"/>
    <p:sldId id="464" r:id="rId211"/>
    <p:sldId id="465" r:id="rId212"/>
    <p:sldId id="466" r:id="rId213"/>
    <p:sldId id="467" r:id="rId214"/>
    <p:sldId id="468" r:id="rId215"/>
    <p:sldId id="469" r:id="rId216"/>
    <p:sldId id="470" r:id="rId217"/>
    <p:sldId id="471" r:id="rId218"/>
    <p:sldId id="472" r:id="rId219"/>
    <p:sldId id="473" r:id="rId220"/>
    <p:sldId id="474" r:id="rId221"/>
    <p:sldId id="475" r:id="rId222"/>
    <p:sldId id="476" r:id="rId223"/>
    <p:sldId id="477" r:id="rId224"/>
    <p:sldId id="478" r:id="rId225"/>
    <p:sldId id="479" r:id="rId226"/>
    <p:sldId id="480" r:id="rId227"/>
    <p:sldId id="481" r:id="rId228"/>
    <p:sldId id="482" r:id="rId229"/>
    <p:sldId id="483" r:id="rId230"/>
    <p:sldId id="484" r:id="rId231"/>
    <p:sldId id="485" r:id="rId232"/>
    <p:sldId id="486" r:id="rId233"/>
    <p:sldId id="487" r:id="rId234"/>
    <p:sldId id="488" r:id="rId235"/>
    <p:sldId id="489" r:id="rId236"/>
    <p:sldId id="490" r:id="rId237"/>
    <p:sldId id="491" r:id="rId238"/>
    <p:sldId id="492" r:id="rId239"/>
    <p:sldId id="493" r:id="rId240"/>
    <p:sldId id="494" r:id="rId241"/>
    <p:sldId id="495" r:id="rId242"/>
    <p:sldId id="496" r:id="rId243"/>
    <p:sldId id="497" r:id="rId244"/>
    <p:sldId id="498" r:id="rId245"/>
    <p:sldId id="499" r:id="rId246"/>
    <p:sldId id="500" r:id="rId247"/>
    <p:sldId id="501" r:id="rId248"/>
    <p:sldId id="502" r:id="rId249"/>
    <p:sldId id="503" r:id="rId250"/>
    <p:sldId id="504" r:id="rId251"/>
    <p:sldId id="505" r:id="rId252"/>
    <p:sldId id="506" r:id="rId253"/>
    <p:sldId id="507" r:id="rId254"/>
    <p:sldId id="508" r:id="rId255"/>
    <p:sldId id="509" r:id="rId256"/>
    <p:sldId id="510" r:id="rId257"/>
    <p:sldId id="511" r:id="rId258"/>
    <p:sldId id="512" r:id="rId259"/>
    <p:sldId id="513" r:id="rId260"/>
    <p:sldId id="514" r:id="rId261"/>
    <p:sldId id="515" r:id="rId262"/>
    <p:sldId id="516" r:id="rId263"/>
    <p:sldId id="517" r:id="rId264"/>
    <p:sldId id="518" r:id="rId265"/>
    <p:sldId id="519" r:id="rId266"/>
    <p:sldId id="520" r:id="rId267"/>
    <p:sldId id="521" r:id="rId268"/>
    <p:sldId id="522" r:id="rId269"/>
    <p:sldId id="523" r:id="rId270"/>
    <p:sldId id="524" r:id="rId271"/>
    <p:sldId id="525" r:id="rId272"/>
    <p:sldId id="526" r:id="rId273"/>
    <p:sldId id="527" r:id="rId274"/>
    <p:sldId id="528" r:id="rId275"/>
    <p:sldId id="529" r:id="rId276"/>
    <p:sldId id="530" r:id="rId277"/>
    <p:sldId id="531" r:id="rId278"/>
    <p:sldId id="532" r:id="rId279"/>
    <p:sldId id="533" r:id="rId280"/>
    <p:sldId id="534" r:id="rId281"/>
    <p:sldId id="535" r:id="rId282"/>
    <p:sldId id="536" r:id="rId283"/>
    <p:sldId id="537" r:id="rId284"/>
    <p:sldId id="538" r:id="rId285"/>
    <p:sldId id="539" r:id="rId286"/>
    <p:sldId id="540" r:id="rId287"/>
    <p:sldId id="541" r:id="rId288"/>
    <p:sldId id="542" r:id="rId289"/>
    <p:sldId id="543" r:id="rId290"/>
    <p:sldId id="544" r:id="rId291"/>
    <p:sldId id="545" r:id="rId292"/>
    <p:sldId id="546" r:id="rId293"/>
    <p:sldId id="547" r:id="rId294"/>
    <p:sldId id="548" r:id="rId295"/>
    <p:sldId id="549" r:id="rId296"/>
    <p:sldId id="550" r:id="rId297"/>
    <p:sldId id="551" r:id="rId298"/>
    <p:sldId id="552" r:id="rId299"/>
    <p:sldId id="553" r:id="rId300"/>
    <p:sldId id="554" r:id="rId301"/>
  </p:sldIdLst>
  <p:sldSz cx="9144000" cy="6858000" type="screen4x3"/>
  <p:notesSz cx="6858000" cy="9144000"/>
  <p:defaultTextStyle>
    <a:defPPr>
      <a:defRPr lang="en-US"/>
    </a:defPPr>
    <a:lvl1pPr algn="l" rtl="0" fontAlgn="base" hangingPunct="0">
      <a:spcBef>
        <a:spcPct val="0"/>
      </a:spcBef>
      <a:spcAft>
        <a:spcPct val="0"/>
      </a:spcAft>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indent="457200" algn="l" rtl="0" fontAlgn="base" hangingPunct="0">
      <a:spcBef>
        <a:spcPct val="0"/>
      </a:spcBef>
      <a:spcAft>
        <a:spcPct val="0"/>
      </a:spcAft>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indent="914400" algn="l" rtl="0" fontAlgn="base" hangingPunct="0">
      <a:spcBef>
        <a:spcPct val="0"/>
      </a:spcBef>
      <a:spcAft>
        <a:spcPct val="0"/>
      </a:spcAft>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indent="1371600" algn="l" rtl="0" fontAlgn="base" hangingPunct="0">
      <a:spcBef>
        <a:spcPct val="0"/>
      </a:spcBef>
      <a:spcAft>
        <a:spcPct val="0"/>
      </a:spcAft>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indent="1828800" algn="l" rtl="0" fontAlgn="base" hangingPunct="0">
      <a:spcBef>
        <a:spcPct val="0"/>
      </a:spcBef>
      <a:spcAft>
        <a:spcPct val="0"/>
      </a:spcAft>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286000" algn="l" defTabSz="914400" rtl="0" eaLnBrk="1" latinLnBrk="0" hangingPunct="1">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2743200" algn="l" defTabSz="914400" rtl="0" eaLnBrk="1" latinLnBrk="0" hangingPunct="1">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200400" algn="l" defTabSz="914400" rtl="0" eaLnBrk="1" latinLnBrk="0" hangingPunct="1">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3657600" algn="l" defTabSz="914400" rtl="0" eaLnBrk="1" latinLnBrk="0" hangingPunct="1">
      <a:defRPr kern="1200">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90" d="100"/>
          <a:sy n="90" d="100"/>
        </p:scale>
        <p:origin x="1234" y="67"/>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99" Type="http://schemas.openxmlformats.org/officeDocument/2006/relationships/slide" Target="slides/slide297.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279" Type="http://schemas.openxmlformats.org/officeDocument/2006/relationships/slide" Target="slides/slide277.xml"/><Relationship Id="rId43" Type="http://schemas.openxmlformats.org/officeDocument/2006/relationships/slide" Target="slides/slide41.xml"/><Relationship Id="rId139" Type="http://schemas.openxmlformats.org/officeDocument/2006/relationships/slide" Target="slides/slide137.xml"/><Relationship Id="rId290" Type="http://schemas.openxmlformats.org/officeDocument/2006/relationships/slide" Target="slides/slide288.xml"/><Relationship Id="rId304" Type="http://schemas.openxmlformats.org/officeDocument/2006/relationships/viewProps" Target="viewProps.xml"/><Relationship Id="rId85" Type="http://schemas.openxmlformats.org/officeDocument/2006/relationships/slide" Target="slides/slide83.xml"/><Relationship Id="rId150" Type="http://schemas.openxmlformats.org/officeDocument/2006/relationships/slide" Target="slides/slide148.xml"/><Relationship Id="rId192" Type="http://schemas.openxmlformats.org/officeDocument/2006/relationships/slide" Target="slides/slide190.xml"/><Relationship Id="rId206" Type="http://schemas.openxmlformats.org/officeDocument/2006/relationships/slide" Target="slides/slide204.xml"/><Relationship Id="rId248" Type="http://schemas.openxmlformats.org/officeDocument/2006/relationships/slide" Target="slides/slide246.xml"/><Relationship Id="rId12" Type="http://schemas.openxmlformats.org/officeDocument/2006/relationships/slide" Target="slides/slide10.xml"/><Relationship Id="rId108" Type="http://schemas.openxmlformats.org/officeDocument/2006/relationships/slide" Target="slides/slide106.xml"/><Relationship Id="rId54" Type="http://schemas.openxmlformats.org/officeDocument/2006/relationships/slide" Target="slides/slide52.xml"/><Relationship Id="rId96" Type="http://schemas.openxmlformats.org/officeDocument/2006/relationships/slide" Target="slides/slide94.xml"/><Relationship Id="rId161" Type="http://schemas.openxmlformats.org/officeDocument/2006/relationships/slide" Target="slides/slide159.xml"/><Relationship Id="rId217" Type="http://schemas.openxmlformats.org/officeDocument/2006/relationships/slide" Target="slides/slide215.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291" Type="http://schemas.openxmlformats.org/officeDocument/2006/relationships/slide" Target="slides/slide289.xml"/><Relationship Id="rId305" Type="http://schemas.openxmlformats.org/officeDocument/2006/relationships/theme" Target="theme/theme1.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281" Type="http://schemas.openxmlformats.org/officeDocument/2006/relationships/slide" Target="slides/slide279.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slide" Target="slides/slide269.xml"/><Relationship Id="rId292" Type="http://schemas.openxmlformats.org/officeDocument/2006/relationships/slide" Target="slides/slide290.xml"/><Relationship Id="rId306" Type="http://schemas.openxmlformats.org/officeDocument/2006/relationships/tableStyles" Target="tableStyles.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293" Type="http://schemas.openxmlformats.org/officeDocument/2006/relationships/slide" Target="slides/slide29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283" Type="http://schemas.openxmlformats.org/officeDocument/2006/relationships/slide" Target="slides/slide281.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294" Type="http://schemas.openxmlformats.org/officeDocument/2006/relationships/slide" Target="slides/slide292.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284" Type="http://schemas.openxmlformats.org/officeDocument/2006/relationships/slide" Target="slides/slide282.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95" Type="http://schemas.openxmlformats.org/officeDocument/2006/relationships/slide" Target="slides/slide293.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285" Type="http://schemas.openxmlformats.org/officeDocument/2006/relationships/slide" Target="slides/slide283.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296" Type="http://schemas.openxmlformats.org/officeDocument/2006/relationships/slide" Target="slides/slide294.xml"/><Relationship Id="rId300" Type="http://schemas.openxmlformats.org/officeDocument/2006/relationships/slide" Target="slides/slide298.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286" Type="http://schemas.openxmlformats.org/officeDocument/2006/relationships/slide" Target="slides/slide284.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297" Type="http://schemas.openxmlformats.org/officeDocument/2006/relationships/slide" Target="slides/slide295.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301" Type="http://schemas.openxmlformats.org/officeDocument/2006/relationships/slide" Target="slides/slide299.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287" Type="http://schemas.openxmlformats.org/officeDocument/2006/relationships/slide" Target="slides/slide285.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298" Type="http://schemas.openxmlformats.org/officeDocument/2006/relationships/slide" Target="slides/slide296.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302" Type="http://schemas.openxmlformats.org/officeDocument/2006/relationships/notesMaster" Target="notesMasters/notesMaster1.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288" Type="http://schemas.openxmlformats.org/officeDocument/2006/relationships/slide" Target="slides/slide286.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slide" Target="slides/slide276.xml"/><Relationship Id="rId303" Type="http://schemas.openxmlformats.org/officeDocument/2006/relationships/presProps" Target="presProps.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 Id="rId289" Type="http://schemas.openxmlformats.org/officeDocument/2006/relationships/slide" Target="slides/slide287.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258" Type="http://schemas.openxmlformats.org/officeDocument/2006/relationships/slide" Target="slides/slide256.xml"/><Relationship Id="rId22" Type="http://schemas.openxmlformats.org/officeDocument/2006/relationships/slide" Target="slides/slide20.xml"/><Relationship Id="rId64" Type="http://schemas.openxmlformats.org/officeDocument/2006/relationships/slide" Target="slides/slide62.xml"/><Relationship Id="rId118" Type="http://schemas.openxmlformats.org/officeDocument/2006/relationships/slide" Target="slides/slide116.xml"/><Relationship Id="rId171" Type="http://schemas.openxmlformats.org/officeDocument/2006/relationships/slide" Target="slides/slide169.xml"/><Relationship Id="rId227" Type="http://schemas.openxmlformats.org/officeDocument/2006/relationships/slide" Target="slides/slide225.xml"/><Relationship Id="rId269" Type="http://schemas.openxmlformats.org/officeDocument/2006/relationships/slide" Target="slides/slide267.xml"/><Relationship Id="rId33" Type="http://schemas.openxmlformats.org/officeDocument/2006/relationships/slide" Target="slides/slide31.xml"/><Relationship Id="rId129" Type="http://schemas.openxmlformats.org/officeDocument/2006/relationships/slide" Target="slides/slide127.xml"/><Relationship Id="rId280" Type="http://schemas.openxmlformats.org/officeDocument/2006/relationships/slide" Target="slides/slide278.xml"/><Relationship Id="rId75" Type="http://schemas.openxmlformats.org/officeDocument/2006/relationships/slide" Target="slides/slide73.xml"/><Relationship Id="rId140" Type="http://schemas.openxmlformats.org/officeDocument/2006/relationships/slide" Target="slides/slide138.xml"/><Relationship Id="rId182" Type="http://schemas.openxmlformats.org/officeDocument/2006/relationships/slide" Target="slides/slide180.xml"/><Relationship Id="rId6" Type="http://schemas.openxmlformats.org/officeDocument/2006/relationships/slide" Target="slides/slide4.xml"/><Relationship Id="rId238" Type="http://schemas.openxmlformats.org/officeDocument/2006/relationships/slide" Target="slides/slide23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3" name="Rectangle 1">
            <a:extLst>
              <a:ext uri="{FF2B5EF4-FFF2-40B4-BE49-F238E27FC236}">
                <a16:creationId xmlns:a16="http://schemas.microsoft.com/office/drawing/2014/main" id="{A28C5BF9-EF6B-CC6D-EFC1-4F4C15C44422}"/>
              </a:ext>
            </a:extLst>
          </p:cNvPr>
          <p:cNvSpPr>
            <a:spLocks/>
          </p:cNvSpPr>
          <p:nvPr>
            <p:ph type="sldImg"/>
          </p:nvPr>
        </p:nvSpPr>
        <p:spPr bwMode="auto">
          <a:xfrm>
            <a:off x="1143000" y="685800"/>
            <a:ext cx="4572000" cy="3429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3074" name="Rectangle 2">
            <a:extLst>
              <a:ext uri="{FF2B5EF4-FFF2-40B4-BE49-F238E27FC236}">
                <a16:creationId xmlns:a16="http://schemas.microsoft.com/office/drawing/2014/main" id="{11C37E47-062D-EB2C-4404-6BC8E7936745}"/>
              </a:ext>
            </a:extLst>
          </p:cNvPr>
          <p:cNvSpPr>
            <a:spLocks/>
          </p:cNvSpPr>
          <p:nvPr>
            <p:ph type="body" sz="quarter" idx="1"/>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sym typeface="Calibri" panose="020F0502020204030204" pitchFamily="34" charset="0"/>
              </a:rPr>
              <a:t>Click to edit Template text styles</a:t>
            </a:r>
          </a:p>
          <a:p>
            <a:pPr lvl="1"/>
            <a:r>
              <a:rPr lang="en-US" altLang="en-US">
                <a:sym typeface="Calibri" panose="020F0502020204030204" pitchFamily="34" charset="0"/>
              </a:rPr>
              <a:t>Second level</a:t>
            </a:r>
          </a:p>
          <a:p>
            <a:pPr lvl="2"/>
            <a:r>
              <a:rPr lang="en-US" altLang="en-US">
                <a:sym typeface="Calibri" panose="020F0502020204030204" pitchFamily="34" charset="0"/>
              </a:rPr>
              <a:t>Third level</a:t>
            </a:r>
          </a:p>
          <a:p>
            <a:pPr lvl="3"/>
            <a:r>
              <a:rPr lang="en-US" altLang="en-US">
                <a:sym typeface="Calibri" panose="020F0502020204030204" pitchFamily="34" charset="0"/>
              </a:rPr>
              <a:t>Fourth level</a:t>
            </a:r>
          </a:p>
          <a:p>
            <a:pPr lvl="4"/>
            <a:r>
              <a:rPr lang="en-US" altLang="en-US">
                <a:sym typeface="Calibri" panose="020F0502020204030204" pitchFamily="34" charset="0"/>
              </a:rPr>
              <a:t>Fifth level</a:t>
            </a:r>
          </a:p>
        </p:txBody>
      </p:sp>
    </p:spTree>
  </p:cSld>
  <p:clrMap bg1="lt1" tx1="dk1" bg2="lt2" tx2="dk2" accent1="accent1" accent2="accent2" accent3="accent3" accent4="accent4" accent5="accent5" accent6="accent6" hlink="hlink" folHlink="folHlink"/>
  <p:notesStyle>
    <a:lvl1pPr algn="l" rtl="0" fontAlgn="base" hangingPunct="0">
      <a:spcBef>
        <a:spcPct val="0"/>
      </a:spcBef>
      <a:spcAft>
        <a:spcPct val="0"/>
      </a:spcAft>
      <a:defRPr sz="1200" kern="1200">
        <a:solidFill>
          <a:srgbClr val="000000"/>
        </a:solidFill>
        <a:latin typeface="Calibri" panose="020F0502020204030204" pitchFamily="34" charset="0"/>
        <a:ea typeface="+mn-ea"/>
        <a:cs typeface="Calibri" panose="020F0502020204030204" pitchFamily="34" charset="0"/>
        <a:sym typeface="Calibri" panose="020F0502020204030204" pitchFamily="34" charset="0"/>
      </a:defRPr>
    </a:lvl1pPr>
    <a:lvl2pPr indent="228600" algn="l" rtl="0" fontAlgn="base" hangingPunct="0">
      <a:spcBef>
        <a:spcPct val="0"/>
      </a:spcBef>
      <a:spcAft>
        <a:spcPct val="0"/>
      </a:spcAft>
      <a:defRPr sz="1200" kern="1200">
        <a:solidFill>
          <a:srgbClr val="000000"/>
        </a:solidFill>
        <a:latin typeface="Calibri" panose="020F0502020204030204" pitchFamily="34" charset="0"/>
        <a:ea typeface="+mn-ea"/>
        <a:cs typeface="Calibri" panose="020F0502020204030204" pitchFamily="34" charset="0"/>
        <a:sym typeface="Calibri" panose="020F0502020204030204" pitchFamily="34" charset="0"/>
      </a:defRPr>
    </a:lvl2pPr>
    <a:lvl3pPr indent="457200" algn="l" rtl="0" fontAlgn="base" hangingPunct="0">
      <a:spcBef>
        <a:spcPct val="0"/>
      </a:spcBef>
      <a:spcAft>
        <a:spcPct val="0"/>
      </a:spcAft>
      <a:defRPr sz="1200" kern="1200">
        <a:solidFill>
          <a:srgbClr val="000000"/>
        </a:solidFill>
        <a:latin typeface="Calibri" panose="020F0502020204030204" pitchFamily="34" charset="0"/>
        <a:ea typeface="+mn-ea"/>
        <a:cs typeface="Calibri" panose="020F0502020204030204" pitchFamily="34" charset="0"/>
        <a:sym typeface="Calibri" panose="020F0502020204030204" pitchFamily="34" charset="0"/>
      </a:defRPr>
    </a:lvl3pPr>
    <a:lvl4pPr indent="685800" algn="l" rtl="0" fontAlgn="base" hangingPunct="0">
      <a:spcBef>
        <a:spcPct val="0"/>
      </a:spcBef>
      <a:spcAft>
        <a:spcPct val="0"/>
      </a:spcAft>
      <a:defRPr sz="1200" kern="1200">
        <a:solidFill>
          <a:srgbClr val="000000"/>
        </a:solidFill>
        <a:latin typeface="Calibri" panose="020F0502020204030204" pitchFamily="34" charset="0"/>
        <a:ea typeface="+mn-ea"/>
        <a:cs typeface="Calibri" panose="020F0502020204030204" pitchFamily="34" charset="0"/>
        <a:sym typeface="Calibri" panose="020F0502020204030204" pitchFamily="34" charset="0"/>
      </a:defRPr>
    </a:lvl4pPr>
    <a:lvl5pPr indent="914400" algn="l" rtl="0" fontAlgn="base" hangingPunct="0">
      <a:spcBef>
        <a:spcPct val="0"/>
      </a:spcBef>
      <a:spcAft>
        <a:spcPct val="0"/>
      </a:spcAft>
      <a:defRPr sz="1200" kern="1200">
        <a:solidFill>
          <a:srgbClr val="000000"/>
        </a:solidFill>
        <a:latin typeface="Calibri" panose="020F0502020204030204" pitchFamily="34" charset="0"/>
        <a:ea typeface="+mn-ea"/>
        <a:cs typeface="Calibri" panose="020F0502020204030204" pitchFamily="34" charset="0"/>
        <a:sym typeface="Calibri" panose="020F0502020204030204" pitchFamily="34"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Rectangle 1">
            <a:extLst>
              <a:ext uri="{FF2B5EF4-FFF2-40B4-BE49-F238E27FC236}">
                <a16:creationId xmlns:a16="http://schemas.microsoft.com/office/drawing/2014/main" id="{EF37FE39-26E7-9482-7731-3649B9C3DD6C}"/>
              </a:ext>
            </a:extLst>
          </p:cNvPr>
          <p:cNvSpPr>
            <a:spLocks noChangeArrowheads="1"/>
          </p:cNvSpPr>
          <p:nvPr>
            <p:ph type="sldImg"/>
          </p:nvPr>
        </p:nvSpPr>
        <p:spPr/>
      </p:sp>
      <p:sp>
        <p:nvSpPr>
          <p:cNvPr id="80898" name="Rectangle 2">
            <a:extLst>
              <a:ext uri="{FF2B5EF4-FFF2-40B4-BE49-F238E27FC236}">
                <a16:creationId xmlns:a16="http://schemas.microsoft.com/office/drawing/2014/main" id="{ED073AE3-BCA2-DBAE-5C00-2F801687AA59}"/>
              </a:ext>
            </a:extLst>
          </p:cNvPr>
          <p:cNvSpPr>
            <a:spLocks noChangeArrowheads="1"/>
          </p:cNvSpPr>
          <p:nvPr>
            <p:ph type="body" sz="quarter" idx="1"/>
          </p:nvPr>
        </p:nvSpPr>
        <p:spPr/>
        <p:txBody>
          <a:bodyPr/>
          <a:lstStyle/>
          <a:p>
            <a:r>
              <a:rPr lang="en-US" altLang="en-US"/>
              <a:t>In general, given m transactions with number of operations n1, n2, ..., nm, the number of possible schedules is: (n1 + n2 + ... + nm)! / (n1! * n2! * ... * nm!), where ! is the factorial function. In our case, m =2 and n1 = 5 and n2 = 3, so the number of possible schedules is:(5+3)! / (5! * 3!) = 8*7*6*5*4*3*2*1/ 5*4*3*2*1*3*2*1 = 56. </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Rectangle 1">
            <a:extLst>
              <a:ext uri="{FF2B5EF4-FFF2-40B4-BE49-F238E27FC236}">
                <a16:creationId xmlns:a16="http://schemas.microsoft.com/office/drawing/2014/main" id="{F5EDAD97-8E30-1F3F-C336-1DBB99CF4DB7}"/>
              </a:ext>
            </a:extLst>
          </p:cNvPr>
          <p:cNvSpPr>
            <a:spLocks noChangeArrowheads="1"/>
          </p:cNvSpPr>
          <p:nvPr>
            <p:ph type="sldImg"/>
          </p:nvPr>
        </p:nvSpPr>
        <p:spPr/>
      </p:sp>
      <p:sp>
        <p:nvSpPr>
          <p:cNvPr id="109570" name="Rectangle 2">
            <a:extLst>
              <a:ext uri="{FF2B5EF4-FFF2-40B4-BE49-F238E27FC236}">
                <a16:creationId xmlns:a16="http://schemas.microsoft.com/office/drawing/2014/main" id="{78736851-63AD-2E36-7926-B9663752A6DA}"/>
              </a:ext>
            </a:extLst>
          </p:cNvPr>
          <p:cNvSpPr>
            <a:spLocks noChangeArrowheads="1"/>
          </p:cNvSpPr>
          <p:nvPr>
            <p:ph type="body" sz="quarter" idx="1"/>
          </p:nvPr>
        </p:nvSpPr>
        <p:spPr/>
        <p:txBody>
          <a:bodyPr/>
          <a:lstStyle/>
          <a:p>
            <a:r>
              <a:rPr lang="en-US" altLang="en-US"/>
              <a:t>When the transaction ends, it moves to partially committed state. At this point, some recovery protocols need to ensure that a system failure will not result in an inability to record changes of the transaction permanently. Once this check is successful, the transaction is said to have reached its commit point and enters the committed state.</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09" name="Rectangle 1">
            <a:extLst>
              <a:ext uri="{FF2B5EF4-FFF2-40B4-BE49-F238E27FC236}">
                <a16:creationId xmlns:a16="http://schemas.microsoft.com/office/drawing/2014/main" id="{98E7F494-08E1-B22B-A351-689C37FB66E8}"/>
              </a:ext>
            </a:extLst>
          </p:cNvPr>
          <p:cNvSpPr>
            <a:spLocks noChangeArrowheads="1"/>
          </p:cNvSpPr>
          <p:nvPr>
            <p:ph type="sldImg"/>
          </p:nvPr>
        </p:nvSpPr>
        <p:spPr/>
      </p:sp>
      <p:sp>
        <p:nvSpPr>
          <p:cNvPr id="171010" name="Rectangle 2">
            <a:extLst>
              <a:ext uri="{FF2B5EF4-FFF2-40B4-BE49-F238E27FC236}">
                <a16:creationId xmlns:a16="http://schemas.microsoft.com/office/drawing/2014/main" id="{071BA0F4-E23F-CA4D-5C76-90D06DF5C401}"/>
              </a:ext>
            </a:extLst>
          </p:cNvPr>
          <p:cNvSpPr>
            <a:spLocks noChangeArrowheads="1"/>
          </p:cNvSpPr>
          <p:nvPr>
            <p:ph type="body" sz="quarter" idx="1"/>
          </p:nvPr>
        </p:nvSpPr>
        <p:spPr/>
        <p:txBody>
          <a:bodyPr/>
          <a:lstStyle/>
          <a:p>
            <a:pPr marL="457200" indent="-457200">
              <a:buFontTx/>
              <a:buAutoNum type="arabicPeriod"/>
            </a:pPr>
            <a:r>
              <a:rPr lang="en-US" altLang="en-US"/>
              <a:t>Recoverable Schedule </a:t>
            </a:r>
          </a:p>
          <a:p>
            <a:pPr marL="457200" indent="-457200">
              <a:buFontTx/>
              <a:buAutoNum type="arabicPeriod"/>
            </a:pPr>
            <a:r>
              <a:rPr lang="en-US" altLang="en-US"/>
              <a:t>Cascading Rollback or Cascading Abort</a:t>
            </a:r>
          </a:p>
          <a:p>
            <a:pPr marL="457200" indent="-457200">
              <a:buFontTx/>
              <a:buAutoNum type="arabicPeriod"/>
            </a:pPr>
            <a:r>
              <a:rPr lang="en-US" altLang="en-US"/>
              <a:t>Cascadeless or Avoid Cascading Rollback schedule </a:t>
            </a:r>
          </a:p>
          <a:p>
            <a:pPr marL="457200" indent="-457200">
              <a:buFontTx/>
              <a:buAutoNum type="arabicPeriod"/>
            </a:pPr>
            <a:r>
              <a:rPr lang="en-US" altLang="en-US"/>
              <a:t>Strict Schedules</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Rectangle 1">
            <a:extLst>
              <a:ext uri="{FF2B5EF4-FFF2-40B4-BE49-F238E27FC236}">
                <a16:creationId xmlns:a16="http://schemas.microsoft.com/office/drawing/2014/main" id="{0ED23C55-E44E-28B7-5B9D-9D09B5FB4842}"/>
              </a:ext>
            </a:extLst>
          </p:cNvPr>
          <p:cNvSpPr>
            <a:spLocks noChangeArrowheads="1"/>
          </p:cNvSpPr>
          <p:nvPr>
            <p:ph type="sldImg"/>
          </p:nvPr>
        </p:nvSpPr>
        <p:spPr/>
      </p:sp>
      <p:sp>
        <p:nvSpPr>
          <p:cNvPr id="181250" name="Rectangle 2">
            <a:extLst>
              <a:ext uri="{FF2B5EF4-FFF2-40B4-BE49-F238E27FC236}">
                <a16:creationId xmlns:a16="http://schemas.microsoft.com/office/drawing/2014/main" id="{80EEB391-95EA-C98C-7BE4-577FC039578A}"/>
              </a:ext>
            </a:extLst>
          </p:cNvPr>
          <p:cNvSpPr>
            <a:spLocks noChangeArrowheads="1"/>
          </p:cNvSpPr>
          <p:nvPr>
            <p:ph type="body" sz="quarter" idx="1"/>
          </p:nvPr>
        </p:nvSpPr>
        <p:spPr/>
        <p:txBody>
          <a:bodyPr/>
          <a:lstStyle/>
          <a:p>
            <a:r>
              <a:rPr lang="en-US" altLang="en-US"/>
              <a:t>https://www.youtube.com/watch?v=pshqwLNoMuc</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1">
            <a:extLst>
              <a:ext uri="{FF2B5EF4-FFF2-40B4-BE49-F238E27FC236}">
                <a16:creationId xmlns:a16="http://schemas.microsoft.com/office/drawing/2014/main" id="{3DB61058-CDC5-39F2-CE64-C565AB007688}"/>
              </a:ext>
            </a:extLst>
          </p:cNvPr>
          <p:cNvSpPr>
            <a:spLocks noChangeArrowheads="1"/>
          </p:cNvSpPr>
          <p:nvPr>
            <p:ph type="sldImg"/>
          </p:nvPr>
        </p:nvSpPr>
        <p:spPr/>
      </p:sp>
      <p:sp>
        <p:nvSpPr>
          <p:cNvPr id="183298" name="Rectangle 2">
            <a:extLst>
              <a:ext uri="{FF2B5EF4-FFF2-40B4-BE49-F238E27FC236}">
                <a16:creationId xmlns:a16="http://schemas.microsoft.com/office/drawing/2014/main" id="{A82E6B62-B972-3E6B-A0A3-38E7BA3CCF73}"/>
              </a:ext>
            </a:extLst>
          </p:cNvPr>
          <p:cNvSpPr>
            <a:spLocks noChangeArrowheads="1"/>
          </p:cNvSpPr>
          <p:nvPr>
            <p:ph type="body" sz="quarter" idx="1"/>
          </p:nvPr>
        </p:nvSpPr>
        <p:spPr/>
        <p:txBody>
          <a:bodyPr/>
          <a:lstStyle/>
          <a:p>
            <a:r>
              <a:rPr lang="en-US" altLang="en-US"/>
              <a:t>https://www.youtube.com/watch?v=pshqwLNoMuc</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Rectangle 1">
            <a:extLst>
              <a:ext uri="{FF2B5EF4-FFF2-40B4-BE49-F238E27FC236}">
                <a16:creationId xmlns:a16="http://schemas.microsoft.com/office/drawing/2014/main" id="{3005B962-C6D1-9E46-A078-76A044FB7990}"/>
              </a:ext>
            </a:extLst>
          </p:cNvPr>
          <p:cNvSpPr>
            <a:spLocks noChangeArrowheads="1"/>
          </p:cNvSpPr>
          <p:nvPr>
            <p:ph type="sldImg"/>
          </p:nvPr>
        </p:nvSpPr>
        <p:spPr/>
      </p:sp>
      <p:sp>
        <p:nvSpPr>
          <p:cNvPr id="187394" name="Rectangle 2">
            <a:extLst>
              <a:ext uri="{FF2B5EF4-FFF2-40B4-BE49-F238E27FC236}">
                <a16:creationId xmlns:a16="http://schemas.microsoft.com/office/drawing/2014/main" id="{03ACF6FD-5DD1-F846-11D6-0641319A4EED}"/>
              </a:ext>
            </a:extLst>
          </p:cNvPr>
          <p:cNvSpPr>
            <a:spLocks noChangeArrowheads="1"/>
          </p:cNvSpPr>
          <p:nvPr>
            <p:ph type="body" sz="quarter" idx="1"/>
          </p:nvPr>
        </p:nvSpPr>
        <p:spPr/>
        <p:txBody>
          <a:bodyPr/>
          <a:lstStyle/>
          <a:p>
            <a:pPr marL="457200" indent="-457200">
              <a:buFontTx/>
              <a:buAutoNum type="arabicPeriod"/>
            </a:pPr>
            <a:r>
              <a:rPr lang="en-US" altLang="en-US"/>
              <a:t>Recoverable Schedule </a:t>
            </a:r>
          </a:p>
          <a:p>
            <a:pPr marL="457200" indent="-457200">
              <a:buFontTx/>
              <a:buAutoNum type="arabicPeriod"/>
            </a:pPr>
            <a:r>
              <a:rPr lang="en-US" altLang="en-US"/>
              <a:t>Cascading Rollback or Cascading Abort</a:t>
            </a:r>
          </a:p>
          <a:p>
            <a:pPr marL="457200" indent="-457200">
              <a:buFontTx/>
              <a:buAutoNum type="arabicPeriod"/>
            </a:pPr>
            <a:r>
              <a:rPr lang="en-US" altLang="en-US"/>
              <a:t>Cascadeless or Avoid Cascading Rollback schedule </a:t>
            </a:r>
          </a:p>
          <a:p>
            <a:pPr marL="457200" indent="-457200">
              <a:buFontTx/>
              <a:buAutoNum type="arabicPeriod"/>
            </a:pPr>
            <a:r>
              <a:rPr lang="en-US" altLang="en-US"/>
              <a:t>Strict Schedules</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1">
            <a:extLst>
              <a:ext uri="{FF2B5EF4-FFF2-40B4-BE49-F238E27FC236}">
                <a16:creationId xmlns:a16="http://schemas.microsoft.com/office/drawing/2014/main" id="{13A32EA8-6D7A-DD82-A49F-D4000B2921F3}"/>
              </a:ext>
            </a:extLst>
          </p:cNvPr>
          <p:cNvSpPr>
            <a:spLocks noChangeArrowheads="1"/>
          </p:cNvSpPr>
          <p:nvPr>
            <p:ph type="sldImg"/>
          </p:nvPr>
        </p:nvSpPr>
        <p:spPr/>
      </p:sp>
      <p:sp>
        <p:nvSpPr>
          <p:cNvPr id="191490" name="Rectangle 2">
            <a:extLst>
              <a:ext uri="{FF2B5EF4-FFF2-40B4-BE49-F238E27FC236}">
                <a16:creationId xmlns:a16="http://schemas.microsoft.com/office/drawing/2014/main" id="{2C8FB0B2-2FD2-D06A-9B96-BBD153DF9123}"/>
              </a:ext>
            </a:extLst>
          </p:cNvPr>
          <p:cNvSpPr>
            <a:spLocks noChangeArrowheads="1"/>
          </p:cNvSpPr>
          <p:nvPr>
            <p:ph type="body" sz="quarter" idx="1"/>
          </p:nvPr>
        </p:nvSpPr>
        <p:spPr/>
        <p:txBody>
          <a:bodyPr/>
          <a:lstStyle/>
          <a:p>
            <a:r>
              <a:rPr lang="en-US" altLang="en-US"/>
              <a:t>One where a rollback does not cascade to other transactions</a:t>
            </a:r>
          </a:p>
          <a:p>
            <a:r>
              <a:rPr lang="en-US" altLang="en-US" b="1"/>
              <a:t>Why is this necessary? Rollbacks are Costly!</a:t>
            </a:r>
          </a:p>
          <a:p>
            <a:r>
              <a:rPr lang="en-US" altLang="en-US"/>
              <a:t>–</a:t>
            </a:r>
            <a:r>
              <a:rPr lang="en-US" altLang="en-US" b="1"/>
              <a:t>How can we achieve it? </a:t>
            </a:r>
            <a:r>
              <a:rPr lang="en-US" altLang="en-US"/>
              <a:t>Every transaction </a:t>
            </a:r>
            <a:r>
              <a:rPr lang="en-US" altLang="en-US" b="1"/>
              <a:t>reads </a:t>
            </a:r>
            <a:r>
              <a:rPr lang="en-US" altLang="en-US"/>
              <a:t>only the items that are </a:t>
            </a:r>
            <a:r>
              <a:rPr lang="en-US" altLang="en-US" b="1"/>
              <a:t>written </a:t>
            </a:r>
            <a:r>
              <a:rPr lang="en-US" altLang="en-US"/>
              <a:t>by </a:t>
            </a:r>
            <a:r>
              <a:rPr lang="en-US" altLang="en-US" b="1"/>
              <a:t>committed </a:t>
            </a:r>
            <a:r>
              <a:rPr lang="en-US" altLang="en-US"/>
              <a:t>transactions.</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Rectangle 1">
            <a:extLst>
              <a:ext uri="{FF2B5EF4-FFF2-40B4-BE49-F238E27FC236}">
                <a16:creationId xmlns:a16="http://schemas.microsoft.com/office/drawing/2014/main" id="{9DA3780F-0574-36C6-E0A0-761D77BF346B}"/>
              </a:ext>
            </a:extLst>
          </p:cNvPr>
          <p:cNvSpPr>
            <a:spLocks noChangeArrowheads="1"/>
          </p:cNvSpPr>
          <p:nvPr>
            <p:ph type="sldImg"/>
          </p:nvPr>
        </p:nvSpPr>
        <p:spPr/>
      </p:sp>
      <p:sp>
        <p:nvSpPr>
          <p:cNvPr id="195586" name="Rectangle 2">
            <a:extLst>
              <a:ext uri="{FF2B5EF4-FFF2-40B4-BE49-F238E27FC236}">
                <a16:creationId xmlns:a16="http://schemas.microsoft.com/office/drawing/2014/main" id="{2A4A0C3B-4F09-24F5-7783-455466449B1D}"/>
              </a:ext>
            </a:extLst>
          </p:cNvPr>
          <p:cNvSpPr>
            <a:spLocks noChangeArrowheads="1"/>
          </p:cNvSpPr>
          <p:nvPr>
            <p:ph type="body" sz="quarter" idx="1"/>
          </p:nvPr>
        </p:nvSpPr>
        <p:spPr/>
        <p:txBody>
          <a:bodyPr/>
          <a:lstStyle/>
          <a:p>
            <a:pPr marL="457200" indent="-457200">
              <a:buFontTx/>
              <a:buAutoNum type="arabicPeriod"/>
            </a:pPr>
            <a:r>
              <a:rPr lang="en-US" altLang="en-US"/>
              <a:t>Recoverable Schedule </a:t>
            </a:r>
          </a:p>
          <a:p>
            <a:pPr marL="457200" indent="-457200">
              <a:buFontTx/>
              <a:buAutoNum type="arabicPeriod"/>
            </a:pPr>
            <a:r>
              <a:rPr lang="en-US" altLang="en-US"/>
              <a:t>Cascading Rollback or Cascading Abort</a:t>
            </a:r>
          </a:p>
          <a:p>
            <a:pPr marL="457200" indent="-457200">
              <a:buFontTx/>
              <a:buAutoNum type="arabicPeriod"/>
            </a:pPr>
            <a:r>
              <a:rPr lang="en-US" altLang="en-US"/>
              <a:t>Cascadeless or Avoid Cascading Rollback schedule </a:t>
            </a:r>
          </a:p>
          <a:p>
            <a:pPr marL="457200" indent="-457200">
              <a:buFontTx/>
              <a:buAutoNum type="arabicPeriod"/>
            </a:pPr>
            <a:r>
              <a:rPr lang="en-US" altLang="en-US"/>
              <a:t>Strict Schedules</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3B81CE-EA37-53C4-402C-B72DC3584B1F}"/>
              </a:ext>
            </a:extLst>
          </p:cNvPr>
          <p:cNvSpPr>
            <a:spLocks noGrp="1"/>
          </p:cNvSpPr>
          <p:nvPr>
            <p:ph type="ctrTitle"/>
          </p:nvPr>
        </p:nvSpPr>
        <p:spPr>
          <a:xfrm>
            <a:off x="1143000" y="1122363"/>
            <a:ext cx="6858000" cy="2387600"/>
          </a:xfrm>
        </p:spPr>
        <p:txBody>
          <a:bodyPr/>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062615C3-034D-FD63-1D73-7E90CB759642}"/>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Slide Number Placeholder 3">
            <a:extLst>
              <a:ext uri="{FF2B5EF4-FFF2-40B4-BE49-F238E27FC236}">
                <a16:creationId xmlns:a16="http://schemas.microsoft.com/office/drawing/2014/main" id="{FEE22A2D-3838-B56D-167C-469F64071725}"/>
              </a:ext>
            </a:extLst>
          </p:cNvPr>
          <p:cNvSpPr>
            <a:spLocks noGrp="1"/>
          </p:cNvSpPr>
          <p:nvPr>
            <p:ph type="sldNum" sz="quarter" idx="10"/>
          </p:nvPr>
        </p:nvSpPr>
        <p:spPr/>
        <p:txBody>
          <a:bodyPr/>
          <a:lstStyle>
            <a:lvl1pPr>
              <a:defRPr/>
            </a:lvl1pPr>
          </a:lstStyle>
          <a:p>
            <a:fld id="{5C5DEC4F-E9E2-4AEA-9D68-8AA26CE682F6}" type="slidenum">
              <a:rPr lang="en-US" altLang="en-US"/>
              <a:pPr/>
              <a:t>‹#›</a:t>
            </a:fld>
            <a:endParaRPr lang="en-US" altLang="en-US"/>
          </a:p>
        </p:txBody>
      </p:sp>
    </p:spTree>
    <p:extLst>
      <p:ext uri="{BB962C8B-B14F-4D97-AF65-F5344CB8AC3E}">
        <p14:creationId xmlns:p14="http://schemas.microsoft.com/office/powerpoint/2010/main" val="350015496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52EB0E-BAD3-6E55-3F8B-FCF30D13C63C}"/>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679E07DA-85A9-BB32-5985-7802DDEE84C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Slide Number Placeholder 3">
            <a:extLst>
              <a:ext uri="{FF2B5EF4-FFF2-40B4-BE49-F238E27FC236}">
                <a16:creationId xmlns:a16="http://schemas.microsoft.com/office/drawing/2014/main" id="{5DD025BD-5592-060E-AF6A-B4E1A69AFCFE}"/>
              </a:ext>
            </a:extLst>
          </p:cNvPr>
          <p:cNvSpPr>
            <a:spLocks noGrp="1"/>
          </p:cNvSpPr>
          <p:nvPr>
            <p:ph type="sldNum" sz="quarter" idx="10"/>
          </p:nvPr>
        </p:nvSpPr>
        <p:spPr/>
        <p:txBody>
          <a:bodyPr/>
          <a:lstStyle>
            <a:lvl1pPr>
              <a:defRPr/>
            </a:lvl1pPr>
          </a:lstStyle>
          <a:p>
            <a:fld id="{54860812-2438-4141-8358-CD7C2DB43662}" type="slidenum">
              <a:rPr lang="en-US" altLang="en-US"/>
              <a:pPr/>
              <a:t>‹#›</a:t>
            </a:fld>
            <a:endParaRPr lang="en-US" altLang="en-US"/>
          </a:p>
        </p:txBody>
      </p:sp>
    </p:spTree>
    <p:extLst>
      <p:ext uri="{BB962C8B-B14F-4D97-AF65-F5344CB8AC3E}">
        <p14:creationId xmlns:p14="http://schemas.microsoft.com/office/powerpoint/2010/main" val="174532966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C86D5B-FF27-F1E6-5BDA-321C27E6EEF7}"/>
              </a:ext>
            </a:extLst>
          </p:cNvPr>
          <p:cNvSpPr>
            <a:spLocks noGrp="1"/>
          </p:cNvSpPr>
          <p:nvPr>
            <p:ph type="title"/>
          </p:nvPr>
        </p:nvSpPr>
        <p:spPr>
          <a:xfrm>
            <a:off x="623888" y="1709738"/>
            <a:ext cx="7886700" cy="2852737"/>
          </a:xfrm>
        </p:spPr>
        <p:txBody>
          <a:bodyPr/>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1B680A04-1E75-027F-2B45-F14ECFF774A5}"/>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95ED9528-3336-E596-B2D0-5078AE39E99B}"/>
              </a:ext>
            </a:extLst>
          </p:cNvPr>
          <p:cNvSpPr>
            <a:spLocks noGrp="1"/>
          </p:cNvSpPr>
          <p:nvPr>
            <p:ph type="sldNum" sz="quarter" idx="10"/>
          </p:nvPr>
        </p:nvSpPr>
        <p:spPr/>
        <p:txBody>
          <a:bodyPr/>
          <a:lstStyle>
            <a:lvl1pPr>
              <a:defRPr/>
            </a:lvl1pPr>
          </a:lstStyle>
          <a:p>
            <a:fld id="{324919A3-2F0E-41DC-AC5F-663924D077B6}" type="slidenum">
              <a:rPr lang="en-US" altLang="en-US"/>
              <a:pPr/>
              <a:t>‹#›</a:t>
            </a:fld>
            <a:endParaRPr lang="en-US" altLang="en-US"/>
          </a:p>
        </p:txBody>
      </p:sp>
    </p:spTree>
    <p:extLst>
      <p:ext uri="{BB962C8B-B14F-4D97-AF65-F5344CB8AC3E}">
        <p14:creationId xmlns:p14="http://schemas.microsoft.com/office/powerpoint/2010/main" val="22125127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11CF46-6DF3-E749-6365-43A4945EB326}"/>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297F7175-0E75-8D82-AE53-7BB731414941}"/>
              </a:ext>
            </a:extLst>
          </p:cNvPr>
          <p:cNvSpPr>
            <a:spLocks noGrp="1"/>
          </p:cNvSpPr>
          <p:nvPr>
            <p:ph sz="half" idx="1"/>
          </p:nvPr>
        </p:nvSpPr>
        <p:spPr>
          <a:xfrm>
            <a:off x="566738" y="1219200"/>
            <a:ext cx="3924300" cy="502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594213C6-5ECE-222F-54C6-4CC71EE788C2}"/>
              </a:ext>
            </a:extLst>
          </p:cNvPr>
          <p:cNvSpPr>
            <a:spLocks noGrp="1"/>
          </p:cNvSpPr>
          <p:nvPr>
            <p:ph sz="half" idx="2"/>
          </p:nvPr>
        </p:nvSpPr>
        <p:spPr>
          <a:xfrm>
            <a:off x="4643438" y="1219200"/>
            <a:ext cx="3924300" cy="502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Slide Number Placeholder 4">
            <a:extLst>
              <a:ext uri="{FF2B5EF4-FFF2-40B4-BE49-F238E27FC236}">
                <a16:creationId xmlns:a16="http://schemas.microsoft.com/office/drawing/2014/main" id="{C4EBFCE4-B1A6-B63E-9E56-3B9A2F670DDE}"/>
              </a:ext>
            </a:extLst>
          </p:cNvPr>
          <p:cNvSpPr>
            <a:spLocks noGrp="1"/>
          </p:cNvSpPr>
          <p:nvPr>
            <p:ph type="sldNum" sz="quarter" idx="10"/>
          </p:nvPr>
        </p:nvSpPr>
        <p:spPr/>
        <p:txBody>
          <a:bodyPr/>
          <a:lstStyle>
            <a:lvl1pPr>
              <a:defRPr/>
            </a:lvl1pPr>
          </a:lstStyle>
          <a:p>
            <a:fld id="{DB359156-DB55-423C-9F86-E4CDF534CD70}" type="slidenum">
              <a:rPr lang="en-US" altLang="en-US"/>
              <a:pPr/>
              <a:t>‹#›</a:t>
            </a:fld>
            <a:endParaRPr lang="en-US" altLang="en-US"/>
          </a:p>
        </p:txBody>
      </p:sp>
    </p:spTree>
    <p:extLst>
      <p:ext uri="{BB962C8B-B14F-4D97-AF65-F5344CB8AC3E}">
        <p14:creationId xmlns:p14="http://schemas.microsoft.com/office/powerpoint/2010/main" val="384241276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E24012-C531-CD06-492D-B1BF8D20A650}"/>
              </a:ext>
            </a:extLst>
          </p:cNvPr>
          <p:cNvSpPr>
            <a:spLocks noGrp="1"/>
          </p:cNvSpPr>
          <p:nvPr>
            <p:ph type="title"/>
          </p:nvPr>
        </p:nvSpPr>
        <p:spPr>
          <a:xfrm>
            <a:off x="630238" y="365125"/>
            <a:ext cx="78867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25257E80-24B5-51DE-66ED-B2351026AAC9}"/>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D157C5C-846E-2EE3-5950-CD3CBE9795E6}"/>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8589E7DB-798D-C052-0402-4FD4DB0EF6EC}"/>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29F8B89-27BC-61FB-D095-B99E373CE54A}"/>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Slide Number Placeholder 6">
            <a:extLst>
              <a:ext uri="{FF2B5EF4-FFF2-40B4-BE49-F238E27FC236}">
                <a16:creationId xmlns:a16="http://schemas.microsoft.com/office/drawing/2014/main" id="{A6BEF780-190D-0425-0E61-D40BF998EF57}"/>
              </a:ext>
            </a:extLst>
          </p:cNvPr>
          <p:cNvSpPr>
            <a:spLocks noGrp="1"/>
          </p:cNvSpPr>
          <p:nvPr>
            <p:ph type="sldNum" sz="quarter" idx="10"/>
          </p:nvPr>
        </p:nvSpPr>
        <p:spPr/>
        <p:txBody>
          <a:bodyPr/>
          <a:lstStyle>
            <a:lvl1pPr>
              <a:defRPr/>
            </a:lvl1pPr>
          </a:lstStyle>
          <a:p>
            <a:fld id="{01025CB9-B6DA-4F01-9D08-83CAE5AF7457}" type="slidenum">
              <a:rPr lang="en-US" altLang="en-US"/>
              <a:pPr/>
              <a:t>‹#›</a:t>
            </a:fld>
            <a:endParaRPr lang="en-US" altLang="en-US"/>
          </a:p>
        </p:txBody>
      </p:sp>
    </p:spTree>
    <p:extLst>
      <p:ext uri="{BB962C8B-B14F-4D97-AF65-F5344CB8AC3E}">
        <p14:creationId xmlns:p14="http://schemas.microsoft.com/office/powerpoint/2010/main" val="200489445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D89CF-7D52-7B1D-DEB7-F60B3E125F05}"/>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0C074F06-C5EA-84DC-FEE7-073D2A9F3D13}"/>
              </a:ext>
            </a:extLst>
          </p:cNvPr>
          <p:cNvSpPr>
            <a:spLocks noGrp="1"/>
          </p:cNvSpPr>
          <p:nvPr>
            <p:ph type="sldNum" sz="quarter" idx="10"/>
          </p:nvPr>
        </p:nvSpPr>
        <p:spPr/>
        <p:txBody>
          <a:bodyPr/>
          <a:lstStyle>
            <a:lvl1pPr>
              <a:defRPr/>
            </a:lvl1pPr>
          </a:lstStyle>
          <a:p>
            <a:fld id="{D5E29FCF-B92C-4666-83C0-2460CA47F1AE}" type="slidenum">
              <a:rPr lang="en-US" altLang="en-US"/>
              <a:pPr/>
              <a:t>‹#›</a:t>
            </a:fld>
            <a:endParaRPr lang="en-US" altLang="en-US"/>
          </a:p>
        </p:txBody>
      </p:sp>
    </p:spTree>
    <p:extLst>
      <p:ext uri="{BB962C8B-B14F-4D97-AF65-F5344CB8AC3E}">
        <p14:creationId xmlns:p14="http://schemas.microsoft.com/office/powerpoint/2010/main" val="40850205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2AE04D2-153C-E4E3-CDEB-4AA7C791F77C}"/>
              </a:ext>
            </a:extLst>
          </p:cNvPr>
          <p:cNvSpPr>
            <a:spLocks noGrp="1"/>
          </p:cNvSpPr>
          <p:nvPr>
            <p:ph type="sldNum" sz="quarter" idx="10"/>
          </p:nvPr>
        </p:nvSpPr>
        <p:spPr/>
        <p:txBody>
          <a:bodyPr/>
          <a:lstStyle>
            <a:lvl1pPr>
              <a:defRPr/>
            </a:lvl1pPr>
          </a:lstStyle>
          <a:p>
            <a:fld id="{17FF357A-1DA2-4BC2-9880-BF8EFCBB30DA}" type="slidenum">
              <a:rPr lang="en-US" altLang="en-US"/>
              <a:pPr/>
              <a:t>‹#›</a:t>
            </a:fld>
            <a:endParaRPr lang="en-US" altLang="en-US"/>
          </a:p>
        </p:txBody>
      </p:sp>
    </p:spTree>
    <p:extLst>
      <p:ext uri="{BB962C8B-B14F-4D97-AF65-F5344CB8AC3E}">
        <p14:creationId xmlns:p14="http://schemas.microsoft.com/office/powerpoint/2010/main" val="72050992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584C78-47E1-E63E-C150-5E67EF98D6B7}"/>
              </a:ext>
            </a:extLst>
          </p:cNvPr>
          <p:cNvSpPr>
            <a:spLocks noGrp="1"/>
          </p:cNvSpPr>
          <p:nvPr>
            <p:ph type="title"/>
          </p:nvPr>
        </p:nvSpPr>
        <p:spPr>
          <a:xfrm>
            <a:off x="630238" y="457200"/>
            <a:ext cx="2949575" cy="1600200"/>
          </a:xfrm>
        </p:spPr>
        <p:txBody>
          <a:bodyPr/>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44ABC347-5F7D-229E-7918-3A68C6B32B75}"/>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4E28A9A9-DF20-5E6B-2174-F3C72AF49F8F}"/>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4469693B-B96B-2AA3-0124-E966D6FD82AE}"/>
              </a:ext>
            </a:extLst>
          </p:cNvPr>
          <p:cNvSpPr>
            <a:spLocks noGrp="1"/>
          </p:cNvSpPr>
          <p:nvPr>
            <p:ph type="sldNum" sz="quarter" idx="10"/>
          </p:nvPr>
        </p:nvSpPr>
        <p:spPr/>
        <p:txBody>
          <a:bodyPr/>
          <a:lstStyle>
            <a:lvl1pPr>
              <a:defRPr/>
            </a:lvl1pPr>
          </a:lstStyle>
          <a:p>
            <a:fld id="{01131EED-92D9-4B9B-8411-49BE6C513C33}" type="slidenum">
              <a:rPr lang="en-US" altLang="en-US"/>
              <a:pPr/>
              <a:t>‹#›</a:t>
            </a:fld>
            <a:endParaRPr lang="en-US" altLang="en-US"/>
          </a:p>
        </p:txBody>
      </p:sp>
    </p:spTree>
    <p:extLst>
      <p:ext uri="{BB962C8B-B14F-4D97-AF65-F5344CB8AC3E}">
        <p14:creationId xmlns:p14="http://schemas.microsoft.com/office/powerpoint/2010/main" val="346970972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C98353-DC4F-6B80-F70B-2C4E8611569C}"/>
              </a:ext>
            </a:extLst>
          </p:cNvPr>
          <p:cNvSpPr>
            <a:spLocks noGrp="1"/>
          </p:cNvSpPr>
          <p:nvPr>
            <p:ph type="title"/>
          </p:nvPr>
        </p:nvSpPr>
        <p:spPr>
          <a:xfrm>
            <a:off x="630238" y="457200"/>
            <a:ext cx="2949575" cy="1600200"/>
          </a:xfrm>
        </p:spPr>
        <p:txBody>
          <a:bodyPr/>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029ABCBF-AB56-C55A-C67D-B310A5D8E7A1}"/>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2BB97CE4-9517-67D9-C471-896A7B288BDC}"/>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B714C822-E656-800C-BC4E-CFA0CF771291}"/>
              </a:ext>
            </a:extLst>
          </p:cNvPr>
          <p:cNvSpPr>
            <a:spLocks noGrp="1"/>
          </p:cNvSpPr>
          <p:nvPr>
            <p:ph type="sldNum" sz="quarter" idx="10"/>
          </p:nvPr>
        </p:nvSpPr>
        <p:spPr/>
        <p:txBody>
          <a:bodyPr/>
          <a:lstStyle>
            <a:lvl1pPr>
              <a:defRPr/>
            </a:lvl1pPr>
          </a:lstStyle>
          <a:p>
            <a:fld id="{C734F70E-3DCE-40BC-97CB-A6D74E1BF14D}" type="slidenum">
              <a:rPr lang="en-US" altLang="en-US"/>
              <a:pPr/>
              <a:t>‹#›</a:t>
            </a:fld>
            <a:endParaRPr lang="en-US" altLang="en-US"/>
          </a:p>
        </p:txBody>
      </p:sp>
    </p:spTree>
    <p:extLst>
      <p:ext uri="{BB962C8B-B14F-4D97-AF65-F5344CB8AC3E}">
        <p14:creationId xmlns:p14="http://schemas.microsoft.com/office/powerpoint/2010/main" val="200223608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C79490-6293-D6F0-3C49-732D7BCFD4CA}"/>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6D995039-4F09-120C-2591-144E750677ED}"/>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Slide Number Placeholder 3">
            <a:extLst>
              <a:ext uri="{FF2B5EF4-FFF2-40B4-BE49-F238E27FC236}">
                <a16:creationId xmlns:a16="http://schemas.microsoft.com/office/drawing/2014/main" id="{118DD4AC-8B69-349F-15C6-DA13F502E4EF}"/>
              </a:ext>
            </a:extLst>
          </p:cNvPr>
          <p:cNvSpPr>
            <a:spLocks noGrp="1"/>
          </p:cNvSpPr>
          <p:nvPr>
            <p:ph type="sldNum" sz="quarter" idx="10"/>
          </p:nvPr>
        </p:nvSpPr>
        <p:spPr/>
        <p:txBody>
          <a:bodyPr/>
          <a:lstStyle>
            <a:lvl1pPr>
              <a:defRPr/>
            </a:lvl1pPr>
          </a:lstStyle>
          <a:p>
            <a:fld id="{AED396F7-D576-4EAF-BF84-8F2C208D3433}" type="slidenum">
              <a:rPr lang="en-US" altLang="en-US"/>
              <a:pPr/>
              <a:t>‹#›</a:t>
            </a:fld>
            <a:endParaRPr lang="en-US" altLang="en-US"/>
          </a:p>
        </p:txBody>
      </p:sp>
    </p:spTree>
    <p:extLst>
      <p:ext uri="{BB962C8B-B14F-4D97-AF65-F5344CB8AC3E}">
        <p14:creationId xmlns:p14="http://schemas.microsoft.com/office/powerpoint/2010/main" val="78831136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DBDEB9A-3EDE-DBD3-B8BB-057E1AD0A016}"/>
              </a:ext>
            </a:extLst>
          </p:cNvPr>
          <p:cNvSpPr>
            <a:spLocks noGrp="1"/>
          </p:cNvSpPr>
          <p:nvPr>
            <p:ph type="title" orient="vert"/>
          </p:nvPr>
        </p:nvSpPr>
        <p:spPr>
          <a:xfrm>
            <a:off x="6573838" y="152400"/>
            <a:ext cx="2001837" cy="6096000"/>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56613483-98AB-F313-E760-927F64713B3B}"/>
              </a:ext>
            </a:extLst>
          </p:cNvPr>
          <p:cNvSpPr>
            <a:spLocks noGrp="1"/>
          </p:cNvSpPr>
          <p:nvPr>
            <p:ph type="body" orient="vert" idx="1"/>
          </p:nvPr>
        </p:nvSpPr>
        <p:spPr>
          <a:xfrm>
            <a:off x="566738" y="152400"/>
            <a:ext cx="58547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Slide Number Placeholder 3">
            <a:extLst>
              <a:ext uri="{FF2B5EF4-FFF2-40B4-BE49-F238E27FC236}">
                <a16:creationId xmlns:a16="http://schemas.microsoft.com/office/drawing/2014/main" id="{ED6CFA2F-8967-51DA-85F2-16C877916F35}"/>
              </a:ext>
            </a:extLst>
          </p:cNvPr>
          <p:cNvSpPr>
            <a:spLocks noGrp="1"/>
          </p:cNvSpPr>
          <p:nvPr>
            <p:ph type="sldNum" sz="quarter" idx="10"/>
          </p:nvPr>
        </p:nvSpPr>
        <p:spPr/>
        <p:txBody>
          <a:bodyPr/>
          <a:lstStyle>
            <a:lvl1pPr>
              <a:defRPr/>
            </a:lvl1pPr>
          </a:lstStyle>
          <a:p>
            <a:fld id="{C2224F54-BF01-47EA-BD98-F80374A074E9}" type="slidenum">
              <a:rPr lang="en-US" altLang="en-US"/>
              <a:pPr/>
              <a:t>‹#›</a:t>
            </a:fld>
            <a:endParaRPr lang="en-US" altLang="en-US"/>
          </a:p>
        </p:txBody>
      </p:sp>
    </p:spTree>
    <p:extLst>
      <p:ext uri="{BB962C8B-B14F-4D97-AF65-F5344CB8AC3E}">
        <p14:creationId xmlns:p14="http://schemas.microsoft.com/office/powerpoint/2010/main" val="192512865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6CC271-AD98-D357-F557-B84403494BE4}"/>
              </a:ext>
            </a:extLst>
          </p:cNvPr>
          <p:cNvSpPr>
            <a:spLocks noGrp="1"/>
          </p:cNvSpPr>
          <p:nvPr>
            <p:ph type="ctrTitle"/>
          </p:nvPr>
        </p:nvSpPr>
        <p:spPr>
          <a:xfrm>
            <a:off x="1143000" y="1122363"/>
            <a:ext cx="6858000" cy="2387600"/>
          </a:xfrm>
        </p:spPr>
        <p:txBody>
          <a:bodyPr/>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C4657A82-EE35-CA17-7B85-B1A27AA6D279}"/>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Slide Number Placeholder 3">
            <a:extLst>
              <a:ext uri="{FF2B5EF4-FFF2-40B4-BE49-F238E27FC236}">
                <a16:creationId xmlns:a16="http://schemas.microsoft.com/office/drawing/2014/main" id="{413CEBD7-82D0-8328-6310-D14FC1F37E49}"/>
              </a:ext>
            </a:extLst>
          </p:cNvPr>
          <p:cNvSpPr>
            <a:spLocks noGrp="1"/>
          </p:cNvSpPr>
          <p:nvPr>
            <p:ph type="sldNum" sz="quarter" idx="10"/>
          </p:nvPr>
        </p:nvSpPr>
        <p:spPr/>
        <p:txBody>
          <a:bodyPr/>
          <a:lstStyle>
            <a:lvl1pPr>
              <a:defRPr/>
            </a:lvl1pPr>
          </a:lstStyle>
          <a:p>
            <a:fld id="{46FB3A4A-C51A-4822-9EE0-8178442D0AFA}" type="slidenum">
              <a:rPr lang="en-US" altLang="en-US"/>
              <a:pPr/>
              <a:t>‹#›</a:t>
            </a:fld>
            <a:endParaRPr lang="en-US" altLang="en-US"/>
          </a:p>
        </p:txBody>
      </p:sp>
    </p:spTree>
    <p:extLst>
      <p:ext uri="{BB962C8B-B14F-4D97-AF65-F5344CB8AC3E}">
        <p14:creationId xmlns:p14="http://schemas.microsoft.com/office/powerpoint/2010/main" val="388805192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87F09D-A805-7C91-830E-5D1172176FE0}"/>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3D00B849-B51C-F7F7-0550-5F33C111062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Slide Number Placeholder 3">
            <a:extLst>
              <a:ext uri="{FF2B5EF4-FFF2-40B4-BE49-F238E27FC236}">
                <a16:creationId xmlns:a16="http://schemas.microsoft.com/office/drawing/2014/main" id="{2FD1D0D9-72DB-1CF5-049C-C761223D11F5}"/>
              </a:ext>
            </a:extLst>
          </p:cNvPr>
          <p:cNvSpPr>
            <a:spLocks noGrp="1"/>
          </p:cNvSpPr>
          <p:nvPr>
            <p:ph type="sldNum" sz="quarter" idx="10"/>
          </p:nvPr>
        </p:nvSpPr>
        <p:spPr/>
        <p:txBody>
          <a:bodyPr/>
          <a:lstStyle>
            <a:lvl1pPr>
              <a:defRPr/>
            </a:lvl1pPr>
          </a:lstStyle>
          <a:p>
            <a:fld id="{E0DB2424-4D0E-41AF-BBF7-FDA3B652FDFC}" type="slidenum">
              <a:rPr lang="en-US" altLang="en-US"/>
              <a:pPr/>
              <a:t>‹#›</a:t>
            </a:fld>
            <a:endParaRPr lang="en-US" altLang="en-US"/>
          </a:p>
        </p:txBody>
      </p:sp>
    </p:spTree>
    <p:extLst>
      <p:ext uri="{BB962C8B-B14F-4D97-AF65-F5344CB8AC3E}">
        <p14:creationId xmlns:p14="http://schemas.microsoft.com/office/powerpoint/2010/main" val="42103813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61B298-3082-F29A-3F3F-B8CB809BE708}"/>
              </a:ext>
            </a:extLst>
          </p:cNvPr>
          <p:cNvSpPr>
            <a:spLocks noGrp="1"/>
          </p:cNvSpPr>
          <p:nvPr>
            <p:ph type="title"/>
          </p:nvPr>
        </p:nvSpPr>
        <p:spPr>
          <a:xfrm>
            <a:off x="623888" y="1709738"/>
            <a:ext cx="7886700" cy="2852737"/>
          </a:xfrm>
        </p:spPr>
        <p:txBody>
          <a:bodyPr/>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11884FE9-3F8E-707D-683F-34EA509AA71F}"/>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41B35FA7-F87E-01D3-F005-C1BCC4FA4F24}"/>
              </a:ext>
            </a:extLst>
          </p:cNvPr>
          <p:cNvSpPr>
            <a:spLocks noGrp="1"/>
          </p:cNvSpPr>
          <p:nvPr>
            <p:ph type="sldNum" sz="quarter" idx="10"/>
          </p:nvPr>
        </p:nvSpPr>
        <p:spPr/>
        <p:txBody>
          <a:bodyPr/>
          <a:lstStyle>
            <a:lvl1pPr>
              <a:defRPr/>
            </a:lvl1pPr>
          </a:lstStyle>
          <a:p>
            <a:fld id="{00889FD6-F9A4-408B-BA32-2EABF47A0AB9}" type="slidenum">
              <a:rPr lang="en-US" altLang="en-US"/>
              <a:pPr/>
              <a:t>‹#›</a:t>
            </a:fld>
            <a:endParaRPr lang="en-US" altLang="en-US"/>
          </a:p>
        </p:txBody>
      </p:sp>
    </p:spTree>
    <p:extLst>
      <p:ext uri="{BB962C8B-B14F-4D97-AF65-F5344CB8AC3E}">
        <p14:creationId xmlns:p14="http://schemas.microsoft.com/office/powerpoint/2010/main" val="96537017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708930-2DEE-EBA4-BB14-2B654754C414}"/>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4B8EEBB5-FB46-AE56-D929-2B91041E832C}"/>
              </a:ext>
            </a:extLst>
          </p:cNvPr>
          <p:cNvSpPr>
            <a:spLocks noGrp="1"/>
          </p:cNvSpPr>
          <p:nvPr>
            <p:ph sz="half" idx="1"/>
          </p:nvPr>
        </p:nvSpPr>
        <p:spPr>
          <a:xfrm>
            <a:off x="1447800" y="3429000"/>
            <a:ext cx="3429000" cy="1600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B203E678-7E64-68E9-1793-49ECA4572CFB}"/>
              </a:ext>
            </a:extLst>
          </p:cNvPr>
          <p:cNvSpPr>
            <a:spLocks noGrp="1"/>
          </p:cNvSpPr>
          <p:nvPr>
            <p:ph sz="half" idx="2"/>
          </p:nvPr>
        </p:nvSpPr>
        <p:spPr>
          <a:xfrm>
            <a:off x="5029200" y="3429000"/>
            <a:ext cx="3429000" cy="1600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Slide Number Placeholder 4">
            <a:extLst>
              <a:ext uri="{FF2B5EF4-FFF2-40B4-BE49-F238E27FC236}">
                <a16:creationId xmlns:a16="http://schemas.microsoft.com/office/drawing/2014/main" id="{7B08FA83-F030-1631-D2C1-AFAE736F049C}"/>
              </a:ext>
            </a:extLst>
          </p:cNvPr>
          <p:cNvSpPr>
            <a:spLocks noGrp="1"/>
          </p:cNvSpPr>
          <p:nvPr>
            <p:ph type="sldNum" sz="quarter" idx="10"/>
          </p:nvPr>
        </p:nvSpPr>
        <p:spPr/>
        <p:txBody>
          <a:bodyPr/>
          <a:lstStyle>
            <a:lvl1pPr>
              <a:defRPr/>
            </a:lvl1pPr>
          </a:lstStyle>
          <a:p>
            <a:fld id="{DE5945FB-C8D3-46BF-8DBB-A2BFBD55912A}" type="slidenum">
              <a:rPr lang="en-US" altLang="en-US"/>
              <a:pPr/>
              <a:t>‹#›</a:t>
            </a:fld>
            <a:endParaRPr lang="en-US" altLang="en-US"/>
          </a:p>
        </p:txBody>
      </p:sp>
    </p:spTree>
    <p:extLst>
      <p:ext uri="{BB962C8B-B14F-4D97-AF65-F5344CB8AC3E}">
        <p14:creationId xmlns:p14="http://schemas.microsoft.com/office/powerpoint/2010/main" val="17934193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CFECAA-05AE-A25F-414D-8C5FA9F21655}"/>
              </a:ext>
            </a:extLst>
          </p:cNvPr>
          <p:cNvSpPr>
            <a:spLocks noGrp="1"/>
          </p:cNvSpPr>
          <p:nvPr>
            <p:ph type="title"/>
          </p:nvPr>
        </p:nvSpPr>
        <p:spPr>
          <a:xfrm>
            <a:off x="630238" y="365125"/>
            <a:ext cx="78867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453ECD89-DB13-E805-65E9-DEF9F7288896}"/>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B9206901-700B-3E03-9A25-B23207CED4CA}"/>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D4E5EC2F-4BF0-C5F9-9B32-DDF44D84B898}"/>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61D8D8E-497A-4804-1161-1959E8728532}"/>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Slide Number Placeholder 6">
            <a:extLst>
              <a:ext uri="{FF2B5EF4-FFF2-40B4-BE49-F238E27FC236}">
                <a16:creationId xmlns:a16="http://schemas.microsoft.com/office/drawing/2014/main" id="{36CAC880-FE07-078F-D1E0-825ACD3FBE1F}"/>
              </a:ext>
            </a:extLst>
          </p:cNvPr>
          <p:cNvSpPr>
            <a:spLocks noGrp="1"/>
          </p:cNvSpPr>
          <p:nvPr>
            <p:ph type="sldNum" sz="quarter" idx="10"/>
          </p:nvPr>
        </p:nvSpPr>
        <p:spPr/>
        <p:txBody>
          <a:bodyPr/>
          <a:lstStyle>
            <a:lvl1pPr>
              <a:defRPr/>
            </a:lvl1pPr>
          </a:lstStyle>
          <a:p>
            <a:fld id="{4B50F6BB-F23A-4942-9252-7244FDF97C76}" type="slidenum">
              <a:rPr lang="en-US" altLang="en-US"/>
              <a:pPr/>
              <a:t>‹#›</a:t>
            </a:fld>
            <a:endParaRPr lang="en-US" altLang="en-US"/>
          </a:p>
        </p:txBody>
      </p:sp>
    </p:spTree>
    <p:extLst>
      <p:ext uri="{BB962C8B-B14F-4D97-AF65-F5344CB8AC3E}">
        <p14:creationId xmlns:p14="http://schemas.microsoft.com/office/powerpoint/2010/main" val="289566511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B01ECF-D3D0-06E2-F91D-C0CE8DFDCB7C}"/>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643F3618-41A5-0CD7-CAA6-59ED6F25B298}"/>
              </a:ext>
            </a:extLst>
          </p:cNvPr>
          <p:cNvSpPr>
            <a:spLocks noGrp="1"/>
          </p:cNvSpPr>
          <p:nvPr>
            <p:ph type="sldNum" sz="quarter" idx="10"/>
          </p:nvPr>
        </p:nvSpPr>
        <p:spPr/>
        <p:txBody>
          <a:bodyPr/>
          <a:lstStyle>
            <a:lvl1pPr>
              <a:defRPr/>
            </a:lvl1pPr>
          </a:lstStyle>
          <a:p>
            <a:fld id="{8723DAE9-51C9-4D25-8101-A37DAA314225}" type="slidenum">
              <a:rPr lang="en-US" altLang="en-US"/>
              <a:pPr/>
              <a:t>‹#›</a:t>
            </a:fld>
            <a:endParaRPr lang="en-US" altLang="en-US"/>
          </a:p>
        </p:txBody>
      </p:sp>
    </p:spTree>
    <p:extLst>
      <p:ext uri="{BB962C8B-B14F-4D97-AF65-F5344CB8AC3E}">
        <p14:creationId xmlns:p14="http://schemas.microsoft.com/office/powerpoint/2010/main" val="318977325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7274F5B-23C2-9DC0-023A-13727FF8E37D}"/>
              </a:ext>
            </a:extLst>
          </p:cNvPr>
          <p:cNvSpPr>
            <a:spLocks noGrp="1"/>
          </p:cNvSpPr>
          <p:nvPr>
            <p:ph type="sldNum" sz="quarter" idx="10"/>
          </p:nvPr>
        </p:nvSpPr>
        <p:spPr/>
        <p:txBody>
          <a:bodyPr/>
          <a:lstStyle>
            <a:lvl1pPr>
              <a:defRPr/>
            </a:lvl1pPr>
          </a:lstStyle>
          <a:p>
            <a:fld id="{FC6260C6-22AD-4053-AF2A-9AD8B2316693}" type="slidenum">
              <a:rPr lang="en-US" altLang="en-US"/>
              <a:pPr/>
              <a:t>‹#›</a:t>
            </a:fld>
            <a:endParaRPr lang="en-US" altLang="en-US"/>
          </a:p>
        </p:txBody>
      </p:sp>
    </p:spTree>
    <p:extLst>
      <p:ext uri="{BB962C8B-B14F-4D97-AF65-F5344CB8AC3E}">
        <p14:creationId xmlns:p14="http://schemas.microsoft.com/office/powerpoint/2010/main" val="128786982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F720D4-7C17-DEF6-D19F-728F5F277153}"/>
              </a:ext>
            </a:extLst>
          </p:cNvPr>
          <p:cNvSpPr>
            <a:spLocks noGrp="1"/>
          </p:cNvSpPr>
          <p:nvPr>
            <p:ph type="title"/>
          </p:nvPr>
        </p:nvSpPr>
        <p:spPr>
          <a:xfrm>
            <a:off x="630238" y="457200"/>
            <a:ext cx="2949575" cy="1600200"/>
          </a:xfrm>
        </p:spPr>
        <p:txBody>
          <a:bodyPr/>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6698F694-24B1-85F9-6840-304B2293520C}"/>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DD6611A4-C978-FA54-EBBD-2A8A1EF2A648}"/>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D41DBC41-359C-01EB-AE2C-10BBF3EDD0F1}"/>
              </a:ext>
            </a:extLst>
          </p:cNvPr>
          <p:cNvSpPr>
            <a:spLocks noGrp="1"/>
          </p:cNvSpPr>
          <p:nvPr>
            <p:ph type="sldNum" sz="quarter" idx="10"/>
          </p:nvPr>
        </p:nvSpPr>
        <p:spPr/>
        <p:txBody>
          <a:bodyPr/>
          <a:lstStyle>
            <a:lvl1pPr>
              <a:defRPr/>
            </a:lvl1pPr>
          </a:lstStyle>
          <a:p>
            <a:fld id="{CD8DDD3C-559D-460B-8343-9AEF27350569}" type="slidenum">
              <a:rPr lang="en-US" altLang="en-US"/>
              <a:pPr/>
              <a:t>‹#›</a:t>
            </a:fld>
            <a:endParaRPr lang="en-US" altLang="en-US"/>
          </a:p>
        </p:txBody>
      </p:sp>
    </p:spTree>
    <p:extLst>
      <p:ext uri="{BB962C8B-B14F-4D97-AF65-F5344CB8AC3E}">
        <p14:creationId xmlns:p14="http://schemas.microsoft.com/office/powerpoint/2010/main" val="193823503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F65EEA-B57B-B57E-F067-7756C6C0770B}"/>
              </a:ext>
            </a:extLst>
          </p:cNvPr>
          <p:cNvSpPr>
            <a:spLocks noGrp="1"/>
          </p:cNvSpPr>
          <p:nvPr>
            <p:ph type="title"/>
          </p:nvPr>
        </p:nvSpPr>
        <p:spPr>
          <a:xfrm>
            <a:off x="630238" y="457200"/>
            <a:ext cx="2949575" cy="1600200"/>
          </a:xfrm>
        </p:spPr>
        <p:txBody>
          <a:bodyPr/>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F04B47F1-8725-A3DD-9B85-ECA5F38184E8}"/>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C7ECE35E-236C-FE7F-0BFD-477A4F65038C}"/>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C1F4925F-3A1D-7081-A25E-A3DAE8EF1387}"/>
              </a:ext>
            </a:extLst>
          </p:cNvPr>
          <p:cNvSpPr>
            <a:spLocks noGrp="1"/>
          </p:cNvSpPr>
          <p:nvPr>
            <p:ph type="sldNum" sz="quarter" idx="10"/>
          </p:nvPr>
        </p:nvSpPr>
        <p:spPr/>
        <p:txBody>
          <a:bodyPr/>
          <a:lstStyle>
            <a:lvl1pPr>
              <a:defRPr/>
            </a:lvl1pPr>
          </a:lstStyle>
          <a:p>
            <a:fld id="{F6498F7E-CAE7-4286-85EB-FA9991039155}" type="slidenum">
              <a:rPr lang="en-US" altLang="en-US"/>
              <a:pPr/>
              <a:t>‹#›</a:t>
            </a:fld>
            <a:endParaRPr lang="en-US" altLang="en-US"/>
          </a:p>
        </p:txBody>
      </p:sp>
    </p:spTree>
    <p:extLst>
      <p:ext uri="{BB962C8B-B14F-4D97-AF65-F5344CB8AC3E}">
        <p14:creationId xmlns:p14="http://schemas.microsoft.com/office/powerpoint/2010/main" val="36167019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E0E01E-575D-61BC-6813-21FB1AF4ACD9}"/>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9CA974EB-E830-5093-0E39-B721A9E1698D}"/>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Slide Number Placeholder 3">
            <a:extLst>
              <a:ext uri="{FF2B5EF4-FFF2-40B4-BE49-F238E27FC236}">
                <a16:creationId xmlns:a16="http://schemas.microsoft.com/office/drawing/2014/main" id="{4D000AD7-FE37-D1A4-E0EA-099F8F5A6B18}"/>
              </a:ext>
            </a:extLst>
          </p:cNvPr>
          <p:cNvSpPr>
            <a:spLocks noGrp="1"/>
          </p:cNvSpPr>
          <p:nvPr>
            <p:ph type="sldNum" sz="quarter" idx="10"/>
          </p:nvPr>
        </p:nvSpPr>
        <p:spPr/>
        <p:txBody>
          <a:bodyPr/>
          <a:lstStyle>
            <a:lvl1pPr>
              <a:defRPr/>
            </a:lvl1pPr>
          </a:lstStyle>
          <a:p>
            <a:fld id="{9A42E8B8-7C0D-4AD5-AA52-3E51EDC6F589}" type="slidenum">
              <a:rPr lang="en-US" altLang="en-US"/>
              <a:pPr/>
              <a:t>‹#›</a:t>
            </a:fld>
            <a:endParaRPr lang="en-US" altLang="en-US"/>
          </a:p>
        </p:txBody>
      </p:sp>
    </p:spTree>
    <p:extLst>
      <p:ext uri="{BB962C8B-B14F-4D97-AF65-F5344CB8AC3E}">
        <p14:creationId xmlns:p14="http://schemas.microsoft.com/office/powerpoint/2010/main" val="417152829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978BD05F-C0FF-B54A-05FA-24950FF4ADC3}"/>
              </a:ext>
            </a:extLst>
          </p:cNvPr>
          <p:cNvSpPr>
            <a:spLocks noGrp="1"/>
          </p:cNvSpPr>
          <p:nvPr>
            <p:ph type="title" orient="vert"/>
          </p:nvPr>
        </p:nvSpPr>
        <p:spPr>
          <a:xfrm>
            <a:off x="6515100" y="990600"/>
            <a:ext cx="1943100" cy="4038600"/>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51F20999-CBC4-FE48-B422-5ED5D944EEBC}"/>
              </a:ext>
            </a:extLst>
          </p:cNvPr>
          <p:cNvSpPr>
            <a:spLocks noGrp="1"/>
          </p:cNvSpPr>
          <p:nvPr>
            <p:ph type="body" orient="vert" idx="1"/>
          </p:nvPr>
        </p:nvSpPr>
        <p:spPr>
          <a:xfrm>
            <a:off x="685800" y="990600"/>
            <a:ext cx="5676900" cy="4038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Slide Number Placeholder 3">
            <a:extLst>
              <a:ext uri="{FF2B5EF4-FFF2-40B4-BE49-F238E27FC236}">
                <a16:creationId xmlns:a16="http://schemas.microsoft.com/office/drawing/2014/main" id="{3A0D17C7-25AD-4BD5-B2EA-C64F303E9871}"/>
              </a:ext>
            </a:extLst>
          </p:cNvPr>
          <p:cNvSpPr>
            <a:spLocks noGrp="1"/>
          </p:cNvSpPr>
          <p:nvPr>
            <p:ph type="sldNum" sz="quarter" idx="10"/>
          </p:nvPr>
        </p:nvSpPr>
        <p:spPr/>
        <p:txBody>
          <a:bodyPr/>
          <a:lstStyle>
            <a:lvl1pPr>
              <a:defRPr/>
            </a:lvl1pPr>
          </a:lstStyle>
          <a:p>
            <a:fld id="{B273E8F4-1ACC-465D-8D9D-B7B5388F834E}" type="slidenum">
              <a:rPr lang="en-US" altLang="en-US"/>
              <a:pPr/>
              <a:t>‹#›</a:t>
            </a:fld>
            <a:endParaRPr lang="en-US" altLang="en-US"/>
          </a:p>
        </p:txBody>
      </p:sp>
    </p:spTree>
    <p:extLst>
      <p:ext uri="{BB962C8B-B14F-4D97-AF65-F5344CB8AC3E}">
        <p14:creationId xmlns:p14="http://schemas.microsoft.com/office/powerpoint/2010/main" val="26544383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jpe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auto">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grpSp>
        <p:nvGrpSpPr>
          <p:cNvPr id="1025" name="Group 1">
            <a:extLst>
              <a:ext uri="{FF2B5EF4-FFF2-40B4-BE49-F238E27FC236}">
                <a16:creationId xmlns:a16="http://schemas.microsoft.com/office/drawing/2014/main" id="{6B5A2182-2612-4D77-18D6-33F6ACC986DA}"/>
              </a:ext>
            </a:extLst>
          </p:cNvPr>
          <p:cNvGrpSpPr>
            <a:grpSpLocks/>
          </p:cNvGrpSpPr>
          <p:nvPr/>
        </p:nvGrpSpPr>
        <p:grpSpPr bwMode="auto">
          <a:xfrm>
            <a:off x="588963" y="989013"/>
            <a:ext cx="7959725" cy="111125"/>
            <a:chOff x="-1" y="-1"/>
            <a:chExt cx="7958140" cy="109539"/>
          </a:xfrm>
        </p:grpSpPr>
        <p:sp>
          <p:nvSpPr>
            <p:cNvPr id="1026" name="Rectangle 2">
              <a:extLst>
                <a:ext uri="{FF2B5EF4-FFF2-40B4-BE49-F238E27FC236}">
                  <a16:creationId xmlns:a16="http://schemas.microsoft.com/office/drawing/2014/main" id="{BF39D5FF-EA72-21D6-FFCD-6D5BC0FE7089}"/>
                </a:ext>
              </a:extLst>
            </p:cNvPr>
            <p:cNvSpPr>
              <a:spLocks/>
            </p:cNvSpPr>
            <p:nvPr/>
          </p:nvSpPr>
          <p:spPr bwMode="auto">
            <a:xfrm>
              <a:off x="-1" y="-1"/>
              <a:ext cx="4655512" cy="109539"/>
            </a:xfrm>
            <a:prstGeom prst="rect">
              <a:avLst/>
            </a:pr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027" name="Line 3">
              <a:extLst>
                <a:ext uri="{FF2B5EF4-FFF2-40B4-BE49-F238E27FC236}">
                  <a16:creationId xmlns:a16="http://schemas.microsoft.com/office/drawing/2014/main" id="{F854A015-2C62-F9E1-5310-1377EFB61C75}"/>
                </a:ext>
              </a:extLst>
            </p:cNvPr>
            <p:cNvSpPr>
              <a:spLocks noChangeShapeType="1"/>
            </p:cNvSpPr>
            <p:nvPr/>
          </p:nvSpPr>
          <p:spPr bwMode="auto">
            <a:xfrm>
              <a:off x="-1" y="-1"/>
              <a:ext cx="7958140" cy="1"/>
            </a:xfrm>
            <a:prstGeom prst="line">
              <a:avLst/>
            </a:prstGeom>
            <a:noFill/>
            <a:ln w="9525" cap="flat" cmpd="sng">
              <a:solidFill>
                <a:schemeClr val="accent2"/>
              </a:solidFill>
              <a:prstDash val="solid"/>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pSp>
      <p:sp>
        <p:nvSpPr>
          <p:cNvPr id="1028" name="Line 4" descr="Line 5">
            <a:extLst>
              <a:ext uri="{FF2B5EF4-FFF2-40B4-BE49-F238E27FC236}">
                <a16:creationId xmlns:a16="http://schemas.microsoft.com/office/drawing/2014/main" id="{C9D18CB7-6A6E-4208-C576-7C171DD5A192}"/>
              </a:ext>
            </a:extLst>
          </p:cNvPr>
          <p:cNvSpPr>
            <a:spLocks noChangeShapeType="1"/>
          </p:cNvSpPr>
          <p:nvPr/>
        </p:nvSpPr>
        <p:spPr bwMode="auto">
          <a:xfrm>
            <a:off x="609600" y="6353175"/>
            <a:ext cx="7924800" cy="0"/>
          </a:xfrm>
          <a:prstGeom prst="line">
            <a:avLst/>
          </a:prstGeom>
          <a:noFill/>
          <a:ln w="3175" cap="flat" cmpd="sng">
            <a:solidFill>
              <a:schemeClr val="accent2"/>
            </a:solidFill>
            <a:prstDash val="solid"/>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029" name="Rectangle 5">
            <a:extLst>
              <a:ext uri="{FF2B5EF4-FFF2-40B4-BE49-F238E27FC236}">
                <a16:creationId xmlns:a16="http://schemas.microsoft.com/office/drawing/2014/main" id="{E09C3AE8-7A19-FBAF-0A37-591A35764CA5}"/>
              </a:ext>
            </a:extLst>
          </p:cNvPr>
          <p:cNvSpPr>
            <a:spLocks/>
          </p:cNvSpPr>
          <p:nvPr>
            <p:ph type="title"/>
          </p:nvPr>
        </p:nvSpPr>
        <p:spPr bwMode="auto">
          <a:xfrm>
            <a:off x="574675" y="152400"/>
            <a:ext cx="8001000" cy="762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b" anchorCtr="0" compatLnSpc="1">
            <a:prstTxWarp prst="textNoShape">
              <a:avLst/>
            </a:prstTxWarp>
          </a:bodyPr>
          <a:lstStyle/>
          <a:p>
            <a:pPr lvl="0"/>
            <a:r>
              <a:rPr lang="en-US" altLang="en-US">
                <a:sym typeface="Verdana" panose="020B0604030504040204" pitchFamily="34" charset="0"/>
              </a:rPr>
              <a:t>Click to edit Template title style</a:t>
            </a:r>
          </a:p>
        </p:txBody>
      </p:sp>
      <p:sp>
        <p:nvSpPr>
          <p:cNvPr id="1030" name="Rectangle 6">
            <a:extLst>
              <a:ext uri="{FF2B5EF4-FFF2-40B4-BE49-F238E27FC236}">
                <a16:creationId xmlns:a16="http://schemas.microsoft.com/office/drawing/2014/main" id="{D784DB57-9CD9-246F-ADA9-3DC7DBE7FDCC}"/>
              </a:ext>
            </a:extLst>
          </p:cNvPr>
          <p:cNvSpPr>
            <a:spLocks/>
          </p:cNvSpPr>
          <p:nvPr>
            <p:ph type="body" idx="1"/>
          </p:nvPr>
        </p:nvSpPr>
        <p:spPr bwMode="auto">
          <a:xfrm>
            <a:off x="566738" y="1219200"/>
            <a:ext cx="8001000" cy="5029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Verdana" panose="020B0604030504040204" pitchFamily="34" charset="0"/>
              </a:rPr>
              <a:t>Click to edit Template text styles</a:t>
            </a:r>
          </a:p>
          <a:p>
            <a:pPr lvl="1"/>
            <a:r>
              <a:rPr lang="en-US" altLang="en-US">
                <a:sym typeface="Verdana" panose="020B0604030504040204" pitchFamily="34" charset="0"/>
              </a:rPr>
              <a:t>Second level</a:t>
            </a:r>
          </a:p>
          <a:p>
            <a:pPr lvl="2"/>
            <a:r>
              <a:rPr lang="en-US" altLang="en-US">
                <a:sym typeface="Verdana" panose="020B0604030504040204" pitchFamily="34" charset="0"/>
              </a:rPr>
              <a:t>Third level</a:t>
            </a:r>
          </a:p>
          <a:p>
            <a:pPr lvl="3"/>
            <a:r>
              <a:rPr lang="en-US" altLang="en-US">
                <a:sym typeface="Verdana" panose="020B0604030504040204" pitchFamily="34" charset="0"/>
              </a:rPr>
              <a:t>Fourth level</a:t>
            </a:r>
          </a:p>
          <a:p>
            <a:pPr lvl="4"/>
            <a:r>
              <a:rPr lang="en-US" altLang="en-US">
                <a:sym typeface="Verdana" panose="020B0604030504040204" pitchFamily="34" charset="0"/>
              </a:rPr>
              <a:t>Fifth level</a:t>
            </a:r>
          </a:p>
        </p:txBody>
      </p:sp>
      <p:sp>
        <p:nvSpPr>
          <p:cNvPr id="1031" name="Rectangle 7">
            <a:extLst>
              <a:ext uri="{FF2B5EF4-FFF2-40B4-BE49-F238E27FC236}">
                <a16:creationId xmlns:a16="http://schemas.microsoft.com/office/drawing/2014/main" id="{55036C55-8219-D675-3813-276DACE55CE2}"/>
              </a:ext>
            </a:extLst>
          </p:cNvPr>
          <p:cNvSpPr>
            <a:spLocks/>
          </p:cNvSpPr>
          <p:nvPr>
            <p:ph type="sldNum" sz="quarter" idx="2"/>
          </p:nvPr>
        </p:nvSpPr>
        <p:spPr bwMode="auto">
          <a:xfrm>
            <a:off x="8259763" y="6400800"/>
            <a:ext cx="274637"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defRPr sz="1200">
                <a:solidFill>
                  <a:srgbClr val="003366"/>
                </a:solidFill>
                <a:latin typeface="Arial" panose="020B0604020202020204" pitchFamily="34" charset="0"/>
                <a:cs typeface="Arial" panose="020B0604020202020204" pitchFamily="34" charset="0"/>
                <a:sym typeface="Arial" panose="020B0604020202020204" pitchFamily="34" charset="0"/>
              </a:defRPr>
            </a:lvl1pPr>
          </a:lstStyle>
          <a:p>
            <a:fld id="{BD3E2A75-6413-4CFF-A102-3B7092DF5429}" type="slidenum">
              <a:rPr lang="en-US" altLang="en-US"/>
              <a:pPr/>
              <a:t>‹#›</a:t>
            </a:fld>
            <a:endParaRPr lang="en-US" altLang="en-US"/>
          </a:p>
        </p:txBody>
      </p:sp>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hf sldNum="0" hdr="0" dt="0"/>
  <p:txStyles>
    <p:titleStyle>
      <a:lvl1pPr algn="l" rtl="0" fontAlgn="base" hangingPunct="0">
        <a:spcBef>
          <a:spcPct val="0"/>
        </a:spcBef>
        <a:spcAft>
          <a:spcPct val="0"/>
        </a:spcAft>
        <a:defRPr sz="3200" kern="1200">
          <a:solidFill>
            <a:srgbClr val="003366"/>
          </a:solidFill>
          <a:latin typeface="+mj-lt"/>
          <a:ea typeface="+mj-ea"/>
          <a:cs typeface="+mj-cs"/>
          <a:sym typeface="Verdana" panose="020B0604030504040204" pitchFamily="34" charset="0"/>
        </a:defRPr>
      </a:lvl1pPr>
      <a:lvl2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p:titleStyle>
    <p:bodyStyle>
      <a:lvl1pPr marL="469900" indent="-469900"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1pPr>
      <a:lvl2pPr marL="974725" indent="-504825"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2pPr>
      <a:lvl3pPr marL="1423988" indent="-515938"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3pPr>
      <a:lvl4pPr marL="1887538" indent="-581025"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4pPr>
      <a:lvl5pPr marL="2292350" indent="-596900"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bwMode="auto">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grpSp>
        <p:nvGrpSpPr>
          <p:cNvPr id="2049" name="Group 1">
            <a:extLst>
              <a:ext uri="{FF2B5EF4-FFF2-40B4-BE49-F238E27FC236}">
                <a16:creationId xmlns:a16="http://schemas.microsoft.com/office/drawing/2014/main" id="{C3A04A9B-4384-9297-C670-1432C86982C0}"/>
              </a:ext>
            </a:extLst>
          </p:cNvPr>
          <p:cNvGrpSpPr>
            <a:grpSpLocks/>
          </p:cNvGrpSpPr>
          <p:nvPr/>
        </p:nvGrpSpPr>
        <p:grpSpPr bwMode="auto">
          <a:xfrm>
            <a:off x="684213" y="2392363"/>
            <a:ext cx="7772400" cy="111125"/>
            <a:chOff x="-1" y="-1"/>
            <a:chExt cx="7772401" cy="109539"/>
          </a:xfrm>
        </p:grpSpPr>
        <p:sp>
          <p:nvSpPr>
            <p:cNvPr id="2050" name="Rectangle 2">
              <a:extLst>
                <a:ext uri="{FF2B5EF4-FFF2-40B4-BE49-F238E27FC236}">
                  <a16:creationId xmlns:a16="http://schemas.microsoft.com/office/drawing/2014/main" id="{A2C38E96-30D6-5D87-F971-7E09ACF83DE9}"/>
                </a:ext>
              </a:extLst>
            </p:cNvPr>
            <p:cNvSpPr>
              <a:spLocks/>
            </p:cNvSpPr>
            <p:nvPr/>
          </p:nvSpPr>
          <p:spPr bwMode="auto">
            <a:xfrm>
              <a:off x="-1" y="-1"/>
              <a:ext cx="4803345" cy="109539"/>
            </a:xfrm>
            <a:prstGeom prst="rect">
              <a:avLst/>
            </a:pr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51" name="Line 3">
              <a:extLst>
                <a:ext uri="{FF2B5EF4-FFF2-40B4-BE49-F238E27FC236}">
                  <a16:creationId xmlns:a16="http://schemas.microsoft.com/office/drawing/2014/main" id="{0D95218B-728E-908C-1201-D14680EDDE00}"/>
                </a:ext>
              </a:extLst>
            </p:cNvPr>
            <p:cNvSpPr>
              <a:spLocks noChangeShapeType="1"/>
            </p:cNvSpPr>
            <p:nvPr/>
          </p:nvSpPr>
          <p:spPr bwMode="auto">
            <a:xfrm>
              <a:off x="-1" y="-1"/>
              <a:ext cx="7772401" cy="1"/>
            </a:xfrm>
            <a:prstGeom prst="line">
              <a:avLst/>
            </a:prstGeom>
            <a:noFill/>
            <a:ln w="9525" cap="flat" cmpd="sng">
              <a:solidFill>
                <a:schemeClr val="accent2"/>
              </a:solidFill>
              <a:prstDash val="solid"/>
              <a:round/>
              <a:headEnd type="non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pSp>
      <p:sp>
        <p:nvSpPr>
          <p:cNvPr id="2052" name="Rectangle 4">
            <a:extLst>
              <a:ext uri="{FF2B5EF4-FFF2-40B4-BE49-F238E27FC236}">
                <a16:creationId xmlns:a16="http://schemas.microsoft.com/office/drawing/2014/main" id="{439E3F78-FD4D-4A8F-3ED3-E05EEA63A0F8}"/>
              </a:ext>
            </a:extLst>
          </p:cNvPr>
          <p:cNvSpPr>
            <a:spLocks/>
          </p:cNvSpPr>
          <p:nvPr>
            <p:ph type="title"/>
          </p:nvPr>
        </p:nvSpPr>
        <p:spPr bwMode="auto">
          <a:xfrm>
            <a:off x="685800" y="990600"/>
            <a:ext cx="7772400" cy="1371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b" anchorCtr="0" compatLnSpc="1">
            <a:prstTxWarp prst="textNoShape">
              <a:avLst/>
            </a:prstTxWarp>
          </a:bodyPr>
          <a:lstStyle/>
          <a:p>
            <a:pPr lvl="0"/>
            <a:r>
              <a:rPr lang="en-US" altLang="en-US">
                <a:sym typeface="Verdana" panose="020B0604030504040204" pitchFamily="34" charset="0"/>
              </a:rPr>
              <a:t>Click to edit Template title style</a:t>
            </a:r>
          </a:p>
        </p:txBody>
      </p:sp>
      <p:sp>
        <p:nvSpPr>
          <p:cNvPr id="2053" name="Rectangle 5">
            <a:extLst>
              <a:ext uri="{FF2B5EF4-FFF2-40B4-BE49-F238E27FC236}">
                <a16:creationId xmlns:a16="http://schemas.microsoft.com/office/drawing/2014/main" id="{D7D326D8-1F1A-D65D-6C41-057D398B9A88}"/>
              </a:ext>
            </a:extLst>
          </p:cNvPr>
          <p:cNvSpPr>
            <a:spLocks/>
          </p:cNvSpPr>
          <p:nvPr>
            <p:ph type="body" sz="quarter" idx="1"/>
          </p:nvPr>
        </p:nvSpPr>
        <p:spPr bwMode="auto">
          <a:xfrm>
            <a:off x="1447800" y="3429000"/>
            <a:ext cx="7010400" cy="1600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Verdana" panose="020B0604030504040204" pitchFamily="34" charset="0"/>
              </a:rPr>
              <a:t>Click to edit Template text styles</a:t>
            </a:r>
          </a:p>
          <a:p>
            <a:pPr lvl="1"/>
            <a:r>
              <a:rPr lang="en-US" altLang="en-US">
                <a:sym typeface="Verdana" panose="020B0604030504040204" pitchFamily="34" charset="0"/>
              </a:rPr>
              <a:t>Second level</a:t>
            </a:r>
          </a:p>
          <a:p>
            <a:pPr lvl="2"/>
            <a:r>
              <a:rPr lang="en-US" altLang="en-US">
                <a:sym typeface="Verdana" panose="020B0604030504040204" pitchFamily="34" charset="0"/>
              </a:rPr>
              <a:t>Third level</a:t>
            </a:r>
          </a:p>
          <a:p>
            <a:pPr lvl="3"/>
            <a:r>
              <a:rPr lang="en-US" altLang="en-US">
                <a:sym typeface="Verdana" panose="020B0604030504040204" pitchFamily="34" charset="0"/>
              </a:rPr>
              <a:t>Fourth level</a:t>
            </a:r>
          </a:p>
          <a:p>
            <a:pPr lvl="4"/>
            <a:r>
              <a:rPr lang="en-US" altLang="en-US">
                <a:sym typeface="Verdana" panose="020B0604030504040204" pitchFamily="34" charset="0"/>
              </a:rPr>
              <a:t>Fifth level</a:t>
            </a:r>
          </a:p>
        </p:txBody>
      </p:sp>
      <p:sp>
        <p:nvSpPr>
          <p:cNvPr id="2054" name="Rectangle 6">
            <a:extLst>
              <a:ext uri="{FF2B5EF4-FFF2-40B4-BE49-F238E27FC236}">
                <a16:creationId xmlns:a16="http://schemas.microsoft.com/office/drawing/2014/main" id="{61AAB297-A148-574A-4175-599A47FDF8CB}"/>
              </a:ext>
            </a:extLst>
          </p:cNvPr>
          <p:cNvSpPr>
            <a:spLocks/>
          </p:cNvSpPr>
          <p:nvPr>
            <p:ph type="sldNum" sz="quarter" idx="2"/>
          </p:nvPr>
        </p:nvSpPr>
        <p:spPr bwMode="auto">
          <a:xfrm>
            <a:off x="8183563" y="6248400"/>
            <a:ext cx="274637"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defRPr sz="1200">
                <a:solidFill>
                  <a:srgbClr val="003366"/>
                </a:solidFill>
                <a:latin typeface="Arial" panose="020B0604020202020204" pitchFamily="34" charset="0"/>
                <a:cs typeface="Arial" panose="020B0604020202020204" pitchFamily="34" charset="0"/>
                <a:sym typeface="Arial" panose="020B0604020202020204" pitchFamily="34" charset="0"/>
              </a:defRPr>
            </a:lvl1pPr>
          </a:lstStyle>
          <a:p>
            <a:fld id="{55E0C501-4021-4295-BD1C-F7868B9B542E}" type="slidenum">
              <a:rPr lang="en-US" altLang="en-US"/>
              <a:pPr/>
              <a:t>‹#›</a:t>
            </a:fld>
            <a:endParaRPr lang="en-US"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sldNum="0" hdr="0" dt="0"/>
  <p:txStyles>
    <p:titleStyle>
      <a:lvl1pPr algn="l" rtl="0" fontAlgn="base" hangingPunct="0">
        <a:spcBef>
          <a:spcPct val="0"/>
        </a:spcBef>
        <a:spcAft>
          <a:spcPct val="0"/>
        </a:spcAft>
        <a:defRPr sz="3200" kern="1200">
          <a:solidFill>
            <a:srgbClr val="003366"/>
          </a:solidFill>
          <a:latin typeface="+mj-lt"/>
          <a:ea typeface="+mj-ea"/>
          <a:cs typeface="+mj-cs"/>
          <a:sym typeface="Verdana" panose="020B0604030504040204" pitchFamily="34" charset="0"/>
        </a:defRPr>
      </a:lvl1pPr>
      <a:lvl2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algn="l" rtl="0" fontAlgn="base" hangingPunct="0">
        <a:spcBef>
          <a:spcPct val="0"/>
        </a:spcBef>
        <a:spcAft>
          <a:spcPct val="0"/>
        </a:spcAft>
        <a:defRPr sz="32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p:titleStyle>
    <p:bodyStyle>
      <a:lvl1pPr marL="469900" indent="-469900"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1pPr>
      <a:lvl2pPr marL="974725" indent="-504825"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2pPr>
      <a:lvl3pPr marL="1423988" indent="-515938"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3pPr>
      <a:lvl4pPr marL="1887538" indent="-581025"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4pPr>
      <a:lvl5pPr marL="2292350" indent="-596900" algn="l" rtl="0" fontAlgn="base" hangingPunct="0">
        <a:spcBef>
          <a:spcPts val="700"/>
        </a:spcBef>
        <a:spcAft>
          <a:spcPct val="0"/>
        </a:spcAft>
        <a:buClr>
          <a:schemeClr val="accent2"/>
        </a:buClr>
        <a:buSzPct val="100000"/>
        <a:buChar char="▪"/>
        <a:defRPr sz="3000" kern="1200">
          <a:solidFill>
            <a:srgbClr val="003366"/>
          </a:solidFill>
          <a:latin typeface="+mn-lt"/>
          <a:ea typeface="+mn-ea"/>
          <a:cs typeface="+mn-cs"/>
          <a:sym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7.png"/></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3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4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4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10.png"/></Relationships>
</file>

<file path=ppt/slides/_rels/slide4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image" Target="../media/image13.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10.png"/></Relationships>
</file>

<file path=ppt/slides/_rels/slide5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10.png"/></Relationships>
</file>

<file path=ppt/slides/_rels/slide5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10.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7.png"/><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17.png"/><Relationship Id="rId4" Type="http://schemas.openxmlformats.org/officeDocument/2006/relationships/image" Target="../media/image10.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3.png"/><Relationship Id="rId1" Type="http://schemas.openxmlformats.org/officeDocument/2006/relationships/slideLayout" Target="../slideLayouts/slideLayout2.xml"/><Relationship Id="rId4" Type="http://schemas.openxmlformats.org/officeDocument/2006/relationships/image" Target="../media/image22.png"/></Relationships>
</file>

<file path=ppt/slides/_rels/slide1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2.xml"/><Relationship Id="rId5" Type="http://schemas.openxmlformats.org/officeDocument/2006/relationships/image" Target="../media/image22.png"/><Relationship Id="rId4" Type="http://schemas.openxmlformats.org/officeDocument/2006/relationships/image" Target="../media/image21.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hyperlink" Target="https://www.geeksforgeeks.org/finding-in-and-out-degrees-of-all-vertices-in-a-graph/" TargetMode="External"/><Relationship Id="rId2" Type="http://schemas.openxmlformats.org/officeDocument/2006/relationships/hyperlink" Target="https://www.geeksforgeeks.org/topological-sorting-indegree-based-solution/" TargetMode="Externa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2.xml"/><Relationship Id="rId5" Type="http://schemas.openxmlformats.org/officeDocument/2006/relationships/image" Target="../media/image30.png"/><Relationship Id="rId4" Type="http://schemas.openxmlformats.org/officeDocument/2006/relationships/image" Target="../media/image29.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2.xml"/><Relationship Id="rId4" Type="http://schemas.openxmlformats.org/officeDocument/2006/relationships/image" Target="../media/image46.png"/></Relationships>
</file>

<file path=ppt/slides/_rels/slide24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9.png"/><Relationship Id="rId1" Type="http://schemas.openxmlformats.org/officeDocument/2006/relationships/slideLayout" Target="../slideLayouts/slideLayout2.xml"/><Relationship Id="rId4" Type="http://schemas.openxmlformats.org/officeDocument/2006/relationships/image" Target="../media/image46.png"/></Relationships>
</file>

<file path=ppt/slides/_rels/slide24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Layout" Target="../slideLayouts/slideLayout2.xml"/><Relationship Id="rId4" Type="http://schemas.openxmlformats.org/officeDocument/2006/relationships/image" Target="../media/image46.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2.png"/><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ext Box 1" descr="Footer Placeholder 4">
            <a:extLst>
              <a:ext uri="{FF2B5EF4-FFF2-40B4-BE49-F238E27FC236}">
                <a16:creationId xmlns:a16="http://schemas.microsoft.com/office/drawing/2014/main" id="{5214688C-0971-C47C-B353-C3D6469E4A88}"/>
              </a:ext>
            </a:extLst>
          </p:cNvPr>
          <p:cNvSpPr txBox="1">
            <a:spLocks/>
          </p:cNvSpPr>
          <p:nvPr/>
        </p:nvSpPr>
        <p:spPr bwMode="auto">
          <a:xfrm>
            <a:off x="3168650" y="62484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RVCE</a:t>
            </a:r>
          </a:p>
        </p:txBody>
      </p:sp>
      <p:sp>
        <p:nvSpPr>
          <p:cNvPr id="4098" name="Rectangle 2" descr="Title 1">
            <a:extLst>
              <a:ext uri="{FF2B5EF4-FFF2-40B4-BE49-F238E27FC236}">
                <a16:creationId xmlns:a16="http://schemas.microsoft.com/office/drawing/2014/main" id="{973DB138-83A5-8AC1-F98B-CC5E99BB4AAE}"/>
              </a:ext>
            </a:extLst>
          </p:cNvPr>
          <p:cNvSpPr>
            <a:spLocks noChangeArrowheads="1"/>
          </p:cNvSpPr>
          <p:nvPr>
            <p:ph type="title"/>
          </p:nvPr>
        </p:nvSpPr>
        <p:spPr/>
        <p:txBody>
          <a:bodyPr/>
          <a:lstStyle/>
          <a:p>
            <a:r>
              <a:rPr lang="en-US" altLang="en-US" sz="3600"/>
              <a:t>Course – DBMS</a:t>
            </a:r>
          </a:p>
        </p:txBody>
      </p:sp>
      <p:sp>
        <p:nvSpPr>
          <p:cNvPr id="4099" name="Rectangle 3" descr="Subtitle 2">
            <a:extLst>
              <a:ext uri="{FF2B5EF4-FFF2-40B4-BE49-F238E27FC236}">
                <a16:creationId xmlns:a16="http://schemas.microsoft.com/office/drawing/2014/main" id="{5A4753DC-2E66-CB88-82FA-ACEAE7121F1C}"/>
              </a:ext>
            </a:extLst>
          </p:cNvPr>
          <p:cNvSpPr>
            <a:spLocks noChangeArrowheads="1"/>
          </p:cNvSpPr>
          <p:nvPr>
            <p:ph type="body" sz="quarter" idx="1"/>
          </p:nvPr>
        </p:nvSpPr>
        <p:spPr/>
        <p:txBody>
          <a:bodyPr/>
          <a:lstStyle/>
          <a:p>
            <a:pPr marL="0" indent="0" defTabSz="758825">
              <a:spcBef>
                <a:spcPts val="500"/>
              </a:spcBef>
              <a:buClrTx/>
              <a:buSzTx/>
              <a:buFontTx/>
              <a:buNone/>
            </a:pPr>
            <a:r>
              <a:rPr lang="en-US" altLang="en-US" sz="2300" u="sng"/>
              <a:t>Course Instructor </a:t>
            </a:r>
          </a:p>
          <a:p>
            <a:pPr marL="0" indent="0" defTabSz="758825">
              <a:spcBef>
                <a:spcPts val="500"/>
              </a:spcBef>
              <a:buClrTx/>
              <a:buSzTx/>
              <a:buFontTx/>
              <a:buNone/>
            </a:pPr>
            <a:r>
              <a:rPr lang="en-US" altLang="en-US" sz="2300"/>
              <a:t>	Dr. Karanam Sunil Kumar</a:t>
            </a:r>
          </a:p>
          <a:p>
            <a:pPr marL="0" indent="0" defTabSz="758825">
              <a:spcBef>
                <a:spcPts val="500"/>
              </a:spcBef>
              <a:buClrTx/>
              <a:buSzTx/>
              <a:buFontTx/>
              <a:buNone/>
            </a:pPr>
            <a:r>
              <a:rPr lang="en-US" altLang="en-US" sz="2300"/>
              <a:t>	Department of CSE, BMSCE</a:t>
            </a:r>
          </a:p>
          <a:p>
            <a:pPr marL="0" indent="0" defTabSz="758825">
              <a:spcBef>
                <a:spcPts val="300"/>
              </a:spcBef>
              <a:buClrTx/>
              <a:buSzTx/>
              <a:buFontTx/>
              <a:buNone/>
            </a:pPr>
            <a:r>
              <a:rPr lang="en-US" altLang="en-US" sz="1600"/>
              <a:t> </a:t>
            </a:r>
          </a:p>
        </p:txBody>
      </p:sp>
      <p:sp>
        <p:nvSpPr>
          <p:cNvPr id="4100" name="Text Box 4" descr="Date Placeholder 3">
            <a:extLst>
              <a:ext uri="{FF2B5EF4-FFF2-40B4-BE49-F238E27FC236}">
                <a16:creationId xmlns:a16="http://schemas.microsoft.com/office/drawing/2014/main" id="{9AE14205-A08D-E47B-B2DC-956A84899A9E}"/>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101" name="Text Box 5" descr="Slide Number Placeholder 5">
            <a:extLst>
              <a:ext uri="{FF2B5EF4-FFF2-40B4-BE49-F238E27FC236}">
                <a16:creationId xmlns:a16="http://schemas.microsoft.com/office/drawing/2014/main" id="{52C74927-BCB4-3847-B859-2FBDE44E0D8B}"/>
              </a:ext>
            </a:extLst>
          </p:cNvPr>
          <p:cNvSpPr txBox="1">
            <a:spLocks/>
          </p:cNvSpPr>
          <p:nvPr/>
        </p:nvSpPr>
        <p:spPr bwMode="auto">
          <a:xfrm>
            <a:off x="8650288" y="6165850"/>
            <a:ext cx="18732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7EE0E14-58DB-4144-8741-B3ED90DBD1D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102" name="Picture 6" descr="Picture 6">
            <a:extLst>
              <a:ext uri="{FF2B5EF4-FFF2-40B4-BE49-F238E27FC236}">
                <a16:creationId xmlns:a16="http://schemas.microsoft.com/office/drawing/2014/main" id="{2997FFED-8C4D-B813-481F-92FDE48774D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5265738"/>
            <a:ext cx="914400" cy="900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Text Box 1" descr="Footer Placeholder 3">
            <a:extLst>
              <a:ext uri="{FF2B5EF4-FFF2-40B4-BE49-F238E27FC236}">
                <a16:creationId xmlns:a16="http://schemas.microsoft.com/office/drawing/2014/main" id="{B9B41B6E-24D3-16CB-F20A-B899733319B0}"/>
              </a:ext>
            </a:extLst>
          </p:cNvPr>
          <p:cNvSpPr txBox="1">
            <a:spLocks/>
          </p:cNvSpPr>
          <p:nvPr/>
        </p:nvSpPr>
        <p:spPr bwMode="auto">
          <a:xfrm>
            <a:off x="3168650" y="62484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RVCE</a:t>
            </a:r>
          </a:p>
        </p:txBody>
      </p:sp>
      <p:sp>
        <p:nvSpPr>
          <p:cNvPr id="5122" name="Rectangle 2" descr="Rectangle 2">
            <a:extLst>
              <a:ext uri="{FF2B5EF4-FFF2-40B4-BE49-F238E27FC236}">
                <a16:creationId xmlns:a16="http://schemas.microsoft.com/office/drawing/2014/main" id="{C418F857-730B-7F5E-1A37-B95CD9AA648C}"/>
              </a:ext>
            </a:extLst>
          </p:cNvPr>
          <p:cNvSpPr>
            <a:spLocks noChangeArrowheads="1"/>
          </p:cNvSpPr>
          <p:nvPr>
            <p:ph type="title"/>
          </p:nvPr>
        </p:nvSpPr>
        <p:spPr/>
        <p:txBody>
          <a:bodyPr/>
          <a:lstStyle/>
          <a:p>
            <a:r>
              <a:rPr lang="en-US" altLang="en-US" sz="2800"/>
              <a:t>Instruction to Students</a:t>
            </a:r>
          </a:p>
        </p:txBody>
      </p:sp>
      <p:sp>
        <p:nvSpPr>
          <p:cNvPr id="5123" name="Rectangle 3" descr="Rectangle 3">
            <a:extLst>
              <a:ext uri="{FF2B5EF4-FFF2-40B4-BE49-F238E27FC236}">
                <a16:creationId xmlns:a16="http://schemas.microsoft.com/office/drawing/2014/main" id="{D5E300B1-5143-34E7-469A-3E69DC53BD72}"/>
              </a:ext>
            </a:extLst>
          </p:cNvPr>
          <p:cNvSpPr>
            <a:spLocks noChangeArrowheads="1"/>
          </p:cNvSpPr>
          <p:nvPr>
            <p:ph type="body" sz="quarter" idx="1"/>
          </p:nvPr>
        </p:nvSpPr>
        <p:spPr>
          <a:xfrm>
            <a:off x="914400" y="3200400"/>
            <a:ext cx="7010400" cy="1600200"/>
          </a:xfrm>
        </p:spPr>
        <p:txBody>
          <a:bodyPr/>
          <a:lstStyle/>
          <a:p>
            <a:pPr marL="0" indent="0">
              <a:lnSpc>
                <a:spcPct val="80000"/>
              </a:lnSpc>
              <a:spcBef>
                <a:spcPts val="400"/>
              </a:spcBef>
              <a:buClrTx/>
              <a:buSzTx/>
              <a:buFontTx/>
              <a:buNone/>
            </a:pPr>
            <a:r>
              <a:rPr lang="en-US" altLang="en-US" sz="2000"/>
              <a:t>Apart from the contents presented in the slides students should read through the text book also.</a:t>
            </a:r>
          </a:p>
        </p:txBody>
      </p:sp>
      <p:sp>
        <p:nvSpPr>
          <p:cNvPr id="5124" name="Text Box 4" descr="Date Placeholder 1">
            <a:extLst>
              <a:ext uri="{FF2B5EF4-FFF2-40B4-BE49-F238E27FC236}">
                <a16:creationId xmlns:a16="http://schemas.microsoft.com/office/drawing/2014/main" id="{3025B680-9037-5779-29F1-84715D4015BC}"/>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125" name="Text Box 5" descr="Slide Number Placeholder 2">
            <a:extLst>
              <a:ext uri="{FF2B5EF4-FFF2-40B4-BE49-F238E27FC236}">
                <a16:creationId xmlns:a16="http://schemas.microsoft.com/office/drawing/2014/main" id="{A6DBD3EE-9888-2D0A-9593-FC934B2ED530}"/>
              </a:ext>
            </a:extLst>
          </p:cNvPr>
          <p:cNvSpPr txBox="1">
            <a:spLocks/>
          </p:cNvSpPr>
          <p:nvPr/>
        </p:nvSpPr>
        <p:spPr bwMode="auto">
          <a:xfrm>
            <a:off x="8269288" y="6248400"/>
            <a:ext cx="18732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6EB2838-4985-42CD-A4B9-AFFBB47AC89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5" name="Text Box 1" descr="Footer Placeholder 3">
            <a:extLst>
              <a:ext uri="{FF2B5EF4-FFF2-40B4-BE49-F238E27FC236}">
                <a16:creationId xmlns:a16="http://schemas.microsoft.com/office/drawing/2014/main" id="{D3382E4F-098E-01CA-15F3-CCF5A748C04B}"/>
              </a:ext>
            </a:extLst>
          </p:cNvPr>
          <p:cNvSpPr txBox="1">
            <a:spLocks/>
          </p:cNvSpPr>
          <p:nvPr/>
        </p:nvSpPr>
        <p:spPr bwMode="auto">
          <a:xfrm>
            <a:off x="3168650" y="62484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RVCE</a:t>
            </a:r>
          </a:p>
        </p:txBody>
      </p:sp>
      <p:sp>
        <p:nvSpPr>
          <p:cNvPr id="6146" name="Rectangle 2" descr="Rectangle 2">
            <a:extLst>
              <a:ext uri="{FF2B5EF4-FFF2-40B4-BE49-F238E27FC236}">
                <a16:creationId xmlns:a16="http://schemas.microsoft.com/office/drawing/2014/main" id="{E063C156-05C2-77D2-1EA5-214C663280FA}"/>
              </a:ext>
            </a:extLst>
          </p:cNvPr>
          <p:cNvSpPr>
            <a:spLocks noChangeArrowheads="1"/>
          </p:cNvSpPr>
          <p:nvPr>
            <p:ph type="title"/>
          </p:nvPr>
        </p:nvSpPr>
        <p:spPr/>
        <p:txBody>
          <a:bodyPr/>
          <a:lstStyle/>
          <a:p>
            <a:r>
              <a:rPr lang="en-US" altLang="en-US" sz="2800"/>
              <a:t>Unit 5</a:t>
            </a:r>
          </a:p>
        </p:txBody>
      </p:sp>
      <p:sp>
        <p:nvSpPr>
          <p:cNvPr id="6147" name="Rectangle 3" descr="Rectangle 3">
            <a:extLst>
              <a:ext uri="{FF2B5EF4-FFF2-40B4-BE49-F238E27FC236}">
                <a16:creationId xmlns:a16="http://schemas.microsoft.com/office/drawing/2014/main" id="{76BE083B-C5E2-ADF7-AD16-2B50BA82212A}"/>
              </a:ext>
            </a:extLst>
          </p:cNvPr>
          <p:cNvSpPr>
            <a:spLocks noChangeArrowheads="1"/>
          </p:cNvSpPr>
          <p:nvPr>
            <p:ph type="body" sz="quarter" idx="1"/>
          </p:nvPr>
        </p:nvSpPr>
        <p:spPr>
          <a:xfrm>
            <a:off x="914400" y="3200400"/>
            <a:ext cx="7010400" cy="1600200"/>
          </a:xfrm>
        </p:spPr>
        <p:txBody>
          <a:bodyPr/>
          <a:lstStyle/>
          <a:p>
            <a:pPr marL="0" indent="0" algn="just">
              <a:spcBef>
                <a:spcPts val="300"/>
              </a:spcBef>
              <a:buClrTx/>
              <a:buSzTx/>
              <a:buFontTx/>
              <a:buNone/>
            </a:pPr>
            <a:r>
              <a:rPr lang="en-US" altLang="en-US" sz="1400"/>
              <a:t>Transaction Processing, Concurrency Control: Introduction to Transaction Processing, Transaction and System Concepts, Desirable Properties of Transactions, Characterizing Schedules Based on Recoverability, Characterizing Schedules Based on Serializability, Two-Phase Locking Techniques for Concurrency Control. Recovery Concepts ,NO-UNDO/REDO Recovery Techniques based on Deferred Update. Recovery Techniques Based on Immediate Update. Shadow Paging, The ARIES Recovery Algorithm.</a:t>
            </a:r>
          </a:p>
        </p:txBody>
      </p:sp>
      <p:sp>
        <p:nvSpPr>
          <p:cNvPr id="6148" name="Text Box 4" descr="Date Placeholder 1">
            <a:extLst>
              <a:ext uri="{FF2B5EF4-FFF2-40B4-BE49-F238E27FC236}">
                <a16:creationId xmlns:a16="http://schemas.microsoft.com/office/drawing/2014/main" id="{518E09AA-80D8-723A-FC21-D72D659FBEDD}"/>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149" name="Text Box 5" descr="Slide Number Placeholder 2">
            <a:extLst>
              <a:ext uri="{FF2B5EF4-FFF2-40B4-BE49-F238E27FC236}">
                <a16:creationId xmlns:a16="http://schemas.microsoft.com/office/drawing/2014/main" id="{CE2758FC-BFB8-707D-2C47-1F605AA123F7}"/>
              </a:ext>
            </a:extLst>
          </p:cNvPr>
          <p:cNvSpPr txBox="1">
            <a:spLocks/>
          </p:cNvSpPr>
          <p:nvPr/>
        </p:nvSpPr>
        <p:spPr bwMode="auto">
          <a:xfrm>
            <a:off x="8269288" y="6248400"/>
            <a:ext cx="18732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D21FE24-36AC-4617-9355-2DA2A7AC77C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ext Box 1" descr="Footer Placeholder 3">
            <a:extLst>
              <a:ext uri="{FF2B5EF4-FFF2-40B4-BE49-F238E27FC236}">
                <a16:creationId xmlns:a16="http://schemas.microsoft.com/office/drawing/2014/main" id="{64E18DB0-40B6-B68F-83AB-BD4C277255C1}"/>
              </a:ext>
            </a:extLst>
          </p:cNvPr>
          <p:cNvSpPr txBox="1">
            <a:spLocks/>
          </p:cNvSpPr>
          <p:nvPr/>
        </p:nvSpPr>
        <p:spPr bwMode="auto">
          <a:xfrm>
            <a:off x="3168650" y="62484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endParaRPr lang="en-US" altLang="en-US" sz="1200">
              <a:latin typeface="Arial" panose="020B0604020202020204" pitchFamily="34" charset="0"/>
              <a:cs typeface="Arial" panose="020B0604020202020204" pitchFamily="34" charset="0"/>
              <a:sym typeface="Arial" panose="020B0604020202020204" pitchFamily="34" charset="0"/>
            </a:endParaRPr>
          </a:p>
        </p:txBody>
      </p:sp>
      <p:sp>
        <p:nvSpPr>
          <p:cNvPr id="7170" name="Rectangle 2" descr="Rectangle 2">
            <a:extLst>
              <a:ext uri="{FF2B5EF4-FFF2-40B4-BE49-F238E27FC236}">
                <a16:creationId xmlns:a16="http://schemas.microsoft.com/office/drawing/2014/main" id="{B982DD1D-2ED3-310A-E131-4A11A36859AD}"/>
              </a:ext>
            </a:extLst>
          </p:cNvPr>
          <p:cNvSpPr>
            <a:spLocks noChangeArrowheads="1"/>
          </p:cNvSpPr>
          <p:nvPr>
            <p:ph type="title"/>
          </p:nvPr>
        </p:nvSpPr>
        <p:spPr/>
        <p:txBody>
          <a:bodyPr/>
          <a:lstStyle/>
          <a:p>
            <a:r>
              <a:rPr lang="en-US" altLang="en-US" sz="2800"/>
              <a:t>Why you should Learn Transaction Processing in Database ?</a:t>
            </a:r>
          </a:p>
        </p:txBody>
      </p:sp>
      <p:sp>
        <p:nvSpPr>
          <p:cNvPr id="7171" name="Rectangle 3" descr="Rectangle 3">
            <a:extLst>
              <a:ext uri="{FF2B5EF4-FFF2-40B4-BE49-F238E27FC236}">
                <a16:creationId xmlns:a16="http://schemas.microsoft.com/office/drawing/2014/main" id="{A78045FD-8F0B-E13C-49BD-B3AF64C15EA9}"/>
              </a:ext>
            </a:extLst>
          </p:cNvPr>
          <p:cNvSpPr>
            <a:spLocks noChangeArrowheads="1"/>
          </p:cNvSpPr>
          <p:nvPr>
            <p:ph type="body" sz="quarter" idx="1"/>
          </p:nvPr>
        </p:nvSpPr>
        <p:spPr>
          <a:xfrm>
            <a:off x="914400" y="3200400"/>
            <a:ext cx="7010400" cy="1600200"/>
          </a:xfrm>
        </p:spPr>
        <p:txBody>
          <a:bodyPr/>
          <a:lstStyle/>
          <a:p>
            <a:pPr marL="0" indent="0">
              <a:lnSpc>
                <a:spcPct val="80000"/>
              </a:lnSpc>
              <a:spcBef>
                <a:spcPts val="400"/>
              </a:spcBef>
              <a:buClrTx/>
              <a:buSzTx/>
              <a:buFontTx/>
              <a:buNone/>
            </a:pPr>
            <a:r>
              <a:rPr lang="en-US" altLang="en-US" sz="2000"/>
              <a:t>What is Transaction ?</a:t>
            </a:r>
          </a:p>
        </p:txBody>
      </p:sp>
      <p:sp>
        <p:nvSpPr>
          <p:cNvPr id="7172" name="Text Box 4" descr="Date Placeholder 1">
            <a:extLst>
              <a:ext uri="{FF2B5EF4-FFF2-40B4-BE49-F238E27FC236}">
                <a16:creationId xmlns:a16="http://schemas.microsoft.com/office/drawing/2014/main" id="{A9ED070C-DC5A-0120-B54C-CBC25A0B491A}"/>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173" name="Text Box 5" descr="Slide Number Placeholder 2">
            <a:extLst>
              <a:ext uri="{FF2B5EF4-FFF2-40B4-BE49-F238E27FC236}">
                <a16:creationId xmlns:a16="http://schemas.microsoft.com/office/drawing/2014/main" id="{D99BAE50-916D-71A9-0106-7D2311AC01D6}"/>
              </a:ext>
            </a:extLst>
          </p:cNvPr>
          <p:cNvSpPr txBox="1">
            <a:spLocks/>
          </p:cNvSpPr>
          <p:nvPr/>
        </p:nvSpPr>
        <p:spPr bwMode="auto">
          <a:xfrm>
            <a:off x="8269288" y="6248400"/>
            <a:ext cx="18732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509ED5C-E931-49E4-8C63-A88E4FD358F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Rectangle 1" descr="Title 1">
            <a:extLst>
              <a:ext uri="{FF2B5EF4-FFF2-40B4-BE49-F238E27FC236}">
                <a16:creationId xmlns:a16="http://schemas.microsoft.com/office/drawing/2014/main" id="{6C13627E-447C-4DF1-F763-4B0D085C940F}"/>
              </a:ext>
            </a:extLst>
          </p:cNvPr>
          <p:cNvSpPr>
            <a:spLocks noChangeArrowheads="1"/>
          </p:cNvSpPr>
          <p:nvPr>
            <p:ph type="title"/>
          </p:nvPr>
        </p:nvSpPr>
        <p:spPr/>
        <p:txBody>
          <a:bodyPr/>
          <a:lstStyle/>
          <a:p>
            <a:r>
              <a:rPr lang="en-US" altLang="en-US"/>
              <a:t>Transactions : Introduction</a:t>
            </a:r>
          </a:p>
        </p:txBody>
      </p:sp>
      <p:sp>
        <p:nvSpPr>
          <p:cNvPr id="8194" name="Rectangle 2" descr="Content Placeholder 2">
            <a:extLst>
              <a:ext uri="{FF2B5EF4-FFF2-40B4-BE49-F238E27FC236}">
                <a16:creationId xmlns:a16="http://schemas.microsoft.com/office/drawing/2014/main" id="{974BCAF2-9194-E437-B50C-E656CD66656E}"/>
              </a:ext>
            </a:extLst>
          </p:cNvPr>
          <p:cNvSpPr>
            <a:spLocks noChangeArrowheads="1"/>
          </p:cNvSpPr>
          <p:nvPr>
            <p:ph type="body" idx="1"/>
          </p:nvPr>
        </p:nvSpPr>
        <p:spPr/>
        <p:txBody>
          <a:bodyPr/>
          <a:lstStyle/>
          <a:p>
            <a:pPr>
              <a:spcBef>
                <a:spcPts val="400"/>
              </a:spcBef>
            </a:pPr>
            <a:r>
              <a:rPr lang="en-US" altLang="en-US" sz="2000"/>
              <a:t>Example: Bank database application</a:t>
            </a:r>
          </a:p>
          <a:p>
            <a:pPr>
              <a:spcBef>
                <a:spcPts val="400"/>
              </a:spcBef>
            </a:pPr>
            <a:r>
              <a:rPr lang="en-US" altLang="en-US" sz="2000"/>
              <a:t>Consider </a:t>
            </a:r>
            <a:r>
              <a:rPr lang="en-US" altLang="en-US" sz="2000">
                <a:solidFill>
                  <a:srgbClr val="0000FF"/>
                </a:solidFill>
              </a:rPr>
              <a:t>Ram </a:t>
            </a:r>
            <a:r>
              <a:rPr lang="en-US" altLang="en-US" sz="2000"/>
              <a:t>and </a:t>
            </a:r>
            <a:r>
              <a:rPr lang="en-US" altLang="en-US" sz="2000">
                <a:solidFill>
                  <a:srgbClr val="FF00FF"/>
                </a:solidFill>
              </a:rPr>
              <a:t>Shyam</a:t>
            </a:r>
            <a:r>
              <a:rPr lang="en-US" altLang="en-US" sz="2000"/>
              <a:t> has an account in SBI bank at Basavangudi branch. </a:t>
            </a:r>
          </a:p>
        </p:txBody>
      </p:sp>
      <p:sp>
        <p:nvSpPr>
          <p:cNvPr id="8195" name="Text Box 3" descr="Date Placeholder 3">
            <a:extLst>
              <a:ext uri="{FF2B5EF4-FFF2-40B4-BE49-F238E27FC236}">
                <a16:creationId xmlns:a16="http://schemas.microsoft.com/office/drawing/2014/main" id="{6F2651E6-804F-4469-7874-2EA49F52466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8196" name="Text Box 4" descr="Slide Number Placeholder 5">
            <a:extLst>
              <a:ext uri="{FF2B5EF4-FFF2-40B4-BE49-F238E27FC236}">
                <a16:creationId xmlns:a16="http://schemas.microsoft.com/office/drawing/2014/main" id="{489F3CBE-9D0B-6D58-3CF0-43D60C1E920F}"/>
              </a:ext>
            </a:extLst>
          </p:cNvPr>
          <p:cNvSpPr txBox="1">
            <a:spLocks/>
          </p:cNvSpPr>
          <p:nvPr/>
        </p:nvSpPr>
        <p:spPr bwMode="auto">
          <a:xfrm>
            <a:off x="8345488" y="6400800"/>
            <a:ext cx="18891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B9367D0-0A84-4D8C-B5EB-29C393AC48A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8197" name="Picture 5" descr="Picture 4">
            <a:extLst>
              <a:ext uri="{FF2B5EF4-FFF2-40B4-BE49-F238E27FC236}">
                <a16:creationId xmlns:a16="http://schemas.microsoft.com/office/drawing/2014/main" id="{7F3A39D8-928D-62D3-9CFB-D0979240630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742113" y="1979613"/>
            <a:ext cx="1582737" cy="992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8198" name="Group 6">
            <a:extLst>
              <a:ext uri="{FF2B5EF4-FFF2-40B4-BE49-F238E27FC236}">
                <a16:creationId xmlns:a16="http://schemas.microsoft.com/office/drawing/2014/main" id="{83A022DB-B945-A1A0-3A3A-E7CD4715934F}"/>
              </a:ext>
            </a:extLst>
          </p:cNvPr>
          <p:cNvGraphicFramePr>
            <a:graphicFrameLocks noGrp="1"/>
          </p:cNvGraphicFramePr>
          <p:nvPr/>
        </p:nvGraphicFramePr>
        <p:xfrm>
          <a:off x="1447800" y="2733675"/>
          <a:ext cx="4038600" cy="1431925"/>
        </p:xfrm>
        <a:graphic>
          <a:graphicData uri="http://schemas.openxmlformats.org/drawingml/2006/table">
            <a:tbl>
              <a:tblPr/>
              <a:tblGrid>
                <a:gridCol w="1295400">
                  <a:extLst>
                    <a:ext uri="{9D8B030D-6E8A-4147-A177-3AD203B41FA5}">
                      <a16:colId xmlns:a16="http://schemas.microsoft.com/office/drawing/2014/main" val="3453959816"/>
                    </a:ext>
                  </a:extLst>
                </a:gridCol>
                <a:gridCol w="1066800">
                  <a:extLst>
                    <a:ext uri="{9D8B030D-6E8A-4147-A177-3AD203B41FA5}">
                      <a16:colId xmlns:a16="http://schemas.microsoft.com/office/drawing/2014/main" val="800635104"/>
                    </a:ext>
                  </a:extLst>
                </a:gridCol>
                <a:gridCol w="1676400">
                  <a:extLst>
                    <a:ext uri="{9D8B030D-6E8A-4147-A177-3AD203B41FA5}">
                      <a16:colId xmlns:a16="http://schemas.microsoft.com/office/drawing/2014/main" val="2111688618"/>
                    </a:ext>
                  </a:extLst>
                </a:gridCol>
              </a:tblGrid>
              <a:tr h="663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 Number</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Name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1121897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6186305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Shyam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23844617"/>
                  </a:ext>
                </a:extLst>
              </a:tr>
            </a:tbl>
          </a:graphicData>
        </a:graphic>
      </p:graphicFrame>
      <p:sp>
        <p:nvSpPr>
          <p:cNvPr id="8232" name="Text Box 40" descr="TextBox 10">
            <a:extLst>
              <a:ext uri="{FF2B5EF4-FFF2-40B4-BE49-F238E27FC236}">
                <a16:creationId xmlns:a16="http://schemas.microsoft.com/office/drawing/2014/main" id="{54627E3D-4526-3790-EA81-E914862932BC}"/>
              </a:ext>
            </a:extLst>
          </p:cNvPr>
          <p:cNvSpPr txBox="1">
            <a:spLocks/>
          </p:cNvSpPr>
          <p:nvPr/>
        </p:nvSpPr>
        <p:spPr bwMode="auto">
          <a:xfrm>
            <a:off x="1568450" y="2414588"/>
            <a:ext cx="1349375"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spTree>
  </p:cSld>
  <p:clrMapOvr>
    <a:masterClrMapping/>
  </p:clrMapOvr>
  <p:transition spd="med"/>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7" name="Rectangle 1" descr="Title 1">
            <a:extLst>
              <a:ext uri="{FF2B5EF4-FFF2-40B4-BE49-F238E27FC236}">
                <a16:creationId xmlns:a16="http://schemas.microsoft.com/office/drawing/2014/main" id="{AB3435E2-5CB6-81B9-4C42-260358F5E8B8}"/>
              </a:ext>
            </a:extLst>
          </p:cNvPr>
          <p:cNvSpPr>
            <a:spLocks noChangeArrowheads="1"/>
          </p:cNvSpPr>
          <p:nvPr>
            <p:ph type="title"/>
          </p:nvPr>
        </p:nvSpPr>
        <p:spPr/>
        <p:txBody>
          <a:bodyPr/>
          <a:lstStyle/>
          <a:p>
            <a:r>
              <a:rPr lang="en-US" altLang="en-US"/>
              <a:t>Transactions : Introduction</a:t>
            </a:r>
          </a:p>
        </p:txBody>
      </p:sp>
      <p:sp>
        <p:nvSpPr>
          <p:cNvPr id="9218" name="Rectangle 2" descr="Content Placeholder 2">
            <a:extLst>
              <a:ext uri="{FF2B5EF4-FFF2-40B4-BE49-F238E27FC236}">
                <a16:creationId xmlns:a16="http://schemas.microsoft.com/office/drawing/2014/main" id="{827A125B-0B12-8434-CAAB-FFC6CBFCB77F}"/>
              </a:ext>
            </a:extLst>
          </p:cNvPr>
          <p:cNvSpPr>
            <a:spLocks noChangeArrowheads="1"/>
          </p:cNvSpPr>
          <p:nvPr>
            <p:ph type="body" idx="1"/>
          </p:nvPr>
        </p:nvSpPr>
        <p:spPr/>
        <p:txBody>
          <a:bodyPr/>
          <a:lstStyle/>
          <a:p>
            <a:pPr>
              <a:spcBef>
                <a:spcPts val="400"/>
              </a:spcBef>
            </a:pPr>
            <a:r>
              <a:rPr lang="en-US" altLang="en-US" sz="2000"/>
              <a:t>Example: Bank database application</a:t>
            </a:r>
          </a:p>
          <a:p>
            <a:pPr>
              <a:spcBef>
                <a:spcPts val="400"/>
              </a:spcBef>
            </a:pPr>
            <a:r>
              <a:rPr lang="en-US" altLang="en-US" sz="2000"/>
              <a:t>Consider </a:t>
            </a:r>
            <a:r>
              <a:rPr lang="en-US" altLang="en-US" sz="2000">
                <a:solidFill>
                  <a:srgbClr val="0000FF"/>
                </a:solidFill>
              </a:rPr>
              <a:t>Ram </a:t>
            </a:r>
            <a:r>
              <a:rPr lang="en-US" altLang="en-US" sz="2000"/>
              <a:t>and </a:t>
            </a:r>
            <a:r>
              <a:rPr lang="en-US" altLang="en-US" sz="2000">
                <a:solidFill>
                  <a:srgbClr val="FF00FF"/>
                </a:solidFill>
              </a:rPr>
              <a:t>Shyam</a:t>
            </a:r>
            <a:r>
              <a:rPr lang="en-US" altLang="en-US" sz="2000"/>
              <a:t> has an account in SBI bank at Basvangudi branch. </a:t>
            </a:r>
          </a:p>
        </p:txBody>
      </p:sp>
      <p:sp>
        <p:nvSpPr>
          <p:cNvPr id="9219" name="Text Box 3" descr="Date Placeholder 3">
            <a:extLst>
              <a:ext uri="{FF2B5EF4-FFF2-40B4-BE49-F238E27FC236}">
                <a16:creationId xmlns:a16="http://schemas.microsoft.com/office/drawing/2014/main" id="{7C1BCF62-D01E-EA9E-9F27-84E1BB1F3BF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9220" name="Text Box 4" descr="Slide Number Placeholder 5">
            <a:extLst>
              <a:ext uri="{FF2B5EF4-FFF2-40B4-BE49-F238E27FC236}">
                <a16:creationId xmlns:a16="http://schemas.microsoft.com/office/drawing/2014/main" id="{C3FC72DD-9AE9-1E7C-9649-B9F7CA9729E8}"/>
              </a:ext>
            </a:extLst>
          </p:cNvPr>
          <p:cNvSpPr txBox="1">
            <a:spLocks/>
          </p:cNvSpPr>
          <p:nvPr/>
        </p:nvSpPr>
        <p:spPr bwMode="auto">
          <a:xfrm>
            <a:off x="8345488" y="6400800"/>
            <a:ext cx="18891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D1F441B-6879-4714-A85B-7C4778503CB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9221" name="Picture 5" descr="Picture 4">
            <a:extLst>
              <a:ext uri="{FF2B5EF4-FFF2-40B4-BE49-F238E27FC236}">
                <a16:creationId xmlns:a16="http://schemas.microsoft.com/office/drawing/2014/main" id="{8714A432-6F30-3F11-576A-1BC8B69FC94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742113" y="1979613"/>
            <a:ext cx="1582737" cy="992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9222" name="Group 6">
            <a:extLst>
              <a:ext uri="{FF2B5EF4-FFF2-40B4-BE49-F238E27FC236}">
                <a16:creationId xmlns:a16="http://schemas.microsoft.com/office/drawing/2014/main" id="{46F1A3FC-DAB3-7D51-26B3-8A35095841D8}"/>
              </a:ext>
            </a:extLst>
          </p:cNvPr>
          <p:cNvGraphicFramePr>
            <a:graphicFrameLocks noGrp="1"/>
          </p:cNvGraphicFramePr>
          <p:nvPr/>
        </p:nvGraphicFramePr>
        <p:xfrm>
          <a:off x="1447800" y="2733675"/>
          <a:ext cx="4038600" cy="1431925"/>
        </p:xfrm>
        <a:graphic>
          <a:graphicData uri="http://schemas.openxmlformats.org/drawingml/2006/table">
            <a:tbl>
              <a:tblPr/>
              <a:tblGrid>
                <a:gridCol w="1295400">
                  <a:extLst>
                    <a:ext uri="{9D8B030D-6E8A-4147-A177-3AD203B41FA5}">
                      <a16:colId xmlns:a16="http://schemas.microsoft.com/office/drawing/2014/main" val="2425373589"/>
                    </a:ext>
                  </a:extLst>
                </a:gridCol>
                <a:gridCol w="1066800">
                  <a:extLst>
                    <a:ext uri="{9D8B030D-6E8A-4147-A177-3AD203B41FA5}">
                      <a16:colId xmlns:a16="http://schemas.microsoft.com/office/drawing/2014/main" val="3157772991"/>
                    </a:ext>
                  </a:extLst>
                </a:gridCol>
                <a:gridCol w="1676400">
                  <a:extLst>
                    <a:ext uri="{9D8B030D-6E8A-4147-A177-3AD203B41FA5}">
                      <a16:colId xmlns:a16="http://schemas.microsoft.com/office/drawing/2014/main" val="2471049872"/>
                    </a:ext>
                  </a:extLst>
                </a:gridCol>
              </a:tblGrid>
              <a:tr h="663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 Number</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Name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226196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694172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Shyam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38325512"/>
                  </a:ext>
                </a:extLst>
              </a:tr>
            </a:tbl>
          </a:graphicData>
        </a:graphic>
      </p:graphicFrame>
      <p:sp>
        <p:nvSpPr>
          <p:cNvPr id="9256" name="Text Box 40" descr="TextBox 8">
            <a:extLst>
              <a:ext uri="{FF2B5EF4-FFF2-40B4-BE49-F238E27FC236}">
                <a16:creationId xmlns:a16="http://schemas.microsoft.com/office/drawing/2014/main" id="{FFFC6E95-7FEB-0983-ECBD-6B9DB52913F4}"/>
              </a:ext>
            </a:extLst>
          </p:cNvPr>
          <p:cNvSpPr txBox="1">
            <a:spLocks/>
          </p:cNvSpPr>
          <p:nvPr/>
        </p:nvSpPr>
        <p:spPr bwMode="auto">
          <a:xfrm>
            <a:off x="304800" y="4786313"/>
            <a:ext cx="8543925" cy="855662"/>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solidFill>
                  <a:srgbClr val="C00000"/>
                </a:solidFill>
              </a:rPr>
              <a:t>Transaction:</a:t>
            </a:r>
          </a:p>
          <a:p>
            <a:r>
              <a:rPr lang="en-US" altLang="en-US" sz="2400"/>
              <a:t>Transfer Rs. 100 from Ram account to Shyam account.</a:t>
            </a:r>
          </a:p>
        </p:txBody>
      </p:sp>
      <p:sp>
        <p:nvSpPr>
          <p:cNvPr id="9257" name="Text Box 41" descr="TextBox 10">
            <a:extLst>
              <a:ext uri="{FF2B5EF4-FFF2-40B4-BE49-F238E27FC236}">
                <a16:creationId xmlns:a16="http://schemas.microsoft.com/office/drawing/2014/main" id="{C5FC63AA-851B-B835-ADA8-94A77CF7873A}"/>
              </a:ext>
            </a:extLst>
          </p:cNvPr>
          <p:cNvSpPr txBox="1">
            <a:spLocks/>
          </p:cNvSpPr>
          <p:nvPr/>
        </p:nvSpPr>
        <p:spPr bwMode="auto">
          <a:xfrm>
            <a:off x="1568450" y="2414588"/>
            <a:ext cx="1349375"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spTree>
  </p:cSld>
  <p:clrMapOvr>
    <a:masterClrMapping/>
  </p:clrMapOvr>
  <p:transition spd="med"/>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1" name="Rectangle 1" descr="Title 1">
            <a:extLst>
              <a:ext uri="{FF2B5EF4-FFF2-40B4-BE49-F238E27FC236}">
                <a16:creationId xmlns:a16="http://schemas.microsoft.com/office/drawing/2014/main" id="{73914D56-89DE-BCC9-0897-FAF1378BA877}"/>
              </a:ext>
            </a:extLst>
          </p:cNvPr>
          <p:cNvSpPr>
            <a:spLocks noChangeArrowheads="1"/>
          </p:cNvSpPr>
          <p:nvPr>
            <p:ph type="title"/>
          </p:nvPr>
        </p:nvSpPr>
        <p:spPr/>
        <p:txBody>
          <a:bodyPr/>
          <a:lstStyle/>
          <a:p>
            <a:r>
              <a:rPr lang="en-US" altLang="en-US"/>
              <a:t>Transactions : Introduction</a:t>
            </a:r>
          </a:p>
        </p:txBody>
      </p:sp>
      <p:sp>
        <p:nvSpPr>
          <p:cNvPr id="10242" name="Rectangle 2" descr="Content Placeholder 2">
            <a:extLst>
              <a:ext uri="{FF2B5EF4-FFF2-40B4-BE49-F238E27FC236}">
                <a16:creationId xmlns:a16="http://schemas.microsoft.com/office/drawing/2014/main" id="{064A7D8C-1018-00E2-FC73-4F6EDAA9CE80}"/>
              </a:ext>
            </a:extLst>
          </p:cNvPr>
          <p:cNvSpPr>
            <a:spLocks noChangeArrowheads="1"/>
          </p:cNvSpPr>
          <p:nvPr>
            <p:ph type="body" idx="1"/>
          </p:nvPr>
        </p:nvSpPr>
        <p:spPr/>
        <p:txBody>
          <a:bodyPr/>
          <a:lstStyle/>
          <a:p>
            <a:pPr>
              <a:spcBef>
                <a:spcPts val="400"/>
              </a:spcBef>
            </a:pPr>
            <a:r>
              <a:rPr lang="en-US" altLang="en-US" sz="2000"/>
              <a:t>Example: Bank database application</a:t>
            </a:r>
          </a:p>
          <a:p>
            <a:pPr>
              <a:spcBef>
                <a:spcPts val="400"/>
              </a:spcBef>
            </a:pPr>
            <a:r>
              <a:rPr lang="en-US" altLang="en-US" sz="2000"/>
              <a:t>Consider </a:t>
            </a:r>
            <a:r>
              <a:rPr lang="en-US" altLang="en-US" sz="2000">
                <a:solidFill>
                  <a:srgbClr val="0000FF"/>
                </a:solidFill>
              </a:rPr>
              <a:t>Ram </a:t>
            </a:r>
            <a:r>
              <a:rPr lang="en-US" altLang="en-US" sz="2000"/>
              <a:t>and </a:t>
            </a:r>
            <a:r>
              <a:rPr lang="en-US" altLang="en-US" sz="2000">
                <a:solidFill>
                  <a:srgbClr val="FF00FF"/>
                </a:solidFill>
              </a:rPr>
              <a:t>Shyam</a:t>
            </a:r>
            <a:r>
              <a:rPr lang="en-US" altLang="en-US" sz="2000"/>
              <a:t> has an account in SBI bank at Basvangudi branch. </a:t>
            </a:r>
          </a:p>
        </p:txBody>
      </p:sp>
      <p:sp>
        <p:nvSpPr>
          <p:cNvPr id="10243" name="Text Box 3" descr="Date Placeholder 3">
            <a:extLst>
              <a:ext uri="{FF2B5EF4-FFF2-40B4-BE49-F238E27FC236}">
                <a16:creationId xmlns:a16="http://schemas.microsoft.com/office/drawing/2014/main" id="{FB0EE720-BA4D-890E-CC29-F300C9078BE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244" name="Text Box 4" descr="Slide Number Placeholder 5">
            <a:extLst>
              <a:ext uri="{FF2B5EF4-FFF2-40B4-BE49-F238E27FC236}">
                <a16:creationId xmlns:a16="http://schemas.microsoft.com/office/drawing/2014/main" id="{5FB9AAE0-0D57-4BAF-7DAE-42C7E61B2443}"/>
              </a:ext>
            </a:extLst>
          </p:cNvPr>
          <p:cNvSpPr txBox="1">
            <a:spLocks/>
          </p:cNvSpPr>
          <p:nvPr/>
        </p:nvSpPr>
        <p:spPr bwMode="auto">
          <a:xfrm>
            <a:off x="8345488" y="6400800"/>
            <a:ext cx="18891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1F40E62-A5E4-4D42-A65B-33080301F7A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0245" name="Picture 5" descr="Picture 4">
            <a:extLst>
              <a:ext uri="{FF2B5EF4-FFF2-40B4-BE49-F238E27FC236}">
                <a16:creationId xmlns:a16="http://schemas.microsoft.com/office/drawing/2014/main" id="{A52D6258-52F2-1701-1A60-35EC37AE068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742113" y="1979613"/>
            <a:ext cx="1582737" cy="992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10246" name="Group 6">
            <a:extLst>
              <a:ext uri="{FF2B5EF4-FFF2-40B4-BE49-F238E27FC236}">
                <a16:creationId xmlns:a16="http://schemas.microsoft.com/office/drawing/2014/main" id="{A3F213B2-41AC-0980-0C70-AED7A1379E73}"/>
              </a:ext>
            </a:extLst>
          </p:cNvPr>
          <p:cNvGraphicFramePr>
            <a:graphicFrameLocks noGrp="1"/>
          </p:cNvGraphicFramePr>
          <p:nvPr/>
        </p:nvGraphicFramePr>
        <p:xfrm>
          <a:off x="1447800" y="2733675"/>
          <a:ext cx="4038600" cy="1431925"/>
        </p:xfrm>
        <a:graphic>
          <a:graphicData uri="http://schemas.openxmlformats.org/drawingml/2006/table">
            <a:tbl>
              <a:tblPr/>
              <a:tblGrid>
                <a:gridCol w="1295400">
                  <a:extLst>
                    <a:ext uri="{9D8B030D-6E8A-4147-A177-3AD203B41FA5}">
                      <a16:colId xmlns:a16="http://schemas.microsoft.com/office/drawing/2014/main" val="1684110274"/>
                    </a:ext>
                  </a:extLst>
                </a:gridCol>
                <a:gridCol w="1066800">
                  <a:extLst>
                    <a:ext uri="{9D8B030D-6E8A-4147-A177-3AD203B41FA5}">
                      <a16:colId xmlns:a16="http://schemas.microsoft.com/office/drawing/2014/main" val="1045218311"/>
                    </a:ext>
                  </a:extLst>
                </a:gridCol>
                <a:gridCol w="1676400">
                  <a:extLst>
                    <a:ext uri="{9D8B030D-6E8A-4147-A177-3AD203B41FA5}">
                      <a16:colId xmlns:a16="http://schemas.microsoft.com/office/drawing/2014/main" val="2795278845"/>
                    </a:ext>
                  </a:extLst>
                </a:gridCol>
              </a:tblGrid>
              <a:tr h="663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 Number</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Name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9163922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72746550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Shyam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56153381"/>
                  </a:ext>
                </a:extLst>
              </a:tr>
            </a:tbl>
          </a:graphicData>
        </a:graphic>
      </p:graphicFrame>
      <p:sp>
        <p:nvSpPr>
          <p:cNvPr id="10280" name="Text Box 40" descr="TextBox 8">
            <a:extLst>
              <a:ext uri="{FF2B5EF4-FFF2-40B4-BE49-F238E27FC236}">
                <a16:creationId xmlns:a16="http://schemas.microsoft.com/office/drawing/2014/main" id="{0198B3D1-04EC-2353-CE76-3AB9FD4A2A48}"/>
              </a:ext>
            </a:extLst>
          </p:cNvPr>
          <p:cNvSpPr txBox="1">
            <a:spLocks/>
          </p:cNvSpPr>
          <p:nvPr/>
        </p:nvSpPr>
        <p:spPr bwMode="auto">
          <a:xfrm>
            <a:off x="1111250" y="4171950"/>
            <a:ext cx="5794375"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C00000"/>
                </a:solidFill>
              </a:rPr>
              <a:t>Transaction:</a:t>
            </a:r>
          </a:p>
          <a:p>
            <a:r>
              <a:rPr lang="en-US" altLang="en-US"/>
              <a:t>Transfer Rs. 100 </a:t>
            </a:r>
            <a:r>
              <a:rPr lang="en-US" altLang="en-US">
                <a:solidFill>
                  <a:srgbClr val="0000FF"/>
                </a:solidFill>
              </a:rPr>
              <a:t>Ram</a:t>
            </a:r>
            <a:r>
              <a:rPr lang="en-US" altLang="en-US"/>
              <a:t> account to </a:t>
            </a:r>
            <a:r>
              <a:rPr lang="en-US" altLang="en-US">
                <a:solidFill>
                  <a:srgbClr val="FF00FF"/>
                </a:solidFill>
              </a:rPr>
              <a:t>Shyam</a:t>
            </a:r>
            <a:r>
              <a:rPr lang="en-US" altLang="en-US"/>
              <a:t> account.</a:t>
            </a:r>
          </a:p>
        </p:txBody>
      </p:sp>
      <p:sp>
        <p:nvSpPr>
          <p:cNvPr id="10281" name="Text Box 41" descr="TextBox 9">
            <a:extLst>
              <a:ext uri="{FF2B5EF4-FFF2-40B4-BE49-F238E27FC236}">
                <a16:creationId xmlns:a16="http://schemas.microsoft.com/office/drawing/2014/main" id="{55A517A5-91FA-8A71-A6AF-2421445690DB}"/>
              </a:ext>
            </a:extLst>
          </p:cNvPr>
          <p:cNvSpPr txBox="1">
            <a:spLocks/>
          </p:cNvSpPr>
          <p:nvPr/>
        </p:nvSpPr>
        <p:spPr bwMode="auto">
          <a:xfrm>
            <a:off x="1331913" y="5105400"/>
            <a:ext cx="5289550" cy="957263"/>
          </a:xfrm>
          <a:prstGeom prst="rect">
            <a:avLst/>
          </a:prstGeom>
          <a:noFill/>
          <a:ln w="2857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What are the SQL statement to be executed </a:t>
            </a:r>
          </a:p>
          <a:p>
            <a:r>
              <a:rPr lang="en-US" altLang="en-US"/>
              <a:t>to perform the above transaction ?</a:t>
            </a:r>
          </a:p>
        </p:txBody>
      </p:sp>
      <p:sp>
        <p:nvSpPr>
          <p:cNvPr id="10282" name="Text Box 42" descr="TextBox 10">
            <a:extLst>
              <a:ext uri="{FF2B5EF4-FFF2-40B4-BE49-F238E27FC236}">
                <a16:creationId xmlns:a16="http://schemas.microsoft.com/office/drawing/2014/main" id="{9F6C7E46-3868-683E-E3E8-C5857BAB25F6}"/>
              </a:ext>
            </a:extLst>
          </p:cNvPr>
          <p:cNvSpPr txBox="1">
            <a:spLocks/>
          </p:cNvSpPr>
          <p:nvPr/>
        </p:nvSpPr>
        <p:spPr bwMode="auto">
          <a:xfrm>
            <a:off x="1568450" y="2414588"/>
            <a:ext cx="1349375"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spTree>
  </p:cSld>
  <p:clrMapOvr>
    <a:masterClrMapping/>
  </p:clrMapOvr>
  <p:transition spd="med"/>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5" name="Rectangle 1" descr="Title 1">
            <a:extLst>
              <a:ext uri="{FF2B5EF4-FFF2-40B4-BE49-F238E27FC236}">
                <a16:creationId xmlns:a16="http://schemas.microsoft.com/office/drawing/2014/main" id="{4536F8F9-C8C5-776F-36EC-91163FF67D9C}"/>
              </a:ext>
            </a:extLst>
          </p:cNvPr>
          <p:cNvSpPr>
            <a:spLocks noChangeArrowheads="1"/>
          </p:cNvSpPr>
          <p:nvPr>
            <p:ph type="title"/>
          </p:nvPr>
        </p:nvSpPr>
        <p:spPr/>
        <p:txBody>
          <a:bodyPr/>
          <a:lstStyle/>
          <a:p>
            <a:r>
              <a:rPr lang="en-US" altLang="en-US"/>
              <a:t>Transactions : Introduction</a:t>
            </a:r>
          </a:p>
        </p:txBody>
      </p:sp>
      <p:sp>
        <p:nvSpPr>
          <p:cNvPr id="11266" name="Rectangle 2" descr="Content Placeholder 2">
            <a:extLst>
              <a:ext uri="{FF2B5EF4-FFF2-40B4-BE49-F238E27FC236}">
                <a16:creationId xmlns:a16="http://schemas.microsoft.com/office/drawing/2014/main" id="{FD3C6B48-BBC4-A09E-6C75-92371CD0CF34}"/>
              </a:ext>
            </a:extLst>
          </p:cNvPr>
          <p:cNvSpPr>
            <a:spLocks noChangeArrowheads="1"/>
          </p:cNvSpPr>
          <p:nvPr>
            <p:ph type="body" idx="1"/>
          </p:nvPr>
        </p:nvSpPr>
        <p:spPr>
          <a:xfrm>
            <a:off x="566738" y="1143000"/>
            <a:ext cx="8001000" cy="5029200"/>
          </a:xfrm>
        </p:spPr>
        <p:txBody>
          <a:bodyPr/>
          <a:lstStyle/>
          <a:p>
            <a:pPr>
              <a:spcBef>
                <a:spcPts val="300"/>
              </a:spcBef>
            </a:pPr>
            <a:r>
              <a:rPr lang="en-US" altLang="en-US" sz="1600"/>
              <a:t>Example: Bank database application</a:t>
            </a:r>
          </a:p>
          <a:p>
            <a:pPr>
              <a:spcBef>
                <a:spcPts val="300"/>
              </a:spcBef>
            </a:pPr>
            <a:r>
              <a:rPr lang="en-US" altLang="en-US" sz="1600"/>
              <a:t>Consider </a:t>
            </a:r>
            <a:r>
              <a:rPr lang="en-US" altLang="en-US" sz="1600">
                <a:solidFill>
                  <a:srgbClr val="0000FF"/>
                </a:solidFill>
              </a:rPr>
              <a:t>Ram </a:t>
            </a:r>
            <a:r>
              <a:rPr lang="en-US" altLang="en-US" sz="1600"/>
              <a:t>and </a:t>
            </a:r>
            <a:r>
              <a:rPr lang="en-US" altLang="en-US" sz="1600">
                <a:solidFill>
                  <a:srgbClr val="FF00FF"/>
                </a:solidFill>
              </a:rPr>
              <a:t>Shyam</a:t>
            </a:r>
            <a:r>
              <a:rPr lang="en-US" altLang="en-US" sz="1600"/>
              <a:t> has an account in SBI bank at Basvangudi branch. </a:t>
            </a:r>
          </a:p>
        </p:txBody>
      </p:sp>
      <p:sp>
        <p:nvSpPr>
          <p:cNvPr id="11267" name="Text Box 3" descr="Date Placeholder 3">
            <a:extLst>
              <a:ext uri="{FF2B5EF4-FFF2-40B4-BE49-F238E27FC236}">
                <a16:creationId xmlns:a16="http://schemas.microsoft.com/office/drawing/2014/main" id="{77EE9A02-FB2E-723A-0D15-DDC952DF917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268" name="Text Box 4" descr="Slide Number Placeholder 5">
            <a:extLst>
              <a:ext uri="{FF2B5EF4-FFF2-40B4-BE49-F238E27FC236}">
                <a16:creationId xmlns:a16="http://schemas.microsoft.com/office/drawing/2014/main" id="{ABE316A7-4CF5-A2CE-0566-6C18FEBB76EA}"/>
              </a:ext>
            </a:extLst>
          </p:cNvPr>
          <p:cNvSpPr txBox="1">
            <a:spLocks/>
          </p:cNvSpPr>
          <p:nvPr/>
        </p:nvSpPr>
        <p:spPr bwMode="auto">
          <a:xfrm>
            <a:off x="8345488" y="6400800"/>
            <a:ext cx="18891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96B03CA-9B8D-4928-B5AB-BE41892DCED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1269" name="Picture 5" descr="Picture 4">
            <a:extLst>
              <a:ext uri="{FF2B5EF4-FFF2-40B4-BE49-F238E27FC236}">
                <a16:creationId xmlns:a16="http://schemas.microsoft.com/office/drawing/2014/main" id="{ACA0C8DD-9831-EE97-613D-85AF24F6E90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61150" y="1917700"/>
            <a:ext cx="1582738"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1270" name="Text Box 6" descr="TextBox 8">
            <a:extLst>
              <a:ext uri="{FF2B5EF4-FFF2-40B4-BE49-F238E27FC236}">
                <a16:creationId xmlns:a16="http://schemas.microsoft.com/office/drawing/2014/main" id="{C0D1DCBD-19C9-416C-234E-0D7231851D28}"/>
              </a:ext>
            </a:extLst>
          </p:cNvPr>
          <p:cNvSpPr txBox="1">
            <a:spLocks/>
          </p:cNvSpPr>
          <p:nvPr/>
        </p:nvSpPr>
        <p:spPr bwMode="auto">
          <a:xfrm>
            <a:off x="376238" y="3265488"/>
            <a:ext cx="74723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solidFill>
                  <a:srgbClr val="C00000"/>
                </a:solidFill>
              </a:rPr>
              <a:t>Transaction: </a:t>
            </a:r>
            <a:r>
              <a:rPr lang="en-US" altLang="en-US"/>
              <a:t>Transfer Rs. 100 </a:t>
            </a:r>
            <a:r>
              <a:rPr lang="en-US" altLang="en-US">
                <a:solidFill>
                  <a:srgbClr val="0000FF"/>
                </a:solidFill>
              </a:rPr>
              <a:t>Ram</a:t>
            </a:r>
            <a:r>
              <a:rPr lang="en-US" altLang="en-US"/>
              <a:t> account to </a:t>
            </a:r>
            <a:r>
              <a:rPr lang="en-US" altLang="en-US">
                <a:solidFill>
                  <a:srgbClr val="FF00FF"/>
                </a:solidFill>
              </a:rPr>
              <a:t>Shyam</a:t>
            </a:r>
            <a:r>
              <a:rPr lang="en-US" altLang="en-US"/>
              <a:t> account.</a:t>
            </a:r>
            <a:endParaRPr lang="en-US" altLang="en-US" b="1">
              <a:solidFill>
                <a:srgbClr val="C00000"/>
              </a:solidFill>
            </a:endParaRPr>
          </a:p>
        </p:txBody>
      </p:sp>
      <p:sp>
        <p:nvSpPr>
          <p:cNvPr id="11271" name="Text Box 7" descr="TextBox 9">
            <a:extLst>
              <a:ext uri="{FF2B5EF4-FFF2-40B4-BE49-F238E27FC236}">
                <a16:creationId xmlns:a16="http://schemas.microsoft.com/office/drawing/2014/main" id="{3A7C25C9-0D1F-3EB9-534B-D10B39D772D6}"/>
              </a:ext>
            </a:extLst>
          </p:cNvPr>
          <p:cNvSpPr txBox="1">
            <a:spLocks/>
          </p:cNvSpPr>
          <p:nvPr/>
        </p:nvSpPr>
        <p:spPr bwMode="auto">
          <a:xfrm>
            <a:off x="561975" y="4052888"/>
            <a:ext cx="5592763" cy="1035050"/>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2000">
                <a:solidFill>
                  <a:srgbClr val="0000FF"/>
                </a:solidFill>
              </a:rPr>
              <a:t>update </a:t>
            </a:r>
            <a:r>
              <a:rPr lang="en-US" altLang="en-US" sz="2000" b="1">
                <a:solidFill>
                  <a:srgbClr val="00B050"/>
                </a:solidFill>
              </a:rPr>
              <a:t>ACCOUNTS</a:t>
            </a:r>
          </a:p>
          <a:p>
            <a:r>
              <a:rPr lang="en-US" altLang="en-US" sz="2000">
                <a:solidFill>
                  <a:srgbClr val="0000FF"/>
                </a:solidFill>
              </a:rPr>
              <a:t>set Balance =Balance-100</a:t>
            </a:r>
          </a:p>
          <a:p>
            <a:r>
              <a:rPr lang="en-US" altLang="en-US" sz="2000">
                <a:solidFill>
                  <a:srgbClr val="0000FF"/>
                </a:solidFill>
              </a:rPr>
              <a:t>where AccountNumber=</a:t>
            </a:r>
            <a:r>
              <a:rPr lang="en-US" altLang="en-US" sz="2000" b="1">
                <a:solidFill>
                  <a:srgbClr val="0000FF"/>
                </a:solidFill>
              </a:rPr>
              <a:t>501</a:t>
            </a:r>
            <a:r>
              <a:rPr lang="en-US" altLang="en-US" sz="2000">
                <a:solidFill>
                  <a:srgbClr val="0000FF"/>
                </a:solidFill>
              </a:rPr>
              <a:t>;</a:t>
            </a:r>
          </a:p>
        </p:txBody>
      </p:sp>
      <p:sp>
        <p:nvSpPr>
          <p:cNvPr id="11272" name="Text Box 8" descr="TextBox 11">
            <a:extLst>
              <a:ext uri="{FF2B5EF4-FFF2-40B4-BE49-F238E27FC236}">
                <a16:creationId xmlns:a16="http://schemas.microsoft.com/office/drawing/2014/main" id="{E4A1ED66-3213-F5AF-3AEE-0243CC71CCBF}"/>
              </a:ext>
            </a:extLst>
          </p:cNvPr>
          <p:cNvSpPr txBox="1">
            <a:spLocks/>
          </p:cNvSpPr>
          <p:nvPr/>
        </p:nvSpPr>
        <p:spPr bwMode="auto">
          <a:xfrm>
            <a:off x="276225" y="3733800"/>
            <a:ext cx="40576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Subtract</a:t>
            </a:r>
            <a:r>
              <a:rPr lang="en-US" altLang="en-US" sz="1600"/>
              <a:t> Rs. 100/- from </a:t>
            </a:r>
            <a:r>
              <a:rPr lang="en-US" altLang="en-US" sz="1600">
                <a:solidFill>
                  <a:srgbClr val="0000FF"/>
                </a:solidFill>
              </a:rPr>
              <a:t>Ram</a:t>
            </a:r>
            <a:r>
              <a:rPr lang="en-US" altLang="en-US" sz="1600"/>
              <a:t> account</a:t>
            </a:r>
            <a:endParaRPr lang="en-US" altLang="en-US" sz="1600" b="1">
              <a:solidFill>
                <a:srgbClr val="FF0000"/>
              </a:solidFill>
            </a:endParaRPr>
          </a:p>
        </p:txBody>
      </p:sp>
      <p:pic>
        <p:nvPicPr>
          <p:cNvPr id="11273" name="Picture 9" descr="Picture 2">
            <a:extLst>
              <a:ext uri="{FF2B5EF4-FFF2-40B4-BE49-F238E27FC236}">
                <a16:creationId xmlns:a16="http://schemas.microsoft.com/office/drawing/2014/main" id="{CC92264B-C784-083E-C704-6F4024CA33E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9425" y="2055813"/>
            <a:ext cx="3803650" cy="1281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9" name="Rectangle 1" descr="Title 1">
            <a:extLst>
              <a:ext uri="{FF2B5EF4-FFF2-40B4-BE49-F238E27FC236}">
                <a16:creationId xmlns:a16="http://schemas.microsoft.com/office/drawing/2014/main" id="{209A1E62-3727-E5AF-C60D-0D006B402B22}"/>
              </a:ext>
            </a:extLst>
          </p:cNvPr>
          <p:cNvSpPr>
            <a:spLocks noChangeArrowheads="1"/>
          </p:cNvSpPr>
          <p:nvPr>
            <p:ph type="title"/>
          </p:nvPr>
        </p:nvSpPr>
        <p:spPr/>
        <p:txBody>
          <a:bodyPr/>
          <a:lstStyle/>
          <a:p>
            <a:r>
              <a:rPr lang="en-US" altLang="en-US"/>
              <a:t>Transactions : Introduction</a:t>
            </a:r>
          </a:p>
        </p:txBody>
      </p:sp>
      <p:sp>
        <p:nvSpPr>
          <p:cNvPr id="12290" name="Rectangle 2" descr="Content Placeholder 2">
            <a:extLst>
              <a:ext uri="{FF2B5EF4-FFF2-40B4-BE49-F238E27FC236}">
                <a16:creationId xmlns:a16="http://schemas.microsoft.com/office/drawing/2014/main" id="{BA0C8DBF-4E7A-FA34-8A1C-F4C52C9C32EA}"/>
              </a:ext>
            </a:extLst>
          </p:cNvPr>
          <p:cNvSpPr>
            <a:spLocks noChangeArrowheads="1"/>
          </p:cNvSpPr>
          <p:nvPr>
            <p:ph type="body" idx="1"/>
          </p:nvPr>
        </p:nvSpPr>
        <p:spPr>
          <a:xfrm>
            <a:off x="566738" y="1143000"/>
            <a:ext cx="8001000" cy="5029200"/>
          </a:xfrm>
        </p:spPr>
        <p:txBody>
          <a:bodyPr/>
          <a:lstStyle/>
          <a:p>
            <a:pPr>
              <a:spcBef>
                <a:spcPts val="300"/>
              </a:spcBef>
            </a:pPr>
            <a:r>
              <a:rPr lang="en-US" altLang="en-US" sz="1600"/>
              <a:t>Example: Bank database application</a:t>
            </a:r>
          </a:p>
          <a:p>
            <a:pPr>
              <a:spcBef>
                <a:spcPts val="300"/>
              </a:spcBef>
            </a:pPr>
            <a:r>
              <a:rPr lang="en-US" altLang="en-US" sz="1600"/>
              <a:t>Consider </a:t>
            </a:r>
            <a:r>
              <a:rPr lang="en-US" altLang="en-US" sz="1600">
                <a:solidFill>
                  <a:srgbClr val="0000FF"/>
                </a:solidFill>
              </a:rPr>
              <a:t>Ram </a:t>
            </a:r>
            <a:r>
              <a:rPr lang="en-US" altLang="en-US" sz="1600"/>
              <a:t>and </a:t>
            </a:r>
            <a:r>
              <a:rPr lang="en-US" altLang="en-US" sz="1600">
                <a:solidFill>
                  <a:srgbClr val="FF00FF"/>
                </a:solidFill>
              </a:rPr>
              <a:t>Shyam</a:t>
            </a:r>
            <a:r>
              <a:rPr lang="en-US" altLang="en-US" sz="1600"/>
              <a:t> has an account in SBI bank at Basvangudi branch. </a:t>
            </a:r>
          </a:p>
        </p:txBody>
      </p:sp>
      <p:sp>
        <p:nvSpPr>
          <p:cNvPr id="12291" name="Text Box 3" descr="Date Placeholder 3">
            <a:extLst>
              <a:ext uri="{FF2B5EF4-FFF2-40B4-BE49-F238E27FC236}">
                <a16:creationId xmlns:a16="http://schemas.microsoft.com/office/drawing/2014/main" id="{F882B3F7-BBBD-F933-C418-9C4E8B1C2DC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292" name="Text Box 4" descr="Slide Number Placeholder 5">
            <a:extLst>
              <a:ext uri="{FF2B5EF4-FFF2-40B4-BE49-F238E27FC236}">
                <a16:creationId xmlns:a16="http://schemas.microsoft.com/office/drawing/2014/main" id="{6A298FB3-4842-A04B-FB89-4230311440DB}"/>
              </a:ext>
            </a:extLst>
          </p:cNvPr>
          <p:cNvSpPr txBox="1">
            <a:spLocks/>
          </p:cNvSpPr>
          <p:nvPr/>
        </p:nvSpPr>
        <p:spPr bwMode="auto">
          <a:xfrm>
            <a:off x="8345488" y="6400800"/>
            <a:ext cx="18891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DD9DA61-C248-462B-B3DE-79419400753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2293" name="Picture 5" descr="Picture 4">
            <a:extLst>
              <a:ext uri="{FF2B5EF4-FFF2-40B4-BE49-F238E27FC236}">
                <a16:creationId xmlns:a16="http://schemas.microsoft.com/office/drawing/2014/main" id="{05DC87CC-4FD2-9847-3422-0D2BE6E7431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61150" y="1917700"/>
            <a:ext cx="1582738"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2294" name="Text Box 6" descr="TextBox 8">
            <a:extLst>
              <a:ext uri="{FF2B5EF4-FFF2-40B4-BE49-F238E27FC236}">
                <a16:creationId xmlns:a16="http://schemas.microsoft.com/office/drawing/2014/main" id="{95D8EBD5-F995-2B7C-6982-C9B62119A6BE}"/>
              </a:ext>
            </a:extLst>
          </p:cNvPr>
          <p:cNvSpPr txBox="1">
            <a:spLocks/>
          </p:cNvSpPr>
          <p:nvPr/>
        </p:nvSpPr>
        <p:spPr bwMode="auto">
          <a:xfrm>
            <a:off x="376238" y="3265488"/>
            <a:ext cx="74723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solidFill>
                  <a:srgbClr val="C00000"/>
                </a:solidFill>
              </a:rPr>
              <a:t>Transaction: </a:t>
            </a:r>
            <a:r>
              <a:rPr lang="en-US" altLang="en-US"/>
              <a:t>Transfer Rs. 100 </a:t>
            </a:r>
            <a:r>
              <a:rPr lang="en-US" altLang="en-US">
                <a:solidFill>
                  <a:srgbClr val="0000FF"/>
                </a:solidFill>
              </a:rPr>
              <a:t>Ram</a:t>
            </a:r>
            <a:r>
              <a:rPr lang="en-US" altLang="en-US"/>
              <a:t> account to </a:t>
            </a:r>
            <a:r>
              <a:rPr lang="en-US" altLang="en-US">
                <a:solidFill>
                  <a:srgbClr val="FF00FF"/>
                </a:solidFill>
              </a:rPr>
              <a:t>Shyam</a:t>
            </a:r>
            <a:r>
              <a:rPr lang="en-US" altLang="en-US"/>
              <a:t> account.</a:t>
            </a:r>
            <a:endParaRPr lang="en-US" altLang="en-US" b="1">
              <a:solidFill>
                <a:srgbClr val="C00000"/>
              </a:solidFill>
            </a:endParaRPr>
          </a:p>
        </p:txBody>
      </p:sp>
      <p:sp>
        <p:nvSpPr>
          <p:cNvPr id="12295" name="Text Box 7" descr="TextBox 9">
            <a:extLst>
              <a:ext uri="{FF2B5EF4-FFF2-40B4-BE49-F238E27FC236}">
                <a16:creationId xmlns:a16="http://schemas.microsoft.com/office/drawing/2014/main" id="{53808E8D-6F14-9404-9BEC-930D95DF419E}"/>
              </a:ext>
            </a:extLst>
          </p:cNvPr>
          <p:cNvSpPr txBox="1">
            <a:spLocks/>
          </p:cNvSpPr>
          <p:nvPr/>
        </p:nvSpPr>
        <p:spPr bwMode="auto">
          <a:xfrm>
            <a:off x="561975" y="4052888"/>
            <a:ext cx="3563938" cy="958850"/>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0000FF"/>
                </a:solidFill>
              </a:rPr>
              <a:t>update </a:t>
            </a:r>
            <a:r>
              <a:rPr lang="en-US" altLang="en-US" b="1">
                <a:solidFill>
                  <a:srgbClr val="00B050"/>
                </a:solidFill>
              </a:rPr>
              <a:t>ACCOUNTS</a:t>
            </a:r>
          </a:p>
          <a:p>
            <a:r>
              <a:rPr lang="en-US" altLang="en-US">
                <a:solidFill>
                  <a:srgbClr val="0000FF"/>
                </a:solidFill>
              </a:rPr>
              <a:t>set Balance =Balance-100</a:t>
            </a:r>
          </a:p>
          <a:p>
            <a:r>
              <a:rPr lang="en-US" altLang="en-US">
                <a:solidFill>
                  <a:srgbClr val="0000FF"/>
                </a:solidFill>
              </a:rPr>
              <a:t>where AccountNumber=</a:t>
            </a:r>
            <a:r>
              <a:rPr lang="en-US" altLang="en-US" b="1">
                <a:solidFill>
                  <a:srgbClr val="0000FF"/>
                </a:solidFill>
              </a:rPr>
              <a:t>501</a:t>
            </a:r>
            <a:r>
              <a:rPr lang="en-US" altLang="en-US">
                <a:solidFill>
                  <a:srgbClr val="0000FF"/>
                </a:solidFill>
              </a:rPr>
              <a:t>;</a:t>
            </a:r>
          </a:p>
        </p:txBody>
      </p:sp>
      <p:sp>
        <p:nvSpPr>
          <p:cNvPr id="12296" name="Text Box 8" descr="TextBox 11">
            <a:extLst>
              <a:ext uri="{FF2B5EF4-FFF2-40B4-BE49-F238E27FC236}">
                <a16:creationId xmlns:a16="http://schemas.microsoft.com/office/drawing/2014/main" id="{E8ED7213-FB60-B89F-80E6-CDAA2DAEEF64}"/>
              </a:ext>
            </a:extLst>
          </p:cNvPr>
          <p:cNvSpPr txBox="1">
            <a:spLocks/>
          </p:cNvSpPr>
          <p:nvPr/>
        </p:nvSpPr>
        <p:spPr bwMode="auto">
          <a:xfrm>
            <a:off x="276225" y="3733800"/>
            <a:ext cx="40576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Subtract</a:t>
            </a:r>
            <a:r>
              <a:rPr lang="en-US" altLang="en-US" sz="1600"/>
              <a:t> Rs. 100/- from </a:t>
            </a:r>
            <a:r>
              <a:rPr lang="en-US" altLang="en-US" sz="1600">
                <a:solidFill>
                  <a:srgbClr val="0000FF"/>
                </a:solidFill>
              </a:rPr>
              <a:t>Ram</a:t>
            </a:r>
            <a:r>
              <a:rPr lang="en-US" altLang="en-US" sz="1600"/>
              <a:t> account</a:t>
            </a:r>
            <a:endParaRPr lang="en-US" altLang="en-US" sz="1600" b="1">
              <a:solidFill>
                <a:srgbClr val="FF0000"/>
              </a:solidFill>
            </a:endParaRPr>
          </a:p>
        </p:txBody>
      </p:sp>
      <p:sp>
        <p:nvSpPr>
          <p:cNvPr id="12297" name="Text Box 9" descr="TextBox 12">
            <a:extLst>
              <a:ext uri="{FF2B5EF4-FFF2-40B4-BE49-F238E27FC236}">
                <a16:creationId xmlns:a16="http://schemas.microsoft.com/office/drawing/2014/main" id="{585949DE-B2A6-8DAB-ECF4-4819B2F83330}"/>
              </a:ext>
            </a:extLst>
          </p:cNvPr>
          <p:cNvSpPr txBox="1">
            <a:spLocks/>
          </p:cNvSpPr>
          <p:nvPr/>
        </p:nvSpPr>
        <p:spPr bwMode="auto">
          <a:xfrm>
            <a:off x="4784725" y="4073525"/>
            <a:ext cx="3563938" cy="958850"/>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0000FF"/>
                </a:solidFill>
              </a:rPr>
              <a:t>update </a:t>
            </a:r>
            <a:r>
              <a:rPr lang="en-US" altLang="en-US" b="1">
                <a:solidFill>
                  <a:srgbClr val="00B050"/>
                </a:solidFill>
              </a:rPr>
              <a:t>ACCOUNTS</a:t>
            </a:r>
          </a:p>
          <a:p>
            <a:r>
              <a:rPr lang="en-US" altLang="en-US">
                <a:solidFill>
                  <a:srgbClr val="0000FF"/>
                </a:solidFill>
              </a:rPr>
              <a:t>set Balance =Balance+100</a:t>
            </a:r>
          </a:p>
          <a:p>
            <a:r>
              <a:rPr lang="en-US" altLang="en-US">
                <a:solidFill>
                  <a:srgbClr val="0000FF"/>
                </a:solidFill>
              </a:rPr>
              <a:t>where AccountNumber=</a:t>
            </a:r>
            <a:r>
              <a:rPr lang="en-US" altLang="en-US" b="1">
                <a:solidFill>
                  <a:srgbClr val="0000FF"/>
                </a:solidFill>
              </a:rPr>
              <a:t>502</a:t>
            </a:r>
            <a:r>
              <a:rPr lang="en-US" altLang="en-US">
                <a:solidFill>
                  <a:srgbClr val="0000FF"/>
                </a:solidFill>
              </a:rPr>
              <a:t>;</a:t>
            </a:r>
          </a:p>
        </p:txBody>
      </p:sp>
      <p:sp>
        <p:nvSpPr>
          <p:cNvPr id="12298" name="Text Box 10" descr="TextBox 13">
            <a:extLst>
              <a:ext uri="{FF2B5EF4-FFF2-40B4-BE49-F238E27FC236}">
                <a16:creationId xmlns:a16="http://schemas.microsoft.com/office/drawing/2014/main" id="{97849ABD-272D-236C-BE0B-943F26F46BC8}"/>
              </a:ext>
            </a:extLst>
          </p:cNvPr>
          <p:cNvSpPr txBox="1">
            <a:spLocks/>
          </p:cNvSpPr>
          <p:nvPr/>
        </p:nvSpPr>
        <p:spPr bwMode="auto">
          <a:xfrm>
            <a:off x="4792663" y="3754438"/>
            <a:ext cx="35671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Add</a:t>
            </a:r>
            <a:r>
              <a:rPr lang="en-US" altLang="en-US" sz="1600"/>
              <a:t>  Rs. 100/- to </a:t>
            </a:r>
            <a:r>
              <a:rPr lang="en-US" altLang="en-US" sz="1600">
                <a:solidFill>
                  <a:srgbClr val="FF00FF"/>
                </a:solidFill>
              </a:rPr>
              <a:t>Shyam</a:t>
            </a:r>
            <a:r>
              <a:rPr lang="en-US" altLang="en-US" sz="1600"/>
              <a:t> account</a:t>
            </a:r>
            <a:endParaRPr lang="en-US" altLang="en-US" sz="1600" b="1">
              <a:solidFill>
                <a:srgbClr val="FF0000"/>
              </a:solidFill>
            </a:endParaRPr>
          </a:p>
        </p:txBody>
      </p:sp>
      <p:pic>
        <p:nvPicPr>
          <p:cNvPr id="12299" name="Picture 11" descr="Picture 2">
            <a:extLst>
              <a:ext uri="{FF2B5EF4-FFF2-40B4-BE49-F238E27FC236}">
                <a16:creationId xmlns:a16="http://schemas.microsoft.com/office/drawing/2014/main" id="{B82D44A4-D861-D391-D707-75C2F3B8B9A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9425" y="2055813"/>
            <a:ext cx="2857500" cy="1281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Text Box 1" descr="Footer Placeholder 4">
            <a:extLst>
              <a:ext uri="{FF2B5EF4-FFF2-40B4-BE49-F238E27FC236}">
                <a16:creationId xmlns:a16="http://schemas.microsoft.com/office/drawing/2014/main" id="{D61BE8C7-0BF3-6B4D-6B1D-A8BCF8F658F2}"/>
              </a:ext>
            </a:extLst>
          </p:cNvPr>
          <p:cNvSpPr txBox="1">
            <a:spLocks/>
          </p:cNvSpPr>
          <p:nvPr/>
        </p:nvSpPr>
        <p:spPr bwMode="auto">
          <a:xfrm>
            <a:off x="3168650" y="64008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BMSCE</a:t>
            </a:r>
          </a:p>
        </p:txBody>
      </p:sp>
      <p:sp>
        <p:nvSpPr>
          <p:cNvPr id="13314" name="Rectangle 2" descr="Title 1">
            <a:extLst>
              <a:ext uri="{FF2B5EF4-FFF2-40B4-BE49-F238E27FC236}">
                <a16:creationId xmlns:a16="http://schemas.microsoft.com/office/drawing/2014/main" id="{B39B6185-785C-4A42-074F-7EE35164074D}"/>
              </a:ext>
            </a:extLst>
          </p:cNvPr>
          <p:cNvSpPr>
            <a:spLocks noChangeArrowheads="1"/>
          </p:cNvSpPr>
          <p:nvPr>
            <p:ph type="title"/>
          </p:nvPr>
        </p:nvSpPr>
        <p:spPr/>
        <p:txBody>
          <a:bodyPr/>
          <a:lstStyle/>
          <a:p>
            <a:r>
              <a:rPr lang="en-US" altLang="en-US"/>
              <a:t>Transactions : Introduction</a:t>
            </a:r>
          </a:p>
        </p:txBody>
      </p:sp>
      <p:sp>
        <p:nvSpPr>
          <p:cNvPr id="13315" name="Rectangle 3" descr="Content Placeholder 2">
            <a:extLst>
              <a:ext uri="{FF2B5EF4-FFF2-40B4-BE49-F238E27FC236}">
                <a16:creationId xmlns:a16="http://schemas.microsoft.com/office/drawing/2014/main" id="{01EE536C-5CFD-D8AE-C84B-7A795CCB7600}"/>
              </a:ext>
            </a:extLst>
          </p:cNvPr>
          <p:cNvSpPr>
            <a:spLocks noChangeArrowheads="1"/>
          </p:cNvSpPr>
          <p:nvPr>
            <p:ph type="body" idx="1"/>
          </p:nvPr>
        </p:nvSpPr>
        <p:spPr>
          <a:xfrm>
            <a:off x="566738" y="1143000"/>
            <a:ext cx="8001000" cy="5029200"/>
          </a:xfrm>
        </p:spPr>
        <p:txBody>
          <a:bodyPr/>
          <a:lstStyle/>
          <a:p>
            <a:pPr>
              <a:spcBef>
                <a:spcPts val="300"/>
              </a:spcBef>
            </a:pPr>
            <a:r>
              <a:rPr lang="en-US" altLang="en-US" sz="1600"/>
              <a:t>Example: Bank database application</a:t>
            </a:r>
          </a:p>
          <a:p>
            <a:pPr>
              <a:spcBef>
                <a:spcPts val="300"/>
              </a:spcBef>
            </a:pPr>
            <a:r>
              <a:rPr lang="en-US" altLang="en-US" sz="1600"/>
              <a:t>Consider </a:t>
            </a:r>
            <a:r>
              <a:rPr lang="en-US" altLang="en-US" sz="1600">
                <a:solidFill>
                  <a:srgbClr val="0000FF"/>
                </a:solidFill>
              </a:rPr>
              <a:t>Ram </a:t>
            </a:r>
            <a:r>
              <a:rPr lang="en-US" altLang="en-US" sz="1600"/>
              <a:t>and </a:t>
            </a:r>
            <a:r>
              <a:rPr lang="en-US" altLang="en-US" sz="1600">
                <a:solidFill>
                  <a:srgbClr val="FF00FF"/>
                </a:solidFill>
              </a:rPr>
              <a:t>Shyam</a:t>
            </a:r>
            <a:r>
              <a:rPr lang="en-US" altLang="en-US" sz="1600"/>
              <a:t> has an account in SBI bank at Basvangudi branch. </a:t>
            </a:r>
          </a:p>
        </p:txBody>
      </p:sp>
      <p:sp>
        <p:nvSpPr>
          <p:cNvPr id="13316" name="Text Box 4" descr="Date Placeholder 3">
            <a:extLst>
              <a:ext uri="{FF2B5EF4-FFF2-40B4-BE49-F238E27FC236}">
                <a16:creationId xmlns:a16="http://schemas.microsoft.com/office/drawing/2014/main" id="{DA3A1F13-B032-9CD4-7B3E-09F122F7119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317" name="Text Box 5" descr="Slide Number Placeholder 5">
            <a:extLst>
              <a:ext uri="{FF2B5EF4-FFF2-40B4-BE49-F238E27FC236}">
                <a16:creationId xmlns:a16="http://schemas.microsoft.com/office/drawing/2014/main" id="{8A439261-F732-BBA4-1AEF-8456B8106BAD}"/>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ABC438B-22DF-4779-B7BA-32E15957D75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3318" name="Picture 6" descr="Picture 4">
            <a:extLst>
              <a:ext uri="{FF2B5EF4-FFF2-40B4-BE49-F238E27FC236}">
                <a16:creationId xmlns:a16="http://schemas.microsoft.com/office/drawing/2014/main" id="{7B885B21-7B89-B386-6133-F1E509B1F89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61150" y="1917700"/>
            <a:ext cx="1582738"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319" name="Text Box 7" descr="TextBox 8">
            <a:extLst>
              <a:ext uri="{FF2B5EF4-FFF2-40B4-BE49-F238E27FC236}">
                <a16:creationId xmlns:a16="http://schemas.microsoft.com/office/drawing/2014/main" id="{B4692035-38B8-0434-9FD3-4768F9294932}"/>
              </a:ext>
            </a:extLst>
          </p:cNvPr>
          <p:cNvSpPr txBox="1">
            <a:spLocks/>
          </p:cNvSpPr>
          <p:nvPr/>
        </p:nvSpPr>
        <p:spPr bwMode="auto">
          <a:xfrm>
            <a:off x="376238" y="3265488"/>
            <a:ext cx="74723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solidFill>
                  <a:srgbClr val="C00000"/>
                </a:solidFill>
              </a:rPr>
              <a:t>Transaction: </a:t>
            </a:r>
            <a:r>
              <a:rPr lang="en-US" altLang="en-US"/>
              <a:t>Transfer Rs. 100 </a:t>
            </a:r>
            <a:r>
              <a:rPr lang="en-US" altLang="en-US">
                <a:solidFill>
                  <a:srgbClr val="0000FF"/>
                </a:solidFill>
              </a:rPr>
              <a:t>Ram</a:t>
            </a:r>
            <a:r>
              <a:rPr lang="en-US" altLang="en-US"/>
              <a:t> account to </a:t>
            </a:r>
            <a:r>
              <a:rPr lang="en-US" altLang="en-US">
                <a:solidFill>
                  <a:srgbClr val="FF00FF"/>
                </a:solidFill>
              </a:rPr>
              <a:t>Shyam</a:t>
            </a:r>
            <a:r>
              <a:rPr lang="en-US" altLang="en-US"/>
              <a:t> account.</a:t>
            </a:r>
            <a:endParaRPr lang="en-US" altLang="en-US" b="1">
              <a:solidFill>
                <a:srgbClr val="C00000"/>
              </a:solidFill>
            </a:endParaRPr>
          </a:p>
        </p:txBody>
      </p:sp>
      <p:sp>
        <p:nvSpPr>
          <p:cNvPr id="13320" name="Text Box 8" descr="TextBox 9">
            <a:extLst>
              <a:ext uri="{FF2B5EF4-FFF2-40B4-BE49-F238E27FC236}">
                <a16:creationId xmlns:a16="http://schemas.microsoft.com/office/drawing/2014/main" id="{5FF0D001-C8E5-15A0-CAF5-6E7932EEC8B6}"/>
              </a:ext>
            </a:extLst>
          </p:cNvPr>
          <p:cNvSpPr txBox="1">
            <a:spLocks/>
          </p:cNvSpPr>
          <p:nvPr/>
        </p:nvSpPr>
        <p:spPr bwMode="auto">
          <a:xfrm>
            <a:off x="561975" y="4052888"/>
            <a:ext cx="3563938" cy="844550"/>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501</a:t>
            </a:r>
            <a:r>
              <a:rPr lang="en-US" altLang="en-US" sz="1600">
                <a:solidFill>
                  <a:srgbClr val="0000FF"/>
                </a:solidFill>
              </a:rPr>
              <a:t>;</a:t>
            </a:r>
          </a:p>
        </p:txBody>
      </p:sp>
      <p:sp>
        <p:nvSpPr>
          <p:cNvPr id="13321" name="Text Box 9" descr="TextBox 11">
            <a:extLst>
              <a:ext uri="{FF2B5EF4-FFF2-40B4-BE49-F238E27FC236}">
                <a16:creationId xmlns:a16="http://schemas.microsoft.com/office/drawing/2014/main" id="{435CC3E0-60D8-0581-915C-C460D4F41126}"/>
              </a:ext>
            </a:extLst>
          </p:cNvPr>
          <p:cNvSpPr txBox="1">
            <a:spLocks/>
          </p:cNvSpPr>
          <p:nvPr/>
        </p:nvSpPr>
        <p:spPr bwMode="auto">
          <a:xfrm>
            <a:off x="276225" y="3733800"/>
            <a:ext cx="40576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Subtract</a:t>
            </a:r>
            <a:r>
              <a:rPr lang="en-US" altLang="en-US" sz="1600"/>
              <a:t> Rs. 100/- from </a:t>
            </a:r>
            <a:r>
              <a:rPr lang="en-US" altLang="en-US" sz="1600">
                <a:solidFill>
                  <a:srgbClr val="0000FF"/>
                </a:solidFill>
              </a:rPr>
              <a:t>Ram</a:t>
            </a:r>
            <a:r>
              <a:rPr lang="en-US" altLang="en-US" sz="1600"/>
              <a:t> account</a:t>
            </a:r>
            <a:endParaRPr lang="en-US" altLang="en-US" sz="1600" b="1">
              <a:solidFill>
                <a:srgbClr val="FF0000"/>
              </a:solidFill>
            </a:endParaRPr>
          </a:p>
        </p:txBody>
      </p:sp>
      <p:sp>
        <p:nvSpPr>
          <p:cNvPr id="13322" name="Text Box 10" descr="TextBox 12">
            <a:extLst>
              <a:ext uri="{FF2B5EF4-FFF2-40B4-BE49-F238E27FC236}">
                <a16:creationId xmlns:a16="http://schemas.microsoft.com/office/drawing/2014/main" id="{BB665D3E-0AE2-E823-B286-FAD87B28767E}"/>
              </a:ext>
            </a:extLst>
          </p:cNvPr>
          <p:cNvSpPr txBox="1">
            <a:spLocks/>
          </p:cNvSpPr>
          <p:nvPr/>
        </p:nvSpPr>
        <p:spPr bwMode="auto">
          <a:xfrm>
            <a:off x="4784725" y="4073525"/>
            <a:ext cx="3563938" cy="844550"/>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502</a:t>
            </a:r>
            <a:r>
              <a:rPr lang="en-US" altLang="en-US" sz="1600">
                <a:solidFill>
                  <a:srgbClr val="0000FF"/>
                </a:solidFill>
              </a:rPr>
              <a:t>;</a:t>
            </a:r>
          </a:p>
        </p:txBody>
      </p:sp>
      <p:sp>
        <p:nvSpPr>
          <p:cNvPr id="13323" name="Text Box 11" descr="TextBox 13">
            <a:extLst>
              <a:ext uri="{FF2B5EF4-FFF2-40B4-BE49-F238E27FC236}">
                <a16:creationId xmlns:a16="http://schemas.microsoft.com/office/drawing/2014/main" id="{AFE8D3F0-8902-08A7-68D4-953E9AD01BBE}"/>
              </a:ext>
            </a:extLst>
          </p:cNvPr>
          <p:cNvSpPr txBox="1">
            <a:spLocks/>
          </p:cNvSpPr>
          <p:nvPr/>
        </p:nvSpPr>
        <p:spPr bwMode="auto">
          <a:xfrm>
            <a:off x="4792663" y="3754438"/>
            <a:ext cx="35671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Add</a:t>
            </a:r>
            <a:r>
              <a:rPr lang="en-US" altLang="en-US" sz="1600"/>
              <a:t>  Rs. 100/- to </a:t>
            </a:r>
            <a:r>
              <a:rPr lang="en-US" altLang="en-US" sz="1600">
                <a:solidFill>
                  <a:srgbClr val="FF00FF"/>
                </a:solidFill>
              </a:rPr>
              <a:t>Shyam</a:t>
            </a:r>
            <a:r>
              <a:rPr lang="en-US" altLang="en-US" sz="1600"/>
              <a:t> account</a:t>
            </a:r>
            <a:endParaRPr lang="en-US" altLang="en-US" sz="1600" b="1">
              <a:solidFill>
                <a:srgbClr val="FF0000"/>
              </a:solidFill>
            </a:endParaRPr>
          </a:p>
        </p:txBody>
      </p:sp>
      <p:pic>
        <p:nvPicPr>
          <p:cNvPr id="13324" name="Picture 12" descr="Picture 2">
            <a:extLst>
              <a:ext uri="{FF2B5EF4-FFF2-40B4-BE49-F238E27FC236}">
                <a16:creationId xmlns:a16="http://schemas.microsoft.com/office/drawing/2014/main" id="{C9FD0FA5-9CC8-F809-F560-A0DD9A4532B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9425" y="2055813"/>
            <a:ext cx="2857500" cy="1281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3325" name="Picture 13" descr="Picture 3">
            <a:extLst>
              <a:ext uri="{FF2B5EF4-FFF2-40B4-BE49-F238E27FC236}">
                <a16:creationId xmlns:a16="http://schemas.microsoft.com/office/drawing/2014/main" id="{9CDAAB36-FB8B-21D8-CDF7-82F143D7A1BC}"/>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676525" y="5032375"/>
            <a:ext cx="3563938" cy="1651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Rectangle 1" descr="Title 1">
            <a:extLst>
              <a:ext uri="{FF2B5EF4-FFF2-40B4-BE49-F238E27FC236}">
                <a16:creationId xmlns:a16="http://schemas.microsoft.com/office/drawing/2014/main" id="{DA95582A-DBFB-55F6-EA70-36D320E96409}"/>
              </a:ext>
            </a:extLst>
          </p:cNvPr>
          <p:cNvSpPr>
            <a:spLocks noChangeArrowheads="1"/>
          </p:cNvSpPr>
          <p:nvPr>
            <p:ph type="title"/>
          </p:nvPr>
        </p:nvSpPr>
        <p:spPr/>
        <p:txBody>
          <a:bodyPr/>
          <a:lstStyle/>
          <a:p>
            <a:r>
              <a:rPr lang="en-US" altLang="en-US"/>
              <a:t>Transactions : Introduction</a:t>
            </a:r>
          </a:p>
        </p:txBody>
      </p:sp>
      <p:sp>
        <p:nvSpPr>
          <p:cNvPr id="14338" name="Rectangle 2" descr="Content Placeholder 2">
            <a:extLst>
              <a:ext uri="{FF2B5EF4-FFF2-40B4-BE49-F238E27FC236}">
                <a16:creationId xmlns:a16="http://schemas.microsoft.com/office/drawing/2014/main" id="{178BB83B-3C8B-FDBF-6837-5E3B52F1C6F9}"/>
              </a:ext>
            </a:extLst>
          </p:cNvPr>
          <p:cNvSpPr>
            <a:spLocks noChangeArrowheads="1"/>
          </p:cNvSpPr>
          <p:nvPr>
            <p:ph type="body" idx="1"/>
          </p:nvPr>
        </p:nvSpPr>
        <p:spPr>
          <a:xfrm>
            <a:off x="566738" y="1143000"/>
            <a:ext cx="8001000" cy="5029200"/>
          </a:xfrm>
        </p:spPr>
        <p:txBody>
          <a:bodyPr/>
          <a:lstStyle/>
          <a:p>
            <a:pPr>
              <a:spcBef>
                <a:spcPts val="300"/>
              </a:spcBef>
            </a:pPr>
            <a:r>
              <a:rPr lang="en-US" altLang="en-US" sz="1600"/>
              <a:t>Example: Bank database application</a:t>
            </a:r>
          </a:p>
          <a:p>
            <a:pPr>
              <a:spcBef>
                <a:spcPts val="300"/>
              </a:spcBef>
            </a:pPr>
            <a:r>
              <a:rPr lang="en-US" altLang="en-US" sz="1600"/>
              <a:t>Consider </a:t>
            </a:r>
            <a:r>
              <a:rPr lang="en-US" altLang="en-US" sz="1600">
                <a:solidFill>
                  <a:srgbClr val="0000FF"/>
                </a:solidFill>
              </a:rPr>
              <a:t>Ram </a:t>
            </a:r>
            <a:r>
              <a:rPr lang="en-US" altLang="en-US" sz="1600"/>
              <a:t>and </a:t>
            </a:r>
            <a:r>
              <a:rPr lang="en-US" altLang="en-US" sz="1600">
                <a:solidFill>
                  <a:srgbClr val="FF00FF"/>
                </a:solidFill>
              </a:rPr>
              <a:t>Shyam</a:t>
            </a:r>
            <a:r>
              <a:rPr lang="en-US" altLang="en-US" sz="1600"/>
              <a:t> has an account in SBI bank at Basvangudi branch. </a:t>
            </a:r>
          </a:p>
        </p:txBody>
      </p:sp>
      <p:sp>
        <p:nvSpPr>
          <p:cNvPr id="14339" name="Text Box 3" descr="Date Placeholder 3">
            <a:extLst>
              <a:ext uri="{FF2B5EF4-FFF2-40B4-BE49-F238E27FC236}">
                <a16:creationId xmlns:a16="http://schemas.microsoft.com/office/drawing/2014/main" id="{59A30369-2D02-07CD-B168-4288414C90B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340" name="Text Box 4" descr="Slide Number Placeholder 5">
            <a:extLst>
              <a:ext uri="{FF2B5EF4-FFF2-40B4-BE49-F238E27FC236}">
                <a16:creationId xmlns:a16="http://schemas.microsoft.com/office/drawing/2014/main" id="{74AEADAD-39F6-61E4-7AA1-ED47AB04140B}"/>
              </a:ext>
            </a:extLst>
          </p:cNvPr>
          <p:cNvSpPr txBox="1">
            <a:spLocks/>
          </p:cNvSpPr>
          <p:nvPr/>
        </p:nvSpPr>
        <p:spPr bwMode="auto">
          <a:xfrm>
            <a:off x="8270875" y="6400800"/>
            <a:ext cx="26352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293AD7C-4184-4F78-8546-CC4CC8EF88A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4341" name="Picture 5" descr="Picture 4">
            <a:extLst>
              <a:ext uri="{FF2B5EF4-FFF2-40B4-BE49-F238E27FC236}">
                <a16:creationId xmlns:a16="http://schemas.microsoft.com/office/drawing/2014/main" id="{0F7F4B0A-B0E4-315D-EA14-6261170C671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61150" y="1917700"/>
            <a:ext cx="1582738"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4342" name="Text Box 6" descr="TextBox 8">
            <a:extLst>
              <a:ext uri="{FF2B5EF4-FFF2-40B4-BE49-F238E27FC236}">
                <a16:creationId xmlns:a16="http://schemas.microsoft.com/office/drawing/2014/main" id="{62F20BE0-7936-BA38-3B05-55701C6A603C}"/>
              </a:ext>
            </a:extLst>
          </p:cNvPr>
          <p:cNvSpPr txBox="1">
            <a:spLocks/>
          </p:cNvSpPr>
          <p:nvPr/>
        </p:nvSpPr>
        <p:spPr bwMode="auto">
          <a:xfrm>
            <a:off x="376238" y="2954338"/>
            <a:ext cx="66548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C00000"/>
                </a:solidFill>
              </a:rPr>
              <a:t>Transaction: </a:t>
            </a:r>
            <a:r>
              <a:rPr lang="en-US" altLang="en-US" sz="1600"/>
              <a:t>Transfer Rs. 100 </a:t>
            </a:r>
            <a:r>
              <a:rPr lang="en-US" altLang="en-US" sz="1600">
                <a:solidFill>
                  <a:srgbClr val="0000FF"/>
                </a:solidFill>
              </a:rPr>
              <a:t>Ram </a:t>
            </a:r>
            <a:r>
              <a:rPr lang="en-US" altLang="en-US" sz="1600"/>
              <a:t>account to </a:t>
            </a:r>
            <a:r>
              <a:rPr lang="en-US" altLang="en-US" sz="1600">
                <a:solidFill>
                  <a:srgbClr val="FF00FF"/>
                </a:solidFill>
              </a:rPr>
              <a:t>Shyam</a:t>
            </a:r>
            <a:r>
              <a:rPr lang="en-US" altLang="en-US" sz="1600"/>
              <a:t> account.</a:t>
            </a:r>
            <a:endParaRPr lang="en-US" altLang="en-US" sz="1600" b="1">
              <a:solidFill>
                <a:srgbClr val="C00000"/>
              </a:solidFill>
            </a:endParaRPr>
          </a:p>
        </p:txBody>
      </p:sp>
      <p:sp>
        <p:nvSpPr>
          <p:cNvPr id="14343" name="Text Box 7" descr="TextBox 9">
            <a:extLst>
              <a:ext uri="{FF2B5EF4-FFF2-40B4-BE49-F238E27FC236}">
                <a16:creationId xmlns:a16="http://schemas.microsoft.com/office/drawing/2014/main" id="{E10C5A74-FFA8-C728-2AD0-FCDF3A989571}"/>
              </a:ext>
            </a:extLst>
          </p:cNvPr>
          <p:cNvSpPr txBox="1">
            <a:spLocks/>
          </p:cNvSpPr>
          <p:nvPr/>
        </p:nvSpPr>
        <p:spPr bwMode="auto">
          <a:xfrm>
            <a:off x="398463" y="3740150"/>
            <a:ext cx="3563937" cy="844550"/>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501</a:t>
            </a:r>
            <a:r>
              <a:rPr lang="en-US" altLang="en-US" sz="1600">
                <a:solidFill>
                  <a:srgbClr val="0000FF"/>
                </a:solidFill>
              </a:rPr>
              <a:t>;</a:t>
            </a:r>
          </a:p>
        </p:txBody>
      </p:sp>
      <p:sp>
        <p:nvSpPr>
          <p:cNvPr id="14344" name="Text Box 8" descr="TextBox 11">
            <a:extLst>
              <a:ext uri="{FF2B5EF4-FFF2-40B4-BE49-F238E27FC236}">
                <a16:creationId xmlns:a16="http://schemas.microsoft.com/office/drawing/2014/main" id="{3F737A60-CF7D-78F2-E0AF-E6DC40A2AA78}"/>
              </a:ext>
            </a:extLst>
          </p:cNvPr>
          <p:cNvSpPr txBox="1">
            <a:spLocks/>
          </p:cNvSpPr>
          <p:nvPr/>
        </p:nvSpPr>
        <p:spPr bwMode="auto">
          <a:xfrm>
            <a:off x="425450" y="3394075"/>
            <a:ext cx="39497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Subtract Rs. 100/- from </a:t>
            </a:r>
            <a:r>
              <a:rPr lang="en-US" altLang="en-US" sz="1600">
                <a:solidFill>
                  <a:srgbClr val="0000FF"/>
                </a:solidFill>
              </a:rPr>
              <a:t>Ram</a:t>
            </a:r>
            <a:r>
              <a:rPr lang="en-US" altLang="en-US" sz="1600"/>
              <a:t> account</a:t>
            </a:r>
          </a:p>
        </p:txBody>
      </p:sp>
      <p:sp>
        <p:nvSpPr>
          <p:cNvPr id="14345" name="Text Box 9" descr="TextBox 12">
            <a:extLst>
              <a:ext uri="{FF2B5EF4-FFF2-40B4-BE49-F238E27FC236}">
                <a16:creationId xmlns:a16="http://schemas.microsoft.com/office/drawing/2014/main" id="{F54D5D54-09D5-9661-A4C7-2790C8891135}"/>
              </a:ext>
            </a:extLst>
          </p:cNvPr>
          <p:cNvSpPr txBox="1">
            <a:spLocks/>
          </p:cNvSpPr>
          <p:nvPr/>
        </p:nvSpPr>
        <p:spPr bwMode="auto">
          <a:xfrm>
            <a:off x="5446713" y="3740150"/>
            <a:ext cx="3563937" cy="844550"/>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502</a:t>
            </a:r>
            <a:r>
              <a:rPr lang="en-US" altLang="en-US" sz="1600">
                <a:solidFill>
                  <a:srgbClr val="0000FF"/>
                </a:solidFill>
              </a:rPr>
              <a:t>;</a:t>
            </a:r>
          </a:p>
        </p:txBody>
      </p:sp>
      <p:sp>
        <p:nvSpPr>
          <p:cNvPr id="14346" name="Text Box 10" descr="TextBox 13">
            <a:extLst>
              <a:ext uri="{FF2B5EF4-FFF2-40B4-BE49-F238E27FC236}">
                <a16:creationId xmlns:a16="http://schemas.microsoft.com/office/drawing/2014/main" id="{51908B81-4B8D-F561-7B55-1CF1821E8E91}"/>
              </a:ext>
            </a:extLst>
          </p:cNvPr>
          <p:cNvSpPr txBox="1">
            <a:spLocks/>
          </p:cNvSpPr>
          <p:nvPr/>
        </p:nvSpPr>
        <p:spPr bwMode="auto">
          <a:xfrm>
            <a:off x="5454650" y="3421063"/>
            <a:ext cx="351790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Add  Rs. 100/- to </a:t>
            </a:r>
            <a:r>
              <a:rPr lang="en-US" altLang="en-US" sz="1600">
                <a:solidFill>
                  <a:srgbClr val="FF00FF"/>
                </a:solidFill>
              </a:rPr>
              <a:t>Shyam</a:t>
            </a:r>
            <a:r>
              <a:rPr lang="en-US" altLang="en-US" sz="1600"/>
              <a:t> account</a:t>
            </a:r>
          </a:p>
        </p:txBody>
      </p:sp>
      <p:pic>
        <p:nvPicPr>
          <p:cNvPr id="14347" name="Picture 11" descr="Picture 2">
            <a:extLst>
              <a:ext uri="{FF2B5EF4-FFF2-40B4-BE49-F238E27FC236}">
                <a16:creationId xmlns:a16="http://schemas.microsoft.com/office/drawing/2014/main" id="{DEE0D9F9-18DF-128C-4BFD-F2563145781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66950" y="1773238"/>
            <a:ext cx="2479675" cy="1111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4348" name="Text Box 12" descr="TextBox 14">
            <a:extLst>
              <a:ext uri="{FF2B5EF4-FFF2-40B4-BE49-F238E27FC236}">
                <a16:creationId xmlns:a16="http://schemas.microsoft.com/office/drawing/2014/main" id="{A7F9AEC0-EE93-17E0-C4FA-5D4AC2C91723}"/>
              </a:ext>
            </a:extLst>
          </p:cNvPr>
          <p:cNvSpPr txBox="1">
            <a:spLocks/>
          </p:cNvSpPr>
          <p:nvPr/>
        </p:nvSpPr>
        <p:spPr bwMode="auto">
          <a:xfrm>
            <a:off x="265113" y="5094288"/>
            <a:ext cx="8337550"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Question:</a:t>
            </a:r>
          </a:p>
          <a:p>
            <a:r>
              <a:rPr lang="en-US" altLang="en-US" sz="1600"/>
              <a:t>What will be the status of </a:t>
            </a:r>
            <a:r>
              <a:rPr lang="en-US" altLang="en-US" sz="1600" b="1">
                <a:solidFill>
                  <a:srgbClr val="00B050"/>
                </a:solidFill>
              </a:rPr>
              <a:t>ACCOUNTS</a:t>
            </a:r>
            <a:r>
              <a:rPr lang="en-US" altLang="en-US" sz="1600"/>
              <a:t> table say if </a:t>
            </a:r>
            <a:r>
              <a:rPr lang="en-US" altLang="en-US" sz="1600" b="1">
                <a:solidFill>
                  <a:srgbClr val="FF0000"/>
                </a:solidFill>
              </a:rPr>
              <a:t>FIRST </a:t>
            </a:r>
            <a:r>
              <a:rPr lang="en-US" altLang="en-US" sz="1600"/>
              <a:t>Update SQL </a:t>
            </a:r>
          </a:p>
          <a:p>
            <a:r>
              <a:rPr lang="en-US" altLang="en-US" sz="1600"/>
              <a:t>statement has been executed  but </a:t>
            </a:r>
            <a:r>
              <a:rPr lang="en-US" altLang="en-US" sz="1600" b="1">
                <a:solidFill>
                  <a:srgbClr val="FF0000"/>
                </a:solidFill>
              </a:rPr>
              <a:t>SECOND </a:t>
            </a:r>
            <a:r>
              <a:rPr lang="en-US" altLang="en-US" sz="1600"/>
              <a:t>Update SQL statement </a:t>
            </a:r>
          </a:p>
          <a:p>
            <a:r>
              <a:rPr lang="en-US" altLang="en-US" sz="1600" b="1"/>
              <a:t>has not been executed </a:t>
            </a:r>
            <a:r>
              <a:rPr lang="en-US" altLang="en-US" sz="1600"/>
              <a:t>because of  electricity failure on the computer system.</a:t>
            </a:r>
            <a:endParaRPr lang="en-US" altLang="en-US" sz="1600" b="1"/>
          </a:p>
        </p:txBody>
      </p:sp>
      <p:sp>
        <p:nvSpPr>
          <p:cNvPr id="14349" name="Text Box 13" descr="TextBox 7">
            <a:extLst>
              <a:ext uri="{FF2B5EF4-FFF2-40B4-BE49-F238E27FC236}">
                <a16:creationId xmlns:a16="http://schemas.microsoft.com/office/drawing/2014/main" id="{1321511C-6A33-8A01-A9D0-8203E12B1FA8}"/>
              </a:ext>
            </a:extLst>
          </p:cNvPr>
          <p:cNvSpPr txBox="1">
            <a:spLocks/>
          </p:cNvSpPr>
          <p:nvPr/>
        </p:nvSpPr>
        <p:spPr bwMode="auto">
          <a:xfrm>
            <a:off x="236538" y="4556125"/>
            <a:ext cx="788987"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FIRST</a:t>
            </a:r>
          </a:p>
        </p:txBody>
      </p:sp>
      <p:sp>
        <p:nvSpPr>
          <p:cNvPr id="14350" name="Text Box 14" descr="TextBox 16">
            <a:extLst>
              <a:ext uri="{FF2B5EF4-FFF2-40B4-BE49-F238E27FC236}">
                <a16:creationId xmlns:a16="http://schemas.microsoft.com/office/drawing/2014/main" id="{091D3420-C275-B106-11D5-233D579BE1A4}"/>
              </a:ext>
            </a:extLst>
          </p:cNvPr>
          <p:cNvSpPr txBox="1">
            <a:spLocks/>
          </p:cNvSpPr>
          <p:nvPr/>
        </p:nvSpPr>
        <p:spPr bwMode="auto">
          <a:xfrm>
            <a:off x="7920038" y="4572000"/>
            <a:ext cx="10477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SECOND</a:t>
            </a:r>
          </a:p>
        </p:txBody>
      </p:sp>
    </p:spTree>
  </p:cSld>
  <p:clrMapOvr>
    <a:masterClrMapping/>
  </p:clrMapOvr>
  <p:transition spd="med"/>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Rectangle 1" descr="Title 1">
            <a:extLst>
              <a:ext uri="{FF2B5EF4-FFF2-40B4-BE49-F238E27FC236}">
                <a16:creationId xmlns:a16="http://schemas.microsoft.com/office/drawing/2014/main" id="{64E47CB1-E08A-A934-735A-4ED9664DEB0E}"/>
              </a:ext>
            </a:extLst>
          </p:cNvPr>
          <p:cNvSpPr>
            <a:spLocks noChangeArrowheads="1"/>
          </p:cNvSpPr>
          <p:nvPr>
            <p:ph type="title"/>
          </p:nvPr>
        </p:nvSpPr>
        <p:spPr/>
        <p:txBody>
          <a:bodyPr/>
          <a:lstStyle/>
          <a:p>
            <a:r>
              <a:rPr lang="en-US" altLang="en-US"/>
              <a:t>Transactions : Introduction</a:t>
            </a:r>
          </a:p>
        </p:txBody>
      </p:sp>
      <p:sp>
        <p:nvSpPr>
          <p:cNvPr id="15362" name="Rectangle 2" descr="Content Placeholder 2">
            <a:extLst>
              <a:ext uri="{FF2B5EF4-FFF2-40B4-BE49-F238E27FC236}">
                <a16:creationId xmlns:a16="http://schemas.microsoft.com/office/drawing/2014/main" id="{531DA11A-4060-6651-503B-D0A752C99A20}"/>
              </a:ext>
            </a:extLst>
          </p:cNvPr>
          <p:cNvSpPr>
            <a:spLocks noChangeArrowheads="1"/>
          </p:cNvSpPr>
          <p:nvPr>
            <p:ph type="body" idx="1"/>
          </p:nvPr>
        </p:nvSpPr>
        <p:spPr>
          <a:xfrm>
            <a:off x="566738" y="1143000"/>
            <a:ext cx="8001000" cy="5029200"/>
          </a:xfrm>
        </p:spPr>
        <p:txBody>
          <a:bodyPr/>
          <a:lstStyle/>
          <a:p>
            <a:pPr>
              <a:spcBef>
                <a:spcPts val="300"/>
              </a:spcBef>
            </a:pPr>
            <a:r>
              <a:rPr lang="en-US" altLang="en-US" sz="1600"/>
              <a:t>Example: Bank database application</a:t>
            </a:r>
          </a:p>
          <a:p>
            <a:pPr>
              <a:spcBef>
                <a:spcPts val="300"/>
              </a:spcBef>
            </a:pPr>
            <a:r>
              <a:rPr lang="en-US" altLang="en-US" sz="1600"/>
              <a:t>Consider </a:t>
            </a:r>
            <a:r>
              <a:rPr lang="en-US" altLang="en-US" sz="1600">
                <a:solidFill>
                  <a:srgbClr val="0000FF"/>
                </a:solidFill>
              </a:rPr>
              <a:t>Ram </a:t>
            </a:r>
            <a:r>
              <a:rPr lang="en-US" altLang="en-US" sz="1600"/>
              <a:t>and </a:t>
            </a:r>
            <a:r>
              <a:rPr lang="en-US" altLang="en-US" sz="1600">
                <a:solidFill>
                  <a:srgbClr val="FF00FF"/>
                </a:solidFill>
              </a:rPr>
              <a:t>Shyam</a:t>
            </a:r>
            <a:r>
              <a:rPr lang="en-US" altLang="en-US" sz="1600"/>
              <a:t> has an account in SBI bank at Basvangudi branch. </a:t>
            </a:r>
          </a:p>
        </p:txBody>
      </p:sp>
      <p:sp>
        <p:nvSpPr>
          <p:cNvPr id="15363" name="Text Box 3" descr="Date Placeholder 3">
            <a:extLst>
              <a:ext uri="{FF2B5EF4-FFF2-40B4-BE49-F238E27FC236}">
                <a16:creationId xmlns:a16="http://schemas.microsoft.com/office/drawing/2014/main" id="{3C597C8D-97D0-8A81-0B63-E262B7D6ED4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364" name="Text Box 4" descr="Slide Number Placeholder 5">
            <a:extLst>
              <a:ext uri="{FF2B5EF4-FFF2-40B4-BE49-F238E27FC236}">
                <a16:creationId xmlns:a16="http://schemas.microsoft.com/office/drawing/2014/main" id="{7E104E7B-F3BA-8A2B-83CC-F8444406D90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908AA92-9959-42D7-A489-FAFC7BAF9F4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5365" name="Picture 5" descr="Picture 4">
            <a:extLst>
              <a:ext uri="{FF2B5EF4-FFF2-40B4-BE49-F238E27FC236}">
                <a16:creationId xmlns:a16="http://schemas.microsoft.com/office/drawing/2014/main" id="{32DE82DA-3CB6-11AD-B338-6E4BDCC40CF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61150" y="1917700"/>
            <a:ext cx="1582738"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5366" name="Text Box 6" descr="TextBox 8">
            <a:extLst>
              <a:ext uri="{FF2B5EF4-FFF2-40B4-BE49-F238E27FC236}">
                <a16:creationId xmlns:a16="http://schemas.microsoft.com/office/drawing/2014/main" id="{B177F8B8-4C59-824D-CCE3-32D15C1C0DD0}"/>
              </a:ext>
            </a:extLst>
          </p:cNvPr>
          <p:cNvSpPr txBox="1">
            <a:spLocks/>
          </p:cNvSpPr>
          <p:nvPr/>
        </p:nvSpPr>
        <p:spPr bwMode="auto">
          <a:xfrm>
            <a:off x="376238" y="2954338"/>
            <a:ext cx="66548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C00000"/>
                </a:solidFill>
              </a:rPr>
              <a:t>Transaction: </a:t>
            </a:r>
            <a:r>
              <a:rPr lang="en-US" altLang="en-US" sz="1600"/>
              <a:t>Transfer Rs. 100 </a:t>
            </a:r>
            <a:r>
              <a:rPr lang="en-US" altLang="en-US" sz="1600">
                <a:solidFill>
                  <a:srgbClr val="0000FF"/>
                </a:solidFill>
              </a:rPr>
              <a:t>Ram </a:t>
            </a:r>
            <a:r>
              <a:rPr lang="en-US" altLang="en-US" sz="1600"/>
              <a:t>account to </a:t>
            </a:r>
            <a:r>
              <a:rPr lang="en-US" altLang="en-US" sz="1600">
                <a:solidFill>
                  <a:srgbClr val="FF00FF"/>
                </a:solidFill>
              </a:rPr>
              <a:t>Shyam</a:t>
            </a:r>
            <a:r>
              <a:rPr lang="en-US" altLang="en-US" sz="1600"/>
              <a:t> account.</a:t>
            </a:r>
            <a:endParaRPr lang="en-US" altLang="en-US" sz="1600" b="1">
              <a:solidFill>
                <a:srgbClr val="C00000"/>
              </a:solidFill>
            </a:endParaRPr>
          </a:p>
        </p:txBody>
      </p:sp>
      <p:sp>
        <p:nvSpPr>
          <p:cNvPr id="15367" name="Text Box 7" descr="TextBox 9">
            <a:extLst>
              <a:ext uri="{FF2B5EF4-FFF2-40B4-BE49-F238E27FC236}">
                <a16:creationId xmlns:a16="http://schemas.microsoft.com/office/drawing/2014/main" id="{6869C8FB-609D-A0EE-B87F-210E350C5FB1}"/>
              </a:ext>
            </a:extLst>
          </p:cNvPr>
          <p:cNvSpPr txBox="1">
            <a:spLocks/>
          </p:cNvSpPr>
          <p:nvPr/>
        </p:nvSpPr>
        <p:spPr bwMode="auto">
          <a:xfrm>
            <a:off x="398463" y="3740150"/>
            <a:ext cx="3563937" cy="844550"/>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501</a:t>
            </a:r>
            <a:r>
              <a:rPr lang="en-US" altLang="en-US" sz="1600">
                <a:solidFill>
                  <a:srgbClr val="0000FF"/>
                </a:solidFill>
              </a:rPr>
              <a:t>;</a:t>
            </a:r>
          </a:p>
        </p:txBody>
      </p:sp>
      <p:sp>
        <p:nvSpPr>
          <p:cNvPr id="15368" name="Text Box 8" descr="TextBox 11">
            <a:extLst>
              <a:ext uri="{FF2B5EF4-FFF2-40B4-BE49-F238E27FC236}">
                <a16:creationId xmlns:a16="http://schemas.microsoft.com/office/drawing/2014/main" id="{94B9C9B8-9BCB-9892-2DBE-2BCEB6A7B723}"/>
              </a:ext>
            </a:extLst>
          </p:cNvPr>
          <p:cNvSpPr txBox="1">
            <a:spLocks/>
          </p:cNvSpPr>
          <p:nvPr/>
        </p:nvSpPr>
        <p:spPr bwMode="auto">
          <a:xfrm>
            <a:off x="425450" y="3394075"/>
            <a:ext cx="39497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Subtract Rs. 100/- from </a:t>
            </a:r>
            <a:r>
              <a:rPr lang="en-US" altLang="en-US" sz="1600">
                <a:solidFill>
                  <a:srgbClr val="0000FF"/>
                </a:solidFill>
              </a:rPr>
              <a:t>Ram</a:t>
            </a:r>
            <a:r>
              <a:rPr lang="en-US" altLang="en-US" sz="1600"/>
              <a:t> account</a:t>
            </a:r>
          </a:p>
        </p:txBody>
      </p:sp>
      <p:sp>
        <p:nvSpPr>
          <p:cNvPr id="15369" name="Text Box 9" descr="TextBox 12">
            <a:extLst>
              <a:ext uri="{FF2B5EF4-FFF2-40B4-BE49-F238E27FC236}">
                <a16:creationId xmlns:a16="http://schemas.microsoft.com/office/drawing/2014/main" id="{B9AFDFA6-96FB-7F42-73CE-FDB0EF4A1710}"/>
              </a:ext>
            </a:extLst>
          </p:cNvPr>
          <p:cNvSpPr txBox="1">
            <a:spLocks/>
          </p:cNvSpPr>
          <p:nvPr/>
        </p:nvSpPr>
        <p:spPr bwMode="auto">
          <a:xfrm>
            <a:off x="5446713" y="3740150"/>
            <a:ext cx="3563937" cy="844550"/>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502</a:t>
            </a:r>
            <a:r>
              <a:rPr lang="en-US" altLang="en-US" sz="1600">
                <a:solidFill>
                  <a:srgbClr val="0000FF"/>
                </a:solidFill>
              </a:rPr>
              <a:t>;</a:t>
            </a:r>
          </a:p>
        </p:txBody>
      </p:sp>
      <p:sp>
        <p:nvSpPr>
          <p:cNvPr id="15370" name="Text Box 10" descr="TextBox 13">
            <a:extLst>
              <a:ext uri="{FF2B5EF4-FFF2-40B4-BE49-F238E27FC236}">
                <a16:creationId xmlns:a16="http://schemas.microsoft.com/office/drawing/2014/main" id="{755CC9C8-F73D-F5DA-9AA8-0449C0500FD6}"/>
              </a:ext>
            </a:extLst>
          </p:cNvPr>
          <p:cNvSpPr txBox="1">
            <a:spLocks/>
          </p:cNvSpPr>
          <p:nvPr/>
        </p:nvSpPr>
        <p:spPr bwMode="auto">
          <a:xfrm>
            <a:off x="5454650" y="3421063"/>
            <a:ext cx="351790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Add  Rs. 100/- to </a:t>
            </a:r>
            <a:r>
              <a:rPr lang="en-US" altLang="en-US" sz="1600">
                <a:solidFill>
                  <a:srgbClr val="FF00FF"/>
                </a:solidFill>
              </a:rPr>
              <a:t>Shyam</a:t>
            </a:r>
            <a:r>
              <a:rPr lang="en-US" altLang="en-US" sz="1600"/>
              <a:t> account</a:t>
            </a:r>
          </a:p>
        </p:txBody>
      </p:sp>
      <p:pic>
        <p:nvPicPr>
          <p:cNvPr id="15371" name="Picture 11" descr="Picture 2">
            <a:extLst>
              <a:ext uri="{FF2B5EF4-FFF2-40B4-BE49-F238E27FC236}">
                <a16:creationId xmlns:a16="http://schemas.microsoft.com/office/drawing/2014/main" id="{B88FA141-48DA-19DA-533C-96D6615EF15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66950" y="1773238"/>
            <a:ext cx="2479675" cy="1111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5372" name="Text Box 12" descr="TextBox 14">
            <a:extLst>
              <a:ext uri="{FF2B5EF4-FFF2-40B4-BE49-F238E27FC236}">
                <a16:creationId xmlns:a16="http://schemas.microsoft.com/office/drawing/2014/main" id="{6BF89708-6629-A754-AEBE-3B321FE540CD}"/>
              </a:ext>
            </a:extLst>
          </p:cNvPr>
          <p:cNvSpPr txBox="1">
            <a:spLocks/>
          </p:cNvSpPr>
          <p:nvPr/>
        </p:nvSpPr>
        <p:spPr bwMode="auto">
          <a:xfrm>
            <a:off x="373063" y="5018088"/>
            <a:ext cx="8340725"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Question:</a:t>
            </a:r>
          </a:p>
          <a:p>
            <a:r>
              <a:rPr lang="en-US" altLang="en-US" sz="1600"/>
              <a:t>What will be the status of </a:t>
            </a:r>
            <a:r>
              <a:rPr lang="en-US" altLang="en-US" sz="1600" b="1">
                <a:solidFill>
                  <a:srgbClr val="00B050"/>
                </a:solidFill>
              </a:rPr>
              <a:t>ACCOUNTS</a:t>
            </a:r>
            <a:r>
              <a:rPr lang="en-US" altLang="en-US" sz="1600"/>
              <a:t> table say if </a:t>
            </a:r>
            <a:r>
              <a:rPr lang="en-US" altLang="en-US" sz="1600" b="1">
                <a:solidFill>
                  <a:srgbClr val="FF0000"/>
                </a:solidFill>
              </a:rPr>
              <a:t>SECOND </a:t>
            </a:r>
            <a:r>
              <a:rPr lang="en-US" altLang="en-US" sz="1600"/>
              <a:t>Update SQL </a:t>
            </a:r>
          </a:p>
          <a:p>
            <a:r>
              <a:rPr lang="en-US" altLang="en-US" sz="1600"/>
              <a:t>statement has been executed  but </a:t>
            </a:r>
            <a:r>
              <a:rPr lang="en-US" altLang="en-US" sz="1600" b="1">
                <a:solidFill>
                  <a:srgbClr val="FF0000"/>
                </a:solidFill>
              </a:rPr>
              <a:t>FIRST  </a:t>
            </a:r>
            <a:r>
              <a:rPr lang="en-US" altLang="en-US" sz="1600"/>
              <a:t>Update SQL statement </a:t>
            </a:r>
          </a:p>
          <a:p>
            <a:r>
              <a:rPr lang="en-US" altLang="en-US" sz="1600" b="1"/>
              <a:t>has not been executed</a:t>
            </a:r>
            <a:r>
              <a:rPr lang="en-US" altLang="en-US" sz="1600"/>
              <a:t> because of  electricity failure on the computer system.</a:t>
            </a:r>
            <a:endParaRPr lang="en-US" altLang="en-US" sz="1600" b="1"/>
          </a:p>
        </p:txBody>
      </p:sp>
      <p:sp>
        <p:nvSpPr>
          <p:cNvPr id="15373" name="Text Box 13" descr="TextBox 7">
            <a:extLst>
              <a:ext uri="{FF2B5EF4-FFF2-40B4-BE49-F238E27FC236}">
                <a16:creationId xmlns:a16="http://schemas.microsoft.com/office/drawing/2014/main" id="{71F97C2D-5768-7B91-0C0A-CE02F4F58A4B}"/>
              </a:ext>
            </a:extLst>
          </p:cNvPr>
          <p:cNvSpPr txBox="1">
            <a:spLocks/>
          </p:cNvSpPr>
          <p:nvPr/>
        </p:nvSpPr>
        <p:spPr bwMode="auto">
          <a:xfrm>
            <a:off x="236538" y="4556125"/>
            <a:ext cx="788987"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FIRST</a:t>
            </a:r>
          </a:p>
        </p:txBody>
      </p:sp>
      <p:sp>
        <p:nvSpPr>
          <p:cNvPr id="15374" name="Text Box 14" descr="TextBox 16">
            <a:extLst>
              <a:ext uri="{FF2B5EF4-FFF2-40B4-BE49-F238E27FC236}">
                <a16:creationId xmlns:a16="http://schemas.microsoft.com/office/drawing/2014/main" id="{00C08247-7F1B-0705-FF6B-B8AC475FF194}"/>
              </a:ext>
            </a:extLst>
          </p:cNvPr>
          <p:cNvSpPr txBox="1">
            <a:spLocks/>
          </p:cNvSpPr>
          <p:nvPr/>
        </p:nvSpPr>
        <p:spPr bwMode="auto">
          <a:xfrm>
            <a:off x="7920038" y="4572000"/>
            <a:ext cx="10477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SECOND</a:t>
            </a:r>
          </a:p>
        </p:txBody>
      </p:sp>
    </p:spTree>
  </p:cSld>
  <p:clrMapOvr>
    <a:masterClrMapping/>
  </p:clrMapOvr>
  <p:transition spd="med"/>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Rectangle 1" descr="Title 1">
            <a:extLst>
              <a:ext uri="{FF2B5EF4-FFF2-40B4-BE49-F238E27FC236}">
                <a16:creationId xmlns:a16="http://schemas.microsoft.com/office/drawing/2014/main" id="{89132C5E-88E7-1AEC-ED0B-9F98BBB9799E}"/>
              </a:ext>
            </a:extLst>
          </p:cNvPr>
          <p:cNvSpPr>
            <a:spLocks noChangeArrowheads="1"/>
          </p:cNvSpPr>
          <p:nvPr>
            <p:ph type="title"/>
          </p:nvPr>
        </p:nvSpPr>
        <p:spPr/>
        <p:txBody>
          <a:bodyPr/>
          <a:lstStyle/>
          <a:p>
            <a:r>
              <a:rPr lang="en-US" altLang="en-US"/>
              <a:t>Transactions : Introduction</a:t>
            </a:r>
          </a:p>
        </p:txBody>
      </p:sp>
      <p:sp>
        <p:nvSpPr>
          <p:cNvPr id="16386" name="Rectangle 2" descr="Content Placeholder 2">
            <a:extLst>
              <a:ext uri="{FF2B5EF4-FFF2-40B4-BE49-F238E27FC236}">
                <a16:creationId xmlns:a16="http://schemas.microsoft.com/office/drawing/2014/main" id="{67ECC413-CF27-5C27-F697-E9FCB6CF32D4}"/>
              </a:ext>
            </a:extLst>
          </p:cNvPr>
          <p:cNvSpPr>
            <a:spLocks noChangeArrowheads="1"/>
          </p:cNvSpPr>
          <p:nvPr>
            <p:ph type="body" idx="1"/>
          </p:nvPr>
        </p:nvSpPr>
        <p:spPr>
          <a:xfrm>
            <a:off x="566738" y="1143000"/>
            <a:ext cx="8001000" cy="5029200"/>
          </a:xfrm>
        </p:spPr>
        <p:txBody>
          <a:bodyPr/>
          <a:lstStyle/>
          <a:p>
            <a:pPr>
              <a:spcBef>
                <a:spcPts val="300"/>
              </a:spcBef>
            </a:pPr>
            <a:r>
              <a:rPr lang="en-US" altLang="en-US" sz="1600"/>
              <a:t>Example: Bank database application</a:t>
            </a:r>
          </a:p>
          <a:p>
            <a:pPr>
              <a:spcBef>
                <a:spcPts val="300"/>
              </a:spcBef>
            </a:pPr>
            <a:r>
              <a:rPr lang="en-US" altLang="en-US" sz="1600"/>
              <a:t>Consider </a:t>
            </a:r>
            <a:r>
              <a:rPr lang="en-US" altLang="en-US" sz="1600">
                <a:solidFill>
                  <a:srgbClr val="0000FF"/>
                </a:solidFill>
              </a:rPr>
              <a:t>Ram </a:t>
            </a:r>
            <a:r>
              <a:rPr lang="en-US" altLang="en-US" sz="1600"/>
              <a:t>and </a:t>
            </a:r>
            <a:r>
              <a:rPr lang="en-US" altLang="en-US" sz="1600">
                <a:solidFill>
                  <a:srgbClr val="FF00FF"/>
                </a:solidFill>
              </a:rPr>
              <a:t>Shyam</a:t>
            </a:r>
            <a:r>
              <a:rPr lang="en-US" altLang="en-US" sz="1600"/>
              <a:t> has an account in SBI bank at Basvangudi branch. </a:t>
            </a:r>
          </a:p>
        </p:txBody>
      </p:sp>
      <p:sp>
        <p:nvSpPr>
          <p:cNvPr id="16387" name="Text Box 3" descr="Date Placeholder 3">
            <a:extLst>
              <a:ext uri="{FF2B5EF4-FFF2-40B4-BE49-F238E27FC236}">
                <a16:creationId xmlns:a16="http://schemas.microsoft.com/office/drawing/2014/main" id="{F67BFC9F-F605-662C-9843-A82C0BD323C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388" name="Text Box 4" descr="Slide Number Placeholder 5">
            <a:extLst>
              <a:ext uri="{FF2B5EF4-FFF2-40B4-BE49-F238E27FC236}">
                <a16:creationId xmlns:a16="http://schemas.microsoft.com/office/drawing/2014/main" id="{4191F5DB-2167-38E1-94DB-6D1758B59A35}"/>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F6B9941-6DFF-4FC6-8F27-D0A1A20AA0B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6389" name="Picture 5" descr="Picture 4">
            <a:extLst>
              <a:ext uri="{FF2B5EF4-FFF2-40B4-BE49-F238E27FC236}">
                <a16:creationId xmlns:a16="http://schemas.microsoft.com/office/drawing/2014/main" id="{7686A09D-A910-4CAC-A374-2CE025F5AD1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61150" y="1917700"/>
            <a:ext cx="1582738"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6390" name="Text Box 6" descr="TextBox 8">
            <a:extLst>
              <a:ext uri="{FF2B5EF4-FFF2-40B4-BE49-F238E27FC236}">
                <a16:creationId xmlns:a16="http://schemas.microsoft.com/office/drawing/2014/main" id="{9ABB5C58-6390-1DBC-41B4-A2AAE97DD5A2}"/>
              </a:ext>
            </a:extLst>
          </p:cNvPr>
          <p:cNvSpPr txBox="1">
            <a:spLocks/>
          </p:cNvSpPr>
          <p:nvPr/>
        </p:nvSpPr>
        <p:spPr bwMode="auto">
          <a:xfrm>
            <a:off x="376238" y="2954338"/>
            <a:ext cx="66548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C00000"/>
                </a:solidFill>
              </a:rPr>
              <a:t>Transaction: </a:t>
            </a:r>
            <a:r>
              <a:rPr lang="en-US" altLang="en-US" sz="1600"/>
              <a:t>Transfer Rs. 100 </a:t>
            </a:r>
            <a:r>
              <a:rPr lang="en-US" altLang="en-US" sz="1600">
                <a:solidFill>
                  <a:srgbClr val="0000FF"/>
                </a:solidFill>
              </a:rPr>
              <a:t>Ram </a:t>
            </a:r>
            <a:r>
              <a:rPr lang="en-US" altLang="en-US" sz="1600"/>
              <a:t>account to </a:t>
            </a:r>
            <a:r>
              <a:rPr lang="en-US" altLang="en-US" sz="1600">
                <a:solidFill>
                  <a:srgbClr val="FF00FF"/>
                </a:solidFill>
              </a:rPr>
              <a:t>Shyam</a:t>
            </a:r>
            <a:r>
              <a:rPr lang="en-US" altLang="en-US" sz="1600"/>
              <a:t> account.</a:t>
            </a:r>
            <a:endParaRPr lang="en-US" altLang="en-US" sz="1600" b="1">
              <a:solidFill>
                <a:srgbClr val="C00000"/>
              </a:solidFill>
            </a:endParaRPr>
          </a:p>
        </p:txBody>
      </p:sp>
      <p:sp>
        <p:nvSpPr>
          <p:cNvPr id="16391" name="Text Box 7" descr="TextBox 9">
            <a:extLst>
              <a:ext uri="{FF2B5EF4-FFF2-40B4-BE49-F238E27FC236}">
                <a16:creationId xmlns:a16="http://schemas.microsoft.com/office/drawing/2014/main" id="{460B73D6-7234-ABD0-47BC-C3B0D63BB588}"/>
              </a:ext>
            </a:extLst>
          </p:cNvPr>
          <p:cNvSpPr txBox="1">
            <a:spLocks/>
          </p:cNvSpPr>
          <p:nvPr/>
        </p:nvSpPr>
        <p:spPr bwMode="auto">
          <a:xfrm>
            <a:off x="398463" y="3740150"/>
            <a:ext cx="3563937" cy="844550"/>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501</a:t>
            </a:r>
            <a:r>
              <a:rPr lang="en-US" altLang="en-US" sz="1600">
                <a:solidFill>
                  <a:srgbClr val="0000FF"/>
                </a:solidFill>
              </a:rPr>
              <a:t>;</a:t>
            </a:r>
          </a:p>
        </p:txBody>
      </p:sp>
      <p:sp>
        <p:nvSpPr>
          <p:cNvPr id="16392" name="Text Box 8" descr="TextBox 11">
            <a:extLst>
              <a:ext uri="{FF2B5EF4-FFF2-40B4-BE49-F238E27FC236}">
                <a16:creationId xmlns:a16="http://schemas.microsoft.com/office/drawing/2014/main" id="{3B45D298-4D47-BC75-4710-9F0E80DA1A22}"/>
              </a:ext>
            </a:extLst>
          </p:cNvPr>
          <p:cNvSpPr txBox="1">
            <a:spLocks/>
          </p:cNvSpPr>
          <p:nvPr/>
        </p:nvSpPr>
        <p:spPr bwMode="auto">
          <a:xfrm>
            <a:off x="425450" y="3394075"/>
            <a:ext cx="39497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Subtract Rs. 100/- from </a:t>
            </a:r>
            <a:r>
              <a:rPr lang="en-US" altLang="en-US" sz="1600">
                <a:solidFill>
                  <a:srgbClr val="0000FF"/>
                </a:solidFill>
              </a:rPr>
              <a:t>Ram</a:t>
            </a:r>
            <a:r>
              <a:rPr lang="en-US" altLang="en-US" sz="1600"/>
              <a:t> account</a:t>
            </a:r>
          </a:p>
        </p:txBody>
      </p:sp>
      <p:sp>
        <p:nvSpPr>
          <p:cNvPr id="16393" name="Text Box 9" descr="TextBox 12">
            <a:extLst>
              <a:ext uri="{FF2B5EF4-FFF2-40B4-BE49-F238E27FC236}">
                <a16:creationId xmlns:a16="http://schemas.microsoft.com/office/drawing/2014/main" id="{46754A9C-6480-6BD9-F6AA-252D54AFC0CB}"/>
              </a:ext>
            </a:extLst>
          </p:cNvPr>
          <p:cNvSpPr txBox="1">
            <a:spLocks/>
          </p:cNvSpPr>
          <p:nvPr/>
        </p:nvSpPr>
        <p:spPr bwMode="auto">
          <a:xfrm>
            <a:off x="5446713" y="3740150"/>
            <a:ext cx="3563937" cy="844550"/>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0000FF"/>
                </a:solidFill>
              </a:rPr>
              <a:t>Update </a:t>
            </a:r>
            <a:r>
              <a:rPr lang="en-US" altLang="en-US" sz="1600" b="1">
                <a:solidFill>
                  <a:srgbClr val="00B050"/>
                </a:solidFill>
              </a:rPr>
              <a:t>ACCOUNTS</a:t>
            </a:r>
          </a:p>
          <a:p>
            <a:r>
              <a:rPr lang="en-US" altLang="en-US" sz="1600">
                <a:solidFill>
                  <a:srgbClr val="0000FF"/>
                </a:solidFill>
              </a:rPr>
              <a:t>Set Balance =Balance+100</a:t>
            </a:r>
          </a:p>
          <a:p>
            <a:r>
              <a:rPr lang="en-US" altLang="en-US" sz="1600">
                <a:solidFill>
                  <a:srgbClr val="0000FF"/>
                </a:solidFill>
              </a:rPr>
              <a:t>Where AccountNumber=</a:t>
            </a:r>
            <a:r>
              <a:rPr lang="en-US" altLang="en-US" sz="1600" b="1">
                <a:solidFill>
                  <a:srgbClr val="0000FF"/>
                </a:solidFill>
              </a:rPr>
              <a:t>502</a:t>
            </a:r>
            <a:r>
              <a:rPr lang="en-US" altLang="en-US" sz="1600">
                <a:solidFill>
                  <a:srgbClr val="0000FF"/>
                </a:solidFill>
              </a:rPr>
              <a:t>;</a:t>
            </a:r>
          </a:p>
        </p:txBody>
      </p:sp>
      <p:sp>
        <p:nvSpPr>
          <p:cNvPr id="16394" name="Text Box 10" descr="TextBox 13">
            <a:extLst>
              <a:ext uri="{FF2B5EF4-FFF2-40B4-BE49-F238E27FC236}">
                <a16:creationId xmlns:a16="http://schemas.microsoft.com/office/drawing/2014/main" id="{DE251944-580B-0CF1-F83B-E4817525FDB2}"/>
              </a:ext>
            </a:extLst>
          </p:cNvPr>
          <p:cNvSpPr txBox="1">
            <a:spLocks/>
          </p:cNvSpPr>
          <p:nvPr/>
        </p:nvSpPr>
        <p:spPr bwMode="auto">
          <a:xfrm>
            <a:off x="5454650" y="3421063"/>
            <a:ext cx="351790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Add  Rs. 100/- to </a:t>
            </a:r>
            <a:r>
              <a:rPr lang="en-US" altLang="en-US" sz="1600">
                <a:solidFill>
                  <a:srgbClr val="FF00FF"/>
                </a:solidFill>
              </a:rPr>
              <a:t>Shyam</a:t>
            </a:r>
            <a:r>
              <a:rPr lang="en-US" altLang="en-US" sz="1600"/>
              <a:t> account</a:t>
            </a:r>
          </a:p>
        </p:txBody>
      </p:sp>
      <p:pic>
        <p:nvPicPr>
          <p:cNvPr id="16395" name="Picture 11" descr="Picture 2">
            <a:extLst>
              <a:ext uri="{FF2B5EF4-FFF2-40B4-BE49-F238E27FC236}">
                <a16:creationId xmlns:a16="http://schemas.microsoft.com/office/drawing/2014/main" id="{729BE0DF-EAD8-9976-C810-3D52185282F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66950" y="1773238"/>
            <a:ext cx="2479675" cy="1111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6396" name="Text Box 12" descr="TextBox 14">
            <a:extLst>
              <a:ext uri="{FF2B5EF4-FFF2-40B4-BE49-F238E27FC236}">
                <a16:creationId xmlns:a16="http://schemas.microsoft.com/office/drawing/2014/main" id="{59498DBA-C977-5FCD-6DC1-332973082372}"/>
              </a:ext>
            </a:extLst>
          </p:cNvPr>
          <p:cNvSpPr txBox="1">
            <a:spLocks/>
          </p:cNvSpPr>
          <p:nvPr/>
        </p:nvSpPr>
        <p:spPr bwMode="auto">
          <a:xfrm>
            <a:off x="236538" y="4894263"/>
            <a:ext cx="8799512" cy="1539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CC00CC"/>
                </a:solidFill>
              </a:rPr>
              <a:t>SOLUTION:</a:t>
            </a:r>
          </a:p>
          <a:p>
            <a:r>
              <a:rPr lang="en-US" altLang="en-US" sz="1600"/>
              <a:t>Both </a:t>
            </a:r>
            <a:r>
              <a:rPr lang="en-US" altLang="en-US" sz="1600" b="1">
                <a:solidFill>
                  <a:srgbClr val="FF0000"/>
                </a:solidFill>
              </a:rPr>
              <a:t>FIRST  </a:t>
            </a:r>
            <a:r>
              <a:rPr lang="en-US" altLang="en-US" sz="1600"/>
              <a:t>and </a:t>
            </a:r>
            <a:r>
              <a:rPr lang="en-US" altLang="en-US" sz="1600" b="1">
                <a:solidFill>
                  <a:srgbClr val="FF0000"/>
                </a:solidFill>
              </a:rPr>
              <a:t>SECOND </a:t>
            </a:r>
            <a:r>
              <a:rPr lang="en-US" altLang="en-US" sz="1600"/>
              <a:t>Update SQL statements should be executed successfully </a:t>
            </a:r>
          </a:p>
          <a:p>
            <a:r>
              <a:rPr lang="en-US" altLang="en-US" sz="1600"/>
              <a:t>for transaction to complete</a:t>
            </a:r>
          </a:p>
          <a:p>
            <a:r>
              <a:rPr lang="en-US" altLang="en-US" sz="1600"/>
              <a:t>In situations when any one of the UPDATE SQL  statements i.e., </a:t>
            </a:r>
            <a:r>
              <a:rPr lang="en-US" altLang="en-US" sz="1600" b="1">
                <a:solidFill>
                  <a:srgbClr val="FF0000"/>
                </a:solidFill>
              </a:rPr>
              <a:t>FIRST  </a:t>
            </a:r>
            <a:r>
              <a:rPr lang="en-US" altLang="en-US" sz="1600" b="1"/>
              <a:t>or</a:t>
            </a:r>
            <a:r>
              <a:rPr lang="en-US" altLang="en-US" sz="1600"/>
              <a:t> </a:t>
            </a:r>
            <a:r>
              <a:rPr lang="en-US" altLang="en-US" sz="1600" b="1">
                <a:solidFill>
                  <a:srgbClr val="FF0000"/>
                </a:solidFill>
              </a:rPr>
              <a:t>SECOND</a:t>
            </a:r>
          </a:p>
          <a:p>
            <a:r>
              <a:rPr lang="en-US" altLang="en-US" sz="1600"/>
              <a:t>has been executed then transaction should be </a:t>
            </a:r>
            <a:r>
              <a:rPr lang="en-US" altLang="en-US" sz="1600" b="1"/>
              <a:t>aborted</a:t>
            </a:r>
            <a:r>
              <a:rPr lang="en-US" altLang="en-US" sz="1600"/>
              <a:t> i.e., in ACCOUNTS </a:t>
            </a:r>
          </a:p>
          <a:p>
            <a:r>
              <a:rPr lang="en-US" altLang="en-US" sz="1600"/>
              <a:t>table Balance column should not be changed</a:t>
            </a:r>
          </a:p>
        </p:txBody>
      </p:sp>
      <p:sp>
        <p:nvSpPr>
          <p:cNvPr id="16397" name="Text Box 13" descr="TextBox 7">
            <a:extLst>
              <a:ext uri="{FF2B5EF4-FFF2-40B4-BE49-F238E27FC236}">
                <a16:creationId xmlns:a16="http://schemas.microsoft.com/office/drawing/2014/main" id="{A898EFA7-D801-648E-E32B-76E5DA2D1019}"/>
              </a:ext>
            </a:extLst>
          </p:cNvPr>
          <p:cNvSpPr txBox="1">
            <a:spLocks/>
          </p:cNvSpPr>
          <p:nvPr/>
        </p:nvSpPr>
        <p:spPr bwMode="auto">
          <a:xfrm>
            <a:off x="236538" y="4556125"/>
            <a:ext cx="788987"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FIRST</a:t>
            </a:r>
          </a:p>
        </p:txBody>
      </p:sp>
      <p:sp>
        <p:nvSpPr>
          <p:cNvPr id="16398" name="Text Box 14" descr="TextBox 16">
            <a:extLst>
              <a:ext uri="{FF2B5EF4-FFF2-40B4-BE49-F238E27FC236}">
                <a16:creationId xmlns:a16="http://schemas.microsoft.com/office/drawing/2014/main" id="{452E5AFF-64D2-0486-A2C7-31F1C56A2D32}"/>
              </a:ext>
            </a:extLst>
          </p:cNvPr>
          <p:cNvSpPr txBox="1">
            <a:spLocks/>
          </p:cNvSpPr>
          <p:nvPr/>
        </p:nvSpPr>
        <p:spPr bwMode="auto">
          <a:xfrm>
            <a:off x="7920038" y="4572000"/>
            <a:ext cx="10477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FF0000"/>
                </a:solidFill>
              </a:rPr>
              <a:t>SECOND</a:t>
            </a:r>
          </a:p>
        </p:txBody>
      </p:sp>
    </p:spTree>
  </p:cSld>
  <p:clrMapOvr>
    <a:masterClrMapping/>
  </p:clrMapOvr>
  <p:transition spd="med"/>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1" descr="Rectangle 2">
            <a:extLst>
              <a:ext uri="{FF2B5EF4-FFF2-40B4-BE49-F238E27FC236}">
                <a16:creationId xmlns:a16="http://schemas.microsoft.com/office/drawing/2014/main" id="{4259E656-3487-9240-33B6-66D82BBA8152}"/>
              </a:ext>
            </a:extLst>
          </p:cNvPr>
          <p:cNvSpPr>
            <a:spLocks noChangeArrowheads="1"/>
          </p:cNvSpPr>
          <p:nvPr>
            <p:ph type="title"/>
          </p:nvPr>
        </p:nvSpPr>
        <p:spPr/>
        <p:txBody>
          <a:bodyPr/>
          <a:lstStyle/>
          <a:p>
            <a:r>
              <a:rPr lang="en-US" altLang="en-US" sz="2800"/>
              <a:t>Demonstration</a:t>
            </a:r>
          </a:p>
        </p:txBody>
      </p:sp>
      <p:sp>
        <p:nvSpPr>
          <p:cNvPr id="17410" name="Rectangle 2" descr="Rectangle 3">
            <a:extLst>
              <a:ext uri="{FF2B5EF4-FFF2-40B4-BE49-F238E27FC236}">
                <a16:creationId xmlns:a16="http://schemas.microsoft.com/office/drawing/2014/main" id="{6D695FCC-7AE8-9BC3-8346-B09AB5608041}"/>
              </a:ext>
            </a:extLst>
          </p:cNvPr>
          <p:cNvSpPr>
            <a:spLocks noChangeArrowheads="1"/>
          </p:cNvSpPr>
          <p:nvPr>
            <p:ph type="body" sz="quarter" idx="1"/>
          </p:nvPr>
        </p:nvSpPr>
        <p:spPr>
          <a:xfrm>
            <a:off x="914400" y="3200400"/>
            <a:ext cx="7010400" cy="1600200"/>
          </a:xfrm>
        </p:spPr>
        <p:txBody>
          <a:bodyPr/>
          <a:lstStyle/>
          <a:p>
            <a:pPr marL="0" indent="0">
              <a:lnSpc>
                <a:spcPct val="80000"/>
              </a:lnSpc>
              <a:spcBef>
                <a:spcPts val="400"/>
              </a:spcBef>
              <a:buClrTx/>
              <a:buSzTx/>
              <a:buFontTx/>
              <a:buNone/>
            </a:pPr>
            <a:r>
              <a:rPr lang="en-US" altLang="en-US" sz="2000"/>
              <a:t>Placing Transaction in between START TRANSACTION and COMMIT.</a:t>
            </a:r>
          </a:p>
        </p:txBody>
      </p:sp>
      <p:sp>
        <p:nvSpPr>
          <p:cNvPr id="17411" name="Text Box 3" descr="Date Placeholder 1">
            <a:extLst>
              <a:ext uri="{FF2B5EF4-FFF2-40B4-BE49-F238E27FC236}">
                <a16:creationId xmlns:a16="http://schemas.microsoft.com/office/drawing/2014/main" id="{F7777C08-3A2B-E83D-4AED-3AD621F68698}"/>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412" name="Text Box 4" descr="Slide Number Placeholder 2">
            <a:extLst>
              <a:ext uri="{FF2B5EF4-FFF2-40B4-BE49-F238E27FC236}">
                <a16:creationId xmlns:a16="http://schemas.microsoft.com/office/drawing/2014/main" id="{A19780E3-E4B6-E2B5-EA3B-ED458671B6A2}"/>
              </a:ext>
            </a:extLst>
          </p:cNvPr>
          <p:cNvSpPr txBox="1">
            <a:spLocks/>
          </p:cNvSpPr>
          <p:nvPr/>
        </p:nvSpPr>
        <p:spPr bwMode="auto">
          <a:xfrm>
            <a:off x="8183563" y="6248400"/>
            <a:ext cx="274637"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D581397-FBC8-4A86-8C99-EDE9C1DC077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1" descr="Title 1">
            <a:extLst>
              <a:ext uri="{FF2B5EF4-FFF2-40B4-BE49-F238E27FC236}">
                <a16:creationId xmlns:a16="http://schemas.microsoft.com/office/drawing/2014/main" id="{017AA36C-00E8-8FFB-CEEA-289B4853F29A}"/>
              </a:ext>
            </a:extLst>
          </p:cNvPr>
          <p:cNvSpPr>
            <a:spLocks noChangeArrowheads="1"/>
          </p:cNvSpPr>
          <p:nvPr>
            <p:ph type="title"/>
          </p:nvPr>
        </p:nvSpPr>
        <p:spPr/>
        <p:txBody>
          <a:bodyPr/>
          <a:lstStyle/>
          <a:p>
            <a:r>
              <a:rPr lang="en-US" altLang="en-US"/>
              <a:t>Demonstration</a:t>
            </a:r>
          </a:p>
        </p:txBody>
      </p:sp>
      <p:sp>
        <p:nvSpPr>
          <p:cNvPr id="18434" name="Text Box 2" descr="Date Placeholder 3">
            <a:extLst>
              <a:ext uri="{FF2B5EF4-FFF2-40B4-BE49-F238E27FC236}">
                <a16:creationId xmlns:a16="http://schemas.microsoft.com/office/drawing/2014/main" id="{F4EF2165-AE9C-1B50-C371-5960CC06D45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435" name="Text Box 3" descr="Slide Number Placeholder 5">
            <a:extLst>
              <a:ext uri="{FF2B5EF4-FFF2-40B4-BE49-F238E27FC236}">
                <a16:creationId xmlns:a16="http://schemas.microsoft.com/office/drawing/2014/main" id="{EA6FC443-D207-BBAE-9765-BD7ECAE666E2}"/>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0BB22C1-C87D-4C06-B162-2AC4D58D0FA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18436" name="Group 4">
            <a:extLst>
              <a:ext uri="{FF2B5EF4-FFF2-40B4-BE49-F238E27FC236}">
                <a16:creationId xmlns:a16="http://schemas.microsoft.com/office/drawing/2014/main" id="{79F1FC3B-E7A0-74FF-1CBB-FA4DA0571CC3}"/>
              </a:ext>
            </a:extLst>
          </p:cNvPr>
          <p:cNvGrpSpPr>
            <a:grpSpLocks/>
          </p:cNvGrpSpPr>
          <p:nvPr/>
        </p:nvGrpSpPr>
        <p:grpSpPr bwMode="auto">
          <a:xfrm>
            <a:off x="712788" y="1284288"/>
            <a:ext cx="7788275" cy="2071687"/>
            <a:chOff x="0" y="-1"/>
            <a:chExt cx="7786742" cy="2071704"/>
          </a:xfrm>
        </p:grpSpPr>
        <p:sp>
          <p:nvSpPr>
            <p:cNvPr id="18437" name="Rectangle 5">
              <a:extLst>
                <a:ext uri="{FF2B5EF4-FFF2-40B4-BE49-F238E27FC236}">
                  <a16:creationId xmlns:a16="http://schemas.microsoft.com/office/drawing/2014/main" id="{3B95AEE3-6F95-B651-15F0-74DDB8A87275}"/>
                </a:ext>
              </a:extLst>
            </p:cNvPr>
            <p:cNvSpPr>
              <a:spLocks/>
            </p:cNvSpPr>
            <p:nvPr/>
          </p:nvSpPr>
          <p:spPr bwMode="auto">
            <a:xfrm>
              <a:off x="0" y="-1"/>
              <a:ext cx="7786742" cy="2071704"/>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8438" name="Text Box 6">
              <a:extLst>
                <a:ext uri="{FF2B5EF4-FFF2-40B4-BE49-F238E27FC236}">
                  <a16:creationId xmlns:a16="http://schemas.microsoft.com/office/drawing/2014/main" id="{9B263A20-1A41-9049-4CBB-BEC07E3580FD}"/>
                </a:ext>
              </a:extLst>
            </p:cNvPr>
            <p:cNvSpPr txBox="1">
              <a:spLocks/>
            </p:cNvSpPr>
            <p:nvPr/>
          </p:nvSpPr>
          <p:spPr bwMode="auto">
            <a:xfrm>
              <a:off x="50482" y="4762"/>
              <a:ext cx="7685778" cy="2047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DROP TABLE IF EXISTS accounts;</a:t>
              </a:r>
            </a:p>
            <a:p>
              <a:r>
                <a:rPr lang="en-US" altLang="en-US"/>
                <a:t>CREATE TABLE </a:t>
              </a:r>
              <a:r>
                <a:rPr lang="en-US" altLang="en-US">
                  <a:solidFill>
                    <a:srgbClr val="00B050"/>
                  </a:solidFill>
                </a:rPr>
                <a:t>accounts</a:t>
              </a:r>
              <a:r>
                <a:rPr lang="en-US" altLang="en-US"/>
                <a:t> ( AccountNumber INT PRIMARY KEY,  Name VARCHAR(30),  Balance FLOAT) ;</a:t>
              </a:r>
            </a:p>
            <a:p>
              <a:r>
                <a:rPr lang="en-US" altLang="en-US"/>
                <a:t>INSERT INTO accounts VALUES (501, '</a:t>
              </a:r>
              <a:r>
                <a:rPr lang="en-US" altLang="en-US">
                  <a:solidFill>
                    <a:srgbClr val="0000FF"/>
                  </a:solidFill>
                </a:rPr>
                <a:t>Ram</a:t>
              </a:r>
              <a:r>
                <a:rPr lang="en-US" altLang="en-US"/>
                <a:t>', 150.0);</a:t>
              </a:r>
            </a:p>
            <a:p>
              <a:r>
                <a:rPr lang="en-US" altLang="en-US"/>
                <a:t>INSERT INTO accounts VALUES (502, '</a:t>
              </a:r>
              <a:r>
                <a:rPr lang="en-US" altLang="en-US">
                  <a:solidFill>
                    <a:srgbClr val="FF00FF"/>
                  </a:solidFill>
                </a:rPr>
                <a:t>Shyam</a:t>
              </a:r>
              <a:r>
                <a:rPr lang="en-US" altLang="en-US"/>
                <a:t>', 100.0);</a:t>
              </a:r>
            </a:p>
            <a:p>
              <a:endParaRPr lang="en-US" altLang="en-US"/>
            </a:p>
            <a:p>
              <a:r>
                <a:rPr lang="en-US" altLang="en-US"/>
                <a:t>select * from accounts;</a:t>
              </a:r>
            </a:p>
          </p:txBody>
        </p:sp>
      </p:grpSp>
      <p:pic>
        <p:nvPicPr>
          <p:cNvPr id="18439" name="Picture 7" descr="Picture 2">
            <a:extLst>
              <a:ext uri="{FF2B5EF4-FFF2-40B4-BE49-F238E27FC236}">
                <a16:creationId xmlns:a16="http://schemas.microsoft.com/office/drawing/2014/main" id="{03ADE20B-3350-1444-7D5F-D6588847737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98538" y="3714750"/>
            <a:ext cx="2479675" cy="1109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descr="Title 1">
            <a:extLst>
              <a:ext uri="{FF2B5EF4-FFF2-40B4-BE49-F238E27FC236}">
                <a16:creationId xmlns:a16="http://schemas.microsoft.com/office/drawing/2014/main" id="{B79A332C-CAC7-0B55-5C84-439C3F598D9F}"/>
              </a:ext>
            </a:extLst>
          </p:cNvPr>
          <p:cNvSpPr>
            <a:spLocks noChangeArrowheads="1"/>
          </p:cNvSpPr>
          <p:nvPr>
            <p:ph type="title"/>
          </p:nvPr>
        </p:nvSpPr>
        <p:spPr/>
        <p:txBody>
          <a:bodyPr/>
          <a:lstStyle/>
          <a:p>
            <a:r>
              <a:rPr lang="en-US" altLang="en-US"/>
              <a:t>Demonstration</a:t>
            </a:r>
          </a:p>
        </p:txBody>
      </p:sp>
      <p:sp>
        <p:nvSpPr>
          <p:cNvPr id="19458" name="Text Box 2" descr="Date Placeholder 3">
            <a:extLst>
              <a:ext uri="{FF2B5EF4-FFF2-40B4-BE49-F238E27FC236}">
                <a16:creationId xmlns:a16="http://schemas.microsoft.com/office/drawing/2014/main" id="{7ACEE57C-DB07-32A8-BB9D-DCB40300EA5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459" name="Text Box 3" descr="Slide Number Placeholder 5">
            <a:extLst>
              <a:ext uri="{FF2B5EF4-FFF2-40B4-BE49-F238E27FC236}">
                <a16:creationId xmlns:a16="http://schemas.microsoft.com/office/drawing/2014/main" id="{B87B2C2E-0929-474F-EB12-90C1AF653F9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78918AC-D612-4C5A-9405-C0F573BE91D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9460" name="Picture 4" descr="Picture 3">
            <a:extLst>
              <a:ext uri="{FF2B5EF4-FFF2-40B4-BE49-F238E27FC236}">
                <a16:creationId xmlns:a16="http://schemas.microsoft.com/office/drawing/2014/main" id="{49FE86BF-1D15-A459-F885-E2D07905003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76225" y="348773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9461" name="Text Box 5" descr="TextBox 9">
            <a:extLst>
              <a:ext uri="{FF2B5EF4-FFF2-40B4-BE49-F238E27FC236}">
                <a16:creationId xmlns:a16="http://schemas.microsoft.com/office/drawing/2014/main" id="{DB2A260A-ABB6-2D80-7346-9A5C5F5905EF}"/>
              </a:ext>
            </a:extLst>
          </p:cNvPr>
          <p:cNvSpPr txBox="1">
            <a:spLocks/>
          </p:cNvSpPr>
          <p:nvPr/>
        </p:nvSpPr>
        <p:spPr bwMode="auto">
          <a:xfrm>
            <a:off x="106363" y="4487863"/>
            <a:ext cx="8509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1</a:t>
            </a:r>
          </a:p>
        </p:txBody>
      </p:sp>
      <p:grpSp>
        <p:nvGrpSpPr>
          <p:cNvPr id="19462" name="Group 6">
            <a:extLst>
              <a:ext uri="{FF2B5EF4-FFF2-40B4-BE49-F238E27FC236}">
                <a16:creationId xmlns:a16="http://schemas.microsoft.com/office/drawing/2014/main" id="{DF5EBFD7-DFFD-88F0-97FC-E6D5FD8C511E}"/>
              </a:ext>
            </a:extLst>
          </p:cNvPr>
          <p:cNvGrpSpPr>
            <a:grpSpLocks/>
          </p:cNvGrpSpPr>
          <p:nvPr/>
        </p:nvGrpSpPr>
        <p:grpSpPr bwMode="auto">
          <a:xfrm>
            <a:off x="1141413" y="3429000"/>
            <a:ext cx="8001000" cy="1857375"/>
            <a:chOff x="0" y="0"/>
            <a:chExt cx="8001056" cy="1857388"/>
          </a:xfrm>
        </p:grpSpPr>
        <p:sp>
          <p:nvSpPr>
            <p:cNvPr id="19463" name="Rectangle 7">
              <a:extLst>
                <a:ext uri="{FF2B5EF4-FFF2-40B4-BE49-F238E27FC236}">
                  <a16:creationId xmlns:a16="http://schemas.microsoft.com/office/drawing/2014/main" id="{8EB9B0CD-2301-97C3-4A67-CD19F6E23095}"/>
                </a:ext>
              </a:extLst>
            </p:cNvPr>
            <p:cNvSpPr>
              <a:spLocks/>
            </p:cNvSpPr>
            <p:nvPr/>
          </p:nvSpPr>
          <p:spPr bwMode="auto">
            <a:xfrm>
              <a:off x="0" y="0"/>
              <a:ext cx="8001056" cy="1857388"/>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9464" name="Text Box 8">
              <a:extLst>
                <a:ext uri="{FF2B5EF4-FFF2-40B4-BE49-F238E27FC236}">
                  <a16:creationId xmlns:a16="http://schemas.microsoft.com/office/drawing/2014/main" id="{E1F0C6E1-FFC1-FCBB-D796-58D2A1660849}"/>
                </a:ext>
              </a:extLst>
            </p:cNvPr>
            <p:cNvSpPr txBox="1">
              <a:spLocks/>
            </p:cNvSpPr>
            <p:nvPr/>
          </p:nvSpPr>
          <p:spPr bwMode="auto">
            <a:xfrm>
              <a:off x="50482" y="4762"/>
              <a:ext cx="7900092" cy="15773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solidFill>
                    <a:srgbClr val="FF0000"/>
                  </a:solidFill>
                </a:rPr>
                <a:t>START TRANSACTION;</a:t>
              </a:r>
            </a:p>
            <a:p>
              <a:r>
                <a:rPr lang="en-US" altLang="en-US" sz="1600"/>
                <a:t>UPDATE accounts SET balance = balance - 100 WHERE Name = '</a:t>
              </a:r>
              <a:r>
                <a:rPr lang="en-US" altLang="en-US" sz="1600">
                  <a:solidFill>
                    <a:srgbClr val="0000FF"/>
                  </a:solidFill>
                </a:rPr>
                <a:t>Ram</a:t>
              </a:r>
              <a:r>
                <a:rPr lang="en-US" altLang="en-US" sz="1600"/>
                <a:t>';</a:t>
              </a:r>
            </a:p>
            <a:p>
              <a:r>
                <a:rPr lang="en-US" altLang="en-US" sz="1600"/>
                <a:t>UPDATE accounts SET balance = balance + 100 WHERE Name = '</a:t>
              </a:r>
              <a:r>
                <a:rPr lang="en-US" altLang="en-US" sz="1600">
                  <a:solidFill>
                    <a:srgbClr val="FF00FF"/>
                  </a:solidFill>
                </a:rPr>
                <a:t>Shyam</a:t>
              </a:r>
              <a:r>
                <a:rPr lang="en-US" altLang="en-US" sz="1600"/>
                <a:t>';</a:t>
              </a:r>
            </a:p>
            <a:p>
              <a:r>
                <a:rPr lang="en-US" altLang="en-US" sz="1600">
                  <a:solidFill>
                    <a:srgbClr val="FF0000"/>
                  </a:solidFill>
                </a:rPr>
                <a:t>COMMIT;</a:t>
              </a:r>
            </a:p>
            <a:p>
              <a:r>
                <a:rPr lang="en-US" altLang="en-US"/>
                <a:t>select * from accounts;</a:t>
              </a:r>
            </a:p>
          </p:txBody>
        </p:sp>
      </p:grpSp>
      <p:pic>
        <p:nvPicPr>
          <p:cNvPr id="19465" name="Picture 9" descr="Picture 2">
            <a:extLst>
              <a:ext uri="{FF2B5EF4-FFF2-40B4-BE49-F238E27FC236}">
                <a16:creationId xmlns:a16="http://schemas.microsoft.com/office/drawing/2014/main" id="{07B34921-5E2B-6940-5A9C-83FAB2D669C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51013" y="1727200"/>
            <a:ext cx="2232025" cy="1196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9466" name="AutoShape 10" descr="Flowchart: Magnetic Disk 13">
            <a:extLst>
              <a:ext uri="{FF2B5EF4-FFF2-40B4-BE49-F238E27FC236}">
                <a16:creationId xmlns:a16="http://schemas.microsoft.com/office/drawing/2014/main" id="{455410FC-75A3-3EBA-980D-BFD172F28F57}"/>
              </a:ext>
            </a:extLst>
          </p:cNvPr>
          <p:cNvSpPr>
            <a:spLocks/>
          </p:cNvSpPr>
          <p:nvPr/>
        </p:nvSpPr>
        <p:spPr bwMode="auto">
          <a:xfrm>
            <a:off x="1403350" y="1027113"/>
            <a:ext cx="2928938" cy="20002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descr="Title 1">
            <a:extLst>
              <a:ext uri="{FF2B5EF4-FFF2-40B4-BE49-F238E27FC236}">
                <a16:creationId xmlns:a16="http://schemas.microsoft.com/office/drawing/2014/main" id="{8D589E81-118C-FB3F-04E7-60286DB07A7D}"/>
              </a:ext>
            </a:extLst>
          </p:cNvPr>
          <p:cNvSpPr>
            <a:spLocks noChangeArrowheads="1"/>
          </p:cNvSpPr>
          <p:nvPr>
            <p:ph type="title"/>
          </p:nvPr>
        </p:nvSpPr>
        <p:spPr/>
        <p:txBody>
          <a:bodyPr/>
          <a:lstStyle/>
          <a:p>
            <a:r>
              <a:rPr lang="en-US" altLang="en-US"/>
              <a:t>Demonstration</a:t>
            </a:r>
          </a:p>
        </p:txBody>
      </p:sp>
      <p:sp>
        <p:nvSpPr>
          <p:cNvPr id="20482" name="Text Box 2" descr="Date Placeholder 3">
            <a:extLst>
              <a:ext uri="{FF2B5EF4-FFF2-40B4-BE49-F238E27FC236}">
                <a16:creationId xmlns:a16="http://schemas.microsoft.com/office/drawing/2014/main" id="{036CC5B6-78A0-E1BB-EE99-407DF3F8FAC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483" name="Text Box 3" descr="Slide Number Placeholder 5">
            <a:extLst>
              <a:ext uri="{FF2B5EF4-FFF2-40B4-BE49-F238E27FC236}">
                <a16:creationId xmlns:a16="http://schemas.microsoft.com/office/drawing/2014/main" id="{56DF123F-D493-EB44-D9F7-9D773CF1D3DD}"/>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9F238AF-96CA-41A4-A482-08E91F25EC6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0484" name="Picture 4" descr="Picture 3">
            <a:extLst>
              <a:ext uri="{FF2B5EF4-FFF2-40B4-BE49-F238E27FC236}">
                <a16:creationId xmlns:a16="http://schemas.microsoft.com/office/drawing/2014/main" id="{35B87D13-2C6B-C709-5618-D5464ED5D9D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4788" y="320198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5" name="Text Box 5" descr="TextBox 9">
            <a:extLst>
              <a:ext uri="{FF2B5EF4-FFF2-40B4-BE49-F238E27FC236}">
                <a16:creationId xmlns:a16="http://schemas.microsoft.com/office/drawing/2014/main" id="{A9504ACA-E49D-85FE-3E94-47FC32D2E81E}"/>
              </a:ext>
            </a:extLst>
          </p:cNvPr>
          <p:cNvSpPr txBox="1">
            <a:spLocks/>
          </p:cNvSpPr>
          <p:nvPr/>
        </p:nvSpPr>
        <p:spPr bwMode="auto">
          <a:xfrm>
            <a:off x="34925" y="4202113"/>
            <a:ext cx="8509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1</a:t>
            </a:r>
          </a:p>
        </p:txBody>
      </p:sp>
      <p:grpSp>
        <p:nvGrpSpPr>
          <p:cNvPr id="20486" name="Group 6">
            <a:extLst>
              <a:ext uri="{FF2B5EF4-FFF2-40B4-BE49-F238E27FC236}">
                <a16:creationId xmlns:a16="http://schemas.microsoft.com/office/drawing/2014/main" id="{40D2172D-5EA2-DBC3-0346-E7B00FEB69BA}"/>
              </a:ext>
            </a:extLst>
          </p:cNvPr>
          <p:cNvGrpSpPr>
            <a:grpSpLocks/>
          </p:cNvGrpSpPr>
          <p:nvPr/>
        </p:nvGrpSpPr>
        <p:grpSpPr bwMode="auto">
          <a:xfrm>
            <a:off x="927100" y="3141663"/>
            <a:ext cx="7502525" cy="1573212"/>
            <a:chOff x="0" y="-1"/>
            <a:chExt cx="7501022" cy="1571638"/>
          </a:xfrm>
        </p:grpSpPr>
        <p:sp>
          <p:nvSpPr>
            <p:cNvPr id="20487" name="Rectangle 7">
              <a:extLst>
                <a:ext uri="{FF2B5EF4-FFF2-40B4-BE49-F238E27FC236}">
                  <a16:creationId xmlns:a16="http://schemas.microsoft.com/office/drawing/2014/main" id="{6DDD5311-EA61-F6F5-5F9C-2EF7BB685121}"/>
                </a:ext>
              </a:extLst>
            </p:cNvPr>
            <p:cNvSpPr>
              <a:spLocks/>
            </p:cNvSpPr>
            <p:nvPr/>
          </p:nvSpPr>
          <p:spPr bwMode="auto">
            <a:xfrm>
              <a:off x="0" y="-1"/>
              <a:ext cx="7501022" cy="1571638"/>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488" name="Text Box 8">
              <a:extLst>
                <a:ext uri="{FF2B5EF4-FFF2-40B4-BE49-F238E27FC236}">
                  <a16:creationId xmlns:a16="http://schemas.microsoft.com/office/drawing/2014/main" id="{59FB3BE6-85E6-C0DB-170E-A87B74FB8215}"/>
                </a:ext>
              </a:extLst>
            </p:cNvPr>
            <p:cNvSpPr txBox="1">
              <a:spLocks/>
            </p:cNvSpPr>
            <p:nvPr/>
          </p:nvSpPr>
          <p:spPr bwMode="auto">
            <a:xfrm>
              <a:off x="50482" y="4762"/>
              <a:ext cx="7400058" cy="1539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solidFill>
                    <a:srgbClr val="FF0000"/>
                  </a:solidFill>
                </a:rPr>
                <a:t>START TRANSACTION;</a:t>
              </a:r>
            </a:p>
            <a:p>
              <a:r>
                <a:rPr lang="en-US" altLang="en-US" sz="1600"/>
                <a:t>UPDATE accounts SET balance = balance - 100 WHERE owner = 'Ram';</a:t>
              </a:r>
            </a:p>
            <a:p>
              <a:r>
                <a:rPr lang="en-US" altLang="en-US" sz="1600"/>
                <a:t>UPDATE accounts SET balance = balance + 100 WHERE owner = 'Shyam';</a:t>
              </a:r>
            </a:p>
            <a:p>
              <a:r>
                <a:rPr lang="en-US" altLang="en-US" sz="1600">
                  <a:solidFill>
                    <a:srgbClr val="FF0000"/>
                  </a:solidFill>
                </a:rPr>
                <a:t>COMMIT;</a:t>
              </a:r>
            </a:p>
          </p:txBody>
        </p:sp>
      </p:grpSp>
      <p:pic>
        <p:nvPicPr>
          <p:cNvPr id="20489" name="Picture 9" descr="Picture 2">
            <a:extLst>
              <a:ext uri="{FF2B5EF4-FFF2-40B4-BE49-F238E27FC236}">
                <a16:creationId xmlns:a16="http://schemas.microsoft.com/office/drawing/2014/main" id="{0D49247D-5B95-4CE8-8989-7C175E32C55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98600" y="1784350"/>
            <a:ext cx="2000250" cy="896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90" name="AutoShape 10" descr="Flowchart: Magnetic Disk 13">
            <a:extLst>
              <a:ext uri="{FF2B5EF4-FFF2-40B4-BE49-F238E27FC236}">
                <a16:creationId xmlns:a16="http://schemas.microsoft.com/office/drawing/2014/main" id="{BA4B7E13-02EA-498D-45F2-6FC24210B5B8}"/>
              </a:ext>
            </a:extLst>
          </p:cNvPr>
          <p:cNvSpPr>
            <a:spLocks/>
          </p:cNvSpPr>
          <p:nvPr/>
        </p:nvSpPr>
        <p:spPr bwMode="auto">
          <a:xfrm>
            <a:off x="1284288" y="1141413"/>
            <a:ext cx="2357437" cy="17859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20491" name="Picture 11" descr="Picture 4">
            <a:extLst>
              <a:ext uri="{FF2B5EF4-FFF2-40B4-BE49-F238E27FC236}">
                <a16:creationId xmlns:a16="http://schemas.microsoft.com/office/drawing/2014/main" id="{801D0006-38BC-DE62-5AA1-B7F2107A45B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12725" y="5000625"/>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92" name="Text Box 12" descr="TextBox 14">
            <a:extLst>
              <a:ext uri="{FF2B5EF4-FFF2-40B4-BE49-F238E27FC236}">
                <a16:creationId xmlns:a16="http://schemas.microsoft.com/office/drawing/2014/main" id="{5856D61F-1C3A-5408-2C06-3A798F9F529A}"/>
              </a:ext>
            </a:extLst>
          </p:cNvPr>
          <p:cNvSpPr txBox="1">
            <a:spLocks/>
          </p:cNvSpPr>
          <p:nvPr/>
        </p:nvSpPr>
        <p:spPr bwMode="auto">
          <a:xfrm>
            <a:off x="187325" y="5786438"/>
            <a:ext cx="8509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2</a:t>
            </a:r>
          </a:p>
        </p:txBody>
      </p:sp>
      <p:grpSp>
        <p:nvGrpSpPr>
          <p:cNvPr id="20493" name="Group 13">
            <a:extLst>
              <a:ext uri="{FF2B5EF4-FFF2-40B4-BE49-F238E27FC236}">
                <a16:creationId xmlns:a16="http://schemas.microsoft.com/office/drawing/2014/main" id="{A83FAE26-4563-0E48-B181-3E9902E0CDF3}"/>
              </a:ext>
            </a:extLst>
          </p:cNvPr>
          <p:cNvGrpSpPr>
            <a:grpSpLocks/>
          </p:cNvGrpSpPr>
          <p:nvPr/>
        </p:nvGrpSpPr>
        <p:grpSpPr bwMode="auto">
          <a:xfrm>
            <a:off x="1212850" y="5214938"/>
            <a:ext cx="2643188" cy="642937"/>
            <a:chOff x="0" y="-1"/>
            <a:chExt cx="2643206" cy="642944"/>
          </a:xfrm>
        </p:grpSpPr>
        <p:sp>
          <p:nvSpPr>
            <p:cNvPr id="20494" name="Rectangle 14">
              <a:extLst>
                <a:ext uri="{FF2B5EF4-FFF2-40B4-BE49-F238E27FC236}">
                  <a16:creationId xmlns:a16="http://schemas.microsoft.com/office/drawing/2014/main" id="{F615B3B8-8BC8-A64E-829A-0092487E6D00}"/>
                </a:ext>
              </a:extLst>
            </p:cNvPr>
            <p:cNvSpPr>
              <a:spLocks/>
            </p:cNvSpPr>
            <p:nvPr/>
          </p:nvSpPr>
          <p:spPr bwMode="auto">
            <a:xfrm>
              <a:off x="0" y="-1"/>
              <a:ext cx="2643206" cy="642944"/>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sz="1600"/>
            </a:p>
          </p:txBody>
        </p:sp>
        <p:sp>
          <p:nvSpPr>
            <p:cNvPr id="20495" name="Text Box 15">
              <a:extLst>
                <a:ext uri="{FF2B5EF4-FFF2-40B4-BE49-F238E27FC236}">
                  <a16:creationId xmlns:a16="http://schemas.microsoft.com/office/drawing/2014/main" id="{73A1D97A-DEDA-43F4-A211-55DDA4C1E637}"/>
                </a:ext>
              </a:extLst>
            </p:cNvPr>
            <p:cNvSpPr txBox="1">
              <a:spLocks/>
            </p:cNvSpPr>
            <p:nvPr/>
          </p:nvSpPr>
          <p:spPr bwMode="auto">
            <a:xfrm>
              <a:off x="50482" y="4762"/>
              <a:ext cx="2542242"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t>select * from accounts;</a:t>
              </a:r>
            </a:p>
          </p:txBody>
        </p:sp>
      </p:grpSp>
      <p:sp>
        <p:nvSpPr>
          <p:cNvPr id="20496" name="Text Box 16" descr="TextBox 18">
            <a:extLst>
              <a:ext uri="{FF2B5EF4-FFF2-40B4-BE49-F238E27FC236}">
                <a16:creationId xmlns:a16="http://schemas.microsoft.com/office/drawing/2014/main" id="{CE73A552-60DF-E750-DF6A-F0B58DB1434E}"/>
              </a:ext>
            </a:extLst>
          </p:cNvPr>
          <p:cNvSpPr txBox="1">
            <a:spLocks/>
          </p:cNvSpPr>
          <p:nvPr/>
        </p:nvSpPr>
        <p:spPr bwMode="auto">
          <a:xfrm>
            <a:off x="3830638" y="1498600"/>
            <a:ext cx="1801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Bank database</a:t>
            </a:r>
          </a:p>
        </p:txBody>
      </p:sp>
      <p:sp>
        <p:nvSpPr>
          <p:cNvPr id="20497" name="Text Box 17" descr="TextBox 19">
            <a:extLst>
              <a:ext uri="{FF2B5EF4-FFF2-40B4-BE49-F238E27FC236}">
                <a16:creationId xmlns:a16="http://schemas.microsoft.com/office/drawing/2014/main" id="{9DE6BD39-B6EF-1B38-9C8E-4F2243E6C810}"/>
              </a:ext>
            </a:extLst>
          </p:cNvPr>
          <p:cNvSpPr txBox="1">
            <a:spLocks/>
          </p:cNvSpPr>
          <p:nvPr/>
        </p:nvSpPr>
        <p:spPr bwMode="auto">
          <a:xfrm>
            <a:off x="4402138" y="5072063"/>
            <a:ext cx="4157662" cy="1208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solidFill>
                  <a:srgbClr val="C00000"/>
                </a:solidFill>
              </a:rPr>
              <a:t>Question:</a:t>
            </a:r>
          </a:p>
          <a:p>
            <a:r>
              <a:rPr lang="en-US" altLang="en-US"/>
              <a:t>What will be the balance of Ram </a:t>
            </a:r>
          </a:p>
          <a:p>
            <a:r>
              <a:rPr lang="en-US" altLang="en-US"/>
              <a:t>and Shyam when User 2 executes</a:t>
            </a:r>
          </a:p>
          <a:p>
            <a:r>
              <a:rPr lang="en-US" altLang="en-US"/>
              <a:t>Select statement on accounts table</a:t>
            </a:r>
          </a:p>
        </p:txBody>
      </p:sp>
    </p:spTree>
  </p:cSld>
  <p:clrMapOvr>
    <a:masterClrMapping/>
  </p:clrMapOvr>
  <p:transition spd="med"/>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Rectangle 1" descr="Title 1">
            <a:extLst>
              <a:ext uri="{FF2B5EF4-FFF2-40B4-BE49-F238E27FC236}">
                <a16:creationId xmlns:a16="http://schemas.microsoft.com/office/drawing/2014/main" id="{1FEE2A73-F37D-3999-9738-D0CAE314467A}"/>
              </a:ext>
            </a:extLst>
          </p:cNvPr>
          <p:cNvSpPr>
            <a:spLocks noChangeArrowheads="1"/>
          </p:cNvSpPr>
          <p:nvPr>
            <p:ph type="title"/>
          </p:nvPr>
        </p:nvSpPr>
        <p:spPr/>
        <p:txBody>
          <a:bodyPr/>
          <a:lstStyle/>
          <a:p>
            <a:r>
              <a:rPr lang="en-US" altLang="en-US"/>
              <a:t>Demonstration</a:t>
            </a:r>
          </a:p>
        </p:txBody>
      </p:sp>
      <p:sp>
        <p:nvSpPr>
          <p:cNvPr id="21506" name="Text Box 2" descr="Date Placeholder 3">
            <a:extLst>
              <a:ext uri="{FF2B5EF4-FFF2-40B4-BE49-F238E27FC236}">
                <a16:creationId xmlns:a16="http://schemas.microsoft.com/office/drawing/2014/main" id="{13B99497-8E63-E625-F6FD-6D211D2C8DF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507" name="Text Box 3" descr="Slide Number Placeholder 5">
            <a:extLst>
              <a:ext uri="{FF2B5EF4-FFF2-40B4-BE49-F238E27FC236}">
                <a16:creationId xmlns:a16="http://schemas.microsoft.com/office/drawing/2014/main" id="{3E5F68E4-4277-F5C5-EC9E-E53972F02951}"/>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C21C525-0BFE-42C2-A9B8-4A224CB41DF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1508" name="Picture 4" descr="Picture 3">
            <a:extLst>
              <a:ext uri="{FF2B5EF4-FFF2-40B4-BE49-F238E27FC236}">
                <a16:creationId xmlns:a16="http://schemas.microsoft.com/office/drawing/2014/main" id="{5103552A-FEFA-987F-3EE2-CFA28B75764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4788" y="320198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1509" name="Text Box 5" descr="TextBox 9">
            <a:extLst>
              <a:ext uri="{FF2B5EF4-FFF2-40B4-BE49-F238E27FC236}">
                <a16:creationId xmlns:a16="http://schemas.microsoft.com/office/drawing/2014/main" id="{40DDCBDC-0952-5772-2446-E38BA2E36022}"/>
              </a:ext>
            </a:extLst>
          </p:cNvPr>
          <p:cNvSpPr txBox="1">
            <a:spLocks/>
          </p:cNvSpPr>
          <p:nvPr/>
        </p:nvSpPr>
        <p:spPr bwMode="auto">
          <a:xfrm>
            <a:off x="34925" y="4202113"/>
            <a:ext cx="8509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1</a:t>
            </a:r>
          </a:p>
        </p:txBody>
      </p:sp>
      <p:grpSp>
        <p:nvGrpSpPr>
          <p:cNvPr id="21510" name="Group 6">
            <a:extLst>
              <a:ext uri="{FF2B5EF4-FFF2-40B4-BE49-F238E27FC236}">
                <a16:creationId xmlns:a16="http://schemas.microsoft.com/office/drawing/2014/main" id="{C4CF2229-D9A8-9845-0134-9EF879936201}"/>
              </a:ext>
            </a:extLst>
          </p:cNvPr>
          <p:cNvGrpSpPr>
            <a:grpSpLocks/>
          </p:cNvGrpSpPr>
          <p:nvPr/>
        </p:nvGrpSpPr>
        <p:grpSpPr bwMode="auto">
          <a:xfrm>
            <a:off x="927100" y="3141663"/>
            <a:ext cx="7859713" cy="1358900"/>
            <a:chOff x="-1" y="0"/>
            <a:chExt cx="7858182" cy="1357902"/>
          </a:xfrm>
        </p:grpSpPr>
        <p:sp>
          <p:nvSpPr>
            <p:cNvPr id="21511" name="Rectangle 7">
              <a:extLst>
                <a:ext uri="{FF2B5EF4-FFF2-40B4-BE49-F238E27FC236}">
                  <a16:creationId xmlns:a16="http://schemas.microsoft.com/office/drawing/2014/main" id="{9E1BB9D6-E830-1DCF-2AB9-33F51E9BFFAA}"/>
                </a:ext>
              </a:extLst>
            </p:cNvPr>
            <p:cNvSpPr>
              <a:spLocks/>
            </p:cNvSpPr>
            <p:nvPr/>
          </p:nvSpPr>
          <p:spPr bwMode="auto">
            <a:xfrm>
              <a:off x="-1" y="0"/>
              <a:ext cx="7858182" cy="135790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512" name="Text Box 8">
              <a:extLst>
                <a:ext uri="{FF2B5EF4-FFF2-40B4-BE49-F238E27FC236}">
                  <a16:creationId xmlns:a16="http://schemas.microsoft.com/office/drawing/2014/main" id="{27CCF7DF-1700-0D80-9C6F-C22CBF603E0C}"/>
                </a:ext>
              </a:extLst>
            </p:cNvPr>
            <p:cNvSpPr txBox="1">
              <a:spLocks/>
            </p:cNvSpPr>
            <p:nvPr/>
          </p:nvSpPr>
          <p:spPr bwMode="auto">
            <a:xfrm>
              <a:off x="50482" y="4762"/>
              <a:ext cx="7757216" cy="12979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solidFill>
                    <a:srgbClr val="FF0000"/>
                  </a:solidFill>
                </a:rPr>
                <a:t>START TRANSACTION;</a:t>
              </a:r>
            </a:p>
            <a:p>
              <a:r>
                <a:rPr lang="en-US" altLang="en-US" sz="1600"/>
                <a:t>UPDATE accounts SET balance = balance - 100 WHERE owner = 'Ram';</a:t>
              </a:r>
            </a:p>
            <a:p>
              <a:r>
                <a:rPr lang="en-US" altLang="en-US" sz="1600"/>
                <a:t>UPDATE accounts SET balance = balance + 100 WHERE owner = 'Shyam';</a:t>
              </a:r>
            </a:p>
            <a:p>
              <a:r>
                <a:rPr lang="en-US" altLang="en-US" sz="1600">
                  <a:solidFill>
                    <a:srgbClr val="FF0000"/>
                  </a:solidFill>
                </a:rPr>
                <a:t>COMMIT;</a:t>
              </a:r>
            </a:p>
          </p:txBody>
        </p:sp>
      </p:grpSp>
      <p:pic>
        <p:nvPicPr>
          <p:cNvPr id="21513" name="Picture 9" descr="Picture 2">
            <a:extLst>
              <a:ext uri="{FF2B5EF4-FFF2-40B4-BE49-F238E27FC236}">
                <a16:creationId xmlns:a16="http://schemas.microsoft.com/office/drawing/2014/main" id="{0F9D4ABE-0E29-DA95-8FD3-FBBBD794A2A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98600" y="1784350"/>
            <a:ext cx="2000250" cy="896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1514" name="AutoShape 10" descr="Flowchart: Magnetic Disk 13">
            <a:extLst>
              <a:ext uri="{FF2B5EF4-FFF2-40B4-BE49-F238E27FC236}">
                <a16:creationId xmlns:a16="http://schemas.microsoft.com/office/drawing/2014/main" id="{E45FB124-CF0B-B143-0C88-558A93ACBC80}"/>
              </a:ext>
            </a:extLst>
          </p:cNvPr>
          <p:cNvSpPr>
            <a:spLocks/>
          </p:cNvSpPr>
          <p:nvPr/>
        </p:nvSpPr>
        <p:spPr bwMode="auto">
          <a:xfrm>
            <a:off x="1284288" y="1141413"/>
            <a:ext cx="2357437" cy="17859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21515" name="Picture 11" descr="Picture 4">
            <a:extLst>
              <a:ext uri="{FF2B5EF4-FFF2-40B4-BE49-F238E27FC236}">
                <a16:creationId xmlns:a16="http://schemas.microsoft.com/office/drawing/2014/main" id="{3287F1AA-9930-0AD5-A795-D9716FF76AB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12725" y="5000625"/>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1516" name="Text Box 12" descr="TextBox 14">
            <a:extLst>
              <a:ext uri="{FF2B5EF4-FFF2-40B4-BE49-F238E27FC236}">
                <a16:creationId xmlns:a16="http://schemas.microsoft.com/office/drawing/2014/main" id="{2A6509FD-3BE8-ED6D-BD3E-8943459FDB0E}"/>
              </a:ext>
            </a:extLst>
          </p:cNvPr>
          <p:cNvSpPr txBox="1">
            <a:spLocks/>
          </p:cNvSpPr>
          <p:nvPr/>
        </p:nvSpPr>
        <p:spPr bwMode="auto">
          <a:xfrm>
            <a:off x="187325" y="5786438"/>
            <a:ext cx="8509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2</a:t>
            </a:r>
          </a:p>
        </p:txBody>
      </p:sp>
      <p:grpSp>
        <p:nvGrpSpPr>
          <p:cNvPr id="21517" name="Group 13">
            <a:extLst>
              <a:ext uri="{FF2B5EF4-FFF2-40B4-BE49-F238E27FC236}">
                <a16:creationId xmlns:a16="http://schemas.microsoft.com/office/drawing/2014/main" id="{1B7837ED-B316-3108-D7A1-38D05B80C238}"/>
              </a:ext>
            </a:extLst>
          </p:cNvPr>
          <p:cNvGrpSpPr>
            <a:grpSpLocks/>
          </p:cNvGrpSpPr>
          <p:nvPr/>
        </p:nvGrpSpPr>
        <p:grpSpPr bwMode="auto">
          <a:xfrm>
            <a:off x="1212850" y="5214938"/>
            <a:ext cx="2643188" cy="642937"/>
            <a:chOff x="0" y="-1"/>
            <a:chExt cx="2643206" cy="642944"/>
          </a:xfrm>
        </p:grpSpPr>
        <p:sp>
          <p:nvSpPr>
            <p:cNvPr id="21518" name="Rectangle 14">
              <a:extLst>
                <a:ext uri="{FF2B5EF4-FFF2-40B4-BE49-F238E27FC236}">
                  <a16:creationId xmlns:a16="http://schemas.microsoft.com/office/drawing/2014/main" id="{8C816113-8C08-8C84-747A-2F3268400B8E}"/>
                </a:ext>
              </a:extLst>
            </p:cNvPr>
            <p:cNvSpPr>
              <a:spLocks/>
            </p:cNvSpPr>
            <p:nvPr/>
          </p:nvSpPr>
          <p:spPr bwMode="auto">
            <a:xfrm>
              <a:off x="0" y="-1"/>
              <a:ext cx="2643206" cy="642944"/>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sz="1600"/>
            </a:p>
          </p:txBody>
        </p:sp>
        <p:sp>
          <p:nvSpPr>
            <p:cNvPr id="21519" name="Text Box 15">
              <a:extLst>
                <a:ext uri="{FF2B5EF4-FFF2-40B4-BE49-F238E27FC236}">
                  <a16:creationId xmlns:a16="http://schemas.microsoft.com/office/drawing/2014/main" id="{5B68154D-A9E6-3173-E726-AA038CC65D29}"/>
                </a:ext>
              </a:extLst>
            </p:cNvPr>
            <p:cNvSpPr txBox="1">
              <a:spLocks/>
            </p:cNvSpPr>
            <p:nvPr/>
          </p:nvSpPr>
          <p:spPr bwMode="auto">
            <a:xfrm>
              <a:off x="50482" y="4762"/>
              <a:ext cx="2542242"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t>select * from accounts;</a:t>
              </a:r>
            </a:p>
          </p:txBody>
        </p:sp>
      </p:grpSp>
      <p:sp>
        <p:nvSpPr>
          <p:cNvPr id="21520" name="Text Box 16" descr="TextBox 18">
            <a:extLst>
              <a:ext uri="{FF2B5EF4-FFF2-40B4-BE49-F238E27FC236}">
                <a16:creationId xmlns:a16="http://schemas.microsoft.com/office/drawing/2014/main" id="{2747AADF-62A1-159C-D038-D2E766E4B8E2}"/>
              </a:ext>
            </a:extLst>
          </p:cNvPr>
          <p:cNvSpPr txBox="1">
            <a:spLocks/>
          </p:cNvSpPr>
          <p:nvPr/>
        </p:nvSpPr>
        <p:spPr bwMode="auto">
          <a:xfrm>
            <a:off x="3830638" y="1498600"/>
            <a:ext cx="1801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Bank database</a:t>
            </a:r>
          </a:p>
        </p:txBody>
      </p:sp>
      <p:pic>
        <p:nvPicPr>
          <p:cNvPr id="21521" name="Picture 17" descr="Picture 3">
            <a:extLst>
              <a:ext uri="{FF2B5EF4-FFF2-40B4-BE49-F238E27FC236}">
                <a16:creationId xmlns:a16="http://schemas.microsoft.com/office/drawing/2014/main" id="{19AD7D21-A3F3-4D5C-E3B8-F4177DAAF42A}"/>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198938" y="4746625"/>
            <a:ext cx="3508375" cy="1571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descr="Title 1">
            <a:extLst>
              <a:ext uri="{FF2B5EF4-FFF2-40B4-BE49-F238E27FC236}">
                <a16:creationId xmlns:a16="http://schemas.microsoft.com/office/drawing/2014/main" id="{B05E9425-E782-EADF-B5D5-64262F002F66}"/>
              </a:ext>
            </a:extLst>
          </p:cNvPr>
          <p:cNvSpPr>
            <a:spLocks noChangeArrowheads="1"/>
          </p:cNvSpPr>
          <p:nvPr>
            <p:ph type="title"/>
          </p:nvPr>
        </p:nvSpPr>
        <p:spPr/>
        <p:txBody>
          <a:bodyPr/>
          <a:lstStyle/>
          <a:p>
            <a:r>
              <a:rPr lang="en-US" altLang="en-US"/>
              <a:t>Demonstration</a:t>
            </a:r>
          </a:p>
        </p:txBody>
      </p:sp>
      <p:sp>
        <p:nvSpPr>
          <p:cNvPr id="22530" name="Text Box 2" descr="Date Placeholder 3">
            <a:extLst>
              <a:ext uri="{FF2B5EF4-FFF2-40B4-BE49-F238E27FC236}">
                <a16:creationId xmlns:a16="http://schemas.microsoft.com/office/drawing/2014/main" id="{A66F541A-AEFC-A72E-478B-3CE0DA9AC86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531" name="Text Box 3" descr="Slide Number Placeholder 5">
            <a:extLst>
              <a:ext uri="{FF2B5EF4-FFF2-40B4-BE49-F238E27FC236}">
                <a16:creationId xmlns:a16="http://schemas.microsoft.com/office/drawing/2014/main" id="{E5D678D2-77D6-57E1-674F-00802283CC4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FC47A42-7061-4CDF-9168-33FE69B3937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2532" name="Picture 4" descr="Picture 3">
            <a:extLst>
              <a:ext uri="{FF2B5EF4-FFF2-40B4-BE49-F238E27FC236}">
                <a16:creationId xmlns:a16="http://schemas.microsoft.com/office/drawing/2014/main" id="{622ED7E4-0762-D562-B4BA-1876D626EFD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4788" y="320198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2533" name="Text Box 5" descr="TextBox 9">
            <a:extLst>
              <a:ext uri="{FF2B5EF4-FFF2-40B4-BE49-F238E27FC236}">
                <a16:creationId xmlns:a16="http://schemas.microsoft.com/office/drawing/2014/main" id="{B34F6473-FDD4-19AD-34E5-86209F1C933B}"/>
              </a:ext>
            </a:extLst>
          </p:cNvPr>
          <p:cNvSpPr txBox="1">
            <a:spLocks/>
          </p:cNvSpPr>
          <p:nvPr/>
        </p:nvSpPr>
        <p:spPr bwMode="auto">
          <a:xfrm>
            <a:off x="34925" y="4143375"/>
            <a:ext cx="85090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1</a:t>
            </a:r>
          </a:p>
        </p:txBody>
      </p:sp>
      <p:grpSp>
        <p:nvGrpSpPr>
          <p:cNvPr id="22534" name="Group 6">
            <a:extLst>
              <a:ext uri="{FF2B5EF4-FFF2-40B4-BE49-F238E27FC236}">
                <a16:creationId xmlns:a16="http://schemas.microsoft.com/office/drawing/2014/main" id="{843AB3D5-5951-3BF2-BDB6-DA167D1DAC9A}"/>
              </a:ext>
            </a:extLst>
          </p:cNvPr>
          <p:cNvGrpSpPr>
            <a:grpSpLocks/>
          </p:cNvGrpSpPr>
          <p:nvPr/>
        </p:nvGrpSpPr>
        <p:grpSpPr bwMode="auto">
          <a:xfrm>
            <a:off x="927100" y="3008313"/>
            <a:ext cx="7859713" cy="1319212"/>
            <a:chOff x="-1" y="-1"/>
            <a:chExt cx="7858182" cy="1318556"/>
          </a:xfrm>
        </p:grpSpPr>
        <p:sp>
          <p:nvSpPr>
            <p:cNvPr id="22535" name="Rectangle 7">
              <a:extLst>
                <a:ext uri="{FF2B5EF4-FFF2-40B4-BE49-F238E27FC236}">
                  <a16:creationId xmlns:a16="http://schemas.microsoft.com/office/drawing/2014/main" id="{21EB65F9-902B-7707-E2C4-BA4E52A4F7B6}"/>
                </a:ext>
              </a:extLst>
            </p:cNvPr>
            <p:cNvSpPr>
              <a:spLocks/>
            </p:cNvSpPr>
            <p:nvPr/>
          </p:nvSpPr>
          <p:spPr bwMode="auto">
            <a:xfrm>
              <a:off x="-1" y="-1"/>
              <a:ext cx="7858182" cy="1318556"/>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2536" name="Text Box 8">
              <a:extLst>
                <a:ext uri="{FF2B5EF4-FFF2-40B4-BE49-F238E27FC236}">
                  <a16:creationId xmlns:a16="http://schemas.microsoft.com/office/drawing/2014/main" id="{04B450C4-06E7-E869-8BC3-031E9AB4062C}"/>
                </a:ext>
              </a:extLst>
            </p:cNvPr>
            <p:cNvSpPr txBox="1">
              <a:spLocks/>
            </p:cNvSpPr>
            <p:nvPr/>
          </p:nvSpPr>
          <p:spPr bwMode="auto">
            <a:xfrm>
              <a:off x="50482" y="4762"/>
              <a:ext cx="7757216" cy="12979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solidFill>
                    <a:srgbClr val="FF0000"/>
                  </a:solidFill>
                </a:rPr>
                <a:t>START TRANSACTION;</a:t>
              </a:r>
            </a:p>
            <a:p>
              <a:r>
                <a:rPr lang="en-US" altLang="en-US" sz="1600"/>
                <a:t>UPDATE accounts SET balance = balance - 100 WHERE owner = 'Ram';</a:t>
              </a:r>
            </a:p>
            <a:p>
              <a:r>
                <a:rPr lang="en-US" altLang="en-US" sz="1600"/>
                <a:t>UPDATE accounts SET balance = balance + 100 WHERE owner = 'Shyam';</a:t>
              </a:r>
            </a:p>
            <a:p>
              <a:r>
                <a:rPr lang="en-US" altLang="en-US" sz="1600">
                  <a:solidFill>
                    <a:srgbClr val="FF0000"/>
                  </a:solidFill>
                </a:rPr>
                <a:t>COMMIT;</a:t>
              </a:r>
            </a:p>
          </p:txBody>
        </p:sp>
      </p:grpSp>
      <p:pic>
        <p:nvPicPr>
          <p:cNvPr id="22537" name="Picture 9" descr="Picture 2">
            <a:extLst>
              <a:ext uri="{FF2B5EF4-FFF2-40B4-BE49-F238E27FC236}">
                <a16:creationId xmlns:a16="http://schemas.microsoft.com/office/drawing/2014/main" id="{F6EE941E-89DD-A990-7D22-F92163245CA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98600" y="1784350"/>
            <a:ext cx="2000250" cy="896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2538" name="AutoShape 10" descr="Flowchart: Magnetic Disk 13">
            <a:extLst>
              <a:ext uri="{FF2B5EF4-FFF2-40B4-BE49-F238E27FC236}">
                <a16:creationId xmlns:a16="http://schemas.microsoft.com/office/drawing/2014/main" id="{B49FA329-F4DA-A33E-2610-4EDAB039B510}"/>
              </a:ext>
            </a:extLst>
          </p:cNvPr>
          <p:cNvSpPr>
            <a:spLocks/>
          </p:cNvSpPr>
          <p:nvPr/>
        </p:nvSpPr>
        <p:spPr bwMode="auto">
          <a:xfrm>
            <a:off x="1284288" y="1141413"/>
            <a:ext cx="2357437" cy="17859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22539" name="Picture 11" descr="Picture 4">
            <a:extLst>
              <a:ext uri="{FF2B5EF4-FFF2-40B4-BE49-F238E27FC236}">
                <a16:creationId xmlns:a16="http://schemas.microsoft.com/office/drawing/2014/main" id="{196EB033-57E4-2FD9-D396-1581CD4685F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55588" y="5000625"/>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2540" name="Text Box 12" descr="TextBox 14">
            <a:extLst>
              <a:ext uri="{FF2B5EF4-FFF2-40B4-BE49-F238E27FC236}">
                <a16:creationId xmlns:a16="http://schemas.microsoft.com/office/drawing/2014/main" id="{11F1C985-1ECA-9641-A12F-D6A4E9CF480E}"/>
              </a:ext>
            </a:extLst>
          </p:cNvPr>
          <p:cNvSpPr txBox="1">
            <a:spLocks/>
          </p:cNvSpPr>
          <p:nvPr/>
        </p:nvSpPr>
        <p:spPr bwMode="auto">
          <a:xfrm>
            <a:off x="187325" y="5786438"/>
            <a:ext cx="8509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 2</a:t>
            </a:r>
          </a:p>
        </p:txBody>
      </p:sp>
      <p:grpSp>
        <p:nvGrpSpPr>
          <p:cNvPr id="22541" name="Group 13">
            <a:extLst>
              <a:ext uri="{FF2B5EF4-FFF2-40B4-BE49-F238E27FC236}">
                <a16:creationId xmlns:a16="http://schemas.microsoft.com/office/drawing/2014/main" id="{13F69A4C-BB7D-FA75-52F8-28A7836329BF}"/>
              </a:ext>
            </a:extLst>
          </p:cNvPr>
          <p:cNvGrpSpPr>
            <a:grpSpLocks/>
          </p:cNvGrpSpPr>
          <p:nvPr/>
        </p:nvGrpSpPr>
        <p:grpSpPr bwMode="auto">
          <a:xfrm>
            <a:off x="1133475" y="5143500"/>
            <a:ext cx="2643188" cy="642938"/>
            <a:chOff x="0" y="-1"/>
            <a:chExt cx="2643206" cy="642944"/>
          </a:xfrm>
        </p:grpSpPr>
        <p:sp>
          <p:nvSpPr>
            <p:cNvPr id="22542" name="Rectangle 14">
              <a:extLst>
                <a:ext uri="{FF2B5EF4-FFF2-40B4-BE49-F238E27FC236}">
                  <a16:creationId xmlns:a16="http://schemas.microsoft.com/office/drawing/2014/main" id="{938A401F-73FC-3AAF-AA4C-51E91E027E53}"/>
                </a:ext>
              </a:extLst>
            </p:cNvPr>
            <p:cNvSpPr>
              <a:spLocks/>
            </p:cNvSpPr>
            <p:nvPr/>
          </p:nvSpPr>
          <p:spPr bwMode="auto">
            <a:xfrm>
              <a:off x="0" y="-1"/>
              <a:ext cx="2643206" cy="642944"/>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sz="1600"/>
            </a:p>
          </p:txBody>
        </p:sp>
        <p:sp>
          <p:nvSpPr>
            <p:cNvPr id="22543" name="Text Box 15">
              <a:extLst>
                <a:ext uri="{FF2B5EF4-FFF2-40B4-BE49-F238E27FC236}">
                  <a16:creationId xmlns:a16="http://schemas.microsoft.com/office/drawing/2014/main" id="{0CEDEAD2-C1F9-A460-1770-43EB06FD4D42}"/>
                </a:ext>
              </a:extLst>
            </p:cNvPr>
            <p:cNvSpPr txBox="1">
              <a:spLocks/>
            </p:cNvSpPr>
            <p:nvPr/>
          </p:nvSpPr>
          <p:spPr bwMode="auto">
            <a:xfrm>
              <a:off x="50482" y="4762"/>
              <a:ext cx="2542242"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t>select * from accounts;</a:t>
              </a:r>
            </a:p>
          </p:txBody>
        </p:sp>
      </p:grpSp>
      <p:sp>
        <p:nvSpPr>
          <p:cNvPr id="22544" name="Text Box 16" descr="TextBox 18">
            <a:extLst>
              <a:ext uri="{FF2B5EF4-FFF2-40B4-BE49-F238E27FC236}">
                <a16:creationId xmlns:a16="http://schemas.microsoft.com/office/drawing/2014/main" id="{365B4C03-3A0D-B614-EB54-A0FFE407B70D}"/>
              </a:ext>
            </a:extLst>
          </p:cNvPr>
          <p:cNvSpPr txBox="1">
            <a:spLocks/>
          </p:cNvSpPr>
          <p:nvPr/>
        </p:nvSpPr>
        <p:spPr bwMode="auto">
          <a:xfrm>
            <a:off x="3830638" y="1498600"/>
            <a:ext cx="1801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Bank database</a:t>
            </a:r>
          </a:p>
        </p:txBody>
      </p:sp>
      <p:sp>
        <p:nvSpPr>
          <p:cNvPr id="22545" name="Text Box 17" descr="TextBox 19">
            <a:extLst>
              <a:ext uri="{FF2B5EF4-FFF2-40B4-BE49-F238E27FC236}">
                <a16:creationId xmlns:a16="http://schemas.microsoft.com/office/drawing/2014/main" id="{D12685F6-545A-ECDB-99EA-998A8D7A9858}"/>
              </a:ext>
            </a:extLst>
          </p:cNvPr>
          <p:cNvSpPr txBox="1">
            <a:spLocks/>
          </p:cNvSpPr>
          <p:nvPr/>
        </p:nvSpPr>
        <p:spPr bwMode="auto">
          <a:xfrm>
            <a:off x="4092575" y="4498975"/>
            <a:ext cx="4778375" cy="1768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solidFill>
                  <a:srgbClr val="C00000"/>
                </a:solidFill>
              </a:rPr>
              <a:t>Question:</a:t>
            </a:r>
          </a:p>
          <a:p>
            <a:r>
              <a:rPr lang="en-US" altLang="en-US"/>
              <a:t>What will be the balance of Ram </a:t>
            </a:r>
          </a:p>
          <a:p>
            <a:r>
              <a:rPr lang="en-US" altLang="en-US"/>
              <a:t>and Shyam when User2 executes</a:t>
            </a:r>
          </a:p>
          <a:p>
            <a:r>
              <a:rPr lang="en-US" altLang="en-US"/>
              <a:t>Select statement on accounts table after</a:t>
            </a:r>
          </a:p>
          <a:p>
            <a:r>
              <a:rPr lang="en-US" altLang="en-US"/>
              <a:t>User1 has executed the set statements </a:t>
            </a:r>
          </a:p>
          <a:p>
            <a:r>
              <a:rPr lang="en-US" altLang="en-US"/>
              <a:t>mentioned above for him</a:t>
            </a:r>
          </a:p>
        </p:txBody>
      </p:sp>
    </p:spTree>
  </p:cSld>
  <p:clrMapOvr>
    <a:masterClrMapping/>
  </p:clrMapOvr>
  <p:transition spd="med"/>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Rectangle 1" descr="Title 1">
            <a:extLst>
              <a:ext uri="{FF2B5EF4-FFF2-40B4-BE49-F238E27FC236}">
                <a16:creationId xmlns:a16="http://schemas.microsoft.com/office/drawing/2014/main" id="{362DD694-938A-68BC-D931-D2D834893528}"/>
              </a:ext>
            </a:extLst>
          </p:cNvPr>
          <p:cNvSpPr>
            <a:spLocks noChangeArrowheads="1"/>
          </p:cNvSpPr>
          <p:nvPr>
            <p:ph type="title"/>
          </p:nvPr>
        </p:nvSpPr>
        <p:spPr/>
        <p:txBody>
          <a:bodyPr/>
          <a:lstStyle/>
          <a:p>
            <a:r>
              <a:rPr lang="en-US" altLang="en-US"/>
              <a:t>Demonstration</a:t>
            </a:r>
          </a:p>
        </p:txBody>
      </p:sp>
      <p:sp>
        <p:nvSpPr>
          <p:cNvPr id="23554" name="Text Box 2" descr="Date Placeholder 3">
            <a:extLst>
              <a:ext uri="{FF2B5EF4-FFF2-40B4-BE49-F238E27FC236}">
                <a16:creationId xmlns:a16="http://schemas.microsoft.com/office/drawing/2014/main" id="{723450AF-14B6-1760-873C-0A82D895BB6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555" name="Text Box 3" descr="Slide Number Placeholder 5">
            <a:extLst>
              <a:ext uri="{FF2B5EF4-FFF2-40B4-BE49-F238E27FC236}">
                <a16:creationId xmlns:a16="http://schemas.microsoft.com/office/drawing/2014/main" id="{3515110C-4DEE-68EC-1533-BA55D3A6671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9A26DEC-B558-4AC9-8375-28FB77B0A2D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3556" name="Picture 4" descr="Picture 3">
            <a:extLst>
              <a:ext uri="{FF2B5EF4-FFF2-40B4-BE49-F238E27FC236}">
                <a16:creationId xmlns:a16="http://schemas.microsoft.com/office/drawing/2014/main" id="{CFD1513C-1DDA-1BA5-16C4-A3D98391DAC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4788" y="320198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3557" name="Text Box 5" descr="TextBox 9">
            <a:extLst>
              <a:ext uri="{FF2B5EF4-FFF2-40B4-BE49-F238E27FC236}">
                <a16:creationId xmlns:a16="http://schemas.microsoft.com/office/drawing/2014/main" id="{C1DD46AC-1F08-37F2-A7BF-1EBFDCB89791}"/>
              </a:ext>
            </a:extLst>
          </p:cNvPr>
          <p:cNvSpPr txBox="1">
            <a:spLocks/>
          </p:cNvSpPr>
          <p:nvPr/>
        </p:nvSpPr>
        <p:spPr bwMode="auto">
          <a:xfrm>
            <a:off x="34925" y="4202113"/>
            <a:ext cx="7699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grpSp>
        <p:nvGrpSpPr>
          <p:cNvPr id="23558" name="Group 6">
            <a:extLst>
              <a:ext uri="{FF2B5EF4-FFF2-40B4-BE49-F238E27FC236}">
                <a16:creationId xmlns:a16="http://schemas.microsoft.com/office/drawing/2014/main" id="{09296B09-57B5-309C-C91B-A134C29CCDF2}"/>
              </a:ext>
            </a:extLst>
          </p:cNvPr>
          <p:cNvGrpSpPr>
            <a:grpSpLocks/>
          </p:cNvGrpSpPr>
          <p:nvPr/>
        </p:nvGrpSpPr>
        <p:grpSpPr bwMode="auto">
          <a:xfrm>
            <a:off x="927100" y="3141663"/>
            <a:ext cx="7931150" cy="1358900"/>
            <a:chOff x="-1" y="0"/>
            <a:chExt cx="7929620" cy="1357322"/>
          </a:xfrm>
        </p:grpSpPr>
        <p:sp>
          <p:nvSpPr>
            <p:cNvPr id="23559" name="Rectangle 7">
              <a:extLst>
                <a:ext uri="{FF2B5EF4-FFF2-40B4-BE49-F238E27FC236}">
                  <a16:creationId xmlns:a16="http://schemas.microsoft.com/office/drawing/2014/main" id="{1F088F3A-36DF-9046-E4BB-A7F396CBD52D}"/>
                </a:ext>
              </a:extLst>
            </p:cNvPr>
            <p:cNvSpPr>
              <a:spLocks/>
            </p:cNvSpPr>
            <p:nvPr/>
          </p:nvSpPr>
          <p:spPr bwMode="auto">
            <a:xfrm>
              <a:off x="-1" y="0"/>
              <a:ext cx="7929620" cy="135732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3560" name="Text Box 8">
              <a:extLst>
                <a:ext uri="{FF2B5EF4-FFF2-40B4-BE49-F238E27FC236}">
                  <a16:creationId xmlns:a16="http://schemas.microsoft.com/office/drawing/2014/main" id="{8658CC15-7A62-6AD4-08C1-7C50B538B18E}"/>
                </a:ext>
              </a:extLst>
            </p:cNvPr>
            <p:cNvSpPr txBox="1">
              <a:spLocks/>
            </p:cNvSpPr>
            <p:nvPr/>
          </p:nvSpPr>
          <p:spPr bwMode="auto">
            <a:xfrm>
              <a:off x="50482" y="4762"/>
              <a:ext cx="7828654" cy="12979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solidFill>
                    <a:srgbClr val="FF0000"/>
                  </a:solidFill>
                </a:rPr>
                <a:t>START TRANSACTION;</a:t>
              </a:r>
            </a:p>
            <a:p>
              <a:r>
                <a:rPr lang="en-US" altLang="en-US" sz="1600"/>
                <a:t>UPDATE accounts SET balance = balance - 100 WHERE owner = 'Ram';</a:t>
              </a:r>
            </a:p>
            <a:p>
              <a:r>
                <a:rPr lang="en-US" altLang="en-US" sz="1600"/>
                <a:t>UPDATE accounts SET balance = balance + 100 WHERE owner = 'Shyam';</a:t>
              </a:r>
            </a:p>
            <a:p>
              <a:r>
                <a:rPr lang="en-US" altLang="en-US" sz="1600">
                  <a:solidFill>
                    <a:srgbClr val="FF0000"/>
                  </a:solidFill>
                </a:rPr>
                <a:t>COMMIT;</a:t>
              </a:r>
            </a:p>
          </p:txBody>
        </p:sp>
      </p:grpSp>
      <p:pic>
        <p:nvPicPr>
          <p:cNvPr id="23561" name="Picture 9" descr="Picture 2">
            <a:extLst>
              <a:ext uri="{FF2B5EF4-FFF2-40B4-BE49-F238E27FC236}">
                <a16:creationId xmlns:a16="http://schemas.microsoft.com/office/drawing/2014/main" id="{396ED3C4-3F7E-46F9-8981-9138684D401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00200" y="1755775"/>
            <a:ext cx="2000250" cy="1028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3562" name="AutoShape 10" descr="Flowchart: Magnetic Disk 13">
            <a:extLst>
              <a:ext uri="{FF2B5EF4-FFF2-40B4-BE49-F238E27FC236}">
                <a16:creationId xmlns:a16="http://schemas.microsoft.com/office/drawing/2014/main" id="{21B8069C-656B-E68C-8C62-77FF0E7AE530}"/>
              </a:ext>
            </a:extLst>
          </p:cNvPr>
          <p:cNvSpPr>
            <a:spLocks/>
          </p:cNvSpPr>
          <p:nvPr/>
        </p:nvSpPr>
        <p:spPr bwMode="auto">
          <a:xfrm>
            <a:off x="1284288" y="1141413"/>
            <a:ext cx="2357437" cy="17859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23563" name="Picture 11" descr="Picture 4">
            <a:extLst>
              <a:ext uri="{FF2B5EF4-FFF2-40B4-BE49-F238E27FC236}">
                <a16:creationId xmlns:a16="http://schemas.microsoft.com/office/drawing/2014/main" id="{D926B8C9-0FB7-355F-A730-6F58367C473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12725" y="5000625"/>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3564" name="Text Box 12" descr="TextBox 14">
            <a:extLst>
              <a:ext uri="{FF2B5EF4-FFF2-40B4-BE49-F238E27FC236}">
                <a16:creationId xmlns:a16="http://schemas.microsoft.com/office/drawing/2014/main" id="{01304BC5-2C65-F001-9165-4475E1A8EEA7}"/>
              </a:ext>
            </a:extLst>
          </p:cNvPr>
          <p:cNvSpPr txBox="1">
            <a:spLocks/>
          </p:cNvSpPr>
          <p:nvPr/>
        </p:nvSpPr>
        <p:spPr bwMode="auto">
          <a:xfrm>
            <a:off x="187325" y="5786438"/>
            <a:ext cx="7699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grpSp>
        <p:nvGrpSpPr>
          <p:cNvPr id="23565" name="Group 13">
            <a:extLst>
              <a:ext uri="{FF2B5EF4-FFF2-40B4-BE49-F238E27FC236}">
                <a16:creationId xmlns:a16="http://schemas.microsoft.com/office/drawing/2014/main" id="{3741B3CD-D823-5CDC-4C9E-4739B17BF007}"/>
              </a:ext>
            </a:extLst>
          </p:cNvPr>
          <p:cNvGrpSpPr>
            <a:grpSpLocks/>
          </p:cNvGrpSpPr>
          <p:nvPr/>
        </p:nvGrpSpPr>
        <p:grpSpPr bwMode="auto">
          <a:xfrm>
            <a:off x="825500" y="5041900"/>
            <a:ext cx="2643188" cy="642938"/>
            <a:chOff x="0" y="-1"/>
            <a:chExt cx="2643206" cy="642944"/>
          </a:xfrm>
        </p:grpSpPr>
        <p:sp>
          <p:nvSpPr>
            <p:cNvPr id="23566" name="Rectangle 14">
              <a:extLst>
                <a:ext uri="{FF2B5EF4-FFF2-40B4-BE49-F238E27FC236}">
                  <a16:creationId xmlns:a16="http://schemas.microsoft.com/office/drawing/2014/main" id="{EDEA92E1-2FEA-8116-555C-07573915C5F1}"/>
                </a:ext>
              </a:extLst>
            </p:cNvPr>
            <p:cNvSpPr>
              <a:spLocks/>
            </p:cNvSpPr>
            <p:nvPr/>
          </p:nvSpPr>
          <p:spPr bwMode="auto">
            <a:xfrm>
              <a:off x="0" y="-1"/>
              <a:ext cx="2643206" cy="642944"/>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sz="1600"/>
            </a:p>
          </p:txBody>
        </p:sp>
        <p:sp>
          <p:nvSpPr>
            <p:cNvPr id="23567" name="Text Box 15">
              <a:extLst>
                <a:ext uri="{FF2B5EF4-FFF2-40B4-BE49-F238E27FC236}">
                  <a16:creationId xmlns:a16="http://schemas.microsoft.com/office/drawing/2014/main" id="{923D20EE-3024-834B-132D-2C72E2C3D470}"/>
                </a:ext>
              </a:extLst>
            </p:cNvPr>
            <p:cNvSpPr txBox="1">
              <a:spLocks/>
            </p:cNvSpPr>
            <p:nvPr/>
          </p:nvSpPr>
          <p:spPr bwMode="auto">
            <a:xfrm>
              <a:off x="50482" y="4762"/>
              <a:ext cx="2542242"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Use bank;</a:t>
              </a:r>
            </a:p>
            <a:p>
              <a:r>
                <a:rPr lang="en-US" altLang="en-US" sz="1600"/>
                <a:t>select * from accounts;</a:t>
              </a:r>
            </a:p>
          </p:txBody>
        </p:sp>
      </p:grpSp>
      <p:sp>
        <p:nvSpPr>
          <p:cNvPr id="23568" name="Text Box 16" descr="TextBox 18">
            <a:extLst>
              <a:ext uri="{FF2B5EF4-FFF2-40B4-BE49-F238E27FC236}">
                <a16:creationId xmlns:a16="http://schemas.microsoft.com/office/drawing/2014/main" id="{FB8DD9A8-4B10-98FA-847E-6036F43C2EB0}"/>
              </a:ext>
            </a:extLst>
          </p:cNvPr>
          <p:cNvSpPr txBox="1">
            <a:spLocks/>
          </p:cNvSpPr>
          <p:nvPr/>
        </p:nvSpPr>
        <p:spPr bwMode="auto">
          <a:xfrm>
            <a:off x="3705225" y="1689100"/>
            <a:ext cx="1800225"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Bank database</a:t>
            </a:r>
          </a:p>
        </p:txBody>
      </p:sp>
      <p:pic>
        <p:nvPicPr>
          <p:cNvPr id="23569" name="Picture 17" descr="Picture 2">
            <a:extLst>
              <a:ext uri="{FF2B5EF4-FFF2-40B4-BE49-F238E27FC236}">
                <a16:creationId xmlns:a16="http://schemas.microsoft.com/office/drawing/2014/main" id="{761199C3-60BD-4D87-1C8E-8F2EC889E28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624263" y="4657725"/>
            <a:ext cx="2233612" cy="14525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3570" name="Text Box 18" descr="TextBox 17">
            <a:extLst>
              <a:ext uri="{FF2B5EF4-FFF2-40B4-BE49-F238E27FC236}">
                <a16:creationId xmlns:a16="http://schemas.microsoft.com/office/drawing/2014/main" id="{1B4CE386-7EDB-357A-28C5-CA175B9565F5}"/>
              </a:ext>
            </a:extLst>
          </p:cNvPr>
          <p:cNvSpPr txBox="1">
            <a:spLocks/>
          </p:cNvSpPr>
          <p:nvPr/>
        </p:nvSpPr>
        <p:spPr bwMode="auto">
          <a:xfrm>
            <a:off x="6064250" y="4794250"/>
            <a:ext cx="3189288" cy="1387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Changes done by User1</a:t>
            </a:r>
          </a:p>
          <a:p>
            <a:r>
              <a:rPr lang="en-US" altLang="en-US" sz="1400"/>
              <a:t>Will not be seen by User2</a:t>
            </a:r>
          </a:p>
          <a:p>
            <a:r>
              <a:rPr lang="en-US" altLang="en-US" sz="1400"/>
              <a:t>because User1 has not completed </a:t>
            </a:r>
          </a:p>
          <a:p>
            <a:r>
              <a:rPr lang="en-US" altLang="en-US" sz="1400"/>
              <a:t>the transaction i.e</a:t>
            </a:r>
          </a:p>
          <a:p>
            <a:r>
              <a:rPr lang="en-US" altLang="en-US" sz="1400"/>
              <a:t>COMMIT statement</a:t>
            </a:r>
          </a:p>
          <a:p>
            <a:r>
              <a:rPr lang="en-US" altLang="en-US" sz="1400"/>
              <a:t>has not been executed by User1</a:t>
            </a:r>
          </a:p>
        </p:txBody>
      </p:sp>
    </p:spTree>
  </p:cSld>
  <p:clrMapOvr>
    <a:masterClrMapping/>
  </p:clrMapOvr>
  <p:transition spd="med"/>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1" descr="Title 1">
            <a:extLst>
              <a:ext uri="{FF2B5EF4-FFF2-40B4-BE49-F238E27FC236}">
                <a16:creationId xmlns:a16="http://schemas.microsoft.com/office/drawing/2014/main" id="{58A9DE27-5EEB-BCFC-55D0-6D2B2F9181D8}"/>
              </a:ext>
            </a:extLst>
          </p:cNvPr>
          <p:cNvSpPr>
            <a:spLocks noChangeArrowheads="1"/>
          </p:cNvSpPr>
          <p:nvPr>
            <p:ph type="title"/>
          </p:nvPr>
        </p:nvSpPr>
        <p:spPr/>
        <p:txBody>
          <a:bodyPr/>
          <a:lstStyle/>
          <a:p>
            <a:r>
              <a:rPr lang="en-US" altLang="en-US"/>
              <a:t>Transactions</a:t>
            </a:r>
          </a:p>
        </p:txBody>
      </p:sp>
      <p:sp>
        <p:nvSpPr>
          <p:cNvPr id="24578" name="Rectangle 2" descr="Content Placeholder 2">
            <a:extLst>
              <a:ext uri="{FF2B5EF4-FFF2-40B4-BE49-F238E27FC236}">
                <a16:creationId xmlns:a16="http://schemas.microsoft.com/office/drawing/2014/main" id="{16FBDF99-1FEA-0B58-32A4-9BA35F4BFDB9}"/>
              </a:ext>
            </a:extLst>
          </p:cNvPr>
          <p:cNvSpPr>
            <a:spLocks noChangeArrowheads="1"/>
          </p:cNvSpPr>
          <p:nvPr>
            <p:ph type="body" idx="1"/>
          </p:nvPr>
        </p:nvSpPr>
        <p:spPr/>
        <p:txBody>
          <a:bodyPr/>
          <a:lstStyle/>
          <a:p>
            <a:pPr marL="465138" indent="-465138" defTabSz="904875">
              <a:spcBef>
                <a:spcPct val="0"/>
              </a:spcBef>
              <a:buSzTx/>
              <a:buFont typeface="Wingdings" panose="05000000000000000000" pitchFamily="2" charset="2"/>
              <a:buNone/>
            </a:pPr>
            <a:r>
              <a:rPr lang="en-US" altLang="en-US" sz="1500"/>
              <a:t>Example: </a:t>
            </a:r>
            <a:r>
              <a:rPr lang="en-US" altLang="en-US" sz="1500">
                <a:solidFill>
                  <a:srgbClr val="C00000"/>
                </a:solidFill>
              </a:rPr>
              <a:t>Transaction: </a:t>
            </a:r>
            <a:r>
              <a:rPr lang="en-US" altLang="en-US" sz="1500"/>
              <a:t>Transfer Rs. 100 from Ram account to Shyam account.</a:t>
            </a:r>
          </a:p>
          <a:p>
            <a:pPr marL="465138" indent="-465138" defTabSz="904875">
              <a:spcBef>
                <a:spcPct val="0"/>
              </a:spcBef>
              <a:buSzTx/>
              <a:buFont typeface="Wingdings" panose="05000000000000000000" pitchFamily="2" charset="2"/>
              <a:buNone/>
            </a:pPr>
            <a:endParaRPr lang="en-US" altLang="en-US" sz="1500"/>
          </a:p>
          <a:p>
            <a:pPr marL="465138" indent="-465138" defTabSz="904875">
              <a:spcBef>
                <a:spcPct val="0"/>
              </a:spcBef>
              <a:buSzTx/>
              <a:buFont typeface="Wingdings" panose="05000000000000000000" pitchFamily="2" charset="2"/>
              <a:buNone/>
            </a:pPr>
            <a:r>
              <a:rPr lang="en-US" altLang="en-US" sz="1500"/>
              <a:t>UPDATE accounts SET balance = balance - 100 WHERE owner = '</a:t>
            </a:r>
            <a:r>
              <a:rPr lang="en-US" altLang="en-US" sz="1500">
                <a:solidFill>
                  <a:srgbClr val="0000FF"/>
                </a:solidFill>
              </a:rPr>
              <a:t>Ram</a:t>
            </a:r>
            <a:r>
              <a:rPr lang="en-US" altLang="en-US" sz="1500"/>
              <a:t>';</a:t>
            </a:r>
          </a:p>
          <a:p>
            <a:pPr marL="465138" indent="-465138" defTabSz="904875">
              <a:spcBef>
                <a:spcPct val="0"/>
              </a:spcBef>
              <a:buSzTx/>
              <a:buFont typeface="Wingdings" panose="05000000000000000000" pitchFamily="2" charset="2"/>
              <a:buNone/>
            </a:pPr>
            <a:r>
              <a:rPr lang="en-US" altLang="en-US" sz="1500"/>
              <a:t>UPDATE accounts SET balance = balance + 100 WHERE owner = '</a:t>
            </a:r>
            <a:r>
              <a:rPr lang="en-US" altLang="en-US" sz="1500">
                <a:solidFill>
                  <a:srgbClr val="FF00FF"/>
                </a:solidFill>
              </a:rPr>
              <a:t>Shyam</a:t>
            </a:r>
            <a:r>
              <a:rPr lang="en-US" altLang="en-US" sz="1500"/>
              <a:t>';</a:t>
            </a:r>
          </a:p>
          <a:p>
            <a:pPr marL="465138" indent="-465138" defTabSz="904875"/>
            <a:endParaRPr lang="en-US" altLang="en-US" sz="1500"/>
          </a:p>
          <a:p>
            <a:pPr marL="465138" indent="-465138" defTabSz="904875">
              <a:spcBef>
                <a:spcPts val="300"/>
              </a:spcBef>
              <a:buSzTx/>
              <a:buFont typeface="Wingdings" panose="05000000000000000000" pitchFamily="2" charset="2"/>
              <a:buNone/>
            </a:pPr>
            <a:r>
              <a:rPr lang="en-US" altLang="en-US" sz="1300"/>
              <a:t>Above two Update statements  must run, or neither must run. You cannot  have the </a:t>
            </a:r>
          </a:p>
          <a:p>
            <a:pPr marL="465138" indent="-465138" defTabSz="904875">
              <a:spcBef>
                <a:spcPts val="300"/>
              </a:spcBef>
              <a:buSzTx/>
              <a:buFont typeface="Wingdings" panose="05000000000000000000" pitchFamily="2" charset="2"/>
              <a:buNone/>
            </a:pPr>
            <a:r>
              <a:rPr lang="en-US" altLang="en-US" sz="1300"/>
              <a:t>money being transferred out of one person's account, and then  'disappearing' if for </a:t>
            </a:r>
          </a:p>
          <a:p>
            <a:pPr marL="465138" indent="-465138" defTabSz="904875">
              <a:spcBef>
                <a:spcPts val="300"/>
              </a:spcBef>
              <a:buSzTx/>
              <a:buFont typeface="Wingdings" panose="05000000000000000000" pitchFamily="2" charset="2"/>
              <a:buNone/>
            </a:pPr>
            <a:r>
              <a:rPr lang="en-US" altLang="en-US" sz="1300"/>
              <a:t>some reason the second query fails. Both these queries form one </a:t>
            </a:r>
            <a:r>
              <a:rPr lang="en-US" altLang="en-US" sz="1300" i="1"/>
              <a:t>transaction</a:t>
            </a:r>
            <a:r>
              <a:rPr lang="en-US" altLang="en-US" sz="1300"/>
              <a:t>. </a:t>
            </a:r>
          </a:p>
          <a:p>
            <a:pPr marL="465138" indent="-465138" defTabSz="904875">
              <a:buSzTx/>
              <a:buFont typeface="Wingdings" panose="05000000000000000000" pitchFamily="2" charset="2"/>
              <a:buNone/>
            </a:pPr>
            <a:endParaRPr lang="en-US" altLang="en-US" sz="1500"/>
          </a:p>
          <a:p>
            <a:pPr marL="465138" indent="-465138" defTabSz="904875">
              <a:spcBef>
                <a:spcPts val="400"/>
              </a:spcBef>
              <a:buSzTx/>
              <a:buFont typeface="Wingdings" panose="05000000000000000000" pitchFamily="2" charset="2"/>
              <a:buNone/>
            </a:pPr>
            <a:r>
              <a:rPr lang="en-US" altLang="en-US" sz="1700">
                <a:solidFill>
                  <a:srgbClr val="FF6600"/>
                </a:solidFill>
              </a:rPr>
              <a:t>A transaction is simply a number of individual queries that are </a:t>
            </a:r>
          </a:p>
          <a:p>
            <a:pPr marL="465138" indent="-465138" defTabSz="904875">
              <a:spcBef>
                <a:spcPts val="400"/>
              </a:spcBef>
              <a:buSzTx/>
              <a:buFont typeface="Wingdings" panose="05000000000000000000" pitchFamily="2" charset="2"/>
              <a:buNone/>
            </a:pPr>
            <a:r>
              <a:rPr lang="en-US" altLang="en-US" sz="1700">
                <a:solidFill>
                  <a:srgbClr val="FF6600"/>
                </a:solidFill>
              </a:rPr>
              <a:t>grouped together in between </a:t>
            </a:r>
            <a:r>
              <a:rPr lang="en-US" altLang="en-US" sz="1700" b="1">
                <a:solidFill>
                  <a:srgbClr val="FF6600"/>
                </a:solidFill>
              </a:rPr>
              <a:t>START TRANSACTION</a:t>
            </a:r>
            <a:r>
              <a:rPr lang="en-US" altLang="en-US" sz="1700">
                <a:solidFill>
                  <a:srgbClr val="FF6600"/>
                </a:solidFill>
              </a:rPr>
              <a:t> and </a:t>
            </a:r>
          </a:p>
          <a:p>
            <a:pPr marL="465138" indent="-465138" defTabSz="904875">
              <a:spcBef>
                <a:spcPts val="400"/>
              </a:spcBef>
              <a:buSzTx/>
              <a:buFont typeface="Wingdings" panose="05000000000000000000" pitchFamily="2" charset="2"/>
              <a:buNone/>
            </a:pPr>
            <a:r>
              <a:rPr lang="en-US" altLang="en-US" sz="1700" b="1">
                <a:solidFill>
                  <a:srgbClr val="FF6600"/>
                </a:solidFill>
              </a:rPr>
              <a:t>COMMIT  </a:t>
            </a:r>
            <a:r>
              <a:rPr lang="en-US" altLang="en-US" sz="1700">
                <a:solidFill>
                  <a:srgbClr val="FF6600"/>
                </a:solidFill>
              </a:rPr>
              <a:t>statement.</a:t>
            </a:r>
          </a:p>
          <a:p>
            <a:pPr marL="465138" indent="-465138" defTabSz="904875">
              <a:buSzTx/>
              <a:buFont typeface="Wingdings" panose="05000000000000000000" pitchFamily="2" charset="2"/>
              <a:buNone/>
            </a:pPr>
            <a:endParaRPr lang="en-US" altLang="en-US" sz="1500" b="1"/>
          </a:p>
          <a:p>
            <a:pPr marL="465138" indent="-465138" defTabSz="904875">
              <a:spcBef>
                <a:spcPts val="300"/>
              </a:spcBef>
              <a:buSzTx/>
              <a:buFont typeface="Wingdings" panose="05000000000000000000" pitchFamily="2" charset="2"/>
              <a:buNone/>
            </a:pPr>
            <a:r>
              <a:rPr lang="en-US" altLang="en-US" sz="1500" b="1"/>
              <a:t>START TRANSACTION</a:t>
            </a:r>
          </a:p>
          <a:p>
            <a:pPr marL="465138" indent="-465138" defTabSz="904875">
              <a:spcBef>
                <a:spcPct val="0"/>
              </a:spcBef>
              <a:buSzTx/>
              <a:buFont typeface="Wingdings" panose="05000000000000000000" pitchFamily="2" charset="2"/>
              <a:buNone/>
            </a:pPr>
            <a:r>
              <a:rPr lang="en-US" altLang="en-US" sz="1500"/>
              <a:t>UPDATE accounts SET balance = balance - 100 WHERE owner = '</a:t>
            </a:r>
            <a:r>
              <a:rPr lang="en-US" altLang="en-US" sz="1500">
                <a:solidFill>
                  <a:srgbClr val="0000FF"/>
                </a:solidFill>
              </a:rPr>
              <a:t>Ram</a:t>
            </a:r>
            <a:r>
              <a:rPr lang="en-US" altLang="en-US" sz="1500"/>
              <a:t>';</a:t>
            </a:r>
          </a:p>
          <a:p>
            <a:pPr marL="465138" indent="-465138" defTabSz="904875">
              <a:spcBef>
                <a:spcPct val="0"/>
              </a:spcBef>
              <a:buSzTx/>
              <a:buFont typeface="Wingdings" panose="05000000000000000000" pitchFamily="2" charset="2"/>
              <a:buNone/>
            </a:pPr>
            <a:r>
              <a:rPr lang="en-US" altLang="en-US" sz="1500"/>
              <a:t>UPDATE accounts SET balance = balance + 100 WHERE owner = '</a:t>
            </a:r>
            <a:r>
              <a:rPr lang="en-US" altLang="en-US" sz="1500">
                <a:solidFill>
                  <a:srgbClr val="FF00FF"/>
                </a:solidFill>
              </a:rPr>
              <a:t>Shyam</a:t>
            </a:r>
            <a:r>
              <a:rPr lang="en-US" altLang="en-US" sz="1500"/>
              <a:t>';</a:t>
            </a:r>
          </a:p>
          <a:p>
            <a:pPr marL="465138" indent="-465138" defTabSz="904875">
              <a:spcBef>
                <a:spcPts val="300"/>
              </a:spcBef>
              <a:buSzTx/>
              <a:buFont typeface="Wingdings" panose="05000000000000000000" pitchFamily="2" charset="2"/>
              <a:buNone/>
            </a:pPr>
            <a:r>
              <a:rPr lang="en-US" altLang="en-US" sz="1500" b="1"/>
              <a:t>COMMIT</a:t>
            </a:r>
          </a:p>
        </p:txBody>
      </p:sp>
      <p:sp>
        <p:nvSpPr>
          <p:cNvPr id="24579" name="Text Box 3" descr="Date Placeholder 3">
            <a:extLst>
              <a:ext uri="{FF2B5EF4-FFF2-40B4-BE49-F238E27FC236}">
                <a16:creationId xmlns:a16="http://schemas.microsoft.com/office/drawing/2014/main" id="{0AB3C924-EFE1-F071-1FEA-7E422816FD2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580" name="Text Box 4" descr="Slide Number Placeholder 5">
            <a:extLst>
              <a:ext uri="{FF2B5EF4-FFF2-40B4-BE49-F238E27FC236}">
                <a16:creationId xmlns:a16="http://schemas.microsoft.com/office/drawing/2014/main" id="{2CD39EC2-4D20-D570-93CE-B7CE840F2CB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955DBD3-828D-4C92-A9E2-6948E40AADD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1" descr="Title 1">
            <a:extLst>
              <a:ext uri="{FF2B5EF4-FFF2-40B4-BE49-F238E27FC236}">
                <a16:creationId xmlns:a16="http://schemas.microsoft.com/office/drawing/2014/main" id="{E9CEB73C-DA52-93EB-5178-5401FECF9C7F}"/>
              </a:ext>
            </a:extLst>
          </p:cNvPr>
          <p:cNvSpPr>
            <a:spLocks noChangeArrowheads="1"/>
          </p:cNvSpPr>
          <p:nvPr>
            <p:ph type="title"/>
          </p:nvPr>
        </p:nvSpPr>
        <p:spPr/>
        <p:txBody>
          <a:bodyPr/>
          <a:lstStyle/>
          <a:p>
            <a:r>
              <a:rPr lang="en-US" altLang="en-US"/>
              <a:t>Transactions : Basic Definition</a:t>
            </a:r>
          </a:p>
        </p:txBody>
      </p:sp>
      <p:sp>
        <p:nvSpPr>
          <p:cNvPr id="25602" name="Rectangle 2" descr="Content Placeholder 2">
            <a:extLst>
              <a:ext uri="{FF2B5EF4-FFF2-40B4-BE49-F238E27FC236}">
                <a16:creationId xmlns:a16="http://schemas.microsoft.com/office/drawing/2014/main" id="{F7621ADD-6DB1-1173-7769-ACC324247F2E}"/>
              </a:ext>
            </a:extLst>
          </p:cNvPr>
          <p:cNvSpPr>
            <a:spLocks noChangeArrowheads="1"/>
          </p:cNvSpPr>
          <p:nvPr>
            <p:ph type="body" idx="1"/>
          </p:nvPr>
        </p:nvSpPr>
        <p:spPr/>
        <p:txBody>
          <a:bodyPr/>
          <a:lstStyle/>
          <a:p>
            <a:pPr marL="377825" indent="-377825">
              <a:spcBef>
                <a:spcPts val="400"/>
              </a:spcBef>
            </a:pPr>
            <a:r>
              <a:rPr lang="en-US" altLang="en-US" sz="2000"/>
              <a:t>A </a:t>
            </a:r>
            <a:r>
              <a:rPr lang="en-US" altLang="en-US" sz="2000" b="1" u="sng"/>
              <a:t>transaction (“TXN”) </a:t>
            </a:r>
            <a:r>
              <a:rPr lang="en-US" altLang="en-US" sz="2000"/>
              <a:t>is a sequence of one or more </a:t>
            </a:r>
            <a:r>
              <a:rPr lang="en-US" altLang="en-US" sz="2000" b="1" i="1"/>
              <a:t>operations</a:t>
            </a:r>
            <a:r>
              <a:rPr lang="en-US" altLang="en-US" sz="2000"/>
              <a:t> (reads or writes) which reflects </a:t>
            </a:r>
            <a:r>
              <a:rPr lang="en-US" altLang="en-US" sz="2000" b="1" i="1"/>
              <a:t>a single real-world transition</a:t>
            </a:r>
            <a:r>
              <a:rPr lang="en-US" altLang="en-US" sz="2000"/>
              <a:t>.</a:t>
            </a:r>
          </a:p>
          <a:p>
            <a:pPr marL="377825" indent="-377825">
              <a:spcBef>
                <a:spcPts val="400"/>
              </a:spcBef>
            </a:pPr>
            <a:r>
              <a:rPr lang="en-US" altLang="en-US" sz="2000"/>
              <a:t>In the real world, a TXN either happened completely or not at all</a:t>
            </a:r>
          </a:p>
          <a:p>
            <a:pPr marL="377825" indent="-377825">
              <a:lnSpc>
                <a:spcPct val="80000"/>
              </a:lnSpc>
              <a:spcBef>
                <a:spcPts val="400"/>
              </a:spcBef>
            </a:pPr>
            <a:r>
              <a:rPr lang="en-US" altLang="en-US" sz="2000" u="sng"/>
              <a:t>Examples:</a:t>
            </a:r>
          </a:p>
          <a:p>
            <a:pPr marL="377825" indent="-377825">
              <a:lnSpc>
                <a:spcPct val="80000"/>
              </a:lnSpc>
              <a:spcBef>
                <a:spcPts val="400"/>
              </a:spcBef>
              <a:buFont typeface="Arial" panose="020B0604020202020204" pitchFamily="34" charset="0"/>
              <a:buChar char="•"/>
            </a:pPr>
            <a:r>
              <a:rPr lang="en-US" altLang="en-US" sz="2000"/>
              <a:t>Transfer money between accounts</a:t>
            </a:r>
          </a:p>
          <a:p>
            <a:pPr marL="377825" indent="-377825">
              <a:lnSpc>
                <a:spcPct val="80000"/>
              </a:lnSpc>
              <a:spcBef>
                <a:spcPts val="400"/>
              </a:spcBef>
              <a:buFont typeface="Arial" panose="020B0604020202020204" pitchFamily="34" charset="0"/>
              <a:buChar char="•"/>
            </a:pPr>
            <a:r>
              <a:rPr lang="en-US" altLang="en-US" sz="2000"/>
              <a:t>Purchase a group of products</a:t>
            </a:r>
          </a:p>
          <a:p>
            <a:pPr marL="377825" indent="-377825">
              <a:lnSpc>
                <a:spcPct val="80000"/>
              </a:lnSpc>
              <a:spcBef>
                <a:spcPts val="400"/>
              </a:spcBef>
              <a:buFont typeface="Arial" panose="020B0604020202020204" pitchFamily="34" charset="0"/>
              <a:buChar char="•"/>
            </a:pPr>
            <a:r>
              <a:rPr lang="en-US" altLang="en-US" sz="2000"/>
              <a:t>Register for a class (either waitlist or allocated)</a:t>
            </a:r>
          </a:p>
        </p:txBody>
      </p:sp>
      <p:sp>
        <p:nvSpPr>
          <p:cNvPr id="25603" name="Text Box 3" descr="Date Placeholder 3">
            <a:extLst>
              <a:ext uri="{FF2B5EF4-FFF2-40B4-BE49-F238E27FC236}">
                <a16:creationId xmlns:a16="http://schemas.microsoft.com/office/drawing/2014/main" id="{3E756459-BDF3-DEBA-C8D0-E4A55D421DF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604" name="Text Box 4" descr="Slide Number Placeholder 5">
            <a:extLst>
              <a:ext uri="{FF2B5EF4-FFF2-40B4-BE49-F238E27FC236}">
                <a16:creationId xmlns:a16="http://schemas.microsoft.com/office/drawing/2014/main" id="{C8B24A6A-7180-FBA0-DEFE-E0CEE02AE8B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E82CE54-199A-4EBA-9070-28224969AF4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5605" name="Rectangle 5" descr="Rectangle 3">
            <a:extLst>
              <a:ext uri="{FF2B5EF4-FFF2-40B4-BE49-F238E27FC236}">
                <a16:creationId xmlns:a16="http://schemas.microsoft.com/office/drawing/2014/main" id="{603FDC4F-C13A-C448-0678-19D4FD500A22}"/>
              </a:ext>
            </a:extLst>
          </p:cNvPr>
          <p:cNvSpPr>
            <a:spLocks/>
          </p:cNvSpPr>
          <p:nvPr/>
        </p:nvSpPr>
        <p:spPr bwMode="auto">
          <a:xfrm>
            <a:off x="569913" y="4572000"/>
            <a:ext cx="8072437" cy="1065213"/>
          </a:xfrm>
          <a:prstGeom prst="rect">
            <a:avLst/>
          </a:prstGeom>
          <a:solidFill>
            <a:srgbClr val="FFFFFF"/>
          </a:solidFill>
          <a:ln w="9525" cap="flat" cmpd="sng">
            <a:solidFill>
              <a:srgbClr val="000000"/>
            </a:solidFill>
            <a:prstDash val="solid"/>
            <a:miter lim="800000"/>
            <a:headEnd type="none" w="med" len="med"/>
            <a:tailEnd type="none" w="med" len="med"/>
          </a:ln>
          <a:effectLst>
            <a:outerShdw blurRad="50800" dist="12700" dir="2700000" algn="ctr" rotWithShape="0">
              <a:srgbClr val="000000">
                <a:alpha val="39999"/>
              </a:srgbClr>
            </a:outerShdw>
          </a:effectLst>
        </p:spPr>
        <p:txBody>
          <a:bodyPr lIns="45720" rIns="45720">
            <a:spAutoFit/>
          </a:bodyPr>
          <a:lstStyle/>
          <a:p>
            <a:r>
              <a:rPr lang="en-US" altLang="en-US" sz="1600">
                <a:solidFill>
                  <a:schemeClr val="accent2"/>
                </a:solidFill>
                <a:latin typeface="Menlo Regular" charset="0"/>
                <a:ea typeface="Menlo Regular" charset="0"/>
                <a:cs typeface="Menlo Regular" charset="0"/>
                <a:sym typeface="Menlo Regular" charset="0"/>
              </a:rPr>
              <a:t>START TRANSACTION</a:t>
            </a:r>
          </a:p>
          <a:p>
            <a:r>
              <a:rPr lang="en-US" altLang="en-US" sz="1600">
                <a:latin typeface="Menlo Regular" charset="0"/>
                <a:ea typeface="Menlo Regular" charset="0"/>
                <a:cs typeface="Menlo Regular" charset="0"/>
                <a:sym typeface="Menlo Regular" charset="0"/>
              </a:rPr>
              <a:t>	</a:t>
            </a:r>
            <a:r>
              <a:rPr lang="en-US" altLang="en-US" sz="1600">
                <a:solidFill>
                  <a:schemeClr val="accent2"/>
                </a:solidFill>
                <a:latin typeface="Menlo Regular" charset="0"/>
                <a:ea typeface="Menlo Regular" charset="0"/>
                <a:cs typeface="Menlo Regular" charset="0"/>
                <a:sym typeface="Menlo Regular" charset="0"/>
              </a:rPr>
              <a:t>UPDATE</a:t>
            </a:r>
            <a:r>
              <a:rPr lang="en-US" altLang="en-US" sz="1600">
                <a:latin typeface="Menlo Regular" charset="0"/>
                <a:ea typeface="Menlo Regular" charset="0"/>
                <a:cs typeface="Menlo Regular" charset="0"/>
                <a:sym typeface="Menlo Regular" charset="0"/>
              </a:rPr>
              <a:t> Product </a:t>
            </a:r>
            <a:r>
              <a:rPr lang="en-US" altLang="en-US" sz="1600">
                <a:solidFill>
                  <a:schemeClr val="accent2"/>
                </a:solidFill>
                <a:latin typeface="Menlo Regular" charset="0"/>
                <a:ea typeface="Menlo Regular" charset="0"/>
                <a:cs typeface="Menlo Regular" charset="0"/>
                <a:sym typeface="Menlo Regular" charset="0"/>
              </a:rPr>
              <a:t>SET</a:t>
            </a:r>
            <a:r>
              <a:rPr lang="en-US" altLang="en-US" sz="1600">
                <a:latin typeface="Menlo Regular" charset="0"/>
                <a:ea typeface="Menlo Regular" charset="0"/>
                <a:cs typeface="Menlo Regular" charset="0"/>
                <a:sym typeface="Menlo Regular" charset="0"/>
              </a:rPr>
              <a:t> Price = Price – 1.99 </a:t>
            </a:r>
            <a:r>
              <a:rPr lang="en-US" altLang="en-US" sz="1600">
                <a:solidFill>
                  <a:schemeClr val="accent2"/>
                </a:solidFill>
                <a:latin typeface="Menlo Regular" charset="0"/>
                <a:ea typeface="Menlo Regular" charset="0"/>
                <a:cs typeface="Menlo Regular" charset="0"/>
                <a:sym typeface="Menlo Regular" charset="0"/>
              </a:rPr>
              <a:t>WHERE</a:t>
            </a:r>
            <a:r>
              <a:rPr lang="en-US" altLang="en-US" sz="1600">
                <a:latin typeface="Menlo Regular" charset="0"/>
                <a:ea typeface="Menlo Regular" charset="0"/>
                <a:cs typeface="Menlo Regular" charset="0"/>
                <a:sym typeface="Menlo Regular" charset="0"/>
              </a:rPr>
              <a:t> pname = ‘Gizmo’</a:t>
            </a:r>
          </a:p>
          <a:p>
            <a:r>
              <a:rPr lang="en-US" altLang="en-US" sz="1600">
                <a:solidFill>
                  <a:schemeClr val="accent2"/>
                </a:solidFill>
                <a:latin typeface="Menlo Regular" charset="0"/>
                <a:ea typeface="Menlo Regular" charset="0"/>
                <a:cs typeface="Menlo Regular" charset="0"/>
                <a:sym typeface="Menlo Regular" charset="0"/>
              </a:rPr>
              <a:t>COMMIT</a:t>
            </a:r>
          </a:p>
        </p:txBody>
      </p:sp>
    </p:spTree>
  </p:cSld>
  <p:clrMapOvr>
    <a:masterClrMapping/>
  </p:clrMapOvr>
  <p:transition spd="med"/>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Text Box 1" descr="Slide Number Placeholder 5">
            <a:extLst>
              <a:ext uri="{FF2B5EF4-FFF2-40B4-BE49-F238E27FC236}">
                <a16:creationId xmlns:a16="http://schemas.microsoft.com/office/drawing/2014/main" id="{23BB65DD-21BD-0AD5-E2AC-8721FE5C8AE4}"/>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825FCFD-0782-42B6-BBDD-A25838132F1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6626" name="Rectangle 2" descr="Rectangle 2">
            <a:extLst>
              <a:ext uri="{FF2B5EF4-FFF2-40B4-BE49-F238E27FC236}">
                <a16:creationId xmlns:a16="http://schemas.microsoft.com/office/drawing/2014/main" id="{B0F8D6EE-F1C9-4463-0A51-04012BA9BE43}"/>
              </a:ext>
            </a:extLst>
          </p:cNvPr>
          <p:cNvSpPr>
            <a:spLocks noChangeArrowheads="1"/>
          </p:cNvSpPr>
          <p:nvPr>
            <p:ph type="title"/>
          </p:nvPr>
        </p:nvSpPr>
        <p:spPr/>
        <p:txBody>
          <a:bodyPr/>
          <a:lstStyle/>
          <a:p>
            <a:r>
              <a:rPr lang="en-US" altLang="en-US"/>
              <a:t>Transactions in SQL</a:t>
            </a:r>
          </a:p>
        </p:txBody>
      </p:sp>
      <p:sp>
        <p:nvSpPr>
          <p:cNvPr id="26627" name="Rectangle 3" descr="Rectangle 3">
            <a:extLst>
              <a:ext uri="{FF2B5EF4-FFF2-40B4-BE49-F238E27FC236}">
                <a16:creationId xmlns:a16="http://schemas.microsoft.com/office/drawing/2014/main" id="{CF09055A-A295-FA59-F891-FE74C883E627}"/>
              </a:ext>
            </a:extLst>
          </p:cNvPr>
          <p:cNvSpPr>
            <a:spLocks noChangeArrowheads="1"/>
          </p:cNvSpPr>
          <p:nvPr>
            <p:ph type="body" idx="1"/>
          </p:nvPr>
        </p:nvSpPr>
        <p:spPr/>
        <p:txBody>
          <a:bodyPr/>
          <a:lstStyle/>
          <a:p>
            <a:pPr>
              <a:spcBef>
                <a:spcPts val="600"/>
              </a:spcBef>
            </a:pPr>
            <a:r>
              <a:rPr lang="en-US" altLang="en-US" sz="2800"/>
              <a:t>In “ad-hoc” SQL:</a:t>
            </a:r>
          </a:p>
          <a:p>
            <a:pPr marL="908050" lvl="1" indent="-438150">
              <a:spcBef>
                <a:spcPts val="500"/>
              </a:spcBef>
            </a:pPr>
            <a:r>
              <a:rPr lang="en-US" altLang="en-US" sz="2400"/>
              <a:t>Default: each statement = one transaction</a:t>
            </a:r>
            <a:endParaRPr lang="en-US" altLang="en-US" sz="2600"/>
          </a:p>
          <a:p>
            <a:pPr marL="908050" lvl="1" indent="-438150">
              <a:spcBef>
                <a:spcPts val="600"/>
              </a:spcBef>
            </a:pPr>
            <a:endParaRPr lang="en-US" altLang="en-US" sz="2400"/>
          </a:p>
          <a:p>
            <a:pPr>
              <a:spcBef>
                <a:spcPts val="600"/>
              </a:spcBef>
            </a:pPr>
            <a:r>
              <a:rPr lang="en-US" altLang="en-US" sz="2800"/>
              <a:t>In a program, multiple statements can be grouped together as a transaction:</a:t>
            </a:r>
          </a:p>
        </p:txBody>
      </p:sp>
      <p:sp>
        <p:nvSpPr>
          <p:cNvPr id="26628" name="Rectangle 4" descr="Rectangle 3">
            <a:extLst>
              <a:ext uri="{FF2B5EF4-FFF2-40B4-BE49-F238E27FC236}">
                <a16:creationId xmlns:a16="http://schemas.microsoft.com/office/drawing/2014/main" id="{AF329E56-61C1-0D23-8F7D-2B16E0272D19}"/>
              </a:ext>
            </a:extLst>
          </p:cNvPr>
          <p:cNvSpPr>
            <a:spLocks/>
          </p:cNvSpPr>
          <p:nvPr/>
        </p:nvSpPr>
        <p:spPr bwMode="auto">
          <a:xfrm>
            <a:off x="712788" y="3922713"/>
            <a:ext cx="7488237" cy="1549400"/>
          </a:xfrm>
          <a:prstGeom prst="rect">
            <a:avLst/>
          </a:prstGeom>
          <a:solidFill>
            <a:srgbClr val="FFFFFF"/>
          </a:solidFill>
          <a:ln w="9525" cap="flat" cmpd="sng">
            <a:solidFill>
              <a:srgbClr val="000000"/>
            </a:solidFill>
            <a:prstDash val="solid"/>
            <a:miter lim="800000"/>
            <a:headEnd type="none" w="med" len="med"/>
            <a:tailEnd type="none" w="med" len="med"/>
          </a:ln>
          <a:effectLst>
            <a:outerShdw blurRad="50800" dist="12700" dir="2700000" algn="ctr" rotWithShape="0">
              <a:srgbClr val="000000">
                <a:alpha val="39999"/>
              </a:srgbClr>
            </a:outerShdw>
          </a:effectLst>
        </p:spPr>
        <p:txBody>
          <a:bodyPr lIns="45720" rIns="45720">
            <a:spAutoFit/>
          </a:bodyPr>
          <a:lstStyle/>
          <a:p>
            <a:r>
              <a:rPr lang="en-US" altLang="en-US" sz="1600">
                <a:solidFill>
                  <a:schemeClr val="accent2"/>
                </a:solidFill>
                <a:latin typeface="Menlo Regular" charset="0"/>
                <a:ea typeface="Menlo Regular" charset="0"/>
                <a:cs typeface="Menlo Regular" charset="0"/>
                <a:sym typeface="Menlo Regular" charset="0"/>
              </a:rPr>
              <a:t>START TRANSACTION</a:t>
            </a:r>
          </a:p>
          <a:p>
            <a:r>
              <a:rPr lang="en-US" altLang="en-US" sz="1600">
                <a:solidFill>
                  <a:schemeClr val="accent2"/>
                </a:solidFill>
                <a:latin typeface="Menlo Regular" charset="0"/>
                <a:ea typeface="Menlo Regular" charset="0"/>
                <a:cs typeface="Menlo Regular" charset="0"/>
                <a:sym typeface="Menlo Regular" charset="0"/>
              </a:rPr>
              <a:t>	UPDATE</a:t>
            </a:r>
            <a:r>
              <a:rPr lang="en-US" altLang="en-US" sz="1600">
                <a:latin typeface="Menlo Regular" charset="0"/>
                <a:ea typeface="Menlo Regular" charset="0"/>
                <a:cs typeface="Menlo Regular" charset="0"/>
                <a:sym typeface="Menlo Regular" charset="0"/>
              </a:rPr>
              <a:t> Bank </a:t>
            </a:r>
            <a:r>
              <a:rPr lang="en-US" altLang="en-US" sz="1600">
                <a:solidFill>
                  <a:schemeClr val="accent2"/>
                </a:solidFill>
                <a:latin typeface="Menlo Regular" charset="0"/>
                <a:ea typeface="Menlo Regular" charset="0"/>
                <a:cs typeface="Menlo Regular" charset="0"/>
                <a:sym typeface="Menlo Regular" charset="0"/>
              </a:rPr>
              <a:t>SET</a:t>
            </a:r>
            <a:r>
              <a:rPr lang="en-US" altLang="en-US" sz="1600">
                <a:latin typeface="Menlo Regular" charset="0"/>
                <a:ea typeface="Menlo Regular" charset="0"/>
                <a:cs typeface="Menlo Regular" charset="0"/>
                <a:sym typeface="Menlo Regular" charset="0"/>
              </a:rPr>
              <a:t> amount = amount – 100 </a:t>
            </a:r>
            <a:r>
              <a:rPr lang="en-US" altLang="en-US" sz="1600">
                <a:solidFill>
                  <a:schemeClr val="accent2"/>
                </a:solidFill>
                <a:latin typeface="Menlo Regular" charset="0"/>
                <a:ea typeface="Menlo Regular" charset="0"/>
                <a:cs typeface="Menlo Regular" charset="0"/>
                <a:sym typeface="Menlo Regular" charset="0"/>
              </a:rPr>
              <a:t>WHERE</a:t>
            </a:r>
            <a:r>
              <a:rPr lang="en-US" altLang="en-US" sz="1600">
                <a:latin typeface="Menlo Regular" charset="0"/>
                <a:ea typeface="Menlo Regular" charset="0"/>
                <a:cs typeface="Menlo Regular" charset="0"/>
                <a:sym typeface="Menlo Regular" charset="0"/>
              </a:rPr>
              <a:t> Name = ‘Ram’</a:t>
            </a:r>
            <a:endParaRPr lang="en-US" altLang="en-US" sz="1600">
              <a:solidFill>
                <a:schemeClr val="accent2"/>
              </a:solidFill>
              <a:latin typeface="Menlo Regular" charset="0"/>
              <a:ea typeface="Menlo Regular" charset="0"/>
              <a:cs typeface="Menlo Regular" charset="0"/>
              <a:sym typeface="Menlo Regular" charset="0"/>
            </a:endParaRPr>
          </a:p>
          <a:p>
            <a:r>
              <a:rPr lang="en-US" altLang="en-US" sz="1600">
                <a:solidFill>
                  <a:schemeClr val="accent2"/>
                </a:solidFill>
                <a:latin typeface="Menlo Regular" charset="0"/>
                <a:ea typeface="Menlo Regular" charset="0"/>
                <a:cs typeface="Menlo Regular" charset="0"/>
                <a:sym typeface="Menlo Regular" charset="0"/>
              </a:rPr>
              <a:t>	UPDATE</a:t>
            </a:r>
            <a:r>
              <a:rPr lang="en-US" altLang="en-US" sz="1600">
                <a:latin typeface="Menlo Regular" charset="0"/>
                <a:ea typeface="Menlo Regular" charset="0"/>
                <a:cs typeface="Menlo Regular" charset="0"/>
                <a:sym typeface="Menlo Regular" charset="0"/>
              </a:rPr>
              <a:t> Bank </a:t>
            </a:r>
            <a:r>
              <a:rPr lang="en-US" altLang="en-US" sz="1600">
                <a:solidFill>
                  <a:schemeClr val="accent2"/>
                </a:solidFill>
                <a:latin typeface="Menlo Regular" charset="0"/>
                <a:ea typeface="Menlo Regular" charset="0"/>
                <a:cs typeface="Menlo Regular" charset="0"/>
                <a:sym typeface="Menlo Regular" charset="0"/>
              </a:rPr>
              <a:t>SET</a:t>
            </a:r>
            <a:r>
              <a:rPr lang="en-US" altLang="en-US" sz="1600">
                <a:latin typeface="Menlo Regular" charset="0"/>
                <a:ea typeface="Menlo Regular" charset="0"/>
                <a:cs typeface="Menlo Regular" charset="0"/>
                <a:sym typeface="Menlo Regular" charset="0"/>
              </a:rPr>
              <a:t> amount = amount + 100 </a:t>
            </a:r>
            <a:r>
              <a:rPr lang="en-US" altLang="en-US" sz="1600">
                <a:solidFill>
                  <a:schemeClr val="accent2"/>
                </a:solidFill>
                <a:latin typeface="Menlo Regular" charset="0"/>
                <a:ea typeface="Menlo Regular" charset="0"/>
                <a:cs typeface="Menlo Regular" charset="0"/>
                <a:sym typeface="Menlo Regular" charset="0"/>
              </a:rPr>
              <a:t>WHERE</a:t>
            </a:r>
            <a:r>
              <a:rPr lang="en-US" altLang="en-US" sz="1600">
                <a:latin typeface="Menlo Regular" charset="0"/>
                <a:ea typeface="Menlo Regular" charset="0"/>
                <a:cs typeface="Menlo Regular" charset="0"/>
                <a:sym typeface="Menlo Regular" charset="0"/>
              </a:rPr>
              <a:t> Name = ‘Shyam’</a:t>
            </a:r>
          </a:p>
          <a:p>
            <a:r>
              <a:rPr lang="en-US" altLang="en-US" sz="1600">
                <a:solidFill>
                  <a:schemeClr val="accent2"/>
                </a:solidFill>
                <a:latin typeface="Menlo Regular" charset="0"/>
                <a:ea typeface="Menlo Regular" charset="0"/>
                <a:cs typeface="Menlo Regular" charset="0"/>
                <a:sym typeface="Menlo Regular" charset="0"/>
              </a:rPr>
              <a:t>COMMIT</a:t>
            </a:r>
          </a:p>
        </p:txBody>
      </p:sp>
    </p:spTree>
  </p:cSld>
  <p:clrMapOvr>
    <a:masterClrMapping/>
  </p:clrMapOvr>
  <p:transition spd="med"/>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Rectangle 1" descr="Title 1">
            <a:extLst>
              <a:ext uri="{FF2B5EF4-FFF2-40B4-BE49-F238E27FC236}">
                <a16:creationId xmlns:a16="http://schemas.microsoft.com/office/drawing/2014/main" id="{0FF48E1F-560C-A11A-5C38-3A3A13F82B2F}"/>
              </a:ext>
            </a:extLst>
          </p:cNvPr>
          <p:cNvSpPr>
            <a:spLocks noChangeArrowheads="1"/>
          </p:cNvSpPr>
          <p:nvPr>
            <p:ph type="title"/>
          </p:nvPr>
        </p:nvSpPr>
        <p:spPr/>
        <p:txBody>
          <a:bodyPr/>
          <a:lstStyle/>
          <a:p>
            <a:r>
              <a:rPr lang="en-US" altLang="en-US" sz="2800"/>
              <a:t>Model of Transaction</a:t>
            </a:r>
          </a:p>
        </p:txBody>
      </p:sp>
      <p:sp>
        <p:nvSpPr>
          <p:cNvPr id="27650" name="Rectangle 2" descr="Content Placeholder 2">
            <a:extLst>
              <a:ext uri="{FF2B5EF4-FFF2-40B4-BE49-F238E27FC236}">
                <a16:creationId xmlns:a16="http://schemas.microsoft.com/office/drawing/2014/main" id="{C0FC0B44-6B6F-8574-E3DE-7553159BDF2D}"/>
              </a:ext>
            </a:extLst>
          </p:cNvPr>
          <p:cNvSpPr>
            <a:spLocks noChangeArrowheads="1"/>
          </p:cNvSpPr>
          <p:nvPr>
            <p:ph type="body" idx="1"/>
          </p:nvPr>
        </p:nvSpPr>
        <p:spPr>
          <a:xfrm>
            <a:off x="457200" y="1065213"/>
            <a:ext cx="8077200" cy="3221037"/>
          </a:xfrm>
        </p:spPr>
        <p:txBody>
          <a:bodyPr/>
          <a:lstStyle/>
          <a:p>
            <a:pPr marL="0" indent="0">
              <a:spcBef>
                <a:spcPts val="600"/>
              </a:spcBef>
              <a:buSzTx/>
              <a:buFont typeface="Wingdings" panose="05000000000000000000" pitchFamily="2" charset="2"/>
              <a:buNone/>
            </a:pPr>
            <a:r>
              <a:rPr lang="en-US" altLang="en-US" sz="2800"/>
              <a:t>In this course of DBMS (21CS3PCDBM), we assume that the database only sees </a:t>
            </a:r>
            <a:r>
              <a:rPr lang="en-US" altLang="en-US" sz="2800" b="1" u="sng"/>
              <a:t>reads and writes to data</a:t>
            </a:r>
          </a:p>
          <a:p>
            <a:pPr marL="908050" lvl="1" indent="-438150">
              <a:spcBef>
                <a:spcPts val="500"/>
              </a:spcBef>
            </a:pPr>
            <a:r>
              <a:rPr lang="en-US" altLang="en-US" sz="2400"/>
              <a:t>User may do much more</a:t>
            </a:r>
            <a:endParaRPr lang="en-US" altLang="en-US" sz="2600"/>
          </a:p>
          <a:p>
            <a:pPr marL="908050" lvl="1" indent="-438150">
              <a:spcBef>
                <a:spcPts val="500"/>
              </a:spcBef>
            </a:pPr>
            <a:r>
              <a:rPr lang="en-US" altLang="en-US" sz="2400"/>
              <a:t>In real systems, databases do have more information /operations</a:t>
            </a:r>
          </a:p>
        </p:txBody>
      </p:sp>
    </p:spTree>
  </p:cSld>
  <p:clrMapOvr>
    <a:masterClrMapping/>
  </p:clrMapOvr>
  <p:transition spd="med"/>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Text Box 1" descr="Footer Placeholder 4">
            <a:extLst>
              <a:ext uri="{FF2B5EF4-FFF2-40B4-BE49-F238E27FC236}">
                <a16:creationId xmlns:a16="http://schemas.microsoft.com/office/drawing/2014/main" id="{DDF34C95-F685-26CB-554E-4FFB38AD614A}"/>
              </a:ext>
            </a:extLst>
          </p:cNvPr>
          <p:cNvSpPr txBox="1">
            <a:spLocks/>
          </p:cNvSpPr>
          <p:nvPr/>
        </p:nvSpPr>
        <p:spPr bwMode="auto">
          <a:xfrm>
            <a:off x="3168650" y="64008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BMSCE</a:t>
            </a:r>
          </a:p>
        </p:txBody>
      </p:sp>
      <p:sp>
        <p:nvSpPr>
          <p:cNvPr id="28674" name="Rectangle 2" descr="Title 1">
            <a:extLst>
              <a:ext uri="{FF2B5EF4-FFF2-40B4-BE49-F238E27FC236}">
                <a16:creationId xmlns:a16="http://schemas.microsoft.com/office/drawing/2014/main" id="{3827F6E5-9272-69A3-A1D3-906AC40F5294}"/>
              </a:ext>
            </a:extLst>
          </p:cNvPr>
          <p:cNvSpPr>
            <a:spLocks noChangeArrowheads="1"/>
          </p:cNvSpPr>
          <p:nvPr>
            <p:ph type="title"/>
          </p:nvPr>
        </p:nvSpPr>
        <p:spPr/>
        <p:txBody>
          <a:bodyPr/>
          <a:lstStyle/>
          <a:p>
            <a:r>
              <a:rPr lang="en-US" altLang="en-US" sz="2400"/>
              <a:t>Model of Transaction: Read-Write Operations</a:t>
            </a:r>
          </a:p>
        </p:txBody>
      </p:sp>
      <p:sp>
        <p:nvSpPr>
          <p:cNvPr id="28675" name="Rectangle 3" descr="Content Placeholder 2">
            <a:extLst>
              <a:ext uri="{FF2B5EF4-FFF2-40B4-BE49-F238E27FC236}">
                <a16:creationId xmlns:a16="http://schemas.microsoft.com/office/drawing/2014/main" id="{5283E9E9-66C8-A87B-8D4C-AEEBA8301D76}"/>
              </a:ext>
            </a:extLst>
          </p:cNvPr>
          <p:cNvSpPr>
            <a:spLocks noChangeArrowheads="1"/>
          </p:cNvSpPr>
          <p:nvPr>
            <p:ph type="body" idx="1"/>
          </p:nvPr>
        </p:nvSpPr>
        <p:spPr/>
        <p:txBody>
          <a:bodyPr/>
          <a:lstStyle/>
          <a:p>
            <a:pPr marL="469900" lvl="1" indent="-469900">
              <a:spcBef>
                <a:spcPts val="600"/>
              </a:spcBef>
              <a:buFontTx/>
              <a:buChar char="□"/>
            </a:pPr>
            <a:r>
              <a:rPr lang="en-US" altLang="en-US" sz="2600"/>
              <a:t>read_item(X): Reads a database item named X into a program variable. To simplify our notation, we assume that the program variable is also named X.</a:t>
            </a:r>
          </a:p>
          <a:p>
            <a:pPr marL="469900" lvl="1" indent="-469900">
              <a:spcBef>
                <a:spcPts val="600"/>
              </a:spcBef>
              <a:buFontTx/>
              <a:buChar char="□"/>
            </a:pPr>
            <a:r>
              <a:rPr lang="en-US" altLang="en-US" sz="2600"/>
              <a:t>write_item(X): Writes the value of program variable X into the database item named X.</a:t>
            </a:r>
          </a:p>
        </p:txBody>
      </p:sp>
      <p:sp>
        <p:nvSpPr>
          <p:cNvPr id="28676" name="Text Box 4" descr="Date Placeholder 3">
            <a:extLst>
              <a:ext uri="{FF2B5EF4-FFF2-40B4-BE49-F238E27FC236}">
                <a16:creationId xmlns:a16="http://schemas.microsoft.com/office/drawing/2014/main" id="{4FAA4A2D-1910-BD16-81D7-8D4EAF212AB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677" name="Text Box 5" descr="Slide Number Placeholder 5">
            <a:extLst>
              <a:ext uri="{FF2B5EF4-FFF2-40B4-BE49-F238E27FC236}">
                <a16:creationId xmlns:a16="http://schemas.microsoft.com/office/drawing/2014/main" id="{973C0E07-BAAA-3809-9A25-F9B85709F67F}"/>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70BA78F-0585-4988-B64B-A6686CA3263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descr="Title 1">
            <a:extLst>
              <a:ext uri="{FF2B5EF4-FFF2-40B4-BE49-F238E27FC236}">
                <a16:creationId xmlns:a16="http://schemas.microsoft.com/office/drawing/2014/main" id="{9B6F5B75-B6B5-FE49-7F82-3BB629CC850F}"/>
              </a:ext>
            </a:extLst>
          </p:cNvPr>
          <p:cNvSpPr>
            <a:spLocks noChangeArrowheads="1"/>
          </p:cNvSpPr>
          <p:nvPr>
            <p:ph type="title"/>
          </p:nvPr>
        </p:nvSpPr>
        <p:spPr/>
        <p:txBody>
          <a:bodyPr/>
          <a:lstStyle/>
          <a:p>
            <a:r>
              <a:rPr lang="en-US" altLang="en-US" sz="2400"/>
              <a:t>Model of Transaction: Read-Write Operations</a:t>
            </a:r>
          </a:p>
        </p:txBody>
      </p:sp>
      <p:sp>
        <p:nvSpPr>
          <p:cNvPr id="29699" name="Rectangle 3" descr="Content Placeholder 2">
            <a:extLst>
              <a:ext uri="{FF2B5EF4-FFF2-40B4-BE49-F238E27FC236}">
                <a16:creationId xmlns:a16="http://schemas.microsoft.com/office/drawing/2014/main" id="{9D593C89-B3DD-90B6-0EB7-1BF8F0B7A47E}"/>
              </a:ext>
            </a:extLst>
          </p:cNvPr>
          <p:cNvSpPr>
            <a:spLocks noChangeArrowheads="1"/>
          </p:cNvSpPr>
          <p:nvPr>
            <p:ph type="body" idx="1"/>
          </p:nvPr>
        </p:nvSpPr>
        <p:spPr/>
        <p:txBody>
          <a:bodyPr/>
          <a:lstStyle/>
          <a:p>
            <a:pPr>
              <a:lnSpc>
                <a:spcPct val="80000"/>
              </a:lnSpc>
              <a:spcBef>
                <a:spcPts val="400"/>
              </a:spcBef>
              <a:buSzTx/>
              <a:buFont typeface="Wingdings" panose="05000000000000000000" pitchFamily="2" charset="2"/>
              <a:buNone/>
            </a:pPr>
            <a:r>
              <a:rPr lang="en-US" altLang="en-US" sz="1800"/>
              <a:t>READ AND WRITE OPERATIONS:</a:t>
            </a:r>
          </a:p>
          <a:p>
            <a:pPr>
              <a:lnSpc>
                <a:spcPct val="80000"/>
              </a:lnSpc>
              <a:spcBef>
                <a:spcPts val="400"/>
              </a:spcBef>
            </a:pPr>
            <a:r>
              <a:rPr lang="en-US" altLang="en-US" sz="1800"/>
              <a:t>Basic unit of data transfer from the disk to the computer main memory is one block. In general, a data item (what is read or written) will be the field of some record in the database, although it may be a larger unit such as a record or even a whole block.</a:t>
            </a:r>
          </a:p>
          <a:p>
            <a:pPr>
              <a:lnSpc>
                <a:spcPct val="80000"/>
              </a:lnSpc>
              <a:spcBef>
                <a:spcPts val="400"/>
              </a:spcBef>
            </a:pPr>
            <a:r>
              <a:rPr lang="en-US" altLang="en-US" sz="1800"/>
              <a:t>read_item(X) command includes the following steps:</a:t>
            </a:r>
          </a:p>
          <a:p>
            <a:pPr marL="908050" lvl="1" indent="-438150">
              <a:lnSpc>
                <a:spcPct val="80000"/>
              </a:lnSpc>
              <a:spcBef>
                <a:spcPts val="400"/>
              </a:spcBef>
            </a:pPr>
            <a:r>
              <a:rPr lang="en-US" altLang="en-US" sz="1800"/>
              <a:t>Find the address of the disk block that contains item X.</a:t>
            </a:r>
            <a:endParaRPr lang="en-US" altLang="en-US" sz="2600"/>
          </a:p>
          <a:p>
            <a:pPr marL="908050" lvl="1" indent="-438150">
              <a:lnSpc>
                <a:spcPct val="80000"/>
              </a:lnSpc>
              <a:spcBef>
                <a:spcPts val="400"/>
              </a:spcBef>
            </a:pPr>
            <a:r>
              <a:rPr lang="en-US" altLang="en-US" sz="1800"/>
              <a:t>Copy that disk block into a buffer in main memory (if that disk block is not already in some main memory buffer).</a:t>
            </a:r>
            <a:endParaRPr lang="en-US" altLang="en-US" sz="2600"/>
          </a:p>
          <a:p>
            <a:pPr marL="908050" lvl="1" indent="-438150">
              <a:lnSpc>
                <a:spcPct val="80000"/>
              </a:lnSpc>
              <a:spcBef>
                <a:spcPts val="400"/>
              </a:spcBef>
            </a:pPr>
            <a:r>
              <a:rPr lang="en-US" altLang="en-US" sz="1800"/>
              <a:t>Copy item X from the buffer to the program variable named X.   </a:t>
            </a:r>
          </a:p>
        </p:txBody>
      </p:sp>
      <p:sp>
        <p:nvSpPr>
          <p:cNvPr id="29700" name="Text Box 4" descr="Date Placeholder 3">
            <a:extLst>
              <a:ext uri="{FF2B5EF4-FFF2-40B4-BE49-F238E27FC236}">
                <a16:creationId xmlns:a16="http://schemas.microsoft.com/office/drawing/2014/main" id="{69854B12-5611-E085-B1E4-604A810CA89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701" name="Text Box 5" descr="Slide Number Placeholder 5">
            <a:extLst>
              <a:ext uri="{FF2B5EF4-FFF2-40B4-BE49-F238E27FC236}">
                <a16:creationId xmlns:a16="http://schemas.microsoft.com/office/drawing/2014/main" id="{C919EC4E-2F55-BACE-B97B-5CB97FCA8A6B}"/>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74D4954-675B-443C-B8AD-DECD58D6D5F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1" descr="Title 1">
            <a:extLst>
              <a:ext uri="{FF2B5EF4-FFF2-40B4-BE49-F238E27FC236}">
                <a16:creationId xmlns:a16="http://schemas.microsoft.com/office/drawing/2014/main" id="{2375A70A-0056-3507-AC16-F1EE5FCFC2B6}"/>
              </a:ext>
            </a:extLst>
          </p:cNvPr>
          <p:cNvSpPr>
            <a:spLocks noChangeArrowheads="1"/>
          </p:cNvSpPr>
          <p:nvPr>
            <p:ph type="title"/>
          </p:nvPr>
        </p:nvSpPr>
        <p:spPr/>
        <p:txBody>
          <a:bodyPr/>
          <a:lstStyle/>
          <a:p>
            <a:r>
              <a:rPr lang="en-US" altLang="en-US" sz="2400"/>
              <a:t>Model of Transaction: Read Operations</a:t>
            </a:r>
          </a:p>
        </p:txBody>
      </p:sp>
      <p:sp>
        <p:nvSpPr>
          <p:cNvPr id="30722" name="Text Box 2" descr="Date Placeholder 3">
            <a:extLst>
              <a:ext uri="{FF2B5EF4-FFF2-40B4-BE49-F238E27FC236}">
                <a16:creationId xmlns:a16="http://schemas.microsoft.com/office/drawing/2014/main" id="{4EC219EB-62C9-4F18-8E72-3EFE4005074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723" name="Text Box 3" descr="Slide Number Placeholder 5">
            <a:extLst>
              <a:ext uri="{FF2B5EF4-FFF2-40B4-BE49-F238E27FC236}">
                <a16:creationId xmlns:a16="http://schemas.microsoft.com/office/drawing/2014/main" id="{F909DA54-7B2F-343B-B49C-096E0997623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A6B530A-F4E7-48D0-943D-A6D11968AE5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0724" name="Text Box 4" descr="TextBox 6">
            <a:extLst>
              <a:ext uri="{FF2B5EF4-FFF2-40B4-BE49-F238E27FC236}">
                <a16:creationId xmlns:a16="http://schemas.microsoft.com/office/drawing/2014/main" id="{92A3857A-10DF-3DAB-7132-8913F61866E9}"/>
              </a:ext>
            </a:extLst>
          </p:cNvPr>
          <p:cNvSpPr txBox="1">
            <a:spLocks/>
          </p:cNvSpPr>
          <p:nvPr/>
        </p:nvSpPr>
        <p:spPr bwMode="auto">
          <a:xfrm>
            <a:off x="615950" y="1355725"/>
            <a:ext cx="70802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Example of transaction Read Operation: </a:t>
            </a:r>
            <a:r>
              <a:rPr lang="en-US" altLang="en-US" sz="2000">
                <a:solidFill>
                  <a:srgbClr val="FF0000"/>
                </a:solidFill>
              </a:rPr>
              <a:t>read</a:t>
            </a:r>
            <a:r>
              <a:rPr lang="en-US" altLang="en-US" sz="2000"/>
              <a:t>(balance)</a:t>
            </a:r>
          </a:p>
        </p:txBody>
      </p:sp>
      <p:sp>
        <p:nvSpPr>
          <p:cNvPr id="30725" name="Text Box 5" descr="TextBox 7">
            <a:extLst>
              <a:ext uri="{FF2B5EF4-FFF2-40B4-BE49-F238E27FC236}">
                <a16:creationId xmlns:a16="http://schemas.microsoft.com/office/drawing/2014/main" id="{F6A50B75-FD0B-2F37-5EC2-D345C4AC484C}"/>
              </a:ext>
            </a:extLst>
          </p:cNvPr>
          <p:cNvSpPr txBox="1">
            <a:spLocks/>
          </p:cNvSpPr>
          <p:nvPr/>
        </p:nvSpPr>
        <p:spPr bwMode="auto">
          <a:xfrm>
            <a:off x="1355725" y="1855788"/>
            <a:ext cx="5465763" cy="5334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a:t>select balance from </a:t>
            </a:r>
            <a:r>
              <a:rPr lang="en-US" altLang="en-US" sz="2800">
                <a:solidFill>
                  <a:srgbClr val="33CC33"/>
                </a:solidFill>
              </a:rPr>
              <a:t>accounts</a:t>
            </a:r>
            <a:r>
              <a:rPr lang="en-US" altLang="en-US" sz="2800"/>
              <a:t>;</a:t>
            </a:r>
          </a:p>
        </p:txBody>
      </p:sp>
    </p:spTree>
  </p:cSld>
  <p:clrMapOvr>
    <a:masterClrMapping/>
  </p:clrMapOvr>
  <p:transition spd="med"/>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descr="Title 1">
            <a:extLst>
              <a:ext uri="{FF2B5EF4-FFF2-40B4-BE49-F238E27FC236}">
                <a16:creationId xmlns:a16="http://schemas.microsoft.com/office/drawing/2014/main" id="{20ADC141-641F-FEC1-334D-A2A470750A47}"/>
              </a:ext>
            </a:extLst>
          </p:cNvPr>
          <p:cNvSpPr>
            <a:spLocks noChangeArrowheads="1"/>
          </p:cNvSpPr>
          <p:nvPr>
            <p:ph type="title"/>
          </p:nvPr>
        </p:nvSpPr>
        <p:spPr/>
        <p:txBody>
          <a:bodyPr/>
          <a:lstStyle/>
          <a:p>
            <a:r>
              <a:rPr lang="en-US" altLang="en-US" sz="2400"/>
              <a:t>Model of Transaction: Read Operations</a:t>
            </a:r>
          </a:p>
        </p:txBody>
      </p:sp>
      <p:sp>
        <p:nvSpPr>
          <p:cNvPr id="31747" name="Text Box 3" descr="Date Placeholder 3">
            <a:extLst>
              <a:ext uri="{FF2B5EF4-FFF2-40B4-BE49-F238E27FC236}">
                <a16:creationId xmlns:a16="http://schemas.microsoft.com/office/drawing/2014/main" id="{7B205CFD-C9BF-E00F-3935-1ABAA5D7F16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748" name="Text Box 4" descr="Slide Number Placeholder 5">
            <a:extLst>
              <a:ext uri="{FF2B5EF4-FFF2-40B4-BE49-F238E27FC236}">
                <a16:creationId xmlns:a16="http://schemas.microsoft.com/office/drawing/2014/main" id="{C4D24D91-EBDE-D7F4-119D-12C10BC22D0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0BF15CD-4417-4803-9B39-5C539AB7141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1749" name="Text Box 5" descr="TextBox 6">
            <a:extLst>
              <a:ext uri="{FF2B5EF4-FFF2-40B4-BE49-F238E27FC236}">
                <a16:creationId xmlns:a16="http://schemas.microsoft.com/office/drawing/2014/main" id="{0C3A4647-E514-516E-56D4-CEC3A9B8D8FE}"/>
              </a:ext>
            </a:extLst>
          </p:cNvPr>
          <p:cNvSpPr txBox="1">
            <a:spLocks/>
          </p:cNvSpPr>
          <p:nvPr/>
        </p:nvSpPr>
        <p:spPr bwMode="auto">
          <a:xfrm>
            <a:off x="615950" y="1355725"/>
            <a:ext cx="63833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Read Operation: </a:t>
            </a:r>
            <a:r>
              <a:rPr lang="en-US" altLang="en-US">
                <a:solidFill>
                  <a:srgbClr val="FF0000"/>
                </a:solidFill>
              </a:rPr>
              <a:t>read</a:t>
            </a:r>
            <a:r>
              <a:rPr lang="en-US" altLang="en-US"/>
              <a:t>(balance)</a:t>
            </a:r>
          </a:p>
        </p:txBody>
      </p:sp>
      <p:sp>
        <p:nvSpPr>
          <p:cNvPr id="31750" name="Text Box 6" descr="TextBox 7">
            <a:extLst>
              <a:ext uri="{FF2B5EF4-FFF2-40B4-BE49-F238E27FC236}">
                <a16:creationId xmlns:a16="http://schemas.microsoft.com/office/drawing/2014/main" id="{3580476A-01E6-8060-C44E-98257CDAE4B2}"/>
              </a:ext>
            </a:extLst>
          </p:cNvPr>
          <p:cNvSpPr txBox="1">
            <a:spLocks/>
          </p:cNvSpPr>
          <p:nvPr/>
        </p:nvSpPr>
        <p:spPr bwMode="auto">
          <a:xfrm>
            <a:off x="1355725" y="1855788"/>
            <a:ext cx="3554413"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select balance from </a:t>
            </a:r>
            <a:r>
              <a:rPr lang="en-US" altLang="en-US">
                <a:solidFill>
                  <a:srgbClr val="33CC33"/>
                </a:solidFill>
              </a:rPr>
              <a:t>accounts</a:t>
            </a:r>
            <a:r>
              <a:rPr lang="en-US" altLang="en-US"/>
              <a:t>;</a:t>
            </a:r>
          </a:p>
        </p:txBody>
      </p:sp>
      <p:sp>
        <p:nvSpPr>
          <p:cNvPr id="31751" name="AutoShape 7" descr="Flowchart: Magnetic Disk 9">
            <a:extLst>
              <a:ext uri="{FF2B5EF4-FFF2-40B4-BE49-F238E27FC236}">
                <a16:creationId xmlns:a16="http://schemas.microsoft.com/office/drawing/2014/main" id="{B849AFC1-7FEF-A742-90C0-D26C019AF2D0}"/>
              </a:ext>
            </a:extLst>
          </p:cNvPr>
          <p:cNvSpPr>
            <a:spLocks/>
          </p:cNvSpPr>
          <p:nvPr/>
        </p:nvSpPr>
        <p:spPr bwMode="auto">
          <a:xfrm>
            <a:off x="5357813" y="2284413"/>
            <a:ext cx="2357437" cy="37163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1752" name="Text Box 8" descr="TextBox 11">
            <a:extLst>
              <a:ext uri="{FF2B5EF4-FFF2-40B4-BE49-F238E27FC236}">
                <a16:creationId xmlns:a16="http://schemas.microsoft.com/office/drawing/2014/main" id="{809122A0-3E8A-D9EA-BFA5-30B3D9A9AE26}"/>
              </a:ext>
            </a:extLst>
          </p:cNvPr>
          <p:cNvSpPr txBox="1">
            <a:spLocks/>
          </p:cNvSpPr>
          <p:nvPr/>
        </p:nvSpPr>
        <p:spPr bwMode="auto">
          <a:xfrm>
            <a:off x="5902325" y="2713038"/>
            <a:ext cx="12271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Hard Disk</a:t>
            </a:r>
          </a:p>
        </p:txBody>
      </p:sp>
      <p:sp>
        <p:nvSpPr>
          <p:cNvPr id="31753" name="Rectangle 9" descr="Rectangle 13">
            <a:extLst>
              <a:ext uri="{FF2B5EF4-FFF2-40B4-BE49-F238E27FC236}">
                <a16:creationId xmlns:a16="http://schemas.microsoft.com/office/drawing/2014/main" id="{589F740A-81DC-3045-7E76-E39AB21A6058}"/>
              </a:ext>
            </a:extLst>
          </p:cNvPr>
          <p:cNvSpPr>
            <a:spLocks/>
          </p:cNvSpPr>
          <p:nvPr/>
        </p:nvSpPr>
        <p:spPr bwMode="auto">
          <a:xfrm>
            <a:off x="5429250" y="3616325"/>
            <a:ext cx="2286000" cy="1455738"/>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1754" name="Text Box 10" descr="TextBox 14">
            <a:extLst>
              <a:ext uri="{FF2B5EF4-FFF2-40B4-BE49-F238E27FC236}">
                <a16:creationId xmlns:a16="http://schemas.microsoft.com/office/drawing/2014/main" id="{5C9B5B87-A572-5BFA-4569-9854E502F07F}"/>
              </a:ext>
            </a:extLst>
          </p:cNvPr>
          <p:cNvSpPr txBox="1">
            <a:spLocks/>
          </p:cNvSpPr>
          <p:nvPr/>
        </p:nvSpPr>
        <p:spPr bwMode="auto">
          <a:xfrm>
            <a:off x="7831138" y="4214813"/>
            <a:ext cx="109696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Block of </a:t>
            </a:r>
          </a:p>
          <a:p>
            <a:r>
              <a:rPr lang="en-US" altLang="en-US"/>
              <a:t>Memory</a:t>
            </a:r>
          </a:p>
        </p:txBody>
      </p:sp>
      <p:sp>
        <p:nvSpPr>
          <p:cNvPr id="31755" name="Line 11" descr="Straight Arrow Connector 16">
            <a:extLst>
              <a:ext uri="{FF2B5EF4-FFF2-40B4-BE49-F238E27FC236}">
                <a16:creationId xmlns:a16="http://schemas.microsoft.com/office/drawing/2014/main" id="{7218BCE6-1378-EB87-23C8-563623754481}"/>
              </a:ext>
            </a:extLst>
          </p:cNvPr>
          <p:cNvSpPr>
            <a:spLocks noChangeShapeType="1"/>
          </p:cNvSpPr>
          <p:nvPr/>
        </p:nvSpPr>
        <p:spPr bwMode="auto">
          <a:xfrm>
            <a:off x="3998913" y="2212975"/>
            <a:ext cx="1358900" cy="22161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1756" name="Text Box 12" descr="TextBox 18">
            <a:extLst>
              <a:ext uri="{FF2B5EF4-FFF2-40B4-BE49-F238E27FC236}">
                <a16:creationId xmlns:a16="http://schemas.microsoft.com/office/drawing/2014/main" id="{CF5B2C2D-8112-894E-D7B6-C52A8F538270}"/>
              </a:ext>
            </a:extLst>
          </p:cNvPr>
          <p:cNvSpPr txBox="1">
            <a:spLocks/>
          </p:cNvSpPr>
          <p:nvPr/>
        </p:nvSpPr>
        <p:spPr bwMode="auto">
          <a:xfrm>
            <a:off x="3813175" y="2330450"/>
            <a:ext cx="15668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1</a:t>
            </a:r>
          </a:p>
          <a:p>
            <a:r>
              <a:rPr lang="en-US" altLang="en-US" sz="1400">
                <a:solidFill>
                  <a:srgbClr val="CC3300"/>
                </a:solidFill>
              </a:rPr>
              <a:t>Find address</a:t>
            </a:r>
          </a:p>
          <a:p>
            <a:r>
              <a:rPr lang="en-US" altLang="en-US" sz="1400">
                <a:solidFill>
                  <a:srgbClr val="CC3300"/>
                </a:solidFill>
              </a:rPr>
              <a:t>Of the disk</a:t>
            </a:r>
          </a:p>
          <a:p>
            <a:r>
              <a:rPr lang="en-US" altLang="en-US" sz="1400">
                <a:solidFill>
                  <a:srgbClr val="CC3300"/>
                </a:solidFill>
              </a:rPr>
              <a:t>Block containing</a:t>
            </a:r>
          </a:p>
          <a:p>
            <a:r>
              <a:rPr lang="en-US" altLang="en-US" sz="1400">
                <a:solidFill>
                  <a:srgbClr val="CC3300"/>
                </a:solidFill>
              </a:rPr>
              <a:t>Balance</a:t>
            </a:r>
          </a:p>
        </p:txBody>
      </p:sp>
      <p:pic>
        <p:nvPicPr>
          <p:cNvPr id="31757" name="Picture 13" descr="Picture 4">
            <a:extLst>
              <a:ext uri="{FF2B5EF4-FFF2-40B4-BE49-F238E27FC236}">
                <a16:creationId xmlns:a16="http://schemas.microsoft.com/office/drawing/2014/main" id="{6BA03AD0-F613-4ABD-2E56-BF23F9C3B20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00688" y="3697288"/>
            <a:ext cx="2143125" cy="125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descr="Title 1">
            <a:extLst>
              <a:ext uri="{FF2B5EF4-FFF2-40B4-BE49-F238E27FC236}">
                <a16:creationId xmlns:a16="http://schemas.microsoft.com/office/drawing/2014/main" id="{80A01DCC-5843-96AD-ABBB-1610F9518CE5}"/>
              </a:ext>
            </a:extLst>
          </p:cNvPr>
          <p:cNvSpPr>
            <a:spLocks noChangeArrowheads="1"/>
          </p:cNvSpPr>
          <p:nvPr>
            <p:ph type="title"/>
          </p:nvPr>
        </p:nvSpPr>
        <p:spPr/>
        <p:txBody>
          <a:bodyPr/>
          <a:lstStyle/>
          <a:p>
            <a:r>
              <a:rPr lang="en-US" altLang="en-US" sz="2400"/>
              <a:t>Model of Transaction: Read Operations</a:t>
            </a:r>
          </a:p>
        </p:txBody>
      </p:sp>
      <p:sp>
        <p:nvSpPr>
          <p:cNvPr id="32771" name="Text Box 3" descr="Date Placeholder 3">
            <a:extLst>
              <a:ext uri="{FF2B5EF4-FFF2-40B4-BE49-F238E27FC236}">
                <a16:creationId xmlns:a16="http://schemas.microsoft.com/office/drawing/2014/main" id="{5B45A957-9B62-E1FC-9BD2-DC0E3F4CAC8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2772" name="Text Box 4" descr="Slide Number Placeholder 5">
            <a:extLst>
              <a:ext uri="{FF2B5EF4-FFF2-40B4-BE49-F238E27FC236}">
                <a16:creationId xmlns:a16="http://schemas.microsoft.com/office/drawing/2014/main" id="{F87D4048-9FA8-4C3D-522A-B56B84BCB574}"/>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3E5D92E-8735-48D7-9E6C-40243A640E9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2773" name="Text Box 5" descr="TextBox 6">
            <a:extLst>
              <a:ext uri="{FF2B5EF4-FFF2-40B4-BE49-F238E27FC236}">
                <a16:creationId xmlns:a16="http://schemas.microsoft.com/office/drawing/2014/main" id="{6D559DAD-1708-41BE-92FF-A5367EB4B127}"/>
              </a:ext>
            </a:extLst>
          </p:cNvPr>
          <p:cNvSpPr txBox="1">
            <a:spLocks/>
          </p:cNvSpPr>
          <p:nvPr/>
        </p:nvSpPr>
        <p:spPr bwMode="auto">
          <a:xfrm>
            <a:off x="615950" y="1355725"/>
            <a:ext cx="63833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Read Operation: </a:t>
            </a:r>
            <a:r>
              <a:rPr lang="en-US" altLang="en-US">
                <a:solidFill>
                  <a:srgbClr val="FF0000"/>
                </a:solidFill>
              </a:rPr>
              <a:t>read</a:t>
            </a:r>
            <a:r>
              <a:rPr lang="en-US" altLang="en-US"/>
              <a:t>(balance)</a:t>
            </a:r>
          </a:p>
        </p:txBody>
      </p:sp>
      <p:sp>
        <p:nvSpPr>
          <p:cNvPr id="32774" name="Text Box 6" descr="TextBox 7">
            <a:extLst>
              <a:ext uri="{FF2B5EF4-FFF2-40B4-BE49-F238E27FC236}">
                <a16:creationId xmlns:a16="http://schemas.microsoft.com/office/drawing/2014/main" id="{2471AF30-F6BD-30E5-CF5B-DD57F29F19A8}"/>
              </a:ext>
            </a:extLst>
          </p:cNvPr>
          <p:cNvSpPr txBox="1">
            <a:spLocks/>
          </p:cNvSpPr>
          <p:nvPr/>
        </p:nvSpPr>
        <p:spPr bwMode="auto">
          <a:xfrm>
            <a:off x="1355725" y="1855788"/>
            <a:ext cx="3554413"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select balance from </a:t>
            </a:r>
            <a:r>
              <a:rPr lang="en-US" altLang="en-US">
                <a:solidFill>
                  <a:srgbClr val="33CC33"/>
                </a:solidFill>
              </a:rPr>
              <a:t>accounts</a:t>
            </a:r>
            <a:r>
              <a:rPr lang="en-US" altLang="en-US"/>
              <a:t>;</a:t>
            </a:r>
          </a:p>
        </p:txBody>
      </p:sp>
      <p:sp>
        <p:nvSpPr>
          <p:cNvPr id="32775" name="AutoShape 7" descr="Flowchart: Magnetic Disk 9">
            <a:extLst>
              <a:ext uri="{FF2B5EF4-FFF2-40B4-BE49-F238E27FC236}">
                <a16:creationId xmlns:a16="http://schemas.microsoft.com/office/drawing/2014/main" id="{F18E09E1-9470-52C7-8BF5-A9253DAFC066}"/>
              </a:ext>
            </a:extLst>
          </p:cNvPr>
          <p:cNvSpPr>
            <a:spLocks/>
          </p:cNvSpPr>
          <p:nvPr/>
        </p:nvSpPr>
        <p:spPr bwMode="auto">
          <a:xfrm>
            <a:off x="5357813" y="2284413"/>
            <a:ext cx="2357437" cy="37163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2776" name="Text Box 8" descr="TextBox 11">
            <a:extLst>
              <a:ext uri="{FF2B5EF4-FFF2-40B4-BE49-F238E27FC236}">
                <a16:creationId xmlns:a16="http://schemas.microsoft.com/office/drawing/2014/main" id="{3F9F9B08-8CC1-6756-0388-DD0D46B4D5C6}"/>
              </a:ext>
            </a:extLst>
          </p:cNvPr>
          <p:cNvSpPr txBox="1">
            <a:spLocks/>
          </p:cNvSpPr>
          <p:nvPr/>
        </p:nvSpPr>
        <p:spPr bwMode="auto">
          <a:xfrm>
            <a:off x="5902325" y="2713038"/>
            <a:ext cx="12271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Hard Disk</a:t>
            </a:r>
          </a:p>
        </p:txBody>
      </p:sp>
      <p:sp>
        <p:nvSpPr>
          <p:cNvPr id="32777" name="Rectangle 9" descr="Rectangle 13">
            <a:extLst>
              <a:ext uri="{FF2B5EF4-FFF2-40B4-BE49-F238E27FC236}">
                <a16:creationId xmlns:a16="http://schemas.microsoft.com/office/drawing/2014/main" id="{2618B721-A061-986A-F681-BF21CFCB8363}"/>
              </a:ext>
            </a:extLst>
          </p:cNvPr>
          <p:cNvSpPr>
            <a:spLocks/>
          </p:cNvSpPr>
          <p:nvPr/>
        </p:nvSpPr>
        <p:spPr bwMode="auto">
          <a:xfrm>
            <a:off x="5429250" y="4143375"/>
            <a:ext cx="2286000" cy="928688"/>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2778" name="Text Box 10" descr="TextBox 14">
            <a:extLst>
              <a:ext uri="{FF2B5EF4-FFF2-40B4-BE49-F238E27FC236}">
                <a16:creationId xmlns:a16="http://schemas.microsoft.com/office/drawing/2014/main" id="{FAAAAF4B-9A81-916A-CDAE-A6DA84742E54}"/>
              </a:ext>
            </a:extLst>
          </p:cNvPr>
          <p:cNvSpPr txBox="1">
            <a:spLocks/>
          </p:cNvSpPr>
          <p:nvPr/>
        </p:nvSpPr>
        <p:spPr bwMode="auto">
          <a:xfrm>
            <a:off x="7831138" y="4214813"/>
            <a:ext cx="109696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Block of </a:t>
            </a:r>
          </a:p>
          <a:p>
            <a:r>
              <a:rPr lang="en-US" altLang="en-US"/>
              <a:t>Memory</a:t>
            </a:r>
          </a:p>
        </p:txBody>
      </p:sp>
      <p:sp>
        <p:nvSpPr>
          <p:cNvPr id="32779" name="Line 11" descr="Straight Arrow Connector 16">
            <a:extLst>
              <a:ext uri="{FF2B5EF4-FFF2-40B4-BE49-F238E27FC236}">
                <a16:creationId xmlns:a16="http://schemas.microsoft.com/office/drawing/2014/main" id="{5B9D6DC4-4149-78EF-8172-205D525C197D}"/>
              </a:ext>
            </a:extLst>
          </p:cNvPr>
          <p:cNvSpPr>
            <a:spLocks noChangeShapeType="1"/>
          </p:cNvSpPr>
          <p:nvPr/>
        </p:nvSpPr>
        <p:spPr bwMode="auto">
          <a:xfrm>
            <a:off x="3998913" y="2212975"/>
            <a:ext cx="1358900" cy="22161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2780" name="Text Box 12" descr="TextBox 18">
            <a:extLst>
              <a:ext uri="{FF2B5EF4-FFF2-40B4-BE49-F238E27FC236}">
                <a16:creationId xmlns:a16="http://schemas.microsoft.com/office/drawing/2014/main" id="{BD91E861-D7A4-1449-8A98-72F52AFDBCAE}"/>
              </a:ext>
            </a:extLst>
          </p:cNvPr>
          <p:cNvSpPr txBox="1">
            <a:spLocks/>
          </p:cNvSpPr>
          <p:nvPr/>
        </p:nvSpPr>
        <p:spPr bwMode="auto">
          <a:xfrm>
            <a:off x="3813175" y="2330450"/>
            <a:ext cx="15668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1</a:t>
            </a:r>
          </a:p>
          <a:p>
            <a:r>
              <a:rPr lang="en-US" altLang="en-US" sz="1400">
                <a:solidFill>
                  <a:srgbClr val="CC3300"/>
                </a:solidFill>
              </a:rPr>
              <a:t>Find address</a:t>
            </a:r>
          </a:p>
          <a:p>
            <a:r>
              <a:rPr lang="en-US" altLang="en-US" sz="1400">
                <a:solidFill>
                  <a:srgbClr val="CC3300"/>
                </a:solidFill>
              </a:rPr>
              <a:t>Of the disk</a:t>
            </a:r>
          </a:p>
          <a:p>
            <a:r>
              <a:rPr lang="en-US" altLang="en-US" sz="1400">
                <a:solidFill>
                  <a:srgbClr val="CC3300"/>
                </a:solidFill>
              </a:rPr>
              <a:t>Block containing</a:t>
            </a:r>
          </a:p>
          <a:p>
            <a:r>
              <a:rPr lang="en-US" altLang="en-US" sz="1400">
                <a:solidFill>
                  <a:srgbClr val="CC3300"/>
                </a:solidFill>
              </a:rPr>
              <a:t>Balance</a:t>
            </a:r>
          </a:p>
        </p:txBody>
      </p:sp>
      <p:sp>
        <p:nvSpPr>
          <p:cNvPr id="32781" name="Rectangle 13" descr="Rectangle 19">
            <a:extLst>
              <a:ext uri="{FF2B5EF4-FFF2-40B4-BE49-F238E27FC236}">
                <a16:creationId xmlns:a16="http://schemas.microsoft.com/office/drawing/2014/main" id="{476EC3A0-5658-2FC1-C61A-283D2B824405}"/>
              </a:ext>
            </a:extLst>
          </p:cNvPr>
          <p:cNvSpPr>
            <a:spLocks/>
          </p:cNvSpPr>
          <p:nvPr/>
        </p:nvSpPr>
        <p:spPr bwMode="auto">
          <a:xfrm>
            <a:off x="1641475" y="3141663"/>
            <a:ext cx="1500188" cy="3001962"/>
          </a:xfrm>
          <a:prstGeom prst="rect">
            <a:avLst/>
          </a:pr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2782" name="Text Box 14" descr="TextBox 20">
            <a:extLst>
              <a:ext uri="{FF2B5EF4-FFF2-40B4-BE49-F238E27FC236}">
                <a16:creationId xmlns:a16="http://schemas.microsoft.com/office/drawing/2014/main" id="{B188B6AD-B2A4-5847-E584-ADC5D1173B62}"/>
              </a:ext>
            </a:extLst>
          </p:cNvPr>
          <p:cNvSpPr txBox="1">
            <a:spLocks/>
          </p:cNvSpPr>
          <p:nvPr/>
        </p:nvSpPr>
        <p:spPr bwMode="auto">
          <a:xfrm>
            <a:off x="1641475" y="39290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a:t>
            </a:r>
          </a:p>
        </p:txBody>
      </p:sp>
      <p:pic>
        <p:nvPicPr>
          <p:cNvPr id="32783" name="Picture 15" descr="Picture 4">
            <a:extLst>
              <a:ext uri="{FF2B5EF4-FFF2-40B4-BE49-F238E27FC236}">
                <a16:creationId xmlns:a16="http://schemas.microsoft.com/office/drawing/2014/main" id="{808601CC-D86E-5A76-3E88-630B98E408C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00688" y="4214813"/>
            <a:ext cx="2143125" cy="736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2784" name="Line 16" descr="Straight Arrow Connector 25">
            <a:extLst>
              <a:ext uri="{FF2B5EF4-FFF2-40B4-BE49-F238E27FC236}">
                <a16:creationId xmlns:a16="http://schemas.microsoft.com/office/drawing/2014/main" id="{E53B33AA-AE8C-3E97-C847-0AF3AD13A805}"/>
              </a:ext>
            </a:extLst>
          </p:cNvPr>
          <p:cNvSpPr>
            <a:spLocks noChangeShapeType="1"/>
          </p:cNvSpPr>
          <p:nvPr/>
        </p:nvSpPr>
        <p:spPr bwMode="auto">
          <a:xfrm flipH="1" flipV="1">
            <a:off x="3141663" y="4113213"/>
            <a:ext cx="2216150" cy="60166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2785" name="Text Box 17" descr="TextBox 26">
            <a:extLst>
              <a:ext uri="{FF2B5EF4-FFF2-40B4-BE49-F238E27FC236}">
                <a16:creationId xmlns:a16="http://schemas.microsoft.com/office/drawing/2014/main" id="{1290BD3D-496D-418F-2FF5-958EC0CDEF49}"/>
              </a:ext>
            </a:extLst>
          </p:cNvPr>
          <p:cNvSpPr txBox="1">
            <a:spLocks/>
          </p:cNvSpPr>
          <p:nvPr/>
        </p:nvSpPr>
        <p:spPr bwMode="auto">
          <a:xfrm>
            <a:off x="3473450" y="4000500"/>
            <a:ext cx="13255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2</a:t>
            </a:r>
          </a:p>
          <a:p>
            <a:r>
              <a:rPr lang="en-US" altLang="en-US" sz="1400">
                <a:solidFill>
                  <a:srgbClr val="CC3300"/>
                </a:solidFill>
              </a:rPr>
              <a:t>Copy </a:t>
            </a:r>
          </a:p>
          <a:p>
            <a:r>
              <a:rPr lang="en-US" altLang="en-US" sz="1400">
                <a:solidFill>
                  <a:srgbClr val="CC3300"/>
                </a:solidFill>
              </a:rPr>
              <a:t>Disk block </a:t>
            </a:r>
          </a:p>
          <a:p>
            <a:r>
              <a:rPr lang="en-US" altLang="en-US" sz="1400">
                <a:solidFill>
                  <a:srgbClr val="CC3300"/>
                </a:solidFill>
              </a:rPr>
              <a:t>into buffer of</a:t>
            </a:r>
          </a:p>
          <a:p>
            <a:r>
              <a:rPr lang="en-US" altLang="en-US" sz="1400">
                <a:solidFill>
                  <a:srgbClr val="CC3300"/>
                </a:solidFill>
              </a:rPr>
              <a:t>Main memory</a:t>
            </a:r>
          </a:p>
        </p:txBody>
      </p:sp>
      <p:sp>
        <p:nvSpPr>
          <p:cNvPr id="32786" name="Text Box 18" descr="TextBox 27">
            <a:extLst>
              <a:ext uri="{FF2B5EF4-FFF2-40B4-BE49-F238E27FC236}">
                <a16:creationId xmlns:a16="http://schemas.microsoft.com/office/drawing/2014/main" id="{44CCC790-C36E-4C99-2ECC-FBED78E8C4D2}"/>
              </a:ext>
            </a:extLst>
          </p:cNvPr>
          <p:cNvSpPr txBox="1">
            <a:spLocks/>
          </p:cNvSpPr>
          <p:nvPr/>
        </p:nvSpPr>
        <p:spPr bwMode="auto">
          <a:xfrm>
            <a:off x="1633538" y="2784475"/>
            <a:ext cx="1674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Main memory</a:t>
            </a:r>
          </a:p>
        </p:txBody>
      </p:sp>
      <p:sp>
        <p:nvSpPr>
          <p:cNvPr id="32787" name="Text Box 19" descr="TextBox 40">
            <a:extLst>
              <a:ext uri="{FF2B5EF4-FFF2-40B4-BE49-F238E27FC236}">
                <a16:creationId xmlns:a16="http://schemas.microsoft.com/office/drawing/2014/main" id="{86463789-BFE9-6BCC-F505-7C5689BD6C5C}"/>
              </a:ext>
            </a:extLst>
          </p:cNvPr>
          <p:cNvSpPr txBox="1">
            <a:spLocks/>
          </p:cNvSpPr>
          <p:nvPr/>
        </p:nvSpPr>
        <p:spPr bwMode="auto">
          <a:xfrm>
            <a:off x="2044700" y="3571875"/>
            <a:ext cx="7858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buffer</a:t>
            </a:r>
          </a:p>
        </p:txBody>
      </p:sp>
    </p:spTree>
  </p:cSld>
  <p:clrMapOvr>
    <a:masterClrMapping/>
  </p:clrMapOvr>
  <p:transition spd="med"/>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descr="Title 1">
            <a:extLst>
              <a:ext uri="{FF2B5EF4-FFF2-40B4-BE49-F238E27FC236}">
                <a16:creationId xmlns:a16="http://schemas.microsoft.com/office/drawing/2014/main" id="{C9BDE520-4ECE-97FA-71D4-FD41A3968D3A}"/>
              </a:ext>
            </a:extLst>
          </p:cNvPr>
          <p:cNvSpPr>
            <a:spLocks noChangeArrowheads="1"/>
          </p:cNvSpPr>
          <p:nvPr>
            <p:ph type="title"/>
          </p:nvPr>
        </p:nvSpPr>
        <p:spPr/>
        <p:txBody>
          <a:bodyPr/>
          <a:lstStyle/>
          <a:p>
            <a:r>
              <a:rPr lang="en-US" altLang="en-US" sz="2400"/>
              <a:t>Model of Transaction: Read Operations</a:t>
            </a:r>
          </a:p>
        </p:txBody>
      </p:sp>
      <p:sp>
        <p:nvSpPr>
          <p:cNvPr id="33795" name="Text Box 3" descr="Date Placeholder 3">
            <a:extLst>
              <a:ext uri="{FF2B5EF4-FFF2-40B4-BE49-F238E27FC236}">
                <a16:creationId xmlns:a16="http://schemas.microsoft.com/office/drawing/2014/main" id="{85D73DF3-0E4E-5B27-E70B-423E26862C2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3796" name="Text Box 4" descr="Slide Number Placeholder 5">
            <a:extLst>
              <a:ext uri="{FF2B5EF4-FFF2-40B4-BE49-F238E27FC236}">
                <a16:creationId xmlns:a16="http://schemas.microsoft.com/office/drawing/2014/main" id="{F60551AB-0774-5A4B-FF80-A8C2D15441C2}"/>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A6ED62E-92C1-4883-8E3C-8F5A028CE87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3797" name="Text Box 5" descr="TextBox 6">
            <a:extLst>
              <a:ext uri="{FF2B5EF4-FFF2-40B4-BE49-F238E27FC236}">
                <a16:creationId xmlns:a16="http://schemas.microsoft.com/office/drawing/2014/main" id="{C5B819F6-D798-2924-C88D-118585DF2D92}"/>
              </a:ext>
            </a:extLst>
          </p:cNvPr>
          <p:cNvSpPr txBox="1">
            <a:spLocks/>
          </p:cNvSpPr>
          <p:nvPr/>
        </p:nvSpPr>
        <p:spPr bwMode="auto">
          <a:xfrm>
            <a:off x="615950" y="1355725"/>
            <a:ext cx="63833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Read Operation: </a:t>
            </a:r>
            <a:r>
              <a:rPr lang="en-US" altLang="en-US">
                <a:solidFill>
                  <a:srgbClr val="FF0000"/>
                </a:solidFill>
              </a:rPr>
              <a:t>read</a:t>
            </a:r>
            <a:r>
              <a:rPr lang="en-US" altLang="en-US"/>
              <a:t>(balance)</a:t>
            </a:r>
          </a:p>
        </p:txBody>
      </p:sp>
      <p:sp>
        <p:nvSpPr>
          <p:cNvPr id="33798" name="Text Box 6" descr="TextBox 7">
            <a:extLst>
              <a:ext uri="{FF2B5EF4-FFF2-40B4-BE49-F238E27FC236}">
                <a16:creationId xmlns:a16="http://schemas.microsoft.com/office/drawing/2014/main" id="{7A09660D-72E4-CEAF-C942-7324D210C57E}"/>
              </a:ext>
            </a:extLst>
          </p:cNvPr>
          <p:cNvSpPr txBox="1">
            <a:spLocks/>
          </p:cNvSpPr>
          <p:nvPr/>
        </p:nvSpPr>
        <p:spPr bwMode="auto">
          <a:xfrm>
            <a:off x="1355725" y="1855788"/>
            <a:ext cx="3554413"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select balance from </a:t>
            </a:r>
            <a:r>
              <a:rPr lang="en-US" altLang="en-US">
                <a:solidFill>
                  <a:srgbClr val="33CC33"/>
                </a:solidFill>
              </a:rPr>
              <a:t>accounts</a:t>
            </a:r>
            <a:r>
              <a:rPr lang="en-US" altLang="en-US"/>
              <a:t>;</a:t>
            </a:r>
          </a:p>
        </p:txBody>
      </p:sp>
      <p:sp>
        <p:nvSpPr>
          <p:cNvPr id="33799" name="AutoShape 7" descr="Flowchart: Magnetic Disk 9">
            <a:extLst>
              <a:ext uri="{FF2B5EF4-FFF2-40B4-BE49-F238E27FC236}">
                <a16:creationId xmlns:a16="http://schemas.microsoft.com/office/drawing/2014/main" id="{634CA51F-0786-59B8-1CBF-4CF036C64200}"/>
              </a:ext>
            </a:extLst>
          </p:cNvPr>
          <p:cNvSpPr>
            <a:spLocks/>
          </p:cNvSpPr>
          <p:nvPr/>
        </p:nvSpPr>
        <p:spPr bwMode="auto">
          <a:xfrm>
            <a:off x="5357813" y="2284413"/>
            <a:ext cx="2357437" cy="37163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3800" name="Text Box 8" descr="TextBox 11">
            <a:extLst>
              <a:ext uri="{FF2B5EF4-FFF2-40B4-BE49-F238E27FC236}">
                <a16:creationId xmlns:a16="http://schemas.microsoft.com/office/drawing/2014/main" id="{C95322FA-BE4F-590F-B13B-A22FB4A95A6F}"/>
              </a:ext>
            </a:extLst>
          </p:cNvPr>
          <p:cNvSpPr txBox="1">
            <a:spLocks/>
          </p:cNvSpPr>
          <p:nvPr/>
        </p:nvSpPr>
        <p:spPr bwMode="auto">
          <a:xfrm>
            <a:off x="5902325" y="2713038"/>
            <a:ext cx="12271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Hard Disk</a:t>
            </a:r>
          </a:p>
        </p:txBody>
      </p:sp>
      <p:sp>
        <p:nvSpPr>
          <p:cNvPr id="33801" name="Rectangle 9" descr="Rectangle 13">
            <a:extLst>
              <a:ext uri="{FF2B5EF4-FFF2-40B4-BE49-F238E27FC236}">
                <a16:creationId xmlns:a16="http://schemas.microsoft.com/office/drawing/2014/main" id="{0A50D6A4-48A2-EBE2-EBC0-56D5E257612A}"/>
              </a:ext>
            </a:extLst>
          </p:cNvPr>
          <p:cNvSpPr>
            <a:spLocks/>
          </p:cNvSpPr>
          <p:nvPr/>
        </p:nvSpPr>
        <p:spPr bwMode="auto">
          <a:xfrm>
            <a:off x="5429250" y="4143375"/>
            <a:ext cx="2286000" cy="928688"/>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3802" name="Text Box 10" descr="TextBox 14">
            <a:extLst>
              <a:ext uri="{FF2B5EF4-FFF2-40B4-BE49-F238E27FC236}">
                <a16:creationId xmlns:a16="http://schemas.microsoft.com/office/drawing/2014/main" id="{C37C4324-D664-04EB-1EEE-36F1E987C274}"/>
              </a:ext>
            </a:extLst>
          </p:cNvPr>
          <p:cNvSpPr txBox="1">
            <a:spLocks/>
          </p:cNvSpPr>
          <p:nvPr/>
        </p:nvSpPr>
        <p:spPr bwMode="auto">
          <a:xfrm>
            <a:off x="7831138" y="4214813"/>
            <a:ext cx="109696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Block of </a:t>
            </a:r>
          </a:p>
          <a:p>
            <a:r>
              <a:rPr lang="en-US" altLang="en-US"/>
              <a:t>Memory</a:t>
            </a:r>
          </a:p>
        </p:txBody>
      </p:sp>
      <p:sp>
        <p:nvSpPr>
          <p:cNvPr id="33803" name="Line 11" descr="Straight Arrow Connector 16">
            <a:extLst>
              <a:ext uri="{FF2B5EF4-FFF2-40B4-BE49-F238E27FC236}">
                <a16:creationId xmlns:a16="http://schemas.microsoft.com/office/drawing/2014/main" id="{8A0AF7C2-9C70-370B-5682-61583A5E1E59}"/>
              </a:ext>
            </a:extLst>
          </p:cNvPr>
          <p:cNvSpPr>
            <a:spLocks noChangeShapeType="1"/>
          </p:cNvSpPr>
          <p:nvPr/>
        </p:nvSpPr>
        <p:spPr bwMode="auto">
          <a:xfrm>
            <a:off x="3998913" y="2212975"/>
            <a:ext cx="1358900" cy="22161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3804" name="Text Box 12" descr="TextBox 18">
            <a:extLst>
              <a:ext uri="{FF2B5EF4-FFF2-40B4-BE49-F238E27FC236}">
                <a16:creationId xmlns:a16="http://schemas.microsoft.com/office/drawing/2014/main" id="{907B1DD2-F915-DA09-96CC-7D8627F4EE01}"/>
              </a:ext>
            </a:extLst>
          </p:cNvPr>
          <p:cNvSpPr txBox="1">
            <a:spLocks/>
          </p:cNvSpPr>
          <p:nvPr/>
        </p:nvSpPr>
        <p:spPr bwMode="auto">
          <a:xfrm>
            <a:off x="3813175" y="2330450"/>
            <a:ext cx="15668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1</a:t>
            </a:r>
          </a:p>
          <a:p>
            <a:r>
              <a:rPr lang="en-US" altLang="en-US" sz="1400">
                <a:solidFill>
                  <a:srgbClr val="CC3300"/>
                </a:solidFill>
              </a:rPr>
              <a:t>Find address</a:t>
            </a:r>
          </a:p>
          <a:p>
            <a:r>
              <a:rPr lang="en-US" altLang="en-US" sz="1400">
                <a:solidFill>
                  <a:srgbClr val="CC3300"/>
                </a:solidFill>
              </a:rPr>
              <a:t>Of the disk</a:t>
            </a:r>
          </a:p>
          <a:p>
            <a:r>
              <a:rPr lang="en-US" altLang="en-US" sz="1400">
                <a:solidFill>
                  <a:srgbClr val="CC3300"/>
                </a:solidFill>
              </a:rPr>
              <a:t>Block containing</a:t>
            </a:r>
          </a:p>
          <a:p>
            <a:r>
              <a:rPr lang="en-US" altLang="en-US" sz="1400">
                <a:solidFill>
                  <a:srgbClr val="CC3300"/>
                </a:solidFill>
              </a:rPr>
              <a:t>Balance</a:t>
            </a:r>
          </a:p>
        </p:txBody>
      </p:sp>
      <p:sp>
        <p:nvSpPr>
          <p:cNvPr id="33805" name="Rectangle 13" descr="Rectangle 19">
            <a:extLst>
              <a:ext uri="{FF2B5EF4-FFF2-40B4-BE49-F238E27FC236}">
                <a16:creationId xmlns:a16="http://schemas.microsoft.com/office/drawing/2014/main" id="{011731B1-7FC7-C74A-200E-D0CF8BD361E1}"/>
              </a:ext>
            </a:extLst>
          </p:cNvPr>
          <p:cNvSpPr>
            <a:spLocks/>
          </p:cNvSpPr>
          <p:nvPr/>
        </p:nvSpPr>
        <p:spPr bwMode="auto">
          <a:xfrm>
            <a:off x="1641475" y="3141663"/>
            <a:ext cx="1500188" cy="3001962"/>
          </a:xfrm>
          <a:prstGeom prst="rect">
            <a:avLst/>
          </a:pr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3806" name="Text Box 14" descr="TextBox 20">
            <a:extLst>
              <a:ext uri="{FF2B5EF4-FFF2-40B4-BE49-F238E27FC236}">
                <a16:creationId xmlns:a16="http://schemas.microsoft.com/office/drawing/2014/main" id="{7FB3B025-A719-DA74-B3AE-302DDDA84D05}"/>
              </a:ext>
            </a:extLst>
          </p:cNvPr>
          <p:cNvSpPr txBox="1">
            <a:spLocks/>
          </p:cNvSpPr>
          <p:nvPr/>
        </p:nvSpPr>
        <p:spPr bwMode="auto">
          <a:xfrm>
            <a:off x="1641475" y="39290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a:t>
            </a:r>
          </a:p>
        </p:txBody>
      </p:sp>
      <p:pic>
        <p:nvPicPr>
          <p:cNvPr id="33807" name="Picture 15" descr="Picture 4">
            <a:extLst>
              <a:ext uri="{FF2B5EF4-FFF2-40B4-BE49-F238E27FC236}">
                <a16:creationId xmlns:a16="http://schemas.microsoft.com/office/drawing/2014/main" id="{04356CFA-F9C8-2EDC-573E-B17D0665539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00688" y="4214813"/>
            <a:ext cx="2143125" cy="736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3808" name="Line 16" descr="Straight Arrow Connector 25">
            <a:extLst>
              <a:ext uri="{FF2B5EF4-FFF2-40B4-BE49-F238E27FC236}">
                <a16:creationId xmlns:a16="http://schemas.microsoft.com/office/drawing/2014/main" id="{5F053758-CD0C-663B-A906-3DC72E123429}"/>
              </a:ext>
            </a:extLst>
          </p:cNvPr>
          <p:cNvSpPr>
            <a:spLocks noChangeShapeType="1"/>
          </p:cNvSpPr>
          <p:nvPr/>
        </p:nvSpPr>
        <p:spPr bwMode="auto">
          <a:xfrm flipH="1" flipV="1">
            <a:off x="3141663" y="4113213"/>
            <a:ext cx="2216150" cy="60166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3809" name="Text Box 17" descr="TextBox 26">
            <a:extLst>
              <a:ext uri="{FF2B5EF4-FFF2-40B4-BE49-F238E27FC236}">
                <a16:creationId xmlns:a16="http://schemas.microsoft.com/office/drawing/2014/main" id="{74C1BDAD-6ACE-170D-69DC-8BD65C60DD5C}"/>
              </a:ext>
            </a:extLst>
          </p:cNvPr>
          <p:cNvSpPr txBox="1">
            <a:spLocks/>
          </p:cNvSpPr>
          <p:nvPr/>
        </p:nvSpPr>
        <p:spPr bwMode="auto">
          <a:xfrm>
            <a:off x="3473450" y="4000500"/>
            <a:ext cx="13255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2</a:t>
            </a:r>
          </a:p>
          <a:p>
            <a:r>
              <a:rPr lang="en-US" altLang="en-US" sz="1400">
                <a:solidFill>
                  <a:srgbClr val="CC3300"/>
                </a:solidFill>
              </a:rPr>
              <a:t>Copy </a:t>
            </a:r>
          </a:p>
          <a:p>
            <a:r>
              <a:rPr lang="en-US" altLang="en-US" sz="1400">
                <a:solidFill>
                  <a:srgbClr val="CC3300"/>
                </a:solidFill>
              </a:rPr>
              <a:t>Disk block </a:t>
            </a:r>
          </a:p>
          <a:p>
            <a:r>
              <a:rPr lang="en-US" altLang="en-US" sz="1400">
                <a:solidFill>
                  <a:srgbClr val="CC3300"/>
                </a:solidFill>
              </a:rPr>
              <a:t>into buffer of</a:t>
            </a:r>
          </a:p>
          <a:p>
            <a:r>
              <a:rPr lang="en-US" altLang="en-US" sz="1400">
                <a:solidFill>
                  <a:srgbClr val="CC3300"/>
                </a:solidFill>
              </a:rPr>
              <a:t>Main memory</a:t>
            </a:r>
          </a:p>
        </p:txBody>
      </p:sp>
      <p:sp>
        <p:nvSpPr>
          <p:cNvPr id="33810" name="Text Box 18" descr="TextBox 27">
            <a:extLst>
              <a:ext uri="{FF2B5EF4-FFF2-40B4-BE49-F238E27FC236}">
                <a16:creationId xmlns:a16="http://schemas.microsoft.com/office/drawing/2014/main" id="{059051FA-40D4-E113-4A63-9AEB6476B91A}"/>
              </a:ext>
            </a:extLst>
          </p:cNvPr>
          <p:cNvSpPr txBox="1">
            <a:spLocks/>
          </p:cNvSpPr>
          <p:nvPr/>
        </p:nvSpPr>
        <p:spPr bwMode="auto">
          <a:xfrm>
            <a:off x="1633538" y="2784475"/>
            <a:ext cx="1674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Main memory</a:t>
            </a:r>
          </a:p>
        </p:txBody>
      </p:sp>
      <p:sp>
        <p:nvSpPr>
          <p:cNvPr id="33811" name="Text Box 19" descr="TextBox 28">
            <a:extLst>
              <a:ext uri="{FF2B5EF4-FFF2-40B4-BE49-F238E27FC236}">
                <a16:creationId xmlns:a16="http://schemas.microsoft.com/office/drawing/2014/main" id="{A347840D-6C98-DDE8-CEA1-C9255CD44A3C}"/>
              </a:ext>
            </a:extLst>
          </p:cNvPr>
          <p:cNvSpPr txBox="1">
            <a:spLocks/>
          </p:cNvSpPr>
          <p:nvPr/>
        </p:nvSpPr>
        <p:spPr bwMode="auto">
          <a:xfrm>
            <a:off x="1641475" y="5143500"/>
            <a:ext cx="1500188" cy="3794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a:t>
            </a:r>
          </a:p>
        </p:txBody>
      </p:sp>
      <p:cxnSp>
        <p:nvCxnSpPr>
          <p:cNvPr id="33812" name="AutoShape 20" descr="Shape 30">
            <a:extLst>
              <a:ext uri="{FF2B5EF4-FFF2-40B4-BE49-F238E27FC236}">
                <a16:creationId xmlns:a16="http://schemas.microsoft.com/office/drawing/2014/main" id="{D365D87B-C965-BC12-3197-25EC69D01C6D}"/>
              </a:ext>
            </a:extLst>
          </p:cNvPr>
          <p:cNvCxnSpPr>
            <a:cxnSpLocks noChangeShapeType="1"/>
            <a:stCxn id="33806" idx="0"/>
            <a:endCxn id="33811" idx="0"/>
          </p:cNvCxnSpPr>
          <p:nvPr/>
        </p:nvCxnSpPr>
        <p:spPr bwMode="auto">
          <a:xfrm>
            <a:off x="2392363" y="4117975"/>
            <a:ext cx="0" cy="1214438"/>
          </a:xfrm>
          <a:prstGeom prst="straightConnector1">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33813" name="Text Box 21" descr="TextBox 38">
            <a:extLst>
              <a:ext uri="{FF2B5EF4-FFF2-40B4-BE49-F238E27FC236}">
                <a16:creationId xmlns:a16="http://schemas.microsoft.com/office/drawing/2014/main" id="{2286F51A-47A6-D865-A8C8-C95B8693BB43}"/>
              </a:ext>
            </a:extLst>
          </p:cNvPr>
          <p:cNvSpPr txBox="1">
            <a:spLocks/>
          </p:cNvSpPr>
          <p:nvPr/>
        </p:nvSpPr>
        <p:spPr bwMode="auto">
          <a:xfrm>
            <a:off x="3187700" y="5143500"/>
            <a:ext cx="1843088" cy="573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balance</a:t>
            </a:r>
          </a:p>
          <a:p>
            <a:r>
              <a:rPr lang="en-US" altLang="en-US" sz="1600"/>
              <a:t>Program variable</a:t>
            </a:r>
          </a:p>
        </p:txBody>
      </p:sp>
      <p:sp>
        <p:nvSpPr>
          <p:cNvPr id="33814" name="Text Box 22" descr="TextBox 39">
            <a:extLst>
              <a:ext uri="{FF2B5EF4-FFF2-40B4-BE49-F238E27FC236}">
                <a16:creationId xmlns:a16="http://schemas.microsoft.com/office/drawing/2014/main" id="{07230E27-351C-3EA0-397D-DCDCB0B8B128}"/>
              </a:ext>
            </a:extLst>
          </p:cNvPr>
          <p:cNvSpPr txBox="1">
            <a:spLocks/>
          </p:cNvSpPr>
          <p:nvPr/>
        </p:nvSpPr>
        <p:spPr bwMode="auto">
          <a:xfrm>
            <a:off x="211138" y="4214813"/>
            <a:ext cx="1033462" cy="1385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3</a:t>
            </a:r>
          </a:p>
          <a:p>
            <a:r>
              <a:rPr lang="en-US" altLang="en-US" sz="1400">
                <a:solidFill>
                  <a:srgbClr val="CC3300"/>
                </a:solidFill>
              </a:rPr>
              <a:t>Copy from</a:t>
            </a:r>
          </a:p>
          <a:p>
            <a:r>
              <a:rPr lang="en-US" altLang="en-US" sz="1400">
                <a:solidFill>
                  <a:srgbClr val="CC3300"/>
                </a:solidFill>
              </a:rPr>
              <a:t>buffer to</a:t>
            </a:r>
          </a:p>
          <a:p>
            <a:r>
              <a:rPr lang="en-US" altLang="en-US" sz="1400">
                <a:solidFill>
                  <a:srgbClr val="CC3300"/>
                </a:solidFill>
              </a:rPr>
              <a:t>Program</a:t>
            </a:r>
          </a:p>
          <a:p>
            <a:r>
              <a:rPr lang="en-US" altLang="en-US" sz="1400">
                <a:solidFill>
                  <a:srgbClr val="CC3300"/>
                </a:solidFill>
              </a:rPr>
              <a:t>variable </a:t>
            </a:r>
          </a:p>
          <a:p>
            <a:r>
              <a:rPr lang="en-US" altLang="en-US" sz="1400">
                <a:solidFill>
                  <a:srgbClr val="CC3300"/>
                </a:solidFill>
              </a:rPr>
              <a:t>balance</a:t>
            </a:r>
          </a:p>
        </p:txBody>
      </p:sp>
      <p:sp>
        <p:nvSpPr>
          <p:cNvPr id="33815" name="Text Box 23" descr="TextBox 40">
            <a:extLst>
              <a:ext uri="{FF2B5EF4-FFF2-40B4-BE49-F238E27FC236}">
                <a16:creationId xmlns:a16="http://schemas.microsoft.com/office/drawing/2014/main" id="{E5360C2B-2204-ED9F-09D1-C2D9221B14D3}"/>
              </a:ext>
            </a:extLst>
          </p:cNvPr>
          <p:cNvSpPr txBox="1">
            <a:spLocks/>
          </p:cNvSpPr>
          <p:nvPr/>
        </p:nvSpPr>
        <p:spPr bwMode="auto">
          <a:xfrm>
            <a:off x="2044700" y="3571875"/>
            <a:ext cx="7858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buffer</a:t>
            </a:r>
          </a:p>
        </p:txBody>
      </p:sp>
    </p:spTree>
  </p:cSld>
  <p:clrMapOvr>
    <a:masterClrMapping/>
  </p:clrMapOvr>
  <p:transition spd="med"/>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descr="Title 1">
            <a:extLst>
              <a:ext uri="{FF2B5EF4-FFF2-40B4-BE49-F238E27FC236}">
                <a16:creationId xmlns:a16="http://schemas.microsoft.com/office/drawing/2014/main" id="{C0964FCC-3122-2633-5844-5E7244AC8F3F}"/>
              </a:ext>
            </a:extLst>
          </p:cNvPr>
          <p:cNvSpPr>
            <a:spLocks noChangeArrowheads="1"/>
          </p:cNvSpPr>
          <p:nvPr>
            <p:ph type="title"/>
          </p:nvPr>
        </p:nvSpPr>
        <p:spPr/>
        <p:txBody>
          <a:bodyPr/>
          <a:lstStyle/>
          <a:p>
            <a:r>
              <a:rPr lang="en-US" altLang="en-US" sz="2400"/>
              <a:t>Model of Transaction: Read-Write Operations</a:t>
            </a:r>
          </a:p>
        </p:txBody>
      </p:sp>
      <p:sp>
        <p:nvSpPr>
          <p:cNvPr id="34819" name="Rectangle 3" descr="Content Placeholder 2">
            <a:extLst>
              <a:ext uri="{FF2B5EF4-FFF2-40B4-BE49-F238E27FC236}">
                <a16:creationId xmlns:a16="http://schemas.microsoft.com/office/drawing/2014/main" id="{6E454BEA-7FB6-343E-E573-18635DF9BA0F}"/>
              </a:ext>
            </a:extLst>
          </p:cNvPr>
          <p:cNvSpPr>
            <a:spLocks noChangeArrowheads="1"/>
          </p:cNvSpPr>
          <p:nvPr>
            <p:ph type="body" idx="1"/>
          </p:nvPr>
        </p:nvSpPr>
        <p:spPr/>
        <p:txBody>
          <a:bodyPr/>
          <a:lstStyle/>
          <a:p>
            <a:pPr>
              <a:lnSpc>
                <a:spcPct val="80000"/>
              </a:lnSpc>
              <a:spcBef>
                <a:spcPts val="500"/>
              </a:spcBef>
              <a:buSzTx/>
              <a:buFont typeface="Wingdings" panose="05000000000000000000" pitchFamily="2" charset="2"/>
              <a:buNone/>
            </a:pPr>
            <a:r>
              <a:rPr lang="en-US" altLang="en-US" sz="2400"/>
              <a:t>READ AND WRITE OPERATIONS (contd.):</a:t>
            </a:r>
          </a:p>
          <a:p>
            <a:pPr>
              <a:lnSpc>
                <a:spcPct val="80000"/>
              </a:lnSpc>
              <a:spcBef>
                <a:spcPts val="500"/>
              </a:spcBef>
            </a:pPr>
            <a:r>
              <a:rPr lang="en-US" altLang="en-US" sz="2400" b="1"/>
              <a:t>write_item(X</a:t>
            </a:r>
            <a:r>
              <a:rPr lang="en-US" altLang="en-US" sz="2400"/>
              <a:t>) command includes the following steps:</a:t>
            </a:r>
          </a:p>
          <a:p>
            <a:pPr marL="908050" lvl="1" indent="-438150">
              <a:lnSpc>
                <a:spcPct val="80000"/>
              </a:lnSpc>
              <a:spcBef>
                <a:spcPts val="500"/>
              </a:spcBef>
            </a:pPr>
            <a:r>
              <a:rPr lang="en-US" altLang="en-US" sz="2100"/>
              <a:t>Find the address of the disk block that contains item X.</a:t>
            </a:r>
            <a:endParaRPr lang="en-US" altLang="en-US" sz="2600"/>
          </a:p>
          <a:p>
            <a:pPr marL="908050" lvl="1" indent="-438150">
              <a:lnSpc>
                <a:spcPct val="80000"/>
              </a:lnSpc>
              <a:spcBef>
                <a:spcPts val="500"/>
              </a:spcBef>
            </a:pPr>
            <a:r>
              <a:rPr lang="en-US" altLang="en-US" sz="2100"/>
              <a:t>Copy that disk block into a buffer in main memory (if that disk block is not already in some main memory buffer).</a:t>
            </a:r>
            <a:endParaRPr lang="en-US" altLang="en-US" sz="2600"/>
          </a:p>
          <a:p>
            <a:pPr marL="908050" lvl="1" indent="-438150">
              <a:lnSpc>
                <a:spcPct val="80000"/>
              </a:lnSpc>
              <a:spcBef>
                <a:spcPts val="500"/>
              </a:spcBef>
            </a:pPr>
            <a:r>
              <a:rPr lang="en-US" altLang="en-US" sz="2100"/>
              <a:t>Copy item X from the program variable named X into its correct location in the buffer.</a:t>
            </a:r>
            <a:endParaRPr lang="en-US" altLang="en-US" sz="2600"/>
          </a:p>
          <a:p>
            <a:pPr marL="908050" lvl="1" indent="-438150">
              <a:lnSpc>
                <a:spcPct val="80000"/>
              </a:lnSpc>
              <a:spcBef>
                <a:spcPts val="500"/>
              </a:spcBef>
            </a:pPr>
            <a:r>
              <a:rPr lang="en-US" altLang="en-US" sz="2100"/>
              <a:t>Store the updated block from the buffer back to disk (either immediately or at some later point in time). </a:t>
            </a:r>
          </a:p>
        </p:txBody>
      </p:sp>
      <p:sp>
        <p:nvSpPr>
          <p:cNvPr id="34820" name="Text Box 4" descr="Date Placeholder 3">
            <a:extLst>
              <a:ext uri="{FF2B5EF4-FFF2-40B4-BE49-F238E27FC236}">
                <a16:creationId xmlns:a16="http://schemas.microsoft.com/office/drawing/2014/main" id="{10AE2958-4F67-8963-A5EA-9627C2478F4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4821" name="Text Box 5" descr="Slide Number Placeholder 5">
            <a:extLst>
              <a:ext uri="{FF2B5EF4-FFF2-40B4-BE49-F238E27FC236}">
                <a16:creationId xmlns:a16="http://schemas.microsoft.com/office/drawing/2014/main" id="{F42975D5-DFDF-F0C5-12E4-20ED9B32B288}"/>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1D18DF2-210C-478D-BB30-FE37394F613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descr="Title 1">
            <a:extLst>
              <a:ext uri="{FF2B5EF4-FFF2-40B4-BE49-F238E27FC236}">
                <a16:creationId xmlns:a16="http://schemas.microsoft.com/office/drawing/2014/main" id="{891B1099-F096-22BC-3A46-B4D5B9A00485}"/>
              </a:ext>
            </a:extLst>
          </p:cNvPr>
          <p:cNvSpPr>
            <a:spLocks noChangeArrowheads="1"/>
          </p:cNvSpPr>
          <p:nvPr>
            <p:ph type="title"/>
          </p:nvPr>
        </p:nvSpPr>
        <p:spPr/>
        <p:txBody>
          <a:bodyPr/>
          <a:lstStyle/>
          <a:p>
            <a:r>
              <a:rPr lang="en-US" altLang="en-US" sz="2400"/>
              <a:t>Model of Transaction: Read-Write Operations</a:t>
            </a:r>
          </a:p>
        </p:txBody>
      </p:sp>
      <p:sp>
        <p:nvSpPr>
          <p:cNvPr id="35843" name="Text Box 3" descr="Date Placeholder 3">
            <a:extLst>
              <a:ext uri="{FF2B5EF4-FFF2-40B4-BE49-F238E27FC236}">
                <a16:creationId xmlns:a16="http://schemas.microsoft.com/office/drawing/2014/main" id="{D5A34A8D-A9CD-BAB6-E0B1-A0CB6D9E2F8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5844" name="Text Box 4" descr="Slide Number Placeholder 5">
            <a:extLst>
              <a:ext uri="{FF2B5EF4-FFF2-40B4-BE49-F238E27FC236}">
                <a16:creationId xmlns:a16="http://schemas.microsoft.com/office/drawing/2014/main" id="{739EE8FC-5F45-9C43-4158-9853674A7A09}"/>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A4BF6E9-4FA3-4795-B5F4-5FF362102DD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5845" name="Text Box 5" descr="TextBox 6">
            <a:extLst>
              <a:ext uri="{FF2B5EF4-FFF2-40B4-BE49-F238E27FC236}">
                <a16:creationId xmlns:a16="http://schemas.microsoft.com/office/drawing/2014/main" id="{DF3CEBA0-6E38-716E-507A-2C66DB1E9726}"/>
              </a:ext>
            </a:extLst>
          </p:cNvPr>
          <p:cNvSpPr txBox="1">
            <a:spLocks/>
          </p:cNvSpPr>
          <p:nvPr/>
        </p:nvSpPr>
        <p:spPr bwMode="auto">
          <a:xfrm>
            <a:off x="615950" y="1355725"/>
            <a:ext cx="64468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write Operation: </a:t>
            </a:r>
            <a:r>
              <a:rPr lang="en-US" altLang="en-US">
                <a:solidFill>
                  <a:srgbClr val="FF0000"/>
                </a:solidFill>
              </a:rPr>
              <a:t>write</a:t>
            </a:r>
            <a:r>
              <a:rPr lang="en-US" altLang="en-US"/>
              <a:t>(balance)</a:t>
            </a:r>
          </a:p>
        </p:txBody>
      </p:sp>
      <p:sp>
        <p:nvSpPr>
          <p:cNvPr id="35846" name="Text Box 6" descr="TextBox 7">
            <a:extLst>
              <a:ext uri="{FF2B5EF4-FFF2-40B4-BE49-F238E27FC236}">
                <a16:creationId xmlns:a16="http://schemas.microsoft.com/office/drawing/2014/main" id="{11FE9025-FA05-8CAA-F59C-2EF52B04E3F1}"/>
              </a:ext>
            </a:extLst>
          </p:cNvPr>
          <p:cNvSpPr txBox="1">
            <a:spLocks/>
          </p:cNvSpPr>
          <p:nvPr/>
        </p:nvSpPr>
        <p:spPr bwMode="auto">
          <a:xfrm>
            <a:off x="284163" y="1784350"/>
            <a:ext cx="7553325"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Update </a:t>
            </a:r>
            <a:r>
              <a:rPr lang="en-US" altLang="en-US">
                <a:solidFill>
                  <a:srgbClr val="33CC33"/>
                </a:solidFill>
              </a:rPr>
              <a:t>accounts  </a:t>
            </a:r>
            <a:r>
              <a:rPr lang="en-US" altLang="en-US"/>
              <a:t>set balance=balance-100 where Name=‘Ram’;</a:t>
            </a:r>
          </a:p>
        </p:txBody>
      </p:sp>
    </p:spTree>
  </p:cSld>
  <p:clrMapOvr>
    <a:masterClrMapping/>
  </p:clrMapOvr>
  <p:transition spd="med"/>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descr="Title 1">
            <a:extLst>
              <a:ext uri="{FF2B5EF4-FFF2-40B4-BE49-F238E27FC236}">
                <a16:creationId xmlns:a16="http://schemas.microsoft.com/office/drawing/2014/main" id="{789ABD3A-1C83-4A9C-B50E-8D59CB61435B}"/>
              </a:ext>
            </a:extLst>
          </p:cNvPr>
          <p:cNvSpPr>
            <a:spLocks noChangeArrowheads="1"/>
          </p:cNvSpPr>
          <p:nvPr>
            <p:ph type="title"/>
          </p:nvPr>
        </p:nvSpPr>
        <p:spPr/>
        <p:txBody>
          <a:bodyPr/>
          <a:lstStyle/>
          <a:p>
            <a:r>
              <a:rPr lang="en-US" altLang="en-US" sz="2400"/>
              <a:t>Model of Transaction: Read-Write Operations</a:t>
            </a:r>
          </a:p>
        </p:txBody>
      </p:sp>
      <p:sp>
        <p:nvSpPr>
          <p:cNvPr id="36867" name="Text Box 3" descr="Date Placeholder 3">
            <a:extLst>
              <a:ext uri="{FF2B5EF4-FFF2-40B4-BE49-F238E27FC236}">
                <a16:creationId xmlns:a16="http://schemas.microsoft.com/office/drawing/2014/main" id="{86CD7385-0DFA-C397-690F-00038D21C77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6868" name="Text Box 4" descr="Slide Number Placeholder 5">
            <a:extLst>
              <a:ext uri="{FF2B5EF4-FFF2-40B4-BE49-F238E27FC236}">
                <a16:creationId xmlns:a16="http://schemas.microsoft.com/office/drawing/2014/main" id="{B4FB1F66-A174-BC3D-5C33-690A1B12A948}"/>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2177A2B-1BD8-4F8D-BDDD-F6BACB277D0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6869" name="Text Box 5" descr="TextBox 6">
            <a:extLst>
              <a:ext uri="{FF2B5EF4-FFF2-40B4-BE49-F238E27FC236}">
                <a16:creationId xmlns:a16="http://schemas.microsoft.com/office/drawing/2014/main" id="{0D82AD6C-DFB2-1765-C444-439FB77BC69A}"/>
              </a:ext>
            </a:extLst>
          </p:cNvPr>
          <p:cNvSpPr txBox="1">
            <a:spLocks/>
          </p:cNvSpPr>
          <p:nvPr/>
        </p:nvSpPr>
        <p:spPr bwMode="auto">
          <a:xfrm>
            <a:off x="615950" y="1355725"/>
            <a:ext cx="64468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write Operation: </a:t>
            </a:r>
            <a:r>
              <a:rPr lang="en-US" altLang="en-US">
                <a:solidFill>
                  <a:srgbClr val="FF0000"/>
                </a:solidFill>
              </a:rPr>
              <a:t>write</a:t>
            </a:r>
            <a:r>
              <a:rPr lang="en-US" altLang="en-US"/>
              <a:t>(balance)</a:t>
            </a:r>
          </a:p>
        </p:txBody>
      </p:sp>
      <p:sp>
        <p:nvSpPr>
          <p:cNvPr id="36870" name="Text Box 6" descr="TextBox 7">
            <a:extLst>
              <a:ext uri="{FF2B5EF4-FFF2-40B4-BE49-F238E27FC236}">
                <a16:creationId xmlns:a16="http://schemas.microsoft.com/office/drawing/2014/main" id="{0D462DEE-A5B6-D036-D602-2E443F7387E6}"/>
              </a:ext>
            </a:extLst>
          </p:cNvPr>
          <p:cNvSpPr txBox="1">
            <a:spLocks/>
          </p:cNvSpPr>
          <p:nvPr/>
        </p:nvSpPr>
        <p:spPr bwMode="auto">
          <a:xfrm>
            <a:off x="284163" y="1784350"/>
            <a:ext cx="7553325"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Update </a:t>
            </a:r>
            <a:r>
              <a:rPr lang="en-US" altLang="en-US">
                <a:solidFill>
                  <a:srgbClr val="33CC33"/>
                </a:solidFill>
              </a:rPr>
              <a:t>accounts  </a:t>
            </a:r>
            <a:r>
              <a:rPr lang="en-US" altLang="en-US"/>
              <a:t>set balance=balance-100 where Name=‘Ram’;</a:t>
            </a:r>
          </a:p>
        </p:txBody>
      </p:sp>
      <p:sp>
        <p:nvSpPr>
          <p:cNvPr id="36871" name="AutoShape 7" descr="Flowchart: Magnetic Disk 9">
            <a:extLst>
              <a:ext uri="{FF2B5EF4-FFF2-40B4-BE49-F238E27FC236}">
                <a16:creationId xmlns:a16="http://schemas.microsoft.com/office/drawing/2014/main" id="{1B840F2C-CA5E-EFA6-FF98-58002E506324}"/>
              </a:ext>
            </a:extLst>
          </p:cNvPr>
          <p:cNvSpPr>
            <a:spLocks/>
          </p:cNvSpPr>
          <p:nvPr/>
        </p:nvSpPr>
        <p:spPr bwMode="auto">
          <a:xfrm>
            <a:off x="5357813" y="2284413"/>
            <a:ext cx="2357437" cy="37163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6872" name="Text Box 8" descr="TextBox 11">
            <a:extLst>
              <a:ext uri="{FF2B5EF4-FFF2-40B4-BE49-F238E27FC236}">
                <a16:creationId xmlns:a16="http://schemas.microsoft.com/office/drawing/2014/main" id="{A1870867-8FBF-930D-EDB6-DECF38C235CF}"/>
              </a:ext>
            </a:extLst>
          </p:cNvPr>
          <p:cNvSpPr txBox="1">
            <a:spLocks/>
          </p:cNvSpPr>
          <p:nvPr/>
        </p:nvSpPr>
        <p:spPr bwMode="auto">
          <a:xfrm>
            <a:off x="5902325" y="2713038"/>
            <a:ext cx="12271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Hard Disk</a:t>
            </a:r>
          </a:p>
        </p:txBody>
      </p:sp>
      <p:sp>
        <p:nvSpPr>
          <p:cNvPr id="36873" name="Rectangle 9" descr="Rectangle 13">
            <a:extLst>
              <a:ext uri="{FF2B5EF4-FFF2-40B4-BE49-F238E27FC236}">
                <a16:creationId xmlns:a16="http://schemas.microsoft.com/office/drawing/2014/main" id="{61ED7E72-B01D-3819-DDAC-1EC110572039}"/>
              </a:ext>
            </a:extLst>
          </p:cNvPr>
          <p:cNvSpPr>
            <a:spLocks/>
          </p:cNvSpPr>
          <p:nvPr/>
        </p:nvSpPr>
        <p:spPr bwMode="auto">
          <a:xfrm>
            <a:off x="5429250" y="3675063"/>
            <a:ext cx="2286000" cy="1397000"/>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6874" name="Text Box 10" descr="TextBox 14">
            <a:extLst>
              <a:ext uri="{FF2B5EF4-FFF2-40B4-BE49-F238E27FC236}">
                <a16:creationId xmlns:a16="http://schemas.microsoft.com/office/drawing/2014/main" id="{7AD06747-96FE-3663-9504-A4617841B876}"/>
              </a:ext>
            </a:extLst>
          </p:cNvPr>
          <p:cNvSpPr txBox="1">
            <a:spLocks/>
          </p:cNvSpPr>
          <p:nvPr/>
        </p:nvSpPr>
        <p:spPr bwMode="auto">
          <a:xfrm>
            <a:off x="7831138" y="4214813"/>
            <a:ext cx="109696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Block of </a:t>
            </a:r>
          </a:p>
          <a:p>
            <a:r>
              <a:rPr lang="en-US" altLang="en-US"/>
              <a:t>Memory</a:t>
            </a:r>
          </a:p>
        </p:txBody>
      </p:sp>
      <p:sp>
        <p:nvSpPr>
          <p:cNvPr id="36875" name="Line 11" descr="Straight Arrow Connector 16">
            <a:extLst>
              <a:ext uri="{FF2B5EF4-FFF2-40B4-BE49-F238E27FC236}">
                <a16:creationId xmlns:a16="http://schemas.microsoft.com/office/drawing/2014/main" id="{274DC890-DDFA-B234-43D0-27880BAEDCEA}"/>
              </a:ext>
            </a:extLst>
          </p:cNvPr>
          <p:cNvSpPr>
            <a:spLocks noChangeShapeType="1"/>
          </p:cNvSpPr>
          <p:nvPr/>
        </p:nvSpPr>
        <p:spPr bwMode="auto">
          <a:xfrm>
            <a:off x="3998913" y="2212975"/>
            <a:ext cx="1358900" cy="22161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6876" name="Text Box 12" descr="TextBox 18">
            <a:extLst>
              <a:ext uri="{FF2B5EF4-FFF2-40B4-BE49-F238E27FC236}">
                <a16:creationId xmlns:a16="http://schemas.microsoft.com/office/drawing/2014/main" id="{AE93A7A8-0494-F36C-DCED-FA3C40860314}"/>
              </a:ext>
            </a:extLst>
          </p:cNvPr>
          <p:cNvSpPr txBox="1">
            <a:spLocks/>
          </p:cNvSpPr>
          <p:nvPr/>
        </p:nvSpPr>
        <p:spPr bwMode="auto">
          <a:xfrm>
            <a:off x="3813175" y="2330450"/>
            <a:ext cx="15668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1</a:t>
            </a:r>
          </a:p>
          <a:p>
            <a:r>
              <a:rPr lang="en-US" altLang="en-US" sz="1400">
                <a:solidFill>
                  <a:srgbClr val="CC3300"/>
                </a:solidFill>
              </a:rPr>
              <a:t>Find address</a:t>
            </a:r>
          </a:p>
          <a:p>
            <a:r>
              <a:rPr lang="en-US" altLang="en-US" sz="1400">
                <a:solidFill>
                  <a:srgbClr val="CC3300"/>
                </a:solidFill>
              </a:rPr>
              <a:t>Of the disk</a:t>
            </a:r>
          </a:p>
          <a:p>
            <a:r>
              <a:rPr lang="en-US" altLang="en-US" sz="1400">
                <a:solidFill>
                  <a:srgbClr val="CC3300"/>
                </a:solidFill>
              </a:rPr>
              <a:t>Block containing</a:t>
            </a:r>
          </a:p>
          <a:p>
            <a:r>
              <a:rPr lang="en-US" altLang="en-US" sz="1400">
                <a:solidFill>
                  <a:srgbClr val="CC3300"/>
                </a:solidFill>
              </a:rPr>
              <a:t>Balance</a:t>
            </a:r>
          </a:p>
        </p:txBody>
      </p:sp>
      <p:sp>
        <p:nvSpPr>
          <p:cNvPr id="36877" name="Rectangle 13" descr="Rectangle 19">
            <a:extLst>
              <a:ext uri="{FF2B5EF4-FFF2-40B4-BE49-F238E27FC236}">
                <a16:creationId xmlns:a16="http://schemas.microsoft.com/office/drawing/2014/main" id="{D0D5B536-1224-E3D0-4E8C-3252092F3751}"/>
              </a:ext>
            </a:extLst>
          </p:cNvPr>
          <p:cNvSpPr>
            <a:spLocks/>
          </p:cNvSpPr>
          <p:nvPr/>
        </p:nvSpPr>
        <p:spPr bwMode="auto">
          <a:xfrm>
            <a:off x="1641475" y="3141663"/>
            <a:ext cx="1500188" cy="3001962"/>
          </a:xfrm>
          <a:prstGeom prst="rect">
            <a:avLst/>
          </a:pr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6878" name="Text Box 14" descr="TextBox 20">
            <a:extLst>
              <a:ext uri="{FF2B5EF4-FFF2-40B4-BE49-F238E27FC236}">
                <a16:creationId xmlns:a16="http://schemas.microsoft.com/office/drawing/2014/main" id="{C796309C-74DE-07AE-EBE1-A6A7C35FEC8B}"/>
              </a:ext>
            </a:extLst>
          </p:cNvPr>
          <p:cNvSpPr txBox="1">
            <a:spLocks/>
          </p:cNvSpPr>
          <p:nvPr/>
        </p:nvSpPr>
        <p:spPr bwMode="auto">
          <a:xfrm>
            <a:off x="1641475" y="39290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a:t>
            </a:r>
          </a:p>
        </p:txBody>
      </p:sp>
      <p:pic>
        <p:nvPicPr>
          <p:cNvPr id="36879" name="Picture 15" descr="Picture 4">
            <a:extLst>
              <a:ext uri="{FF2B5EF4-FFF2-40B4-BE49-F238E27FC236}">
                <a16:creationId xmlns:a16="http://schemas.microsoft.com/office/drawing/2014/main" id="{CEA8F391-2EBC-0777-9B11-5D23A6D2E77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00688" y="3840163"/>
            <a:ext cx="2143125" cy="1111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6880" name="Line 16" descr="Straight Arrow Connector 25">
            <a:extLst>
              <a:ext uri="{FF2B5EF4-FFF2-40B4-BE49-F238E27FC236}">
                <a16:creationId xmlns:a16="http://schemas.microsoft.com/office/drawing/2014/main" id="{86285FF7-232A-1CBD-08B4-9D28027A33A8}"/>
              </a:ext>
            </a:extLst>
          </p:cNvPr>
          <p:cNvSpPr>
            <a:spLocks noChangeShapeType="1"/>
          </p:cNvSpPr>
          <p:nvPr/>
        </p:nvSpPr>
        <p:spPr bwMode="auto">
          <a:xfrm flipH="1" flipV="1">
            <a:off x="3141663" y="4113213"/>
            <a:ext cx="2216150" cy="60166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6881" name="Text Box 17" descr="TextBox 26">
            <a:extLst>
              <a:ext uri="{FF2B5EF4-FFF2-40B4-BE49-F238E27FC236}">
                <a16:creationId xmlns:a16="http://schemas.microsoft.com/office/drawing/2014/main" id="{B7784A29-2F7A-65DA-ADC2-29734723837C}"/>
              </a:ext>
            </a:extLst>
          </p:cNvPr>
          <p:cNvSpPr txBox="1">
            <a:spLocks/>
          </p:cNvSpPr>
          <p:nvPr/>
        </p:nvSpPr>
        <p:spPr bwMode="auto">
          <a:xfrm>
            <a:off x="3473450" y="4000500"/>
            <a:ext cx="13255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2</a:t>
            </a:r>
          </a:p>
          <a:p>
            <a:r>
              <a:rPr lang="en-US" altLang="en-US" sz="1400">
                <a:solidFill>
                  <a:srgbClr val="CC3300"/>
                </a:solidFill>
              </a:rPr>
              <a:t>Copy </a:t>
            </a:r>
          </a:p>
          <a:p>
            <a:r>
              <a:rPr lang="en-US" altLang="en-US" sz="1400">
                <a:solidFill>
                  <a:srgbClr val="CC3300"/>
                </a:solidFill>
              </a:rPr>
              <a:t>Disk block </a:t>
            </a:r>
          </a:p>
          <a:p>
            <a:r>
              <a:rPr lang="en-US" altLang="en-US" sz="1400">
                <a:solidFill>
                  <a:srgbClr val="CC3300"/>
                </a:solidFill>
              </a:rPr>
              <a:t>into buffer of</a:t>
            </a:r>
          </a:p>
          <a:p>
            <a:r>
              <a:rPr lang="en-US" altLang="en-US" sz="1400">
                <a:solidFill>
                  <a:srgbClr val="CC3300"/>
                </a:solidFill>
              </a:rPr>
              <a:t>Main memory</a:t>
            </a:r>
          </a:p>
        </p:txBody>
      </p:sp>
      <p:sp>
        <p:nvSpPr>
          <p:cNvPr id="36882" name="Text Box 18" descr="TextBox 27">
            <a:extLst>
              <a:ext uri="{FF2B5EF4-FFF2-40B4-BE49-F238E27FC236}">
                <a16:creationId xmlns:a16="http://schemas.microsoft.com/office/drawing/2014/main" id="{9F690929-2E5B-BA5E-7414-9B0180503842}"/>
              </a:ext>
            </a:extLst>
          </p:cNvPr>
          <p:cNvSpPr txBox="1">
            <a:spLocks/>
          </p:cNvSpPr>
          <p:nvPr/>
        </p:nvSpPr>
        <p:spPr bwMode="auto">
          <a:xfrm>
            <a:off x="1633538" y="2784475"/>
            <a:ext cx="1674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Main memory</a:t>
            </a:r>
          </a:p>
        </p:txBody>
      </p:sp>
      <p:sp>
        <p:nvSpPr>
          <p:cNvPr id="36883" name="Text Box 19" descr="TextBox 28">
            <a:extLst>
              <a:ext uri="{FF2B5EF4-FFF2-40B4-BE49-F238E27FC236}">
                <a16:creationId xmlns:a16="http://schemas.microsoft.com/office/drawing/2014/main" id="{53FD7EEE-8BD3-815A-AA72-8890DAC587E8}"/>
              </a:ext>
            </a:extLst>
          </p:cNvPr>
          <p:cNvSpPr txBox="1">
            <a:spLocks/>
          </p:cNvSpPr>
          <p:nvPr/>
        </p:nvSpPr>
        <p:spPr bwMode="auto">
          <a:xfrm>
            <a:off x="1641475" y="56435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150 -100</a:t>
            </a:r>
          </a:p>
        </p:txBody>
      </p:sp>
      <p:cxnSp>
        <p:nvCxnSpPr>
          <p:cNvPr id="36884" name="AutoShape 20" descr="Shape 30">
            <a:extLst>
              <a:ext uri="{FF2B5EF4-FFF2-40B4-BE49-F238E27FC236}">
                <a16:creationId xmlns:a16="http://schemas.microsoft.com/office/drawing/2014/main" id="{6EEAB251-1635-3E8D-93C1-AC858C23387D}"/>
              </a:ext>
            </a:extLst>
          </p:cNvPr>
          <p:cNvCxnSpPr>
            <a:cxnSpLocks noChangeShapeType="1"/>
            <a:stCxn id="36878" idx="0"/>
            <a:endCxn id="36883" idx="0"/>
          </p:cNvCxnSpPr>
          <p:nvPr/>
        </p:nvCxnSpPr>
        <p:spPr bwMode="auto">
          <a:xfrm>
            <a:off x="2392363" y="4117975"/>
            <a:ext cx="0" cy="1714500"/>
          </a:xfrm>
          <a:prstGeom prst="straightConnector1">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36885" name="Text Box 21" descr="TextBox 38">
            <a:extLst>
              <a:ext uri="{FF2B5EF4-FFF2-40B4-BE49-F238E27FC236}">
                <a16:creationId xmlns:a16="http://schemas.microsoft.com/office/drawing/2014/main" id="{CFD37490-EDA6-6FB1-8793-915C84570ACC}"/>
              </a:ext>
            </a:extLst>
          </p:cNvPr>
          <p:cNvSpPr txBox="1">
            <a:spLocks/>
          </p:cNvSpPr>
          <p:nvPr/>
        </p:nvSpPr>
        <p:spPr bwMode="auto">
          <a:xfrm>
            <a:off x="3187700" y="5630863"/>
            <a:ext cx="1843088" cy="573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balance</a:t>
            </a:r>
          </a:p>
          <a:p>
            <a:r>
              <a:rPr lang="en-US" altLang="en-US" sz="1600"/>
              <a:t>Program variable</a:t>
            </a:r>
          </a:p>
        </p:txBody>
      </p:sp>
      <p:sp>
        <p:nvSpPr>
          <p:cNvPr id="36886" name="Text Box 22" descr="TextBox 39">
            <a:extLst>
              <a:ext uri="{FF2B5EF4-FFF2-40B4-BE49-F238E27FC236}">
                <a16:creationId xmlns:a16="http://schemas.microsoft.com/office/drawing/2014/main" id="{4AF89F9B-A343-5597-0011-9D090072F65D}"/>
              </a:ext>
            </a:extLst>
          </p:cNvPr>
          <p:cNvSpPr txBox="1">
            <a:spLocks/>
          </p:cNvSpPr>
          <p:nvPr/>
        </p:nvSpPr>
        <p:spPr bwMode="auto">
          <a:xfrm>
            <a:off x="211138" y="4214813"/>
            <a:ext cx="1033462" cy="1385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3</a:t>
            </a:r>
          </a:p>
          <a:p>
            <a:r>
              <a:rPr lang="en-US" altLang="en-US" sz="1400">
                <a:solidFill>
                  <a:srgbClr val="CC3300"/>
                </a:solidFill>
              </a:rPr>
              <a:t>Copy from</a:t>
            </a:r>
          </a:p>
          <a:p>
            <a:r>
              <a:rPr lang="en-US" altLang="en-US" sz="1400">
                <a:solidFill>
                  <a:srgbClr val="CC3300"/>
                </a:solidFill>
              </a:rPr>
              <a:t>buffer to</a:t>
            </a:r>
          </a:p>
          <a:p>
            <a:r>
              <a:rPr lang="en-US" altLang="en-US" sz="1400">
                <a:solidFill>
                  <a:srgbClr val="CC3300"/>
                </a:solidFill>
              </a:rPr>
              <a:t>Program</a:t>
            </a:r>
          </a:p>
          <a:p>
            <a:r>
              <a:rPr lang="en-US" altLang="en-US" sz="1400">
                <a:solidFill>
                  <a:srgbClr val="CC3300"/>
                </a:solidFill>
              </a:rPr>
              <a:t>variable </a:t>
            </a:r>
          </a:p>
          <a:p>
            <a:r>
              <a:rPr lang="en-US" altLang="en-US" sz="1400">
                <a:solidFill>
                  <a:srgbClr val="CC3300"/>
                </a:solidFill>
              </a:rPr>
              <a:t>balance</a:t>
            </a:r>
          </a:p>
        </p:txBody>
      </p:sp>
      <p:sp>
        <p:nvSpPr>
          <p:cNvPr id="36887" name="Text Box 23" descr="TextBox 40">
            <a:extLst>
              <a:ext uri="{FF2B5EF4-FFF2-40B4-BE49-F238E27FC236}">
                <a16:creationId xmlns:a16="http://schemas.microsoft.com/office/drawing/2014/main" id="{A70FE16C-1B38-30F6-C840-BA58CF5CB167}"/>
              </a:ext>
            </a:extLst>
          </p:cNvPr>
          <p:cNvSpPr txBox="1">
            <a:spLocks/>
          </p:cNvSpPr>
          <p:nvPr/>
        </p:nvSpPr>
        <p:spPr bwMode="auto">
          <a:xfrm>
            <a:off x="2044700" y="3571875"/>
            <a:ext cx="7858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buffer</a:t>
            </a:r>
          </a:p>
        </p:txBody>
      </p:sp>
    </p:spTree>
  </p:cSld>
  <p:clrMapOvr>
    <a:masterClrMapping/>
  </p:clrMapOvr>
  <p:transition spd="med"/>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descr="Title 1">
            <a:extLst>
              <a:ext uri="{FF2B5EF4-FFF2-40B4-BE49-F238E27FC236}">
                <a16:creationId xmlns:a16="http://schemas.microsoft.com/office/drawing/2014/main" id="{F9C696F9-6B6A-C54E-5EB2-F00FC0102028}"/>
              </a:ext>
            </a:extLst>
          </p:cNvPr>
          <p:cNvSpPr>
            <a:spLocks noChangeArrowheads="1"/>
          </p:cNvSpPr>
          <p:nvPr>
            <p:ph type="title"/>
          </p:nvPr>
        </p:nvSpPr>
        <p:spPr/>
        <p:txBody>
          <a:bodyPr/>
          <a:lstStyle/>
          <a:p>
            <a:r>
              <a:rPr lang="en-US" altLang="en-US" sz="2400"/>
              <a:t>Model of Transaction: Read-Write Operations</a:t>
            </a:r>
          </a:p>
        </p:txBody>
      </p:sp>
      <p:sp>
        <p:nvSpPr>
          <p:cNvPr id="37891" name="Text Box 3" descr="Date Placeholder 3">
            <a:extLst>
              <a:ext uri="{FF2B5EF4-FFF2-40B4-BE49-F238E27FC236}">
                <a16:creationId xmlns:a16="http://schemas.microsoft.com/office/drawing/2014/main" id="{B856D4B5-02A5-72B0-6076-19CCA85360D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7892" name="Text Box 4" descr="Slide Number Placeholder 5">
            <a:extLst>
              <a:ext uri="{FF2B5EF4-FFF2-40B4-BE49-F238E27FC236}">
                <a16:creationId xmlns:a16="http://schemas.microsoft.com/office/drawing/2014/main" id="{8AE8187C-7F64-CC95-9BD5-A7F200082796}"/>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3B01834-C4E3-45D9-BBEE-B06F33FD6CD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7893" name="Text Box 5" descr="TextBox 6">
            <a:extLst>
              <a:ext uri="{FF2B5EF4-FFF2-40B4-BE49-F238E27FC236}">
                <a16:creationId xmlns:a16="http://schemas.microsoft.com/office/drawing/2014/main" id="{2B3FC867-040B-AF40-6FA3-50C8181F927C}"/>
              </a:ext>
            </a:extLst>
          </p:cNvPr>
          <p:cNvSpPr txBox="1">
            <a:spLocks/>
          </p:cNvSpPr>
          <p:nvPr/>
        </p:nvSpPr>
        <p:spPr bwMode="auto">
          <a:xfrm>
            <a:off x="615950" y="1355725"/>
            <a:ext cx="64468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write Operation: </a:t>
            </a:r>
            <a:r>
              <a:rPr lang="en-US" altLang="en-US">
                <a:solidFill>
                  <a:srgbClr val="FF0000"/>
                </a:solidFill>
              </a:rPr>
              <a:t>write</a:t>
            </a:r>
            <a:r>
              <a:rPr lang="en-US" altLang="en-US"/>
              <a:t>(balance)</a:t>
            </a:r>
          </a:p>
        </p:txBody>
      </p:sp>
      <p:sp>
        <p:nvSpPr>
          <p:cNvPr id="37894" name="Text Box 6" descr="TextBox 7">
            <a:extLst>
              <a:ext uri="{FF2B5EF4-FFF2-40B4-BE49-F238E27FC236}">
                <a16:creationId xmlns:a16="http://schemas.microsoft.com/office/drawing/2014/main" id="{63E75BC4-FC69-87A8-603A-CBBD4DABA30B}"/>
              </a:ext>
            </a:extLst>
          </p:cNvPr>
          <p:cNvSpPr txBox="1">
            <a:spLocks/>
          </p:cNvSpPr>
          <p:nvPr/>
        </p:nvSpPr>
        <p:spPr bwMode="auto">
          <a:xfrm>
            <a:off x="284163" y="1784350"/>
            <a:ext cx="7553325"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Update </a:t>
            </a:r>
            <a:r>
              <a:rPr lang="en-US" altLang="en-US">
                <a:solidFill>
                  <a:srgbClr val="33CC33"/>
                </a:solidFill>
              </a:rPr>
              <a:t>accounts  </a:t>
            </a:r>
            <a:r>
              <a:rPr lang="en-US" altLang="en-US"/>
              <a:t>set balance=balance-100 where Name=‘Ram’;</a:t>
            </a:r>
          </a:p>
        </p:txBody>
      </p:sp>
      <p:sp>
        <p:nvSpPr>
          <p:cNvPr id="37895" name="AutoShape 7" descr="Flowchart: Magnetic Disk 9">
            <a:extLst>
              <a:ext uri="{FF2B5EF4-FFF2-40B4-BE49-F238E27FC236}">
                <a16:creationId xmlns:a16="http://schemas.microsoft.com/office/drawing/2014/main" id="{693387F4-9C24-EE43-06D4-0AC53AA313BE}"/>
              </a:ext>
            </a:extLst>
          </p:cNvPr>
          <p:cNvSpPr>
            <a:spLocks/>
          </p:cNvSpPr>
          <p:nvPr/>
        </p:nvSpPr>
        <p:spPr bwMode="auto">
          <a:xfrm>
            <a:off x="5357813" y="2284413"/>
            <a:ext cx="2357437" cy="37163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7896" name="Text Box 8" descr="TextBox 11">
            <a:extLst>
              <a:ext uri="{FF2B5EF4-FFF2-40B4-BE49-F238E27FC236}">
                <a16:creationId xmlns:a16="http://schemas.microsoft.com/office/drawing/2014/main" id="{FAF92B26-0845-A3A9-3433-4D64AC87954E}"/>
              </a:ext>
            </a:extLst>
          </p:cNvPr>
          <p:cNvSpPr txBox="1">
            <a:spLocks/>
          </p:cNvSpPr>
          <p:nvPr/>
        </p:nvSpPr>
        <p:spPr bwMode="auto">
          <a:xfrm>
            <a:off x="5902325" y="2713038"/>
            <a:ext cx="12271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Hard Disk</a:t>
            </a:r>
          </a:p>
        </p:txBody>
      </p:sp>
      <p:sp>
        <p:nvSpPr>
          <p:cNvPr id="37897" name="Rectangle 9" descr="Rectangle 13">
            <a:extLst>
              <a:ext uri="{FF2B5EF4-FFF2-40B4-BE49-F238E27FC236}">
                <a16:creationId xmlns:a16="http://schemas.microsoft.com/office/drawing/2014/main" id="{3EE28E78-F2E7-01F1-1C4C-A1E14DD42A01}"/>
              </a:ext>
            </a:extLst>
          </p:cNvPr>
          <p:cNvSpPr>
            <a:spLocks/>
          </p:cNvSpPr>
          <p:nvPr/>
        </p:nvSpPr>
        <p:spPr bwMode="auto">
          <a:xfrm>
            <a:off x="5429250" y="4143375"/>
            <a:ext cx="2286000" cy="928688"/>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7898" name="Text Box 10" descr="TextBox 14">
            <a:extLst>
              <a:ext uri="{FF2B5EF4-FFF2-40B4-BE49-F238E27FC236}">
                <a16:creationId xmlns:a16="http://schemas.microsoft.com/office/drawing/2014/main" id="{D57FF31D-1936-67D8-D968-1DC2E2ED7A09}"/>
              </a:ext>
            </a:extLst>
          </p:cNvPr>
          <p:cNvSpPr txBox="1">
            <a:spLocks/>
          </p:cNvSpPr>
          <p:nvPr/>
        </p:nvSpPr>
        <p:spPr bwMode="auto">
          <a:xfrm>
            <a:off x="7831138" y="4214813"/>
            <a:ext cx="109696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Block of </a:t>
            </a:r>
          </a:p>
          <a:p>
            <a:r>
              <a:rPr lang="en-US" altLang="en-US"/>
              <a:t>Memory</a:t>
            </a:r>
          </a:p>
        </p:txBody>
      </p:sp>
      <p:sp>
        <p:nvSpPr>
          <p:cNvPr id="37899" name="Line 11" descr="Straight Arrow Connector 16">
            <a:extLst>
              <a:ext uri="{FF2B5EF4-FFF2-40B4-BE49-F238E27FC236}">
                <a16:creationId xmlns:a16="http://schemas.microsoft.com/office/drawing/2014/main" id="{E41ED292-5AA7-8848-4044-E5541D7E8445}"/>
              </a:ext>
            </a:extLst>
          </p:cNvPr>
          <p:cNvSpPr>
            <a:spLocks noChangeShapeType="1"/>
          </p:cNvSpPr>
          <p:nvPr/>
        </p:nvSpPr>
        <p:spPr bwMode="auto">
          <a:xfrm>
            <a:off x="3998913" y="2212975"/>
            <a:ext cx="1358900" cy="22161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7900" name="Text Box 12" descr="TextBox 18">
            <a:extLst>
              <a:ext uri="{FF2B5EF4-FFF2-40B4-BE49-F238E27FC236}">
                <a16:creationId xmlns:a16="http://schemas.microsoft.com/office/drawing/2014/main" id="{1749D8F6-91B4-3C68-1BE0-B5F006F65FFD}"/>
              </a:ext>
            </a:extLst>
          </p:cNvPr>
          <p:cNvSpPr txBox="1">
            <a:spLocks/>
          </p:cNvSpPr>
          <p:nvPr/>
        </p:nvSpPr>
        <p:spPr bwMode="auto">
          <a:xfrm>
            <a:off x="3813175" y="2330450"/>
            <a:ext cx="15668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1</a:t>
            </a:r>
          </a:p>
          <a:p>
            <a:r>
              <a:rPr lang="en-US" altLang="en-US" sz="1400">
                <a:solidFill>
                  <a:srgbClr val="CC3300"/>
                </a:solidFill>
              </a:rPr>
              <a:t>Find address</a:t>
            </a:r>
          </a:p>
          <a:p>
            <a:r>
              <a:rPr lang="en-US" altLang="en-US" sz="1400">
                <a:solidFill>
                  <a:srgbClr val="CC3300"/>
                </a:solidFill>
              </a:rPr>
              <a:t>Of the disk</a:t>
            </a:r>
          </a:p>
          <a:p>
            <a:r>
              <a:rPr lang="en-US" altLang="en-US" sz="1400">
                <a:solidFill>
                  <a:srgbClr val="CC3300"/>
                </a:solidFill>
              </a:rPr>
              <a:t>Block containing</a:t>
            </a:r>
          </a:p>
          <a:p>
            <a:r>
              <a:rPr lang="en-US" altLang="en-US" sz="1400">
                <a:solidFill>
                  <a:srgbClr val="CC3300"/>
                </a:solidFill>
              </a:rPr>
              <a:t>Balance</a:t>
            </a:r>
          </a:p>
        </p:txBody>
      </p:sp>
      <p:sp>
        <p:nvSpPr>
          <p:cNvPr id="37901" name="Rectangle 13" descr="Rectangle 19">
            <a:extLst>
              <a:ext uri="{FF2B5EF4-FFF2-40B4-BE49-F238E27FC236}">
                <a16:creationId xmlns:a16="http://schemas.microsoft.com/office/drawing/2014/main" id="{461FD362-663F-AB41-4EBD-95D21C42FB9B}"/>
              </a:ext>
            </a:extLst>
          </p:cNvPr>
          <p:cNvSpPr>
            <a:spLocks/>
          </p:cNvSpPr>
          <p:nvPr/>
        </p:nvSpPr>
        <p:spPr bwMode="auto">
          <a:xfrm>
            <a:off x="1641475" y="3141663"/>
            <a:ext cx="1500188" cy="3001962"/>
          </a:xfrm>
          <a:prstGeom prst="rect">
            <a:avLst/>
          </a:pr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7902" name="Text Box 14" descr="TextBox 20">
            <a:extLst>
              <a:ext uri="{FF2B5EF4-FFF2-40B4-BE49-F238E27FC236}">
                <a16:creationId xmlns:a16="http://schemas.microsoft.com/office/drawing/2014/main" id="{80E92671-34B6-7E8F-D6F1-75243868F624}"/>
              </a:ext>
            </a:extLst>
          </p:cNvPr>
          <p:cNvSpPr txBox="1">
            <a:spLocks/>
          </p:cNvSpPr>
          <p:nvPr/>
        </p:nvSpPr>
        <p:spPr bwMode="auto">
          <a:xfrm>
            <a:off x="1641475" y="39290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150 50</a:t>
            </a:r>
          </a:p>
        </p:txBody>
      </p:sp>
      <p:sp>
        <p:nvSpPr>
          <p:cNvPr id="37903" name="Text Box 15" descr="TextBox 27">
            <a:extLst>
              <a:ext uri="{FF2B5EF4-FFF2-40B4-BE49-F238E27FC236}">
                <a16:creationId xmlns:a16="http://schemas.microsoft.com/office/drawing/2014/main" id="{8CAF90B9-0064-A118-FFEB-CAA3ACB0D7F6}"/>
              </a:ext>
            </a:extLst>
          </p:cNvPr>
          <p:cNvSpPr txBox="1">
            <a:spLocks/>
          </p:cNvSpPr>
          <p:nvPr/>
        </p:nvSpPr>
        <p:spPr bwMode="auto">
          <a:xfrm>
            <a:off x="1633538" y="2784475"/>
            <a:ext cx="1674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Main memory</a:t>
            </a:r>
          </a:p>
        </p:txBody>
      </p:sp>
      <p:sp>
        <p:nvSpPr>
          <p:cNvPr id="37904" name="Text Box 16" descr="TextBox 28">
            <a:extLst>
              <a:ext uri="{FF2B5EF4-FFF2-40B4-BE49-F238E27FC236}">
                <a16:creationId xmlns:a16="http://schemas.microsoft.com/office/drawing/2014/main" id="{08B770C2-E61A-F0F1-655C-284B912088C2}"/>
              </a:ext>
            </a:extLst>
          </p:cNvPr>
          <p:cNvSpPr txBox="1">
            <a:spLocks/>
          </p:cNvSpPr>
          <p:nvPr/>
        </p:nvSpPr>
        <p:spPr bwMode="auto">
          <a:xfrm>
            <a:off x="1641475" y="56435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150 -100</a:t>
            </a:r>
          </a:p>
        </p:txBody>
      </p:sp>
      <p:cxnSp>
        <p:nvCxnSpPr>
          <p:cNvPr id="37905" name="AutoShape 17" descr="Shape 30">
            <a:extLst>
              <a:ext uri="{FF2B5EF4-FFF2-40B4-BE49-F238E27FC236}">
                <a16:creationId xmlns:a16="http://schemas.microsoft.com/office/drawing/2014/main" id="{21B8D097-CD65-E5C3-824D-B647F66F3132}"/>
              </a:ext>
            </a:extLst>
          </p:cNvPr>
          <p:cNvCxnSpPr>
            <a:cxnSpLocks noChangeShapeType="1"/>
            <a:stCxn id="37902" idx="0"/>
            <a:endCxn id="37904" idx="0"/>
          </p:cNvCxnSpPr>
          <p:nvPr/>
        </p:nvCxnSpPr>
        <p:spPr bwMode="auto">
          <a:xfrm>
            <a:off x="2392363" y="4117975"/>
            <a:ext cx="0" cy="1714500"/>
          </a:xfrm>
          <a:prstGeom prst="straightConnector1">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37906" name="Text Box 18" descr="TextBox 38">
            <a:extLst>
              <a:ext uri="{FF2B5EF4-FFF2-40B4-BE49-F238E27FC236}">
                <a16:creationId xmlns:a16="http://schemas.microsoft.com/office/drawing/2014/main" id="{559197C6-A527-C0A6-5737-492BBFA45833}"/>
              </a:ext>
            </a:extLst>
          </p:cNvPr>
          <p:cNvSpPr txBox="1">
            <a:spLocks/>
          </p:cNvSpPr>
          <p:nvPr/>
        </p:nvSpPr>
        <p:spPr bwMode="auto">
          <a:xfrm>
            <a:off x="3187700" y="5630863"/>
            <a:ext cx="2060575"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balance</a:t>
            </a:r>
          </a:p>
          <a:p>
            <a:r>
              <a:rPr lang="en-US" altLang="en-US"/>
              <a:t>Program variable</a:t>
            </a:r>
          </a:p>
        </p:txBody>
      </p:sp>
      <p:sp>
        <p:nvSpPr>
          <p:cNvPr id="37907" name="Text Box 19" descr="TextBox 39">
            <a:extLst>
              <a:ext uri="{FF2B5EF4-FFF2-40B4-BE49-F238E27FC236}">
                <a16:creationId xmlns:a16="http://schemas.microsoft.com/office/drawing/2014/main" id="{8073443D-7DE4-BAF9-56F5-CA80DC30C58A}"/>
              </a:ext>
            </a:extLst>
          </p:cNvPr>
          <p:cNvSpPr txBox="1">
            <a:spLocks/>
          </p:cNvSpPr>
          <p:nvPr/>
        </p:nvSpPr>
        <p:spPr bwMode="auto">
          <a:xfrm>
            <a:off x="211138" y="4214813"/>
            <a:ext cx="1033462" cy="1385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3</a:t>
            </a:r>
          </a:p>
          <a:p>
            <a:r>
              <a:rPr lang="en-US" altLang="en-US" sz="1400">
                <a:solidFill>
                  <a:srgbClr val="CC3300"/>
                </a:solidFill>
              </a:rPr>
              <a:t>Copy from</a:t>
            </a:r>
          </a:p>
          <a:p>
            <a:r>
              <a:rPr lang="en-US" altLang="en-US" sz="1400">
                <a:solidFill>
                  <a:srgbClr val="CC3300"/>
                </a:solidFill>
              </a:rPr>
              <a:t>buffer to</a:t>
            </a:r>
          </a:p>
          <a:p>
            <a:r>
              <a:rPr lang="en-US" altLang="en-US" sz="1400">
                <a:solidFill>
                  <a:srgbClr val="CC3300"/>
                </a:solidFill>
              </a:rPr>
              <a:t>Program</a:t>
            </a:r>
          </a:p>
          <a:p>
            <a:r>
              <a:rPr lang="en-US" altLang="en-US" sz="1400">
                <a:solidFill>
                  <a:srgbClr val="CC3300"/>
                </a:solidFill>
              </a:rPr>
              <a:t>variable </a:t>
            </a:r>
          </a:p>
          <a:p>
            <a:r>
              <a:rPr lang="en-US" altLang="en-US" sz="1400">
                <a:solidFill>
                  <a:srgbClr val="CC3300"/>
                </a:solidFill>
              </a:rPr>
              <a:t>balance</a:t>
            </a:r>
          </a:p>
        </p:txBody>
      </p:sp>
      <p:sp>
        <p:nvSpPr>
          <p:cNvPr id="37908" name="Text Box 20" descr="TextBox 40">
            <a:extLst>
              <a:ext uri="{FF2B5EF4-FFF2-40B4-BE49-F238E27FC236}">
                <a16:creationId xmlns:a16="http://schemas.microsoft.com/office/drawing/2014/main" id="{C68C010F-0665-9901-17E2-B7D49AEA4D1A}"/>
              </a:ext>
            </a:extLst>
          </p:cNvPr>
          <p:cNvSpPr txBox="1">
            <a:spLocks/>
          </p:cNvSpPr>
          <p:nvPr/>
        </p:nvSpPr>
        <p:spPr bwMode="auto">
          <a:xfrm>
            <a:off x="2044700" y="3571875"/>
            <a:ext cx="7858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buffer</a:t>
            </a:r>
          </a:p>
        </p:txBody>
      </p:sp>
      <p:sp>
        <p:nvSpPr>
          <p:cNvPr id="37909" name="Line 21" descr="Straight Arrow Connector 34">
            <a:extLst>
              <a:ext uri="{FF2B5EF4-FFF2-40B4-BE49-F238E27FC236}">
                <a16:creationId xmlns:a16="http://schemas.microsoft.com/office/drawing/2014/main" id="{FAFB0108-C4F7-1378-E71B-6B7748390B86}"/>
              </a:ext>
            </a:extLst>
          </p:cNvPr>
          <p:cNvSpPr>
            <a:spLocks noChangeShapeType="1"/>
          </p:cNvSpPr>
          <p:nvPr/>
        </p:nvSpPr>
        <p:spPr bwMode="auto">
          <a:xfrm flipV="1">
            <a:off x="1854200" y="4298950"/>
            <a:ext cx="1588" cy="134461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7910" name="Text Box 22" descr="TextBox 35">
            <a:extLst>
              <a:ext uri="{FF2B5EF4-FFF2-40B4-BE49-F238E27FC236}">
                <a16:creationId xmlns:a16="http://schemas.microsoft.com/office/drawing/2014/main" id="{02D96BD7-3705-DE1F-01BE-8078D36A4E71}"/>
              </a:ext>
            </a:extLst>
          </p:cNvPr>
          <p:cNvSpPr txBox="1">
            <a:spLocks/>
          </p:cNvSpPr>
          <p:nvPr/>
        </p:nvSpPr>
        <p:spPr bwMode="auto">
          <a:xfrm>
            <a:off x="1827213" y="4500563"/>
            <a:ext cx="1627187" cy="954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4</a:t>
            </a:r>
          </a:p>
          <a:p>
            <a:r>
              <a:rPr lang="en-US" altLang="en-US" sz="1400">
                <a:solidFill>
                  <a:srgbClr val="CC3300"/>
                </a:solidFill>
              </a:rPr>
              <a:t>Copy </a:t>
            </a:r>
          </a:p>
          <a:p>
            <a:r>
              <a:rPr lang="en-US" altLang="en-US" sz="1400">
                <a:solidFill>
                  <a:srgbClr val="CC3300"/>
                </a:solidFill>
              </a:rPr>
              <a:t>Program variable</a:t>
            </a:r>
          </a:p>
          <a:p>
            <a:r>
              <a:rPr lang="en-US" altLang="en-US" sz="1400">
                <a:solidFill>
                  <a:srgbClr val="CC3300"/>
                </a:solidFill>
              </a:rPr>
              <a:t>into buffer</a:t>
            </a:r>
          </a:p>
        </p:txBody>
      </p:sp>
      <p:pic>
        <p:nvPicPr>
          <p:cNvPr id="37911" name="Picture 23" descr="Picture 2">
            <a:extLst>
              <a:ext uri="{FF2B5EF4-FFF2-40B4-BE49-F238E27FC236}">
                <a16:creationId xmlns:a16="http://schemas.microsoft.com/office/drawing/2014/main" id="{9A7153C8-CBEF-4713-6BF5-13AFC7F3422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64188" y="4214813"/>
            <a:ext cx="2079625" cy="714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7912" name="Line 24" descr="Straight Arrow Connector 2">
            <a:extLst>
              <a:ext uri="{FF2B5EF4-FFF2-40B4-BE49-F238E27FC236}">
                <a16:creationId xmlns:a16="http://schemas.microsoft.com/office/drawing/2014/main" id="{143DDA88-EC50-8450-5FEF-7DAA2C28E30A}"/>
              </a:ext>
            </a:extLst>
          </p:cNvPr>
          <p:cNvSpPr>
            <a:spLocks noChangeShapeType="1"/>
          </p:cNvSpPr>
          <p:nvPr/>
        </p:nvSpPr>
        <p:spPr bwMode="auto">
          <a:xfrm flipH="1" flipV="1">
            <a:off x="3141663" y="4113213"/>
            <a:ext cx="2216150" cy="60166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7913" name="Text Box 25" descr="TextBox 8">
            <a:extLst>
              <a:ext uri="{FF2B5EF4-FFF2-40B4-BE49-F238E27FC236}">
                <a16:creationId xmlns:a16="http://schemas.microsoft.com/office/drawing/2014/main" id="{7793A49C-F613-8651-E3DA-6E1E20202071}"/>
              </a:ext>
            </a:extLst>
          </p:cNvPr>
          <p:cNvSpPr txBox="1">
            <a:spLocks/>
          </p:cNvSpPr>
          <p:nvPr/>
        </p:nvSpPr>
        <p:spPr bwMode="auto">
          <a:xfrm>
            <a:off x="3594100" y="4000500"/>
            <a:ext cx="13255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2</a:t>
            </a:r>
          </a:p>
          <a:p>
            <a:r>
              <a:rPr lang="en-US" altLang="en-US" sz="1400">
                <a:solidFill>
                  <a:srgbClr val="CC3300"/>
                </a:solidFill>
              </a:rPr>
              <a:t>Copy </a:t>
            </a:r>
          </a:p>
          <a:p>
            <a:r>
              <a:rPr lang="en-US" altLang="en-US" sz="1400">
                <a:solidFill>
                  <a:srgbClr val="CC3300"/>
                </a:solidFill>
              </a:rPr>
              <a:t>Disk block </a:t>
            </a:r>
          </a:p>
          <a:p>
            <a:r>
              <a:rPr lang="en-US" altLang="en-US" sz="1400">
                <a:solidFill>
                  <a:srgbClr val="CC3300"/>
                </a:solidFill>
              </a:rPr>
              <a:t>into buffer of</a:t>
            </a:r>
          </a:p>
          <a:p>
            <a:r>
              <a:rPr lang="en-US" altLang="en-US" sz="1400">
                <a:solidFill>
                  <a:srgbClr val="CC3300"/>
                </a:solidFill>
              </a:rPr>
              <a:t>Main memory</a:t>
            </a:r>
          </a:p>
        </p:txBody>
      </p:sp>
    </p:spTree>
  </p:cSld>
  <p:clrMapOvr>
    <a:masterClrMapping/>
  </p:clrMapOvr>
  <p:transition spd="med"/>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descr="Title 1">
            <a:extLst>
              <a:ext uri="{FF2B5EF4-FFF2-40B4-BE49-F238E27FC236}">
                <a16:creationId xmlns:a16="http://schemas.microsoft.com/office/drawing/2014/main" id="{51F93697-7E9A-123D-5F84-21471DB1D33D}"/>
              </a:ext>
            </a:extLst>
          </p:cNvPr>
          <p:cNvSpPr>
            <a:spLocks noChangeArrowheads="1"/>
          </p:cNvSpPr>
          <p:nvPr>
            <p:ph type="title"/>
          </p:nvPr>
        </p:nvSpPr>
        <p:spPr/>
        <p:txBody>
          <a:bodyPr/>
          <a:lstStyle/>
          <a:p>
            <a:r>
              <a:rPr lang="en-US" altLang="en-US" sz="2400"/>
              <a:t>Model of Transaction: Read-Write Operations</a:t>
            </a:r>
          </a:p>
        </p:txBody>
      </p:sp>
      <p:sp>
        <p:nvSpPr>
          <p:cNvPr id="38915" name="Text Box 3" descr="Date Placeholder 3">
            <a:extLst>
              <a:ext uri="{FF2B5EF4-FFF2-40B4-BE49-F238E27FC236}">
                <a16:creationId xmlns:a16="http://schemas.microsoft.com/office/drawing/2014/main" id="{5CFBFBA8-0ED5-43E1-AEA5-5404D75D4A3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8916" name="Text Box 4" descr="Slide Number Placeholder 5">
            <a:extLst>
              <a:ext uri="{FF2B5EF4-FFF2-40B4-BE49-F238E27FC236}">
                <a16:creationId xmlns:a16="http://schemas.microsoft.com/office/drawing/2014/main" id="{ADC38277-D6A1-EC35-4483-F6480321C40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9E629DD-4F23-4524-9CEE-49B9DF94B69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8917" name="Text Box 5" descr="TextBox 6">
            <a:extLst>
              <a:ext uri="{FF2B5EF4-FFF2-40B4-BE49-F238E27FC236}">
                <a16:creationId xmlns:a16="http://schemas.microsoft.com/office/drawing/2014/main" id="{DB662A3F-9F59-F439-D972-987356FBA6F1}"/>
              </a:ext>
            </a:extLst>
          </p:cNvPr>
          <p:cNvSpPr txBox="1">
            <a:spLocks/>
          </p:cNvSpPr>
          <p:nvPr/>
        </p:nvSpPr>
        <p:spPr bwMode="auto">
          <a:xfrm>
            <a:off x="615950" y="1355725"/>
            <a:ext cx="64468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Example of transaction write Operation: </a:t>
            </a:r>
            <a:r>
              <a:rPr lang="en-US" altLang="en-US">
                <a:solidFill>
                  <a:srgbClr val="FF0000"/>
                </a:solidFill>
              </a:rPr>
              <a:t>write</a:t>
            </a:r>
            <a:r>
              <a:rPr lang="en-US" altLang="en-US"/>
              <a:t>(balance)</a:t>
            </a:r>
          </a:p>
        </p:txBody>
      </p:sp>
      <p:sp>
        <p:nvSpPr>
          <p:cNvPr id="38918" name="Text Box 6" descr="TextBox 7">
            <a:extLst>
              <a:ext uri="{FF2B5EF4-FFF2-40B4-BE49-F238E27FC236}">
                <a16:creationId xmlns:a16="http://schemas.microsoft.com/office/drawing/2014/main" id="{8CBEDD87-9F04-D8B6-26A1-B2469AB43872}"/>
              </a:ext>
            </a:extLst>
          </p:cNvPr>
          <p:cNvSpPr txBox="1">
            <a:spLocks/>
          </p:cNvSpPr>
          <p:nvPr/>
        </p:nvSpPr>
        <p:spPr bwMode="auto">
          <a:xfrm>
            <a:off x="284163" y="1784350"/>
            <a:ext cx="7553325" cy="3810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Update </a:t>
            </a:r>
            <a:r>
              <a:rPr lang="en-US" altLang="en-US">
                <a:solidFill>
                  <a:srgbClr val="33CC33"/>
                </a:solidFill>
              </a:rPr>
              <a:t>accounts  </a:t>
            </a:r>
            <a:r>
              <a:rPr lang="en-US" altLang="en-US"/>
              <a:t>set balance=balance-100 where Name=‘Ram’;</a:t>
            </a:r>
          </a:p>
        </p:txBody>
      </p:sp>
      <p:sp>
        <p:nvSpPr>
          <p:cNvPr id="38919" name="AutoShape 7" descr="Flowchart: Magnetic Disk 9">
            <a:extLst>
              <a:ext uri="{FF2B5EF4-FFF2-40B4-BE49-F238E27FC236}">
                <a16:creationId xmlns:a16="http://schemas.microsoft.com/office/drawing/2014/main" id="{3BD94468-9ED9-DFE1-538C-CFE531562C4F}"/>
              </a:ext>
            </a:extLst>
          </p:cNvPr>
          <p:cNvSpPr>
            <a:spLocks/>
          </p:cNvSpPr>
          <p:nvPr/>
        </p:nvSpPr>
        <p:spPr bwMode="auto">
          <a:xfrm>
            <a:off x="5357813" y="2284413"/>
            <a:ext cx="2357437" cy="37163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8920" name="Text Box 8" descr="TextBox 11">
            <a:extLst>
              <a:ext uri="{FF2B5EF4-FFF2-40B4-BE49-F238E27FC236}">
                <a16:creationId xmlns:a16="http://schemas.microsoft.com/office/drawing/2014/main" id="{A513B491-6770-8D6D-90B0-DFF0B4573725}"/>
              </a:ext>
            </a:extLst>
          </p:cNvPr>
          <p:cNvSpPr txBox="1">
            <a:spLocks/>
          </p:cNvSpPr>
          <p:nvPr/>
        </p:nvSpPr>
        <p:spPr bwMode="auto">
          <a:xfrm>
            <a:off x="5902325" y="2713038"/>
            <a:ext cx="12271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Hard Disk</a:t>
            </a:r>
          </a:p>
        </p:txBody>
      </p:sp>
      <p:sp>
        <p:nvSpPr>
          <p:cNvPr id="38921" name="Rectangle 9" descr="Rectangle 13">
            <a:extLst>
              <a:ext uri="{FF2B5EF4-FFF2-40B4-BE49-F238E27FC236}">
                <a16:creationId xmlns:a16="http://schemas.microsoft.com/office/drawing/2014/main" id="{38981793-1869-BCEC-9A11-7EFFAE6CA906}"/>
              </a:ext>
            </a:extLst>
          </p:cNvPr>
          <p:cNvSpPr>
            <a:spLocks/>
          </p:cNvSpPr>
          <p:nvPr/>
        </p:nvSpPr>
        <p:spPr bwMode="auto">
          <a:xfrm>
            <a:off x="5429250" y="3768725"/>
            <a:ext cx="2286000" cy="1303338"/>
          </a:xfrm>
          <a:prstGeom prst="rect">
            <a:avLst/>
          </a:prstGeom>
          <a:noFill/>
          <a:ln w="28575" cap="flat" cmpd="sng">
            <a:solidFill>
              <a:srgbClr val="FF99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8922" name="Text Box 10" descr="TextBox 14">
            <a:extLst>
              <a:ext uri="{FF2B5EF4-FFF2-40B4-BE49-F238E27FC236}">
                <a16:creationId xmlns:a16="http://schemas.microsoft.com/office/drawing/2014/main" id="{7BFF1018-B14B-7C44-0632-DA0B86E97755}"/>
              </a:ext>
            </a:extLst>
          </p:cNvPr>
          <p:cNvSpPr txBox="1">
            <a:spLocks/>
          </p:cNvSpPr>
          <p:nvPr/>
        </p:nvSpPr>
        <p:spPr bwMode="auto">
          <a:xfrm>
            <a:off x="7831138" y="4214813"/>
            <a:ext cx="109696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Block of </a:t>
            </a:r>
          </a:p>
          <a:p>
            <a:r>
              <a:rPr lang="en-US" altLang="en-US"/>
              <a:t>Memory</a:t>
            </a:r>
          </a:p>
        </p:txBody>
      </p:sp>
      <p:sp>
        <p:nvSpPr>
          <p:cNvPr id="38923" name="Line 11" descr="Straight Arrow Connector 16">
            <a:extLst>
              <a:ext uri="{FF2B5EF4-FFF2-40B4-BE49-F238E27FC236}">
                <a16:creationId xmlns:a16="http://schemas.microsoft.com/office/drawing/2014/main" id="{9F52AF98-F46A-752D-F713-A644E38D509D}"/>
              </a:ext>
            </a:extLst>
          </p:cNvPr>
          <p:cNvSpPr>
            <a:spLocks noChangeShapeType="1"/>
          </p:cNvSpPr>
          <p:nvPr/>
        </p:nvSpPr>
        <p:spPr bwMode="auto">
          <a:xfrm>
            <a:off x="3998913" y="2212975"/>
            <a:ext cx="1358900" cy="22161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8924" name="Text Box 12" descr="TextBox 18">
            <a:extLst>
              <a:ext uri="{FF2B5EF4-FFF2-40B4-BE49-F238E27FC236}">
                <a16:creationId xmlns:a16="http://schemas.microsoft.com/office/drawing/2014/main" id="{F8F8A08D-F602-558D-0D71-29B63E8C5956}"/>
              </a:ext>
            </a:extLst>
          </p:cNvPr>
          <p:cNvSpPr txBox="1">
            <a:spLocks/>
          </p:cNvSpPr>
          <p:nvPr/>
        </p:nvSpPr>
        <p:spPr bwMode="auto">
          <a:xfrm>
            <a:off x="3813175" y="2330450"/>
            <a:ext cx="1566863" cy="1169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1</a:t>
            </a:r>
          </a:p>
          <a:p>
            <a:r>
              <a:rPr lang="en-US" altLang="en-US" sz="1400">
                <a:solidFill>
                  <a:srgbClr val="CC3300"/>
                </a:solidFill>
              </a:rPr>
              <a:t>Find address</a:t>
            </a:r>
          </a:p>
          <a:p>
            <a:r>
              <a:rPr lang="en-US" altLang="en-US" sz="1400">
                <a:solidFill>
                  <a:srgbClr val="CC3300"/>
                </a:solidFill>
              </a:rPr>
              <a:t>Of the disk</a:t>
            </a:r>
          </a:p>
          <a:p>
            <a:r>
              <a:rPr lang="en-US" altLang="en-US" sz="1400">
                <a:solidFill>
                  <a:srgbClr val="CC3300"/>
                </a:solidFill>
              </a:rPr>
              <a:t>Block containing</a:t>
            </a:r>
          </a:p>
          <a:p>
            <a:r>
              <a:rPr lang="en-US" altLang="en-US" sz="1400">
                <a:solidFill>
                  <a:srgbClr val="CC3300"/>
                </a:solidFill>
              </a:rPr>
              <a:t>Balance</a:t>
            </a:r>
          </a:p>
        </p:txBody>
      </p:sp>
      <p:sp>
        <p:nvSpPr>
          <p:cNvPr id="38925" name="Rectangle 13" descr="Rectangle 19">
            <a:extLst>
              <a:ext uri="{FF2B5EF4-FFF2-40B4-BE49-F238E27FC236}">
                <a16:creationId xmlns:a16="http://schemas.microsoft.com/office/drawing/2014/main" id="{19C8FE2E-69B1-1F45-E948-2FAB021D2C44}"/>
              </a:ext>
            </a:extLst>
          </p:cNvPr>
          <p:cNvSpPr>
            <a:spLocks/>
          </p:cNvSpPr>
          <p:nvPr/>
        </p:nvSpPr>
        <p:spPr bwMode="auto">
          <a:xfrm>
            <a:off x="1641475" y="3141663"/>
            <a:ext cx="1500188" cy="3001962"/>
          </a:xfrm>
          <a:prstGeom prst="rect">
            <a:avLst/>
          </a:pr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8926" name="Text Box 14" descr="TextBox 20">
            <a:extLst>
              <a:ext uri="{FF2B5EF4-FFF2-40B4-BE49-F238E27FC236}">
                <a16:creationId xmlns:a16="http://schemas.microsoft.com/office/drawing/2014/main" id="{D198A511-EE86-A6C9-0B27-3F88BEA0E1D9}"/>
              </a:ext>
            </a:extLst>
          </p:cNvPr>
          <p:cNvSpPr txBox="1">
            <a:spLocks/>
          </p:cNvSpPr>
          <p:nvPr/>
        </p:nvSpPr>
        <p:spPr bwMode="auto">
          <a:xfrm>
            <a:off x="1641475" y="39290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150 50</a:t>
            </a:r>
          </a:p>
        </p:txBody>
      </p:sp>
      <p:sp>
        <p:nvSpPr>
          <p:cNvPr id="38927" name="Text Box 15" descr="TextBox 27">
            <a:extLst>
              <a:ext uri="{FF2B5EF4-FFF2-40B4-BE49-F238E27FC236}">
                <a16:creationId xmlns:a16="http://schemas.microsoft.com/office/drawing/2014/main" id="{2B6D0866-A6D4-C8D5-E9AE-5133848E079A}"/>
              </a:ext>
            </a:extLst>
          </p:cNvPr>
          <p:cNvSpPr txBox="1">
            <a:spLocks/>
          </p:cNvSpPr>
          <p:nvPr/>
        </p:nvSpPr>
        <p:spPr bwMode="auto">
          <a:xfrm>
            <a:off x="1633538" y="2784475"/>
            <a:ext cx="1674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FF"/>
                </a:solidFill>
              </a:rPr>
              <a:t>Main memory</a:t>
            </a:r>
          </a:p>
        </p:txBody>
      </p:sp>
      <p:sp>
        <p:nvSpPr>
          <p:cNvPr id="38928" name="Text Box 16" descr="TextBox 28">
            <a:extLst>
              <a:ext uri="{FF2B5EF4-FFF2-40B4-BE49-F238E27FC236}">
                <a16:creationId xmlns:a16="http://schemas.microsoft.com/office/drawing/2014/main" id="{CC8F277D-85ED-4B42-8745-59428737EF4F}"/>
              </a:ext>
            </a:extLst>
          </p:cNvPr>
          <p:cNvSpPr txBox="1">
            <a:spLocks/>
          </p:cNvSpPr>
          <p:nvPr/>
        </p:nvSpPr>
        <p:spPr bwMode="auto">
          <a:xfrm>
            <a:off x="1641475" y="5643563"/>
            <a:ext cx="1500188" cy="3794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150 -100</a:t>
            </a:r>
          </a:p>
        </p:txBody>
      </p:sp>
      <p:cxnSp>
        <p:nvCxnSpPr>
          <p:cNvPr id="38929" name="AutoShape 17" descr="Shape 30">
            <a:extLst>
              <a:ext uri="{FF2B5EF4-FFF2-40B4-BE49-F238E27FC236}">
                <a16:creationId xmlns:a16="http://schemas.microsoft.com/office/drawing/2014/main" id="{19410C95-0480-2CDD-5605-44AF4B99A43C}"/>
              </a:ext>
            </a:extLst>
          </p:cNvPr>
          <p:cNvCxnSpPr>
            <a:cxnSpLocks noChangeShapeType="1"/>
            <a:stCxn id="38926" idx="0"/>
            <a:endCxn id="38928" idx="0"/>
          </p:cNvCxnSpPr>
          <p:nvPr/>
        </p:nvCxnSpPr>
        <p:spPr bwMode="auto">
          <a:xfrm>
            <a:off x="2392363" y="4117975"/>
            <a:ext cx="0" cy="1714500"/>
          </a:xfrm>
          <a:prstGeom prst="straightConnector1">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38930" name="Text Box 18" descr="TextBox 38">
            <a:extLst>
              <a:ext uri="{FF2B5EF4-FFF2-40B4-BE49-F238E27FC236}">
                <a16:creationId xmlns:a16="http://schemas.microsoft.com/office/drawing/2014/main" id="{5E58F959-351B-2416-D7F4-F8F34B51FBCE}"/>
              </a:ext>
            </a:extLst>
          </p:cNvPr>
          <p:cNvSpPr txBox="1">
            <a:spLocks/>
          </p:cNvSpPr>
          <p:nvPr/>
        </p:nvSpPr>
        <p:spPr bwMode="auto">
          <a:xfrm>
            <a:off x="3187700" y="5630863"/>
            <a:ext cx="2060575"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balance</a:t>
            </a:r>
          </a:p>
          <a:p>
            <a:r>
              <a:rPr lang="en-US" altLang="en-US"/>
              <a:t>Program variable</a:t>
            </a:r>
          </a:p>
        </p:txBody>
      </p:sp>
      <p:sp>
        <p:nvSpPr>
          <p:cNvPr id="38931" name="Text Box 19" descr="TextBox 39">
            <a:extLst>
              <a:ext uri="{FF2B5EF4-FFF2-40B4-BE49-F238E27FC236}">
                <a16:creationId xmlns:a16="http://schemas.microsoft.com/office/drawing/2014/main" id="{4B2BBEB2-4630-FEA5-CF88-62C611AEFAA3}"/>
              </a:ext>
            </a:extLst>
          </p:cNvPr>
          <p:cNvSpPr txBox="1">
            <a:spLocks/>
          </p:cNvSpPr>
          <p:nvPr/>
        </p:nvSpPr>
        <p:spPr bwMode="auto">
          <a:xfrm>
            <a:off x="211138" y="4214813"/>
            <a:ext cx="1033462" cy="1385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3</a:t>
            </a:r>
          </a:p>
          <a:p>
            <a:r>
              <a:rPr lang="en-US" altLang="en-US" sz="1400">
                <a:solidFill>
                  <a:srgbClr val="CC3300"/>
                </a:solidFill>
              </a:rPr>
              <a:t>Copy from</a:t>
            </a:r>
          </a:p>
          <a:p>
            <a:r>
              <a:rPr lang="en-US" altLang="en-US" sz="1400">
                <a:solidFill>
                  <a:srgbClr val="CC3300"/>
                </a:solidFill>
              </a:rPr>
              <a:t>buffer to</a:t>
            </a:r>
          </a:p>
          <a:p>
            <a:r>
              <a:rPr lang="en-US" altLang="en-US" sz="1400">
                <a:solidFill>
                  <a:srgbClr val="CC3300"/>
                </a:solidFill>
              </a:rPr>
              <a:t>Program</a:t>
            </a:r>
          </a:p>
          <a:p>
            <a:r>
              <a:rPr lang="en-US" altLang="en-US" sz="1400">
                <a:solidFill>
                  <a:srgbClr val="CC3300"/>
                </a:solidFill>
              </a:rPr>
              <a:t>variable </a:t>
            </a:r>
          </a:p>
          <a:p>
            <a:r>
              <a:rPr lang="en-US" altLang="en-US" sz="1400">
                <a:solidFill>
                  <a:srgbClr val="CC3300"/>
                </a:solidFill>
              </a:rPr>
              <a:t>balance</a:t>
            </a:r>
          </a:p>
        </p:txBody>
      </p:sp>
      <p:sp>
        <p:nvSpPr>
          <p:cNvPr id="38932" name="Text Box 20" descr="TextBox 40">
            <a:extLst>
              <a:ext uri="{FF2B5EF4-FFF2-40B4-BE49-F238E27FC236}">
                <a16:creationId xmlns:a16="http://schemas.microsoft.com/office/drawing/2014/main" id="{A95AD618-7D5B-B744-646E-6F8D90118C62}"/>
              </a:ext>
            </a:extLst>
          </p:cNvPr>
          <p:cNvSpPr txBox="1">
            <a:spLocks/>
          </p:cNvSpPr>
          <p:nvPr/>
        </p:nvSpPr>
        <p:spPr bwMode="auto">
          <a:xfrm>
            <a:off x="2044700" y="3571875"/>
            <a:ext cx="7858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buffer</a:t>
            </a:r>
          </a:p>
        </p:txBody>
      </p:sp>
      <p:sp>
        <p:nvSpPr>
          <p:cNvPr id="38933" name="Line 21" descr="Straight Arrow Connector 34">
            <a:extLst>
              <a:ext uri="{FF2B5EF4-FFF2-40B4-BE49-F238E27FC236}">
                <a16:creationId xmlns:a16="http://schemas.microsoft.com/office/drawing/2014/main" id="{FA5FB9D5-02ED-797C-B0A2-3A4C4F1C7B32}"/>
              </a:ext>
            </a:extLst>
          </p:cNvPr>
          <p:cNvSpPr>
            <a:spLocks noChangeShapeType="1"/>
          </p:cNvSpPr>
          <p:nvPr/>
        </p:nvSpPr>
        <p:spPr bwMode="auto">
          <a:xfrm flipV="1">
            <a:off x="1854200" y="4298950"/>
            <a:ext cx="1588" cy="134461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8934" name="Text Box 22" descr="TextBox 35">
            <a:extLst>
              <a:ext uri="{FF2B5EF4-FFF2-40B4-BE49-F238E27FC236}">
                <a16:creationId xmlns:a16="http://schemas.microsoft.com/office/drawing/2014/main" id="{B63D9B58-0FEB-94F1-87CD-96208A9DF924}"/>
              </a:ext>
            </a:extLst>
          </p:cNvPr>
          <p:cNvSpPr txBox="1">
            <a:spLocks/>
          </p:cNvSpPr>
          <p:nvPr/>
        </p:nvSpPr>
        <p:spPr bwMode="auto">
          <a:xfrm>
            <a:off x="1901825" y="4500563"/>
            <a:ext cx="1627188" cy="954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4</a:t>
            </a:r>
          </a:p>
          <a:p>
            <a:r>
              <a:rPr lang="en-US" altLang="en-US" sz="1400">
                <a:solidFill>
                  <a:srgbClr val="CC3300"/>
                </a:solidFill>
              </a:rPr>
              <a:t>Copy </a:t>
            </a:r>
          </a:p>
          <a:p>
            <a:r>
              <a:rPr lang="en-US" altLang="en-US" sz="1400">
                <a:solidFill>
                  <a:srgbClr val="CC3300"/>
                </a:solidFill>
              </a:rPr>
              <a:t>Program variable</a:t>
            </a:r>
          </a:p>
          <a:p>
            <a:r>
              <a:rPr lang="en-US" altLang="en-US" sz="1400">
                <a:solidFill>
                  <a:srgbClr val="CC3300"/>
                </a:solidFill>
              </a:rPr>
              <a:t>into buffer</a:t>
            </a:r>
          </a:p>
        </p:txBody>
      </p:sp>
      <p:sp>
        <p:nvSpPr>
          <p:cNvPr id="38935" name="Line 23" descr="Straight Arrow Connector 32">
            <a:extLst>
              <a:ext uri="{FF2B5EF4-FFF2-40B4-BE49-F238E27FC236}">
                <a16:creationId xmlns:a16="http://schemas.microsoft.com/office/drawing/2014/main" id="{2FC4C3CD-DE40-1010-540A-620ABBDA92E6}"/>
              </a:ext>
            </a:extLst>
          </p:cNvPr>
          <p:cNvSpPr>
            <a:spLocks noChangeShapeType="1"/>
          </p:cNvSpPr>
          <p:nvPr/>
        </p:nvSpPr>
        <p:spPr bwMode="auto">
          <a:xfrm>
            <a:off x="3141663" y="4286250"/>
            <a:ext cx="2216150" cy="50006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8936" name="Text Box 24" descr="TextBox 33">
            <a:extLst>
              <a:ext uri="{FF2B5EF4-FFF2-40B4-BE49-F238E27FC236}">
                <a16:creationId xmlns:a16="http://schemas.microsoft.com/office/drawing/2014/main" id="{635DEE54-5072-7081-A9CB-F877246AE825}"/>
              </a:ext>
            </a:extLst>
          </p:cNvPr>
          <p:cNvSpPr txBox="1">
            <a:spLocks/>
          </p:cNvSpPr>
          <p:nvPr/>
        </p:nvSpPr>
        <p:spPr bwMode="auto">
          <a:xfrm>
            <a:off x="3473450" y="3929063"/>
            <a:ext cx="1190625" cy="954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solidFill>
                  <a:srgbClr val="FF0000"/>
                </a:solidFill>
              </a:rPr>
              <a:t>Step 5</a:t>
            </a:r>
          </a:p>
          <a:p>
            <a:r>
              <a:rPr lang="en-US" altLang="en-US" sz="1400">
                <a:solidFill>
                  <a:srgbClr val="CC3300"/>
                </a:solidFill>
              </a:rPr>
              <a:t>Copy </a:t>
            </a:r>
          </a:p>
          <a:p>
            <a:r>
              <a:rPr lang="en-US" altLang="en-US" sz="1400">
                <a:solidFill>
                  <a:srgbClr val="CC3300"/>
                </a:solidFill>
              </a:rPr>
              <a:t>From buffer</a:t>
            </a:r>
          </a:p>
          <a:p>
            <a:r>
              <a:rPr lang="en-US" altLang="en-US" sz="1400">
                <a:solidFill>
                  <a:srgbClr val="CC3300"/>
                </a:solidFill>
              </a:rPr>
              <a:t>To hard disk</a:t>
            </a:r>
          </a:p>
        </p:txBody>
      </p:sp>
      <p:pic>
        <p:nvPicPr>
          <p:cNvPr id="38937" name="Picture 25" descr="Picture 2">
            <a:extLst>
              <a:ext uri="{FF2B5EF4-FFF2-40B4-BE49-F238E27FC236}">
                <a16:creationId xmlns:a16="http://schemas.microsoft.com/office/drawing/2014/main" id="{9FFD86D2-19D8-AB09-2D59-891DBFE4912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64188" y="3768725"/>
            <a:ext cx="2079625" cy="1160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descr="Title 1">
            <a:extLst>
              <a:ext uri="{FF2B5EF4-FFF2-40B4-BE49-F238E27FC236}">
                <a16:creationId xmlns:a16="http://schemas.microsoft.com/office/drawing/2014/main" id="{BD47334E-0170-C0E3-16F3-CE87F7740F7D}"/>
              </a:ext>
            </a:extLst>
          </p:cNvPr>
          <p:cNvSpPr>
            <a:spLocks noChangeArrowheads="1"/>
          </p:cNvSpPr>
          <p:nvPr>
            <p:ph type="title"/>
          </p:nvPr>
        </p:nvSpPr>
        <p:spPr/>
        <p:txBody>
          <a:bodyPr/>
          <a:lstStyle/>
          <a:p>
            <a:r>
              <a:rPr lang="en-US" altLang="en-US"/>
              <a:t>Problems with Concurrent Execution</a:t>
            </a:r>
          </a:p>
        </p:txBody>
      </p:sp>
      <p:sp>
        <p:nvSpPr>
          <p:cNvPr id="39939" name="Rectangle 3" descr="Content Placeholder 2">
            <a:extLst>
              <a:ext uri="{FF2B5EF4-FFF2-40B4-BE49-F238E27FC236}">
                <a16:creationId xmlns:a16="http://schemas.microsoft.com/office/drawing/2014/main" id="{DFD9A2FE-D965-B12F-E6FD-1EBD282124E2}"/>
              </a:ext>
            </a:extLst>
          </p:cNvPr>
          <p:cNvSpPr>
            <a:spLocks noChangeArrowheads="1"/>
          </p:cNvSpPr>
          <p:nvPr>
            <p:ph type="body" idx="1"/>
          </p:nvPr>
        </p:nvSpPr>
        <p:spPr/>
        <p:txBody>
          <a:bodyPr/>
          <a:lstStyle/>
          <a:p>
            <a:pPr marL="0" indent="0">
              <a:spcBef>
                <a:spcPts val="600"/>
              </a:spcBef>
              <a:buSzTx/>
              <a:buFont typeface="Wingdings" panose="05000000000000000000" pitchFamily="2" charset="2"/>
              <a:buNone/>
            </a:pPr>
            <a:r>
              <a:rPr lang="en-US" altLang="en-US" sz="2800"/>
              <a:t>What is Concurrent Execution ?</a:t>
            </a:r>
          </a:p>
          <a:p>
            <a:pPr marL="0" indent="0">
              <a:spcBef>
                <a:spcPts val="600"/>
              </a:spcBef>
              <a:buSzTx/>
              <a:buFont typeface="Wingdings" panose="05000000000000000000" pitchFamily="2" charset="2"/>
              <a:buNone/>
            </a:pPr>
            <a:r>
              <a:rPr lang="en-US" altLang="en-US" sz="2800"/>
              <a:t>When </a:t>
            </a:r>
            <a:r>
              <a:rPr lang="en-US" altLang="en-US" sz="2800" b="1"/>
              <a:t>Multiple users </a:t>
            </a:r>
            <a:r>
              <a:rPr lang="en-US" altLang="en-US" sz="2800"/>
              <a:t>trying to access same database record in an uncontrolled manner.</a:t>
            </a:r>
          </a:p>
          <a:p>
            <a:pPr marL="0" indent="0">
              <a:buSzTx/>
              <a:buFont typeface="Wingdings" panose="05000000000000000000" pitchFamily="2" charset="2"/>
              <a:buNone/>
            </a:pPr>
            <a:endParaRPr lang="en-US" altLang="en-US" sz="2800"/>
          </a:p>
          <a:p>
            <a:pPr marL="0" indent="0">
              <a:spcBef>
                <a:spcPts val="600"/>
              </a:spcBef>
              <a:buSzTx/>
              <a:buFont typeface="Wingdings" panose="05000000000000000000" pitchFamily="2" charset="2"/>
              <a:buNone/>
            </a:pPr>
            <a:r>
              <a:rPr lang="en-US" altLang="en-US" sz="2800"/>
              <a:t>Problems with Concurrent execution</a:t>
            </a:r>
          </a:p>
          <a:p>
            <a:pPr marL="984250" lvl="1" indent="-514350">
              <a:spcBef>
                <a:spcPts val="500"/>
              </a:spcBef>
              <a:buFontTx/>
              <a:buAutoNum type="arabicPeriod"/>
            </a:pPr>
            <a:r>
              <a:rPr lang="en-US" altLang="en-US" sz="2400"/>
              <a:t>Lost Update Problem</a:t>
            </a:r>
            <a:endParaRPr lang="en-US" altLang="en-US" sz="2600"/>
          </a:p>
          <a:p>
            <a:pPr marL="984250" lvl="1" indent="-514350">
              <a:spcBef>
                <a:spcPts val="500"/>
              </a:spcBef>
              <a:buFontTx/>
              <a:buAutoNum type="arabicPeriod"/>
            </a:pPr>
            <a:r>
              <a:rPr lang="en-US" altLang="en-US" sz="2400"/>
              <a:t>Temporary Update (or Dirty Read) Problem </a:t>
            </a:r>
            <a:endParaRPr lang="en-US" altLang="en-US" sz="2600"/>
          </a:p>
          <a:p>
            <a:pPr marL="984250" lvl="1" indent="-514350">
              <a:spcBef>
                <a:spcPts val="500"/>
              </a:spcBef>
              <a:buFontTx/>
              <a:buAutoNum type="arabicPeriod"/>
            </a:pPr>
            <a:r>
              <a:rPr lang="en-US" altLang="en-US" sz="2400"/>
              <a:t>Incorrect Summary Problem</a:t>
            </a:r>
            <a:endParaRPr lang="en-US" altLang="en-US" sz="2600"/>
          </a:p>
          <a:p>
            <a:pPr marL="984250" lvl="1" indent="-514350">
              <a:spcBef>
                <a:spcPts val="500"/>
              </a:spcBef>
              <a:buFontTx/>
              <a:buAutoNum type="arabicPeriod"/>
            </a:pPr>
            <a:r>
              <a:rPr lang="en-US" altLang="en-US" sz="2400"/>
              <a:t>Unrepeatable Read</a:t>
            </a:r>
          </a:p>
        </p:txBody>
      </p:sp>
      <p:sp>
        <p:nvSpPr>
          <p:cNvPr id="39940" name="Text Box 4" descr="Date Placeholder 3">
            <a:extLst>
              <a:ext uri="{FF2B5EF4-FFF2-40B4-BE49-F238E27FC236}">
                <a16:creationId xmlns:a16="http://schemas.microsoft.com/office/drawing/2014/main" id="{FFEBAF42-0C95-7D64-3A96-744DBBF5E49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9941" name="Text Box 5" descr="Slide Number Placeholder 5">
            <a:extLst>
              <a:ext uri="{FF2B5EF4-FFF2-40B4-BE49-F238E27FC236}">
                <a16:creationId xmlns:a16="http://schemas.microsoft.com/office/drawing/2014/main" id="{DB6B0115-F7DC-F25F-2F0C-C562D84BC25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FD38D24-6A7B-40FA-BC55-09EF7D88084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descr="Title 1">
            <a:extLst>
              <a:ext uri="{FF2B5EF4-FFF2-40B4-BE49-F238E27FC236}">
                <a16:creationId xmlns:a16="http://schemas.microsoft.com/office/drawing/2014/main" id="{1E646966-2F86-B9A7-B032-A9CD6BC99976}"/>
              </a:ext>
            </a:extLst>
          </p:cNvPr>
          <p:cNvSpPr>
            <a:spLocks noChangeArrowheads="1"/>
          </p:cNvSpPr>
          <p:nvPr>
            <p:ph type="title"/>
          </p:nvPr>
        </p:nvSpPr>
        <p:spPr/>
        <p:txBody>
          <a:bodyPr/>
          <a:lstStyle/>
          <a:p>
            <a:pPr defTabSz="904875"/>
            <a:r>
              <a:rPr lang="en-US" altLang="en-US" sz="2300"/>
              <a:t>To Understand problems with concurrent executions</a:t>
            </a:r>
          </a:p>
        </p:txBody>
      </p:sp>
      <p:sp>
        <p:nvSpPr>
          <p:cNvPr id="40963" name="Text Box 3" descr="Date Placeholder 3">
            <a:extLst>
              <a:ext uri="{FF2B5EF4-FFF2-40B4-BE49-F238E27FC236}">
                <a16:creationId xmlns:a16="http://schemas.microsoft.com/office/drawing/2014/main" id="{27F25CE4-904C-7DD0-37A0-4CD85B3759E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0964" name="Text Box 4" descr="Slide Number Placeholder 5">
            <a:extLst>
              <a:ext uri="{FF2B5EF4-FFF2-40B4-BE49-F238E27FC236}">
                <a16:creationId xmlns:a16="http://schemas.microsoft.com/office/drawing/2014/main" id="{AF3BB70E-EFC8-FF05-1F1E-D253C663EB5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84F60AA-71AA-4770-95A8-D12157D0A17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40965" name="Group 5">
            <a:extLst>
              <a:ext uri="{FF2B5EF4-FFF2-40B4-BE49-F238E27FC236}">
                <a16:creationId xmlns:a16="http://schemas.microsoft.com/office/drawing/2014/main" id="{392AFA9C-2695-1072-DBBF-F6C34513D0D5}"/>
              </a:ext>
            </a:extLst>
          </p:cNvPr>
          <p:cNvGraphicFramePr>
            <a:graphicFrameLocks noGrp="1"/>
          </p:cNvGraphicFramePr>
          <p:nvPr/>
        </p:nvGraphicFramePr>
        <p:xfrm>
          <a:off x="762000" y="2459038"/>
          <a:ext cx="7548563" cy="1609725"/>
        </p:xfrm>
        <a:graphic>
          <a:graphicData uri="http://schemas.openxmlformats.org/drawingml/2006/table">
            <a:tbl>
              <a:tblPr/>
              <a:tblGrid>
                <a:gridCol w="1090613">
                  <a:extLst>
                    <a:ext uri="{9D8B030D-6E8A-4147-A177-3AD203B41FA5}">
                      <a16:colId xmlns:a16="http://schemas.microsoft.com/office/drawing/2014/main" val="662210522"/>
                    </a:ext>
                  </a:extLst>
                </a:gridCol>
                <a:gridCol w="1200150">
                  <a:extLst>
                    <a:ext uri="{9D8B030D-6E8A-4147-A177-3AD203B41FA5}">
                      <a16:colId xmlns:a16="http://schemas.microsoft.com/office/drawing/2014/main" val="1282721915"/>
                    </a:ext>
                  </a:extLst>
                </a:gridCol>
                <a:gridCol w="1096962">
                  <a:extLst>
                    <a:ext uri="{9D8B030D-6E8A-4147-A177-3AD203B41FA5}">
                      <a16:colId xmlns:a16="http://schemas.microsoft.com/office/drawing/2014/main" val="1669954594"/>
                    </a:ext>
                  </a:extLst>
                </a:gridCol>
                <a:gridCol w="1184275">
                  <a:extLst>
                    <a:ext uri="{9D8B030D-6E8A-4147-A177-3AD203B41FA5}">
                      <a16:colId xmlns:a16="http://schemas.microsoft.com/office/drawing/2014/main" val="889578220"/>
                    </a:ext>
                  </a:extLst>
                </a:gridCol>
                <a:gridCol w="1196975">
                  <a:extLst>
                    <a:ext uri="{9D8B030D-6E8A-4147-A177-3AD203B41FA5}">
                      <a16:colId xmlns:a16="http://schemas.microsoft.com/office/drawing/2014/main" val="3702370761"/>
                    </a:ext>
                  </a:extLst>
                </a:gridCol>
                <a:gridCol w="1779588">
                  <a:extLst>
                    <a:ext uri="{9D8B030D-6E8A-4147-A177-3AD203B41FA5}">
                      <a16:colId xmlns:a16="http://schemas.microsoft.com/office/drawing/2014/main" val="1541743378"/>
                    </a:ext>
                  </a:extLst>
                </a:gridCol>
              </a:tblGrid>
              <a:tr h="536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Source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Destination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Train Name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Date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Number of Seats 
Reserved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64014818"/>
                  </a:ext>
                </a:extLst>
              </a:tr>
              <a:tr h="536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Bangalore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Mysore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Express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25-3-2016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80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2942726"/>
                  </a:ext>
                </a:extLst>
              </a:tr>
              <a:tr h="536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Bangalore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Mysore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Chamundi Express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18:15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25-3-2016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84454748"/>
                  </a:ext>
                </a:extLst>
              </a:tr>
            </a:tbl>
          </a:graphicData>
        </a:graphic>
      </p:graphicFrame>
      <p:sp>
        <p:nvSpPr>
          <p:cNvPr id="41029" name="Text Box 69" descr="TextBox 9">
            <a:extLst>
              <a:ext uri="{FF2B5EF4-FFF2-40B4-BE49-F238E27FC236}">
                <a16:creationId xmlns:a16="http://schemas.microsoft.com/office/drawing/2014/main" id="{7BC24845-B922-3A99-360D-2EA1CEA348E7}"/>
              </a:ext>
            </a:extLst>
          </p:cNvPr>
          <p:cNvSpPr txBox="1">
            <a:spLocks/>
          </p:cNvSpPr>
          <p:nvPr/>
        </p:nvSpPr>
        <p:spPr bwMode="auto">
          <a:xfrm>
            <a:off x="2754313" y="2081213"/>
            <a:ext cx="289560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Train Reservation Database</a:t>
            </a:r>
          </a:p>
        </p:txBody>
      </p:sp>
      <p:pic>
        <p:nvPicPr>
          <p:cNvPr id="41030" name="Picture 70" descr="Picture 3">
            <a:extLst>
              <a:ext uri="{FF2B5EF4-FFF2-40B4-BE49-F238E27FC236}">
                <a16:creationId xmlns:a16="http://schemas.microsoft.com/office/drawing/2014/main" id="{AB449897-4392-E1CC-DB94-6AFCF32E98F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66950" y="4873625"/>
            <a:ext cx="533400" cy="928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1031" name="Picture 71" descr="Picture 4">
            <a:extLst>
              <a:ext uri="{FF2B5EF4-FFF2-40B4-BE49-F238E27FC236}">
                <a16:creationId xmlns:a16="http://schemas.microsoft.com/office/drawing/2014/main" id="{0AD83588-892A-3B25-5687-5501F194F86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200775" y="5092700"/>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1032" name="Rectangle 72" descr="Rectangle 12">
            <a:extLst>
              <a:ext uri="{FF2B5EF4-FFF2-40B4-BE49-F238E27FC236}">
                <a16:creationId xmlns:a16="http://schemas.microsoft.com/office/drawing/2014/main" id="{18C617C8-42EC-8BC9-9589-AF8006D8289D}"/>
              </a:ext>
            </a:extLst>
          </p:cNvPr>
          <p:cNvSpPr>
            <a:spLocks/>
          </p:cNvSpPr>
          <p:nvPr/>
        </p:nvSpPr>
        <p:spPr bwMode="auto">
          <a:xfrm>
            <a:off x="609600" y="2038350"/>
            <a:ext cx="7921625" cy="2109788"/>
          </a:xfrm>
          <a:prstGeom prst="rect">
            <a:avLst/>
          </a:prstGeom>
          <a:noFill/>
          <a:ln w="38100" cap="flat" cmpd="sng">
            <a:solidFill>
              <a:srgbClr val="00B05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pSp>
        <p:nvGrpSpPr>
          <p:cNvPr id="41033" name="Group 73">
            <a:extLst>
              <a:ext uri="{FF2B5EF4-FFF2-40B4-BE49-F238E27FC236}">
                <a16:creationId xmlns:a16="http://schemas.microsoft.com/office/drawing/2014/main" id="{8B56E4FC-BA71-0B62-D097-BDF5740198CD}"/>
              </a:ext>
            </a:extLst>
          </p:cNvPr>
          <p:cNvGrpSpPr>
            <a:grpSpLocks/>
          </p:cNvGrpSpPr>
          <p:nvPr/>
        </p:nvGrpSpPr>
        <p:grpSpPr bwMode="auto">
          <a:xfrm>
            <a:off x="3198813" y="4491038"/>
            <a:ext cx="2668587" cy="766762"/>
            <a:chOff x="0" y="-1"/>
            <a:chExt cx="2668137" cy="767236"/>
          </a:xfrm>
        </p:grpSpPr>
        <p:sp>
          <p:nvSpPr>
            <p:cNvPr id="41034" name="Rectangle 74">
              <a:extLst>
                <a:ext uri="{FF2B5EF4-FFF2-40B4-BE49-F238E27FC236}">
                  <a16:creationId xmlns:a16="http://schemas.microsoft.com/office/drawing/2014/main" id="{45A43689-1FE8-81AD-4E6B-BFF81EFA6F33}"/>
                </a:ext>
              </a:extLst>
            </p:cNvPr>
            <p:cNvSpPr>
              <a:spLocks/>
            </p:cNvSpPr>
            <p:nvPr/>
          </p:nvSpPr>
          <p:spPr bwMode="auto">
            <a:xfrm>
              <a:off x="0" y="-1"/>
              <a:ext cx="2668137" cy="767236"/>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1035" name="Text Box 75">
              <a:extLst>
                <a:ext uri="{FF2B5EF4-FFF2-40B4-BE49-F238E27FC236}">
                  <a16:creationId xmlns:a16="http://schemas.microsoft.com/office/drawing/2014/main" id="{735BABFB-BE7A-4F0E-238B-71870CE77763}"/>
                </a:ext>
              </a:extLst>
            </p:cNvPr>
            <p:cNvSpPr txBox="1">
              <a:spLocks/>
            </p:cNvSpPr>
            <p:nvPr/>
          </p:nvSpPr>
          <p:spPr bwMode="auto">
            <a:xfrm>
              <a:off x="64770" y="19049"/>
              <a:ext cx="2538598"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Booking/Cancellation Software </a:t>
              </a:r>
            </a:p>
          </p:txBody>
        </p:sp>
      </p:grpSp>
      <p:sp>
        <p:nvSpPr>
          <p:cNvPr id="41036" name="AutoShape 76" descr="Up Arrow 14">
            <a:extLst>
              <a:ext uri="{FF2B5EF4-FFF2-40B4-BE49-F238E27FC236}">
                <a16:creationId xmlns:a16="http://schemas.microsoft.com/office/drawing/2014/main" id="{8F6315B4-D490-CDEE-A57C-0A108D0874B5}"/>
              </a:ext>
            </a:extLst>
          </p:cNvPr>
          <p:cNvSpPr>
            <a:spLocks/>
          </p:cNvSpPr>
          <p:nvPr/>
        </p:nvSpPr>
        <p:spPr bwMode="auto">
          <a:xfrm>
            <a:off x="4343400" y="4148138"/>
            <a:ext cx="304800" cy="342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9626"/>
                </a:moveTo>
                <a:lnTo>
                  <a:pt x="10800" y="0"/>
                </a:lnTo>
                <a:lnTo>
                  <a:pt x="21600" y="9626"/>
                </a:lnTo>
                <a:lnTo>
                  <a:pt x="16200" y="9626"/>
                </a:lnTo>
                <a:lnTo>
                  <a:pt x="16200" y="21600"/>
                </a:lnTo>
                <a:lnTo>
                  <a:pt x="5400" y="21600"/>
                </a:lnTo>
                <a:lnTo>
                  <a:pt x="5400" y="9626"/>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1037" name="Line 77" descr="Straight Arrow Connector 15">
            <a:extLst>
              <a:ext uri="{FF2B5EF4-FFF2-40B4-BE49-F238E27FC236}">
                <a16:creationId xmlns:a16="http://schemas.microsoft.com/office/drawing/2014/main" id="{DA46B415-E3D3-013B-0C0B-0E2826675374}"/>
              </a:ext>
            </a:extLst>
          </p:cNvPr>
          <p:cNvSpPr>
            <a:spLocks noChangeShapeType="1"/>
          </p:cNvSpPr>
          <p:nvPr/>
        </p:nvSpPr>
        <p:spPr bwMode="auto">
          <a:xfrm flipV="1">
            <a:off x="2708275" y="4795838"/>
            <a:ext cx="490538" cy="3810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1038" name="Line 78" descr="Straight Arrow Connector 16">
            <a:extLst>
              <a:ext uri="{FF2B5EF4-FFF2-40B4-BE49-F238E27FC236}">
                <a16:creationId xmlns:a16="http://schemas.microsoft.com/office/drawing/2014/main" id="{110A0F12-674A-D423-5A1C-D0444FD4195F}"/>
              </a:ext>
            </a:extLst>
          </p:cNvPr>
          <p:cNvSpPr>
            <a:spLocks noChangeShapeType="1"/>
          </p:cNvSpPr>
          <p:nvPr/>
        </p:nvSpPr>
        <p:spPr bwMode="auto">
          <a:xfrm flipH="1" flipV="1">
            <a:off x="5867400" y="4826000"/>
            <a:ext cx="561975" cy="2667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1039" name="Text Box 79" descr="TextBox 2">
            <a:extLst>
              <a:ext uri="{FF2B5EF4-FFF2-40B4-BE49-F238E27FC236}">
                <a16:creationId xmlns:a16="http://schemas.microsoft.com/office/drawing/2014/main" id="{FBA32D10-C012-B430-2AB1-928D135CC362}"/>
              </a:ext>
            </a:extLst>
          </p:cNvPr>
          <p:cNvSpPr txBox="1">
            <a:spLocks/>
          </p:cNvSpPr>
          <p:nvPr/>
        </p:nvSpPr>
        <p:spPr bwMode="auto">
          <a:xfrm>
            <a:off x="739775" y="1339850"/>
            <a:ext cx="5819775"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an example of Train Reservation System</a:t>
            </a:r>
          </a:p>
        </p:txBody>
      </p:sp>
      <p:sp>
        <p:nvSpPr>
          <p:cNvPr id="41040" name="Text Box 80" descr="TextBox 17">
            <a:extLst>
              <a:ext uri="{FF2B5EF4-FFF2-40B4-BE49-F238E27FC236}">
                <a16:creationId xmlns:a16="http://schemas.microsoft.com/office/drawing/2014/main" id="{979C1574-2755-2515-844B-015DCAC2E9AC}"/>
              </a:ext>
            </a:extLst>
          </p:cNvPr>
          <p:cNvSpPr txBox="1">
            <a:spLocks/>
          </p:cNvSpPr>
          <p:nvPr/>
        </p:nvSpPr>
        <p:spPr bwMode="auto">
          <a:xfrm>
            <a:off x="1989138" y="58023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1041" name="Text Box 81" descr="TextBox 18">
            <a:extLst>
              <a:ext uri="{FF2B5EF4-FFF2-40B4-BE49-F238E27FC236}">
                <a16:creationId xmlns:a16="http://schemas.microsoft.com/office/drawing/2014/main" id="{0FED4134-770E-1B2A-79E4-0F9AA0093590}"/>
              </a:ext>
            </a:extLst>
          </p:cNvPr>
          <p:cNvSpPr txBox="1">
            <a:spLocks/>
          </p:cNvSpPr>
          <p:nvPr/>
        </p:nvSpPr>
        <p:spPr bwMode="auto">
          <a:xfrm>
            <a:off x="6046788" y="5822950"/>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Tree>
  </p:cSld>
  <p:clrMapOvr>
    <a:masterClrMapping/>
  </p:clrMapOvr>
  <p:transition spd="med"/>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descr="Title 1">
            <a:extLst>
              <a:ext uri="{FF2B5EF4-FFF2-40B4-BE49-F238E27FC236}">
                <a16:creationId xmlns:a16="http://schemas.microsoft.com/office/drawing/2014/main" id="{56B78042-D01C-7621-069E-A52D16C726D7}"/>
              </a:ext>
            </a:extLst>
          </p:cNvPr>
          <p:cNvSpPr>
            <a:spLocks noChangeArrowheads="1"/>
          </p:cNvSpPr>
          <p:nvPr>
            <p:ph type="title"/>
          </p:nvPr>
        </p:nvSpPr>
        <p:spPr/>
        <p:txBody>
          <a:bodyPr/>
          <a:lstStyle/>
          <a:p>
            <a:pPr defTabSz="904875"/>
            <a:r>
              <a:rPr lang="en-US" altLang="en-US" sz="2300"/>
              <a:t>To Understand problems with concurrent executions</a:t>
            </a:r>
          </a:p>
        </p:txBody>
      </p:sp>
      <p:sp>
        <p:nvSpPr>
          <p:cNvPr id="41987" name="Text Box 3" descr="Date Placeholder 3">
            <a:extLst>
              <a:ext uri="{FF2B5EF4-FFF2-40B4-BE49-F238E27FC236}">
                <a16:creationId xmlns:a16="http://schemas.microsoft.com/office/drawing/2014/main" id="{4BFD4D78-6785-5702-E44B-BFB356510E0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1988" name="Text Box 4" descr="Slide Number Placeholder 5">
            <a:extLst>
              <a:ext uri="{FF2B5EF4-FFF2-40B4-BE49-F238E27FC236}">
                <a16:creationId xmlns:a16="http://schemas.microsoft.com/office/drawing/2014/main" id="{B56F6BB1-6B4F-F105-4DAE-A2282E18DF8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8FC7197-345D-4E08-8692-35BECFF4B4E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1989" name="Picture 5" descr="Picture 3">
            <a:extLst>
              <a:ext uri="{FF2B5EF4-FFF2-40B4-BE49-F238E27FC236}">
                <a16:creationId xmlns:a16="http://schemas.microsoft.com/office/drawing/2014/main" id="{E813AC1D-D5E3-9AFA-B7C4-30ACDC30C3E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43138" y="3560763"/>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1990" name="Picture 6" descr="Picture 4">
            <a:extLst>
              <a:ext uri="{FF2B5EF4-FFF2-40B4-BE49-F238E27FC236}">
                <a16:creationId xmlns:a16="http://schemas.microsoft.com/office/drawing/2014/main" id="{9FCCD5D8-B21B-0A2E-9D47-A73564AE629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61113" y="3759200"/>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1991" name="Group 7">
            <a:extLst>
              <a:ext uri="{FF2B5EF4-FFF2-40B4-BE49-F238E27FC236}">
                <a16:creationId xmlns:a16="http://schemas.microsoft.com/office/drawing/2014/main" id="{891C32E4-BF90-BACA-88D6-A4291165E567}"/>
              </a:ext>
            </a:extLst>
          </p:cNvPr>
          <p:cNvGrpSpPr>
            <a:grpSpLocks/>
          </p:cNvGrpSpPr>
          <p:nvPr/>
        </p:nvGrpSpPr>
        <p:grpSpPr bwMode="auto">
          <a:xfrm>
            <a:off x="3130550" y="3500438"/>
            <a:ext cx="2668588" cy="766762"/>
            <a:chOff x="0" y="-1"/>
            <a:chExt cx="2668137" cy="767236"/>
          </a:xfrm>
        </p:grpSpPr>
        <p:sp>
          <p:nvSpPr>
            <p:cNvPr id="41992" name="Rectangle 8">
              <a:extLst>
                <a:ext uri="{FF2B5EF4-FFF2-40B4-BE49-F238E27FC236}">
                  <a16:creationId xmlns:a16="http://schemas.microsoft.com/office/drawing/2014/main" id="{44D39688-D587-BA0A-FB4B-B267A47BE502}"/>
                </a:ext>
              </a:extLst>
            </p:cNvPr>
            <p:cNvSpPr>
              <a:spLocks/>
            </p:cNvSpPr>
            <p:nvPr/>
          </p:nvSpPr>
          <p:spPr bwMode="auto">
            <a:xfrm>
              <a:off x="0" y="-1"/>
              <a:ext cx="2668137" cy="767236"/>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1993" name="Text Box 9">
              <a:extLst>
                <a:ext uri="{FF2B5EF4-FFF2-40B4-BE49-F238E27FC236}">
                  <a16:creationId xmlns:a16="http://schemas.microsoft.com/office/drawing/2014/main" id="{3068F465-1276-F0B8-8B46-CDAC2931F74B}"/>
                </a:ext>
              </a:extLst>
            </p:cNvPr>
            <p:cNvSpPr txBox="1">
              <a:spLocks/>
            </p:cNvSpPr>
            <p:nvPr/>
          </p:nvSpPr>
          <p:spPr bwMode="auto">
            <a:xfrm>
              <a:off x="64770" y="19049"/>
              <a:ext cx="2538598"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Booking/Cancellation Software </a:t>
              </a:r>
            </a:p>
          </p:txBody>
        </p:sp>
      </p:grpSp>
      <p:sp>
        <p:nvSpPr>
          <p:cNvPr id="41994" name="Line 10" descr="Straight Arrow Connector 15">
            <a:extLst>
              <a:ext uri="{FF2B5EF4-FFF2-40B4-BE49-F238E27FC236}">
                <a16:creationId xmlns:a16="http://schemas.microsoft.com/office/drawing/2014/main" id="{01904F08-7EA4-3BFC-1843-983A7EBDDBCE}"/>
              </a:ext>
            </a:extLst>
          </p:cNvPr>
          <p:cNvSpPr>
            <a:spLocks noChangeShapeType="1"/>
          </p:cNvSpPr>
          <p:nvPr/>
        </p:nvSpPr>
        <p:spPr bwMode="auto">
          <a:xfrm flipV="1">
            <a:off x="2601913" y="3803650"/>
            <a:ext cx="490537" cy="3810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1995" name="Line 11" descr="Straight Arrow Connector 16">
            <a:extLst>
              <a:ext uri="{FF2B5EF4-FFF2-40B4-BE49-F238E27FC236}">
                <a16:creationId xmlns:a16="http://schemas.microsoft.com/office/drawing/2014/main" id="{3474F4A3-BB90-07F2-4C58-5866AADEA5AC}"/>
              </a:ext>
            </a:extLst>
          </p:cNvPr>
          <p:cNvSpPr>
            <a:spLocks noChangeShapeType="1"/>
          </p:cNvSpPr>
          <p:nvPr/>
        </p:nvSpPr>
        <p:spPr bwMode="auto">
          <a:xfrm flipH="1" flipV="1">
            <a:off x="5799138" y="3759200"/>
            <a:ext cx="561975" cy="2667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1996" name="Text Box 12" descr="TextBox 2">
            <a:extLst>
              <a:ext uri="{FF2B5EF4-FFF2-40B4-BE49-F238E27FC236}">
                <a16:creationId xmlns:a16="http://schemas.microsoft.com/office/drawing/2014/main" id="{6142C551-3F70-4699-EFFF-0A0421E32631}"/>
              </a:ext>
            </a:extLst>
          </p:cNvPr>
          <p:cNvSpPr txBox="1">
            <a:spLocks/>
          </p:cNvSpPr>
          <p:nvPr/>
        </p:nvSpPr>
        <p:spPr bwMode="auto">
          <a:xfrm>
            <a:off x="515938" y="1155700"/>
            <a:ext cx="582136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an example of Train Reservation System</a:t>
            </a:r>
          </a:p>
        </p:txBody>
      </p:sp>
      <p:sp>
        <p:nvSpPr>
          <p:cNvPr id="41997" name="Text Box 13" descr="TextBox 17">
            <a:extLst>
              <a:ext uri="{FF2B5EF4-FFF2-40B4-BE49-F238E27FC236}">
                <a16:creationId xmlns:a16="http://schemas.microsoft.com/office/drawing/2014/main" id="{F8FA9E33-96D7-0E24-349F-CC34FDF08B22}"/>
              </a:ext>
            </a:extLst>
          </p:cNvPr>
          <p:cNvSpPr txBox="1">
            <a:spLocks/>
          </p:cNvSpPr>
          <p:nvPr/>
        </p:nvSpPr>
        <p:spPr bwMode="auto">
          <a:xfrm>
            <a:off x="1304925" y="3840163"/>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1998" name="Text Box 14" descr="TextBox 18">
            <a:extLst>
              <a:ext uri="{FF2B5EF4-FFF2-40B4-BE49-F238E27FC236}">
                <a16:creationId xmlns:a16="http://schemas.microsoft.com/office/drawing/2014/main" id="{63981D8B-4172-EBEF-BBDC-8424797054A7}"/>
              </a:ext>
            </a:extLst>
          </p:cNvPr>
          <p:cNvSpPr txBox="1">
            <a:spLocks/>
          </p:cNvSpPr>
          <p:nvPr/>
        </p:nvSpPr>
        <p:spPr bwMode="auto">
          <a:xfrm>
            <a:off x="6864350" y="3984625"/>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41999" name="AutoShape 15" descr="Down Arrow 7">
            <a:extLst>
              <a:ext uri="{FF2B5EF4-FFF2-40B4-BE49-F238E27FC236}">
                <a16:creationId xmlns:a16="http://schemas.microsoft.com/office/drawing/2014/main" id="{927BA8CC-7E2C-35E5-8E85-959A11DC3A9E}"/>
              </a:ext>
            </a:extLst>
          </p:cNvPr>
          <p:cNvSpPr>
            <a:spLocks/>
          </p:cNvSpPr>
          <p:nvPr/>
        </p:nvSpPr>
        <p:spPr bwMode="auto">
          <a:xfrm rot="10598870">
            <a:off x="4273550" y="3149600"/>
            <a:ext cx="322263" cy="3603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1934"/>
                </a:moveTo>
                <a:lnTo>
                  <a:pt x="5400" y="11934"/>
                </a:lnTo>
                <a:lnTo>
                  <a:pt x="5400" y="0"/>
                </a:lnTo>
                <a:lnTo>
                  <a:pt x="16200" y="0"/>
                </a:lnTo>
                <a:lnTo>
                  <a:pt x="16200" y="11934"/>
                </a:lnTo>
                <a:lnTo>
                  <a:pt x="21600" y="11934"/>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2000" name="Text Box 16" descr="TextBox 19">
            <a:extLst>
              <a:ext uri="{FF2B5EF4-FFF2-40B4-BE49-F238E27FC236}">
                <a16:creationId xmlns:a16="http://schemas.microsoft.com/office/drawing/2014/main" id="{4A543744-F290-F9EB-DCCC-3D36E801AD7E}"/>
              </a:ext>
            </a:extLst>
          </p:cNvPr>
          <p:cNvSpPr txBox="1">
            <a:spLocks/>
          </p:cNvSpPr>
          <p:nvPr/>
        </p:nvSpPr>
        <p:spPr bwMode="auto">
          <a:xfrm>
            <a:off x="106363" y="4489450"/>
            <a:ext cx="4699000" cy="749300"/>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User1</a:t>
            </a:r>
          </a:p>
          <a:p>
            <a:r>
              <a:rPr lang="en-US" altLang="en-US" sz="1400"/>
              <a:t>1.Wants to </a:t>
            </a:r>
            <a:r>
              <a:rPr lang="en-US" altLang="en-US" sz="1400" b="1"/>
              <a:t>cancel</a:t>
            </a:r>
            <a:r>
              <a:rPr lang="en-US" altLang="en-US" sz="1400"/>
              <a:t> 5 seats on </a:t>
            </a:r>
            <a:r>
              <a:rPr lang="en-US" altLang="en-US" sz="1400" b="1"/>
              <a:t>Tippu</a:t>
            </a:r>
            <a:r>
              <a:rPr lang="en-US" altLang="en-US" sz="1400"/>
              <a:t> express</a:t>
            </a:r>
          </a:p>
          <a:p>
            <a:r>
              <a:rPr lang="en-US" altLang="en-US" sz="1400"/>
              <a:t>2.Wants to </a:t>
            </a:r>
            <a:r>
              <a:rPr lang="en-US" altLang="en-US" sz="1400" b="1"/>
              <a:t>reserve</a:t>
            </a:r>
            <a:r>
              <a:rPr lang="en-US" altLang="en-US" sz="1400"/>
              <a:t> 5 seats on </a:t>
            </a:r>
            <a:r>
              <a:rPr lang="en-US" altLang="en-US" sz="1400" b="1"/>
              <a:t>Chamundi</a:t>
            </a:r>
            <a:r>
              <a:rPr lang="en-US" altLang="en-US" sz="1400"/>
              <a:t> express</a:t>
            </a:r>
          </a:p>
        </p:txBody>
      </p:sp>
      <p:sp>
        <p:nvSpPr>
          <p:cNvPr id="42001" name="Text Box 17" descr="TextBox 21">
            <a:extLst>
              <a:ext uri="{FF2B5EF4-FFF2-40B4-BE49-F238E27FC236}">
                <a16:creationId xmlns:a16="http://schemas.microsoft.com/office/drawing/2014/main" id="{5509F319-E002-7853-CD50-0B9EB6FA31F4}"/>
              </a:ext>
            </a:extLst>
          </p:cNvPr>
          <p:cNvSpPr txBox="1">
            <a:spLocks/>
          </p:cNvSpPr>
          <p:nvPr/>
        </p:nvSpPr>
        <p:spPr bwMode="auto">
          <a:xfrm>
            <a:off x="5270500" y="4487863"/>
            <a:ext cx="3567113" cy="747712"/>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User2</a:t>
            </a:r>
          </a:p>
          <a:p>
            <a:r>
              <a:rPr lang="en-US" altLang="en-US" sz="1400"/>
              <a:t>1.Wants to </a:t>
            </a:r>
            <a:r>
              <a:rPr lang="en-US" altLang="en-US" sz="1400" b="1"/>
              <a:t>reserve</a:t>
            </a:r>
            <a:r>
              <a:rPr lang="en-US" altLang="en-US" sz="1400"/>
              <a:t> 4 seats on </a:t>
            </a:r>
            <a:r>
              <a:rPr lang="en-US" altLang="en-US" sz="1400" b="1"/>
              <a:t>Tippu</a:t>
            </a:r>
            <a:r>
              <a:rPr lang="en-US" altLang="en-US" sz="1400"/>
              <a:t> </a:t>
            </a:r>
          </a:p>
          <a:p>
            <a:r>
              <a:rPr lang="en-US" altLang="en-US" sz="1400"/>
              <a:t>express</a:t>
            </a:r>
          </a:p>
        </p:txBody>
      </p:sp>
      <p:pic>
        <p:nvPicPr>
          <p:cNvPr id="42002" name="Picture 18" descr="Picture 3">
            <a:extLst>
              <a:ext uri="{FF2B5EF4-FFF2-40B4-BE49-F238E27FC236}">
                <a16:creationId xmlns:a16="http://schemas.microsoft.com/office/drawing/2014/main" id="{1E988BC7-8B7B-A3F4-3B14-0E2662CA0ED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74788" y="1484313"/>
            <a:ext cx="6240462" cy="1685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descr="Title 1">
            <a:extLst>
              <a:ext uri="{FF2B5EF4-FFF2-40B4-BE49-F238E27FC236}">
                <a16:creationId xmlns:a16="http://schemas.microsoft.com/office/drawing/2014/main" id="{01792ACF-E324-4C8D-1A15-05BAC921C9AD}"/>
              </a:ext>
            </a:extLst>
          </p:cNvPr>
          <p:cNvSpPr>
            <a:spLocks noChangeArrowheads="1"/>
          </p:cNvSpPr>
          <p:nvPr>
            <p:ph type="title"/>
          </p:nvPr>
        </p:nvSpPr>
        <p:spPr/>
        <p:txBody>
          <a:bodyPr/>
          <a:lstStyle/>
          <a:p>
            <a:pPr defTabSz="904875"/>
            <a:r>
              <a:rPr lang="en-US" altLang="en-US" sz="2300"/>
              <a:t>To Understand problems with concurrent executions</a:t>
            </a:r>
          </a:p>
        </p:txBody>
      </p:sp>
      <p:sp>
        <p:nvSpPr>
          <p:cNvPr id="43011" name="Text Box 3" descr="Date Placeholder 3">
            <a:extLst>
              <a:ext uri="{FF2B5EF4-FFF2-40B4-BE49-F238E27FC236}">
                <a16:creationId xmlns:a16="http://schemas.microsoft.com/office/drawing/2014/main" id="{F712BB93-3616-1F06-E6D9-41052C11421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3012" name="Text Box 4" descr="Slide Number Placeholder 5">
            <a:extLst>
              <a:ext uri="{FF2B5EF4-FFF2-40B4-BE49-F238E27FC236}">
                <a16:creationId xmlns:a16="http://schemas.microsoft.com/office/drawing/2014/main" id="{7F3BF189-2B1B-7E2F-841F-45CE7D6A736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F1EC70B-4AFC-4102-A871-4358A1035BC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39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3013" name="Picture 5" descr="Picture 3">
            <a:extLst>
              <a:ext uri="{FF2B5EF4-FFF2-40B4-BE49-F238E27FC236}">
                <a16:creationId xmlns:a16="http://schemas.microsoft.com/office/drawing/2014/main" id="{1BA544C3-BBAF-C859-FE1F-2E87BC0FF1D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43138" y="327183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3014" name="Picture 6" descr="Picture 4">
            <a:extLst>
              <a:ext uri="{FF2B5EF4-FFF2-40B4-BE49-F238E27FC236}">
                <a16:creationId xmlns:a16="http://schemas.microsoft.com/office/drawing/2014/main" id="{EEEDE1E8-46E3-BABA-5989-82EAD8B926B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61113" y="3470275"/>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3015" name="Group 7">
            <a:extLst>
              <a:ext uri="{FF2B5EF4-FFF2-40B4-BE49-F238E27FC236}">
                <a16:creationId xmlns:a16="http://schemas.microsoft.com/office/drawing/2014/main" id="{193C1197-B029-5918-588C-4567D2443122}"/>
              </a:ext>
            </a:extLst>
          </p:cNvPr>
          <p:cNvGrpSpPr>
            <a:grpSpLocks/>
          </p:cNvGrpSpPr>
          <p:nvPr/>
        </p:nvGrpSpPr>
        <p:grpSpPr bwMode="auto">
          <a:xfrm>
            <a:off x="3130550" y="3211513"/>
            <a:ext cx="2668588" cy="766762"/>
            <a:chOff x="0" y="-1"/>
            <a:chExt cx="2668137" cy="767236"/>
          </a:xfrm>
        </p:grpSpPr>
        <p:sp>
          <p:nvSpPr>
            <p:cNvPr id="43016" name="Rectangle 8">
              <a:extLst>
                <a:ext uri="{FF2B5EF4-FFF2-40B4-BE49-F238E27FC236}">
                  <a16:creationId xmlns:a16="http://schemas.microsoft.com/office/drawing/2014/main" id="{DF9F7FCC-6940-D8A9-D389-8919178F74E6}"/>
                </a:ext>
              </a:extLst>
            </p:cNvPr>
            <p:cNvSpPr>
              <a:spLocks/>
            </p:cNvSpPr>
            <p:nvPr/>
          </p:nvSpPr>
          <p:spPr bwMode="auto">
            <a:xfrm>
              <a:off x="0" y="-1"/>
              <a:ext cx="2668137" cy="767236"/>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3017" name="Text Box 9">
              <a:extLst>
                <a:ext uri="{FF2B5EF4-FFF2-40B4-BE49-F238E27FC236}">
                  <a16:creationId xmlns:a16="http://schemas.microsoft.com/office/drawing/2014/main" id="{81B501C4-405A-D57B-3948-657EC1FE9629}"/>
                </a:ext>
              </a:extLst>
            </p:cNvPr>
            <p:cNvSpPr txBox="1">
              <a:spLocks/>
            </p:cNvSpPr>
            <p:nvPr/>
          </p:nvSpPr>
          <p:spPr bwMode="auto">
            <a:xfrm>
              <a:off x="64770" y="19049"/>
              <a:ext cx="2538598"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Booking/Cancellation Software </a:t>
              </a:r>
            </a:p>
          </p:txBody>
        </p:sp>
      </p:grpSp>
      <p:sp>
        <p:nvSpPr>
          <p:cNvPr id="43018" name="Line 10" descr="Straight Arrow Connector 15">
            <a:extLst>
              <a:ext uri="{FF2B5EF4-FFF2-40B4-BE49-F238E27FC236}">
                <a16:creationId xmlns:a16="http://schemas.microsoft.com/office/drawing/2014/main" id="{0846DE30-E50D-A4D6-F631-524E5BCE04D6}"/>
              </a:ext>
            </a:extLst>
          </p:cNvPr>
          <p:cNvSpPr>
            <a:spLocks noChangeShapeType="1"/>
          </p:cNvSpPr>
          <p:nvPr/>
        </p:nvSpPr>
        <p:spPr bwMode="auto">
          <a:xfrm flipV="1">
            <a:off x="2601913" y="3514725"/>
            <a:ext cx="490537" cy="3810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3019" name="Line 11" descr="Straight Arrow Connector 16">
            <a:extLst>
              <a:ext uri="{FF2B5EF4-FFF2-40B4-BE49-F238E27FC236}">
                <a16:creationId xmlns:a16="http://schemas.microsoft.com/office/drawing/2014/main" id="{57E6B972-A6FA-0A10-6D0D-5C5C209E66CE}"/>
              </a:ext>
            </a:extLst>
          </p:cNvPr>
          <p:cNvSpPr>
            <a:spLocks noChangeShapeType="1"/>
          </p:cNvSpPr>
          <p:nvPr/>
        </p:nvSpPr>
        <p:spPr bwMode="auto">
          <a:xfrm flipH="1" flipV="1">
            <a:off x="5799138" y="3470275"/>
            <a:ext cx="561975" cy="2667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3020" name="Text Box 12" descr="TextBox 2">
            <a:extLst>
              <a:ext uri="{FF2B5EF4-FFF2-40B4-BE49-F238E27FC236}">
                <a16:creationId xmlns:a16="http://schemas.microsoft.com/office/drawing/2014/main" id="{26854093-6660-7304-7204-64217E4D4515}"/>
              </a:ext>
            </a:extLst>
          </p:cNvPr>
          <p:cNvSpPr txBox="1">
            <a:spLocks/>
          </p:cNvSpPr>
          <p:nvPr/>
        </p:nvSpPr>
        <p:spPr bwMode="auto">
          <a:xfrm>
            <a:off x="515938" y="1155700"/>
            <a:ext cx="582136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an example of Train Reservation System</a:t>
            </a:r>
          </a:p>
        </p:txBody>
      </p:sp>
      <p:sp>
        <p:nvSpPr>
          <p:cNvPr id="43021" name="Text Box 13" descr="TextBox 17">
            <a:extLst>
              <a:ext uri="{FF2B5EF4-FFF2-40B4-BE49-F238E27FC236}">
                <a16:creationId xmlns:a16="http://schemas.microsoft.com/office/drawing/2014/main" id="{FC3C0882-E997-DDE7-9B56-AB1EA77B7BDB}"/>
              </a:ext>
            </a:extLst>
          </p:cNvPr>
          <p:cNvSpPr txBox="1">
            <a:spLocks/>
          </p:cNvSpPr>
          <p:nvPr/>
        </p:nvSpPr>
        <p:spPr bwMode="auto">
          <a:xfrm>
            <a:off x="1304925" y="3552825"/>
            <a:ext cx="769938"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3022" name="Text Box 14" descr="TextBox 18">
            <a:extLst>
              <a:ext uri="{FF2B5EF4-FFF2-40B4-BE49-F238E27FC236}">
                <a16:creationId xmlns:a16="http://schemas.microsoft.com/office/drawing/2014/main" id="{B9464B4D-8DAD-B835-CE06-70914962CC41}"/>
              </a:ext>
            </a:extLst>
          </p:cNvPr>
          <p:cNvSpPr txBox="1">
            <a:spLocks/>
          </p:cNvSpPr>
          <p:nvPr/>
        </p:nvSpPr>
        <p:spPr bwMode="auto">
          <a:xfrm>
            <a:off x="6864350" y="3697288"/>
            <a:ext cx="7699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43023" name="AutoShape 15" descr="Down Arrow 7">
            <a:extLst>
              <a:ext uri="{FF2B5EF4-FFF2-40B4-BE49-F238E27FC236}">
                <a16:creationId xmlns:a16="http://schemas.microsoft.com/office/drawing/2014/main" id="{B4ABBBC1-3148-2FD8-71D5-4C566FE47118}"/>
              </a:ext>
            </a:extLst>
          </p:cNvPr>
          <p:cNvSpPr>
            <a:spLocks/>
          </p:cNvSpPr>
          <p:nvPr/>
        </p:nvSpPr>
        <p:spPr bwMode="auto">
          <a:xfrm rot="10598870">
            <a:off x="4276725" y="2974975"/>
            <a:ext cx="336550" cy="2460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3024" name="Text Box 16" descr="TextBox 19">
            <a:extLst>
              <a:ext uri="{FF2B5EF4-FFF2-40B4-BE49-F238E27FC236}">
                <a16:creationId xmlns:a16="http://schemas.microsoft.com/office/drawing/2014/main" id="{4518B7C0-ED96-7736-DE12-394AF83AFA4C}"/>
              </a:ext>
            </a:extLst>
          </p:cNvPr>
          <p:cNvSpPr txBox="1">
            <a:spLocks/>
          </p:cNvSpPr>
          <p:nvPr/>
        </p:nvSpPr>
        <p:spPr bwMode="auto">
          <a:xfrm>
            <a:off x="106363" y="4200525"/>
            <a:ext cx="4699000" cy="1828800"/>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User1</a:t>
            </a:r>
          </a:p>
          <a:p>
            <a:r>
              <a:rPr lang="en-US" altLang="en-US" sz="1400"/>
              <a:t>1.Wants to </a:t>
            </a:r>
            <a:r>
              <a:rPr lang="en-US" altLang="en-US" sz="1400" b="1"/>
              <a:t>cancel</a:t>
            </a:r>
            <a:r>
              <a:rPr lang="en-US" altLang="en-US" sz="1400"/>
              <a:t> 5 seats on </a:t>
            </a:r>
            <a:r>
              <a:rPr lang="en-US" altLang="en-US" sz="1400" b="1"/>
              <a:t>Tippu</a:t>
            </a:r>
            <a:r>
              <a:rPr lang="en-US" altLang="en-US" sz="1400"/>
              <a:t> express</a:t>
            </a:r>
          </a:p>
          <a:p>
            <a:r>
              <a:rPr lang="en-US" altLang="en-US" sz="1400"/>
              <a:t>2.Wants to </a:t>
            </a:r>
            <a:r>
              <a:rPr lang="en-US" altLang="en-US" sz="1400" b="1"/>
              <a:t>reserve</a:t>
            </a:r>
            <a:r>
              <a:rPr lang="en-US" altLang="en-US" sz="1400"/>
              <a:t> 5 seats on </a:t>
            </a:r>
            <a:r>
              <a:rPr lang="en-US" altLang="en-US" sz="1400" b="1"/>
              <a:t>Chamundi</a:t>
            </a:r>
            <a:r>
              <a:rPr lang="en-US" altLang="en-US" sz="1400"/>
              <a:t> express</a:t>
            </a:r>
          </a:p>
          <a:p>
            <a:endParaRPr lang="en-US" altLang="en-US" sz="1400"/>
          </a:p>
          <a:p>
            <a:r>
              <a:rPr lang="en-US" altLang="en-US" sz="1400">
                <a:solidFill>
                  <a:srgbClr val="0000FF"/>
                </a:solidFill>
              </a:rPr>
              <a:t>Update reservation set </a:t>
            </a:r>
            <a:r>
              <a:rPr lang="en-US" altLang="en-US" sz="1400" b="1">
                <a:solidFill>
                  <a:srgbClr val="0000FF"/>
                </a:solidFill>
              </a:rPr>
              <a:t>seats=seats-5</a:t>
            </a:r>
          </a:p>
          <a:p>
            <a:r>
              <a:rPr lang="en-US" altLang="en-US" sz="1400">
                <a:solidFill>
                  <a:srgbClr val="0000FF"/>
                </a:solidFill>
              </a:rPr>
              <a:t>Where TrainName=‘</a:t>
            </a:r>
            <a:r>
              <a:rPr lang="en-US" altLang="en-US" sz="1400" b="1">
                <a:solidFill>
                  <a:srgbClr val="0000FF"/>
                </a:solidFill>
              </a:rPr>
              <a:t>TippuExpress</a:t>
            </a:r>
            <a:r>
              <a:rPr lang="en-US" altLang="en-US" sz="1400">
                <a:solidFill>
                  <a:srgbClr val="0000FF"/>
                </a:solidFill>
              </a:rPr>
              <a:t>’;</a:t>
            </a:r>
          </a:p>
          <a:p>
            <a:r>
              <a:rPr lang="en-US" altLang="en-US" sz="1400">
                <a:solidFill>
                  <a:srgbClr val="0000FF"/>
                </a:solidFill>
              </a:rPr>
              <a:t>Update reservation set </a:t>
            </a:r>
            <a:r>
              <a:rPr lang="en-US" altLang="en-US" sz="1400" b="1">
                <a:solidFill>
                  <a:srgbClr val="0000FF"/>
                </a:solidFill>
              </a:rPr>
              <a:t>seats=seats+5</a:t>
            </a:r>
          </a:p>
          <a:p>
            <a:r>
              <a:rPr lang="en-US" altLang="en-US" sz="1400">
                <a:solidFill>
                  <a:srgbClr val="0000FF"/>
                </a:solidFill>
              </a:rPr>
              <a:t>Where TrainName=‘</a:t>
            </a:r>
            <a:r>
              <a:rPr lang="en-US" altLang="en-US" sz="1400" b="1">
                <a:solidFill>
                  <a:srgbClr val="0000FF"/>
                </a:solidFill>
              </a:rPr>
              <a:t>ChamundiExpress</a:t>
            </a:r>
            <a:r>
              <a:rPr lang="en-US" altLang="en-US" sz="1400">
                <a:solidFill>
                  <a:srgbClr val="0000FF"/>
                </a:solidFill>
              </a:rPr>
              <a:t>’;</a:t>
            </a:r>
          </a:p>
        </p:txBody>
      </p:sp>
      <p:sp>
        <p:nvSpPr>
          <p:cNvPr id="43025" name="Text Box 17" descr="TextBox 21">
            <a:extLst>
              <a:ext uri="{FF2B5EF4-FFF2-40B4-BE49-F238E27FC236}">
                <a16:creationId xmlns:a16="http://schemas.microsoft.com/office/drawing/2014/main" id="{4A59259D-0C22-4500-A9D6-E06293D53AA7}"/>
              </a:ext>
            </a:extLst>
          </p:cNvPr>
          <p:cNvSpPr txBox="1">
            <a:spLocks/>
          </p:cNvSpPr>
          <p:nvPr/>
        </p:nvSpPr>
        <p:spPr bwMode="auto">
          <a:xfrm>
            <a:off x="5270500" y="4198938"/>
            <a:ext cx="3700463" cy="1397000"/>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User2</a:t>
            </a:r>
          </a:p>
          <a:p>
            <a:r>
              <a:rPr lang="en-US" altLang="en-US" sz="1400"/>
              <a:t>1.Wants to </a:t>
            </a:r>
            <a:r>
              <a:rPr lang="en-US" altLang="en-US" sz="1400" b="1"/>
              <a:t>reserve</a:t>
            </a:r>
            <a:r>
              <a:rPr lang="en-US" altLang="en-US" sz="1400"/>
              <a:t> 4 seats on </a:t>
            </a:r>
            <a:r>
              <a:rPr lang="en-US" altLang="en-US" sz="1400" b="1"/>
              <a:t>Tippu</a:t>
            </a:r>
            <a:r>
              <a:rPr lang="en-US" altLang="en-US" sz="1400"/>
              <a:t> </a:t>
            </a:r>
          </a:p>
          <a:p>
            <a:r>
              <a:rPr lang="en-US" altLang="en-US" sz="1400"/>
              <a:t>Express</a:t>
            </a:r>
          </a:p>
          <a:p>
            <a:endParaRPr lang="en-US" altLang="en-US" sz="1400"/>
          </a:p>
          <a:p>
            <a:r>
              <a:rPr lang="en-US" altLang="en-US" sz="1400">
                <a:solidFill>
                  <a:srgbClr val="CC00CC"/>
                </a:solidFill>
              </a:rPr>
              <a:t>Update reservation set </a:t>
            </a:r>
            <a:r>
              <a:rPr lang="en-US" altLang="en-US" sz="1400" b="1">
                <a:solidFill>
                  <a:srgbClr val="CC00CC"/>
                </a:solidFill>
              </a:rPr>
              <a:t>seats=seats+4</a:t>
            </a:r>
          </a:p>
          <a:p>
            <a:r>
              <a:rPr lang="en-US" altLang="en-US" sz="1400">
                <a:solidFill>
                  <a:srgbClr val="CC00CC"/>
                </a:solidFill>
              </a:rPr>
              <a:t>Where TrainName=‘</a:t>
            </a:r>
            <a:r>
              <a:rPr lang="en-US" altLang="en-US" sz="1400" b="1">
                <a:solidFill>
                  <a:srgbClr val="CC00CC"/>
                </a:solidFill>
              </a:rPr>
              <a:t>TippuExpress</a:t>
            </a:r>
            <a:r>
              <a:rPr lang="en-US" altLang="en-US" sz="1400">
                <a:solidFill>
                  <a:srgbClr val="CC00CC"/>
                </a:solidFill>
              </a:rPr>
              <a:t>’;</a:t>
            </a:r>
          </a:p>
        </p:txBody>
      </p:sp>
      <p:sp>
        <p:nvSpPr>
          <p:cNvPr id="43026" name="Text Box 18" descr="TextBox 20">
            <a:extLst>
              <a:ext uri="{FF2B5EF4-FFF2-40B4-BE49-F238E27FC236}">
                <a16:creationId xmlns:a16="http://schemas.microsoft.com/office/drawing/2014/main" id="{970A08DA-21C3-0591-D86B-AB0617FF3D37}"/>
              </a:ext>
            </a:extLst>
          </p:cNvPr>
          <p:cNvSpPr txBox="1">
            <a:spLocks/>
          </p:cNvSpPr>
          <p:nvPr/>
        </p:nvSpPr>
        <p:spPr bwMode="auto">
          <a:xfrm>
            <a:off x="6635750" y="2028825"/>
            <a:ext cx="1395413"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reservation</a:t>
            </a:r>
          </a:p>
          <a:p>
            <a:r>
              <a:rPr lang="en-US" altLang="en-US"/>
              <a:t>table</a:t>
            </a:r>
          </a:p>
        </p:txBody>
      </p:sp>
      <p:pic>
        <p:nvPicPr>
          <p:cNvPr id="43027" name="Picture 19" descr="Picture 2">
            <a:extLst>
              <a:ext uri="{FF2B5EF4-FFF2-40B4-BE49-F238E27FC236}">
                <a16:creationId xmlns:a16="http://schemas.microsoft.com/office/drawing/2014/main" id="{E1A0E814-297E-5F23-8EEB-B4BA5AF65AD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71625" y="1570038"/>
            <a:ext cx="5100638" cy="1377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descr="Title 1">
            <a:extLst>
              <a:ext uri="{FF2B5EF4-FFF2-40B4-BE49-F238E27FC236}">
                <a16:creationId xmlns:a16="http://schemas.microsoft.com/office/drawing/2014/main" id="{9D9DE74E-0297-5B90-6127-7C6C04FE7850}"/>
              </a:ext>
            </a:extLst>
          </p:cNvPr>
          <p:cNvSpPr>
            <a:spLocks noChangeArrowheads="1"/>
          </p:cNvSpPr>
          <p:nvPr>
            <p:ph type="title"/>
          </p:nvPr>
        </p:nvSpPr>
        <p:spPr/>
        <p:txBody>
          <a:bodyPr/>
          <a:lstStyle/>
          <a:p>
            <a:pPr defTabSz="904875"/>
            <a:r>
              <a:rPr lang="en-US" altLang="en-US" sz="2300"/>
              <a:t>To Understand problems with concurrent executions</a:t>
            </a:r>
          </a:p>
        </p:txBody>
      </p:sp>
      <p:sp>
        <p:nvSpPr>
          <p:cNvPr id="44035" name="Text Box 3" descr="Date Placeholder 3">
            <a:extLst>
              <a:ext uri="{FF2B5EF4-FFF2-40B4-BE49-F238E27FC236}">
                <a16:creationId xmlns:a16="http://schemas.microsoft.com/office/drawing/2014/main" id="{FE6CFFF9-19EB-ADA2-3E7D-83D497B5680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4036" name="Text Box 4" descr="Slide Number Placeholder 5">
            <a:extLst>
              <a:ext uri="{FF2B5EF4-FFF2-40B4-BE49-F238E27FC236}">
                <a16:creationId xmlns:a16="http://schemas.microsoft.com/office/drawing/2014/main" id="{D1136D94-504B-E52D-8223-A987F778F905}"/>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960F7A9-26AE-47EB-8FB1-58EBCEA835E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4037" name="Picture 5" descr="Picture 3">
            <a:extLst>
              <a:ext uri="{FF2B5EF4-FFF2-40B4-BE49-F238E27FC236}">
                <a16:creationId xmlns:a16="http://schemas.microsoft.com/office/drawing/2014/main" id="{A3150581-4FB6-986D-29B0-F6A5CA30A80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43138" y="28432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4038" name="Picture 6" descr="Picture 4">
            <a:extLst>
              <a:ext uri="{FF2B5EF4-FFF2-40B4-BE49-F238E27FC236}">
                <a16:creationId xmlns:a16="http://schemas.microsoft.com/office/drawing/2014/main" id="{8247F7FB-1B3B-9BC2-8DE5-B6FBB6701B5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61113" y="3041650"/>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4039" name="Group 7">
            <a:extLst>
              <a:ext uri="{FF2B5EF4-FFF2-40B4-BE49-F238E27FC236}">
                <a16:creationId xmlns:a16="http://schemas.microsoft.com/office/drawing/2014/main" id="{F804B2A3-5174-E07E-B5E7-D4B4874FB5DD}"/>
              </a:ext>
            </a:extLst>
          </p:cNvPr>
          <p:cNvGrpSpPr>
            <a:grpSpLocks/>
          </p:cNvGrpSpPr>
          <p:nvPr/>
        </p:nvGrpSpPr>
        <p:grpSpPr bwMode="auto">
          <a:xfrm>
            <a:off x="3130550" y="2782888"/>
            <a:ext cx="2668588" cy="766762"/>
            <a:chOff x="0" y="-1"/>
            <a:chExt cx="2668137" cy="767236"/>
          </a:xfrm>
        </p:grpSpPr>
        <p:sp>
          <p:nvSpPr>
            <p:cNvPr id="44040" name="Rectangle 8">
              <a:extLst>
                <a:ext uri="{FF2B5EF4-FFF2-40B4-BE49-F238E27FC236}">
                  <a16:creationId xmlns:a16="http://schemas.microsoft.com/office/drawing/2014/main" id="{A99D6CBD-F930-D066-B941-583A05B5DF6C}"/>
                </a:ext>
              </a:extLst>
            </p:cNvPr>
            <p:cNvSpPr>
              <a:spLocks/>
            </p:cNvSpPr>
            <p:nvPr/>
          </p:nvSpPr>
          <p:spPr bwMode="auto">
            <a:xfrm>
              <a:off x="0" y="-1"/>
              <a:ext cx="2668137" cy="767236"/>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4041" name="Text Box 9">
              <a:extLst>
                <a:ext uri="{FF2B5EF4-FFF2-40B4-BE49-F238E27FC236}">
                  <a16:creationId xmlns:a16="http://schemas.microsoft.com/office/drawing/2014/main" id="{832EAB8A-76F9-BC57-899B-67D1995D37A7}"/>
                </a:ext>
              </a:extLst>
            </p:cNvPr>
            <p:cNvSpPr txBox="1">
              <a:spLocks/>
            </p:cNvSpPr>
            <p:nvPr/>
          </p:nvSpPr>
          <p:spPr bwMode="auto">
            <a:xfrm>
              <a:off x="64770" y="19049"/>
              <a:ext cx="2538598"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Booking/Cancellation Software </a:t>
              </a:r>
            </a:p>
          </p:txBody>
        </p:sp>
      </p:grpSp>
      <p:sp>
        <p:nvSpPr>
          <p:cNvPr id="44042" name="Line 10" descr="Straight Arrow Connector 15">
            <a:extLst>
              <a:ext uri="{FF2B5EF4-FFF2-40B4-BE49-F238E27FC236}">
                <a16:creationId xmlns:a16="http://schemas.microsoft.com/office/drawing/2014/main" id="{B974BB0D-D088-5F87-73EE-54DB1D5DEB1A}"/>
              </a:ext>
            </a:extLst>
          </p:cNvPr>
          <p:cNvSpPr>
            <a:spLocks noChangeShapeType="1"/>
          </p:cNvSpPr>
          <p:nvPr/>
        </p:nvSpPr>
        <p:spPr bwMode="auto">
          <a:xfrm flipV="1">
            <a:off x="2601913" y="3086100"/>
            <a:ext cx="490537" cy="3810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4043" name="Line 11" descr="Straight Arrow Connector 16">
            <a:extLst>
              <a:ext uri="{FF2B5EF4-FFF2-40B4-BE49-F238E27FC236}">
                <a16:creationId xmlns:a16="http://schemas.microsoft.com/office/drawing/2014/main" id="{AD593ED8-8264-3532-3380-3C43E9C3AD75}"/>
              </a:ext>
            </a:extLst>
          </p:cNvPr>
          <p:cNvSpPr>
            <a:spLocks noChangeShapeType="1"/>
          </p:cNvSpPr>
          <p:nvPr/>
        </p:nvSpPr>
        <p:spPr bwMode="auto">
          <a:xfrm flipH="1" flipV="1">
            <a:off x="5799138" y="3041650"/>
            <a:ext cx="561975" cy="2667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4044" name="Text Box 12" descr="TextBox 17">
            <a:extLst>
              <a:ext uri="{FF2B5EF4-FFF2-40B4-BE49-F238E27FC236}">
                <a16:creationId xmlns:a16="http://schemas.microsoft.com/office/drawing/2014/main" id="{860133D2-33BD-0C67-06B2-295372C0DFAD}"/>
              </a:ext>
            </a:extLst>
          </p:cNvPr>
          <p:cNvSpPr txBox="1">
            <a:spLocks/>
          </p:cNvSpPr>
          <p:nvPr/>
        </p:nvSpPr>
        <p:spPr bwMode="auto">
          <a:xfrm>
            <a:off x="1304925" y="3124200"/>
            <a:ext cx="769938"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4045" name="Text Box 13" descr="TextBox 18">
            <a:extLst>
              <a:ext uri="{FF2B5EF4-FFF2-40B4-BE49-F238E27FC236}">
                <a16:creationId xmlns:a16="http://schemas.microsoft.com/office/drawing/2014/main" id="{F07D31B5-CDF8-448F-C791-F931891E89BC}"/>
              </a:ext>
            </a:extLst>
          </p:cNvPr>
          <p:cNvSpPr txBox="1">
            <a:spLocks/>
          </p:cNvSpPr>
          <p:nvPr/>
        </p:nvSpPr>
        <p:spPr bwMode="auto">
          <a:xfrm>
            <a:off x="6864350" y="3268663"/>
            <a:ext cx="7699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44046" name="AutoShape 14" descr="Down Arrow 7">
            <a:extLst>
              <a:ext uri="{FF2B5EF4-FFF2-40B4-BE49-F238E27FC236}">
                <a16:creationId xmlns:a16="http://schemas.microsoft.com/office/drawing/2014/main" id="{7776FA92-DA68-E2D3-DA69-B57711971289}"/>
              </a:ext>
            </a:extLst>
          </p:cNvPr>
          <p:cNvSpPr>
            <a:spLocks/>
          </p:cNvSpPr>
          <p:nvPr/>
        </p:nvSpPr>
        <p:spPr bwMode="auto">
          <a:xfrm rot="10598870">
            <a:off x="4276725" y="2546350"/>
            <a:ext cx="336550" cy="2460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4047" name="Text Box 15" descr="TextBox 19">
            <a:extLst>
              <a:ext uri="{FF2B5EF4-FFF2-40B4-BE49-F238E27FC236}">
                <a16:creationId xmlns:a16="http://schemas.microsoft.com/office/drawing/2014/main" id="{26299F99-4A2B-F4ED-096D-23504C803C35}"/>
              </a:ext>
            </a:extLst>
          </p:cNvPr>
          <p:cNvSpPr txBox="1">
            <a:spLocks/>
          </p:cNvSpPr>
          <p:nvPr/>
        </p:nvSpPr>
        <p:spPr bwMode="auto">
          <a:xfrm>
            <a:off x="106363" y="3771900"/>
            <a:ext cx="4699000" cy="2260600"/>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User1</a:t>
            </a:r>
          </a:p>
          <a:p>
            <a:r>
              <a:rPr lang="en-US" altLang="en-US" sz="1400"/>
              <a:t>1.Wants to </a:t>
            </a:r>
            <a:r>
              <a:rPr lang="en-US" altLang="en-US" sz="1400" b="1"/>
              <a:t>cancel</a:t>
            </a:r>
            <a:r>
              <a:rPr lang="en-US" altLang="en-US" sz="1400"/>
              <a:t> 5 seats on </a:t>
            </a:r>
            <a:r>
              <a:rPr lang="en-US" altLang="en-US" sz="1400" b="1"/>
              <a:t>Tippu</a:t>
            </a:r>
            <a:r>
              <a:rPr lang="en-US" altLang="en-US" sz="1400"/>
              <a:t> express</a:t>
            </a:r>
          </a:p>
          <a:p>
            <a:r>
              <a:rPr lang="en-US" altLang="en-US" sz="1400"/>
              <a:t>2.Wants to </a:t>
            </a:r>
            <a:r>
              <a:rPr lang="en-US" altLang="en-US" sz="1400" b="1"/>
              <a:t>reserve</a:t>
            </a:r>
            <a:r>
              <a:rPr lang="en-US" altLang="en-US" sz="1400"/>
              <a:t> 5 seats on </a:t>
            </a:r>
            <a:r>
              <a:rPr lang="en-US" altLang="en-US" sz="1400" b="1"/>
              <a:t>Chamundi</a:t>
            </a:r>
            <a:r>
              <a:rPr lang="en-US" altLang="en-US" sz="1400"/>
              <a:t> express</a:t>
            </a:r>
          </a:p>
          <a:p>
            <a:endParaRPr lang="en-US" altLang="en-US" sz="1400"/>
          </a:p>
          <a:p>
            <a:r>
              <a:rPr lang="en-US" altLang="en-US" sz="1400">
                <a:solidFill>
                  <a:srgbClr val="0000FF"/>
                </a:solidFill>
              </a:rPr>
              <a:t>Read(TippuSeats)</a:t>
            </a:r>
          </a:p>
          <a:p>
            <a:r>
              <a:rPr lang="en-US" altLang="en-US" sz="1400">
                <a:solidFill>
                  <a:srgbClr val="0000FF"/>
                </a:solidFill>
              </a:rPr>
              <a:t>TippuSeats=TippuSeats-5</a:t>
            </a:r>
          </a:p>
          <a:p>
            <a:r>
              <a:rPr lang="en-US" altLang="en-US" sz="1400">
                <a:solidFill>
                  <a:srgbClr val="0000FF"/>
                </a:solidFill>
              </a:rPr>
              <a:t>Write(TippuSeats)</a:t>
            </a:r>
          </a:p>
          <a:p>
            <a:r>
              <a:rPr lang="en-US" altLang="en-US" sz="1400">
                <a:solidFill>
                  <a:srgbClr val="0000FF"/>
                </a:solidFill>
              </a:rPr>
              <a:t>Read(ChamundiSeats)</a:t>
            </a:r>
          </a:p>
          <a:p>
            <a:r>
              <a:rPr lang="en-US" altLang="en-US" sz="1400">
                <a:solidFill>
                  <a:srgbClr val="0000FF"/>
                </a:solidFill>
              </a:rPr>
              <a:t>ChamundiSeats=ChamundiSeats+5</a:t>
            </a:r>
          </a:p>
          <a:p>
            <a:r>
              <a:rPr lang="en-US" altLang="en-US" sz="1400">
                <a:solidFill>
                  <a:srgbClr val="0000FF"/>
                </a:solidFill>
              </a:rPr>
              <a:t>Write(ChamundiSeats)</a:t>
            </a:r>
          </a:p>
        </p:txBody>
      </p:sp>
      <p:sp>
        <p:nvSpPr>
          <p:cNvPr id="44048" name="Text Box 16" descr="TextBox 21">
            <a:extLst>
              <a:ext uri="{FF2B5EF4-FFF2-40B4-BE49-F238E27FC236}">
                <a16:creationId xmlns:a16="http://schemas.microsoft.com/office/drawing/2014/main" id="{DEFBCAF6-1780-0601-F44C-9DC5ADE2EADF}"/>
              </a:ext>
            </a:extLst>
          </p:cNvPr>
          <p:cNvSpPr txBox="1">
            <a:spLocks/>
          </p:cNvSpPr>
          <p:nvPr/>
        </p:nvSpPr>
        <p:spPr bwMode="auto">
          <a:xfrm>
            <a:off x="5270500" y="3770313"/>
            <a:ext cx="3567113" cy="1612900"/>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User2</a:t>
            </a:r>
          </a:p>
          <a:p>
            <a:r>
              <a:rPr lang="en-US" altLang="en-US" sz="1400"/>
              <a:t>1.Wants to </a:t>
            </a:r>
            <a:r>
              <a:rPr lang="en-US" altLang="en-US" sz="1400" b="1"/>
              <a:t>reserve</a:t>
            </a:r>
            <a:r>
              <a:rPr lang="en-US" altLang="en-US" sz="1400"/>
              <a:t> 4 seats on </a:t>
            </a:r>
            <a:r>
              <a:rPr lang="en-US" altLang="en-US" sz="1400" b="1"/>
              <a:t>Tippu</a:t>
            </a:r>
            <a:r>
              <a:rPr lang="en-US" altLang="en-US" sz="1400"/>
              <a:t> </a:t>
            </a:r>
          </a:p>
          <a:p>
            <a:r>
              <a:rPr lang="en-US" altLang="en-US" sz="1400"/>
              <a:t>Express</a:t>
            </a:r>
          </a:p>
          <a:p>
            <a:endParaRPr lang="en-US" altLang="en-US" sz="1400"/>
          </a:p>
          <a:p>
            <a:r>
              <a:rPr lang="en-US" altLang="en-US" sz="1400">
                <a:solidFill>
                  <a:srgbClr val="CC00CC"/>
                </a:solidFill>
              </a:rPr>
              <a:t>Read(TippuSeats)</a:t>
            </a:r>
          </a:p>
          <a:p>
            <a:r>
              <a:rPr lang="en-US" altLang="en-US" sz="1400">
                <a:solidFill>
                  <a:srgbClr val="CC00CC"/>
                </a:solidFill>
              </a:rPr>
              <a:t>TippuSeats=TippuSeats+4</a:t>
            </a:r>
          </a:p>
          <a:p>
            <a:r>
              <a:rPr lang="en-US" altLang="en-US" sz="1400">
                <a:solidFill>
                  <a:srgbClr val="CC00CC"/>
                </a:solidFill>
              </a:rPr>
              <a:t>Write(TippuSeats)</a:t>
            </a:r>
          </a:p>
        </p:txBody>
      </p:sp>
      <p:pic>
        <p:nvPicPr>
          <p:cNvPr id="44049" name="Picture 17" descr="Picture 2">
            <a:extLst>
              <a:ext uri="{FF2B5EF4-FFF2-40B4-BE49-F238E27FC236}">
                <a16:creationId xmlns:a16="http://schemas.microsoft.com/office/drawing/2014/main" id="{C9C7E860-56FD-DD05-2598-9E1BE2ACCEBD}"/>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17700" y="1189038"/>
            <a:ext cx="5102225" cy="13795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descr="Title 1">
            <a:extLst>
              <a:ext uri="{FF2B5EF4-FFF2-40B4-BE49-F238E27FC236}">
                <a16:creationId xmlns:a16="http://schemas.microsoft.com/office/drawing/2014/main" id="{51D7B76C-EF06-2ADF-B579-D53DCF655427}"/>
              </a:ext>
            </a:extLst>
          </p:cNvPr>
          <p:cNvSpPr>
            <a:spLocks noChangeArrowheads="1"/>
          </p:cNvSpPr>
          <p:nvPr>
            <p:ph type="title"/>
          </p:nvPr>
        </p:nvSpPr>
        <p:spPr/>
        <p:txBody>
          <a:bodyPr/>
          <a:lstStyle/>
          <a:p>
            <a:pPr defTabSz="904875"/>
            <a:r>
              <a:rPr lang="en-US" altLang="en-US" sz="2300"/>
              <a:t>To Understand problems with concurrent executions</a:t>
            </a:r>
          </a:p>
        </p:txBody>
      </p:sp>
      <p:sp>
        <p:nvSpPr>
          <p:cNvPr id="45059" name="Text Box 3" descr="Date Placeholder 3">
            <a:extLst>
              <a:ext uri="{FF2B5EF4-FFF2-40B4-BE49-F238E27FC236}">
                <a16:creationId xmlns:a16="http://schemas.microsoft.com/office/drawing/2014/main" id="{7D4CAC27-5E5B-F7DB-0BB1-54C7DC8CC29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5060" name="Text Box 4" descr="Slide Number Placeholder 5">
            <a:extLst>
              <a:ext uri="{FF2B5EF4-FFF2-40B4-BE49-F238E27FC236}">
                <a16:creationId xmlns:a16="http://schemas.microsoft.com/office/drawing/2014/main" id="{65E43F4C-D4D4-9FAA-FB4D-B95F6C61CFC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B3C739F-F2E5-42F1-917C-2E4A5C4B3CD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5061" name="Picture 5" descr="Picture 3">
            <a:extLst>
              <a:ext uri="{FF2B5EF4-FFF2-40B4-BE49-F238E27FC236}">
                <a16:creationId xmlns:a16="http://schemas.microsoft.com/office/drawing/2014/main" id="{ED0EF59E-F3B3-F700-ECBF-81E054C8BCC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43138" y="28432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5062" name="Picture 6" descr="Picture 4">
            <a:extLst>
              <a:ext uri="{FF2B5EF4-FFF2-40B4-BE49-F238E27FC236}">
                <a16:creationId xmlns:a16="http://schemas.microsoft.com/office/drawing/2014/main" id="{5FF04398-CB5C-D702-B233-D2C9E77403B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61113" y="3041650"/>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5063" name="Group 7">
            <a:extLst>
              <a:ext uri="{FF2B5EF4-FFF2-40B4-BE49-F238E27FC236}">
                <a16:creationId xmlns:a16="http://schemas.microsoft.com/office/drawing/2014/main" id="{74A3F8E1-B63D-FEE6-A2DE-5E2C426C22E4}"/>
              </a:ext>
            </a:extLst>
          </p:cNvPr>
          <p:cNvGrpSpPr>
            <a:grpSpLocks/>
          </p:cNvGrpSpPr>
          <p:nvPr/>
        </p:nvGrpSpPr>
        <p:grpSpPr bwMode="auto">
          <a:xfrm>
            <a:off x="3130550" y="2782888"/>
            <a:ext cx="2668588" cy="766762"/>
            <a:chOff x="0" y="-1"/>
            <a:chExt cx="2668137" cy="767236"/>
          </a:xfrm>
        </p:grpSpPr>
        <p:sp>
          <p:nvSpPr>
            <p:cNvPr id="45064" name="Rectangle 8">
              <a:extLst>
                <a:ext uri="{FF2B5EF4-FFF2-40B4-BE49-F238E27FC236}">
                  <a16:creationId xmlns:a16="http://schemas.microsoft.com/office/drawing/2014/main" id="{3F9EA4CC-CF5E-A472-22F8-C03F73F3A6F6}"/>
                </a:ext>
              </a:extLst>
            </p:cNvPr>
            <p:cNvSpPr>
              <a:spLocks/>
            </p:cNvSpPr>
            <p:nvPr/>
          </p:nvSpPr>
          <p:spPr bwMode="auto">
            <a:xfrm>
              <a:off x="0" y="-1"/>
              <a:ext cx="2668137" cy="767236"/>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5065" name="Text Box 9">
              <a:extLst>
                <a:ext uri="{FF2B5EF4-FFF2-40B4-BE49-F238E27FC236}">
                  <a16:creationId xmlns:a16="http://schemas.microsoft.com/office/drawing/2014/main" id="{254774E3-A634-5BF5-01EA-7F582C293233}"/>
                </a:ext>
              </a:extLst>
            </p:cNvPr>
            <p:cNvSpPr txBox="1">
              <a:spLocks/>
            </p:cNvSpPr>
            <p:nvPr/>
          </p:nvSpPr>
          <p:spPr bwMode="auto">
            <a:xfrm>
              <a:off x="64770" y="19049"/>
              <a:ext cx="2538598"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Booking/Cancellation Software </a:t>
              </a:r>
            </a:p>
          </p:txBody>
        </p:sp>
      </p:grpSp>
      <p:sp>
        <p:nvSpPr>
          <p:cNvPr id="45066" name="Line 10" descr="Straight Arrow Connector 15">
            <a:extLst>
              <a:ext uri="{FF2B5EF4-FFF2-40B4-BE49-F238E27FC236}">
                <a16:creationId xmlns:a16="http://schemas.microsoft.com/office/drawing/2014/main" id="{B1A0CFB4-73CE-6505-AA74-C099377EC67A}"/>
              </a:ext>
            </a:extLst>
          </p:cNvPr>
          <p:cNvSpPr>
            <a:spLocks noChangeShapeType="1"/>
          </p:cNvSpPr>
          <p:nvPr/>
        </p:nvSpPr>
        <p:spPr bwMode="auto">
          <a:xfrm flipV="1">
            <a:off x="2601913" y="3086100"/>
            <a:ext cx="490537" cy="3810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5067" name="Line 11" descr="Straight Arrow Connector 16">
            <a:extLst>
              <a:ext uri="{FF2B5EF4-FFF2-40B4-BE49-F238E27FC236}">
                <a16:creationId xmlns:a16="http://schemas.microsoft.com/office/drawing/2014/main" id="{647DBD82-BF91-1E72-1CF7-224C900811D4}"/>
              </a:ext>
            </a:extLst>
          </p:cNvPr>
          <p:cNvSpPr>
            <a:spLocks noChangeShapeType="1"/>
          </p:cNvSpPr>
          <p:nvPr/>
        </p:nvSpPr>
        <p:spPr bwMode="auto">
          <a:xfrm flipH="1" flipV="1">
            <a:off x="5799138" y="3041650"/>
            <a:ext cx="561975" cy="2667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5068" name="Text Box 12" descr="TextBox 17">
            <a:extLst>
              <a:ext uri="{FF2B5EF4-FFF2-40B4-BE49-F238E27FC236}">
                <a16:creationId xmlns:a16="http://schemas.microsoft.com/office/drawing/2014/main" id="{0BD7CF88-C587-B710-B3C4-A6BDF64B730D}"/>
              </a:ext>
            </a:extLst>
          </p:cNvPr>
          <p:cNvSpPr txBox="1">
            <a:spLocks/>
          </p:cNvSpPr>
          <p:nvPr/>
        </p:nvSpPr>
        <p:spPr bwMode="auto">
          <a:xfrm>
            <a:off x="1304925" y="3124200"/>
            <a:ext cx="769938"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5069" name="Text Box 13" descr="TextBox 18">
            <a:extLst>
              <a:ext uri="{FF2B5EF4-FFF2-40B4-BE49-F238E27FC236}">
                <a16:creationId xmlns:a16="http://schemas.microsoft.com/office/drawing/2014/main" id="{7528FCD3-D1DC-8DFD-8542-97AD2EFB912B}"/>
              </a:ext>
            </a:extLst>
          </p:cNvPr>
          <p:cNvSpPr txBox="1">
            <a:spLocks/>
          </p:cNvSpPr>
          <p:nvPr/>
        </p:nvSpPr>
        <p:spPr bwMode="auto">
          <a:xfrm>
            <a:off x="6864350" y="3268663"/>
            <a:ext cx="7699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45070" name="AutoShape 14" descr="Down Arrow 7">
            <a:extLst>
              <a:ext uri="{FF2B5EF4-FFF2-40B4-BE49-F238E27FC236}">
                <a16:creationId xmlns:a16="http://schemas.microsoft.com/office/drawing/2014/main" id="{889D1E00-CFD7-AAE4-0D03-8A52368A6BFA}"/>
              </a:ext>
            </a:extLst>
          </p:cNvPr>
          <p:cNvSpPr>
            <a:spLocks/>
          </p:cNvSpPr>
          <p:nvPr/>
        </p:nvSpPr>
        <p:spPr bwMode="auto">
          <a:xfrm rot="10598870">
            <a:off x="4276725" y="2546350"/>
            <a:ext cx="336550" cy="2460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5071" name="Text Box 15" descr="TextBox 19">
            <a:extLst>
              <a:ext uri="{FF2B5EF4-FFF2-40B4-BE49-F238E27FC236}">
                <a16:creationId xmlns:a16="http://schemas.microsoft.com/office/drawing/2014/main" id="{E94C7415-95BD-CD28-814B-B7EDF910F4B0}"/>
              </a:ext>
            </a:extLst>
          </p:cNvPr>
          <p:cNvSpPr txBox="1">
            <a:spLocks/>
          </p:cNvSpPr>
          <p:nvPr/>
        </p:nvSpPr>
        <p:spPr bwMode="auto">
          <a:xfrm>
            <a:off x="106363" y="3771900"/>
            <a:ext cx="3313112" cy="1612900"/>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Transaction1</a:t>
            </a:r>
          </a:p>
          <a:p>
            <a:r>
              <a:rPr lang="en-US" altLang="en-US" sz="1400">
                <a:solidFill>
                  <a:srgbClr val="0000FF"/>
                </a:solidFill>
              </a:rPr>
              <a:t>Read(TippuSeats)</a:t>
            </a:r>
          </a:p>
          <a:p>
            <a:r>
              <a:rPr lang="en-US" altLang="en-US" sz="1400">
                <a:solidFill>
                  <a:srgbClr val="0000FF"/>
                </a:solidFill>
              </a:rPr>
              <a:t>TippuSeats=TippuSeats-5</a:t>
            </a:r>
          </a:p>
          <a:p>
            <a:r>
              <a:rPr lang="en-US" altLang="en-US" sz="1400">
                <a:solidFill>
                  <a:srgbClr val="0000FF"/>
                </a:solidFill>
              </a:rPr>
              <a:t>Write(TippuSeats)</a:t>
            </a:r>
          </a:p>
          <a:p>
            <a:r>
              <a:rPr lang="en-US" altLang="en-US" sz="1400">
                <a:solidFill>
                  <a:srgbClr val="0000FF"/>
                </a:solidFill>
              </a:rPr>
              <a:t>Read(ChamundiSeats)</a:t>
            </a:r>
          </a:p>
          <a:p>
            <a:r>
              <a:rPr lang="en-US" altLang="en-US" sz="1400">
                <a:solidFill>
                  <a:srgbClr val="0000FF"/>
                </a:solidFill>
              </a:rPr>
              <a:t>ChamundiSeats=ChamundiSeats+5</a:t>
            </a:r>
          </a:p>
          <a:p>
            <a:r>
              <a:rPr lang="en-US" altLang="en-US" sz="1400">
                <a:solidFill>
                  <a:srgbClr val="0000FF"/>
                </a:solidFill>
              </a:rPr>
              <a:t>Write(ChamundiSeats)</a:t>
            </a:r>
          </a:p>
        </p:txBody>
      </p:sp>
      <p:sp>
        <p:nvSpPr>
          <p:cNvPr id="45072" name="Text Box 16" descr="TextBox 21">
            <a:extLst>
              <a:ext uri="{FF2B5EF4-FFF2-40B4-BE49-F238E27FC236}">
                <a16:creationId xmlns:a16="http://schemas.microsoft.com/office/drawing/2014/main" id="{47BDC168-44B0-33A7-3C24-76C04E1E15EF}"/>
              </a:ext>
            </a:extLst>
          </p:cNvPr>
          <p:cNvSpPr txBox="1">
            <a:spLocks/>
          </p:cNvSpPr>
          <p:nvPr/>
        </p:nvSpPr>
        <p:spPr bwMode="auto">
          <a:xfrm>
            <a:off x="5270500" y="3770313"/>
            <a:ext cx="2495550" cy="965200"/>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Transaction2</a:t>
            </a:r>
          </a:p>
          <a:p>
            <a:r>
              <a:rPr lang="en-US" altLang="en-US" sz="1400">
                <a:solidFill>
                  <a:srgbClr val="CC00CC"/>
                </a:solidFill>
              </a:rPr>
              <a:t>Read(TippuSeats)</a:t>
            </a:r>
          </a:p>
          <a:p>
            <a:r>
              <a:rPr lang="en-US" altLang="en-US" sz="1400">
                <a:solidFill>
                  <a:srgbClr val="CC00CC"/>
                </a:solidFill>
              </a:rPr>
              <a:t>TippuSeats=TippuSeats+4</a:t>
            </a:r>
          </a:p>
          <a:p>
            <a:r>
              <a:rPr lang="en-US" altLang="en-US" sz="1400">
                <a:solidFill>
                  <a:srgbClr val="CC00CC"/>
                </a:solidFill>
              </a:rPr>
              <a:t>Write(TippuSeats)</a:t>
            </a:r>
          </a:p>
        </p:txBody>
      </p:sp>
      <p:sp>
        <p:nvSpPr>
          <p:cNvPr id="45073" name="Text Box 17" descr="TextBox 2">
            <a:extLst>
              <a:ext uri="{FF2B5EF4-FFF2-40B4-BE49-F238E27FC236}">
                <a16:creationId xmlns:a16="http://schemas.microsoft.com/office/drawing/2014/main" id="{F60C8396-2B27-0C66-A3B0-D2A8728FAABF}"/>
              </a:ext>
            </a:extLst>
          </p:cNvPr>
          <p:cNvSpPr txBox="1">
            <a:spLocks/>
          </p:cNvSpPr>
          <p:nvPr/>
        </p:nvSpPr>
        <p:spPr bwMode="auto">
          <a:xfrm>
            <a:off x="795338" y="5354638"/>
            <a:ext cx="7300912"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sz="1600">
                <a:solidFill>
                  <a:srgbClr val="FF0000"/>
                </a:solidFill>
              </a:rPr>
              <a:t>Question</a:t>
            </a:r>
          </a:p>
          <a:p>
            <a:pPr algn="ctr"/>
            <a:r>
              <a:rPr lang="en-US" altLang="en-US" sz="1600"/>
              <a:t>What will be the total number of seats on Tippu express and</a:t>
            </a:r>
          </a:p>
          <a:p>
            <a:pPr algn="ctr"/>
            <a:r>
              <a:rPr lang="en-US" altLang="en-US" sz="1600"/>
              <a:t>Chamundi express if first User1 executes Transaction1 and then User2</a:t>
            </a:r>
          </a:p>
          <a:p>
            <a:pPr algn="ctr"/>
            <a:r>
              <a:rPr lang="en-US" altLang="en-US" sz="1600"/>
              <a:t>Executes Transaction2</a:t>
            </a:r>
          </a:p>
        </p:txBody>
      </p:sp>
      <p:pic>
        <p:nvPicPr>
          <p:cNvPr id="45074" name="Picture 18" descr="Picture 2">
            <a:extLst>
              <a:ext uri="{FF2B5EF4-FFF2-40B4-BE49-F238E27FC236}">
                <a16:creationId xmlns:a16="http://schemas.microsoft.com/office/drawing/2014/main" id="{E1A53BB5-9B66-9CF8-FA7C-4F79B8CDB542}"/>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195388"/>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descr="Title 1">
            <a:extLst>
              <a:ext uri="{FF2B5EF4-FFF2-40B4-BE49-F238E27FC236}">
                <a16:creationId xmlns:a16="http://schemas.microsoft.com/office/drawing/2014/main" id="{668BC1D0-B59E-9A66-B384-4AF675986893}"/>
              </a:ext>
            </a:extLst>
          </p:cNvPr>
          <p:cNvSpPr>
            <a:spLocks noChangeArrowheads="1"/>
          </p:cNvSpPr>
          <p:nvPr>
            <p:ph type="title"/>
          </p:nvPr>
        </p:nvSpPr>
        <p:spPr/>
        <p:txBody>
          <a:bodyPr/>
          <a:lstStyle/>
          <a:p>
            <a:pPr defTabSz="904875"/>
            <a:r>
              <a:rPr lang="en-US" altLang="en-US" sz="2300"/>
              <a:t>To Understand problems with concurrent executions</a:t>
            </a:r>
          </a:p>
        </p:txBody>
      </p:sp>
      <p:sp>
        <p:nvSpPr>
          <p:cNvPr id="46083" name="Text Box 3" descr="Date Placeholder 3">
            <a:extLst>
              <a:ext uri="{FF2B5EF4-FFF2-40B4-BE49-F238E27FC236}">
                <a16:creationId xmlns:a16="http://schemas.microsoft.com/office/drawing/2014/main" id="{98C6B7C1-0536-0A02-1870-6C60EC19B4D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6084" name="Text Box 4" descr="Slide Number Placeholder 5">
            <a:extLst>
              <a:ext uri="{FF2B5EF4-FFF2-40B4-BE49-F238E27FC236}">
                <a16:creationId xmlns:a16="http://schemas.microsoft.com/office/drawing/2014/main" id="{F395AD39-BC90-E646-9D9C-B0EBC0729DC8}"/>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6B6C644-36D2-45B0-8650-AC9A396BF79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6085" name="Picture 5" descr="Picture 3">
            <a:extLst>
              <a:ext uri="{FF2B5EF4-FFF2-40B4-BE49-F238E27FC236}">
                <a16:creationId xmlns:a16="http://schemas.microsoft.com/office/drawing/2014/main" id="{EB753EA8-3D2E-736F-79E7-64BCB630557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43138" y="28432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6086" name="Picture 6" descr="Picture 4">
            <a:extLst>
              <a:ext uri="{FF2B5EF4-FFF2-40B4-BE49-F238E27FC236}">
                <a16:creationId xmlns:a16="http://schemas.microsoft.com/office/drawing/2014/main" id="{572689E7-CA25-1A38-5885-C3FD09C4B70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61113" y="3041650"/>
            <a:ext cx="4572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6087" name="Group 7">
            <a:extLst>
              <a:ext uri="{FF2B5EF4-FFF2-40B4-BE49-F238E27FC236}">
                <a16:creationId xmlns:a16="http://schemas.microsoft.com/office/drawing/2014/main" id="{185BC45D-D2F0-726F-4115-EE1B9692C290}"/>
              </a:ext>
            </a:extLst>
          </p:cNvPr>
          <p:cNvGrpSpPr>
            <a:grpSpLocks/>
          </p:cNvGrpSpPr>
          <p:nvPr/>
        </p:nvGrpSpPr>
        <p:grpSpPr bwMode="auto">
          <a:xfrm>
            <a:off x="3130550" y="2782888"/>
            <a:ext cx="2668588" cy="766762"/>
            <a:chOff x="0" y="-1"/>
            <a:chExt cx="2668137" cy="767236"/>
          </a:xfrm>
        </p:grpSpPr>
        <p:sp>
          <p:nvSpPr>
            <p:cNvPr id="46088" name="Rectangle 8">
              <a:extLst>
                <a:ext uri="{FF2B5EF4-FFF2-40B4-BE49-F238E27FC236}">
                  <a16:creationId xmlns:a16="http://schemas.microsoft.com/office/drawing/2014/main" id="{BF96B235-472F-ADA5-35E2-A120F52FE8DC}"/>
                </a:ext>
              </a:extLst>
            </p:cNvPr>
            <p:cNvSpPr>
              <a:spLocks/>
            </p:cNvSpPr>
            <p:nvPr/>
          </p:nvSpPr>
          <p:spPr bwMode="auto">
            <a:xfrm>
              <a:off x="0" y="-1"/>
              <a:ext cx="2668137" cy="767236"/>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6089" name="Text Box 9">
              <a:extLst>
                <a:ext uri="{FF2B5EF4-FFF2-40B4-BE49-F238E27FC236}">
                  <a16:creationId xmlns:a16="http://schemas.microsoft.com/office/drawing/2014/main" id="{E9D4CD29-A7D8-4737-E585-08B85278B788}"/>
                </a:ext>
              </a:extLst>
            </p:cNvPr>
            <p:cNvSpPr txBox="1">
              <a:spLocks/>
            </p:cNvSpPr>
            <p:nvPr/>
          </p:nvSpPr>
          <p:spPr bwMode="auto">
            <a:xfrm>
              <a:off x="64770" y="19049"/>
              <a:ext cx="2538598"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Booking/Cancellation Software </a:t>
              </a:r>
            </a:p>
          </p:txBody>
        </p:sp>
      </p:grpSp>
      <p:sp>
        <p:nvSpPr>
          <p:cNvPr id="46090" name="Line 10" descr="Straight Arrow Connector 15">
            <a:extLst>
              <a:ext uri="{FF2B5EF4-FFF2-40B4-BE49-F238E27FC236}">
                <a16:creationId xmlns:a16="http://schemas.microsoft.com/office/drawing/2014/main" id="{8291C232-A4DE-B693-E515-E5AA3650FAB4}"/>
              </a:ext>
            </a:extLst>
          </p:cNvPr>
          <p:cNvSpPr>
            <a:spLocks noChangeShapeType="1"/>
          </p:cNvSpPr>
          <p:nvPr/>
        </p:nvSpPr>
        <p:spPr bwMode="auto">
          <a:xfrm flipV="1">
            <a:off x="2601913" y="3086100"/>
            <a:ext cx="490537" cy="3810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6091" name="Line 11" descr="Straight Arrow Connector 16">
            <a:extLst>
              <a:ext uri="{FF2B5EF4-FFF2-40B4-BE49-F238E27FC236}">
                <a16:creationId xmlns:a16="http://schemas.microsoft.com/office/drawing/2014/main" id="{176CC1BC-A2A0-F3DC-FC87-23F061965372}"/>
              </a:ext>
            </a:extLst>
          </p:cNvPr>
          <p:cNvSpPr>
            <a:spLocks noChangeShapeType="1"/>
          </p:cNvSpPr>
          <p:nvPr/>
        </p:nvSpPr>
        <p:spPr bwMode="auto">
          <a:xfrm flipH="1" flipV="1">
            <a:off x="5799138" y="3041650"/>
            <a:ext cx="561975" cy="26670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6092" name="Text Box 12" descr="TextBox 17">
            <a:extLst>
              <a:ext uri="{FF2B5EF4-FFF2-40B4-BE49-F238E27FC236}">
                <a16:creationId xmlns:a16="http://schemas.microsoft.com/office/drawing/2014/main" id="{98D58C95-4A11-2E56-6E69-7CCEE48D262A}"/>
              </a:ext>
            </a:extLst>
          </p:cNvPr>
          <p:cNvSpPr txBox="1">
            <a:spLocks/>
          </p:cNvSpPr>
          <p:nvPr/>
        </p:nvSpPr>
        <p:spPr bwMode="auto">
          <a:xfrm>
            <a:off x="1304925" y="3124200"/>
            <a:ext cx="769938"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6093" name="Text Box 13" descr="TextBox 18">
            <a:extLst>
              <a:ext uri="{FF2B5EF4-FFF2-40B4-BE49-F238E27FC236}">
                <a16:creationId xmlns:a16="http://schemas.microsoft.com/office/drawing/2014/main" id="{C02AFC98-0400-E22C-B1BB-6F00A9BED578}"/>
              </a:ext>
            </a:extLst>
          </p:cNvPr>
          <p:cNvSpPr txBox="1">
            <a:spLocks/>
          </p:cNvSpPr>
          <p:nvPr/>
        </p:nvSpPr>
        <p:spPr bwMode="auto">
          <a:xfrm>
            <a:off x="6864350" y="3268663"/>
            <a:ext cx="769938"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46094" name="AutoShape 14" descr="Down Arrow 7">
            <a:extLst>
              <a:ext uri="{FF2B5EF4-FFF2-40B4-BE49-F238E27FC236}">
                <a16:creationId xmlns:a16="http://schemas.microsoft.com/office/drawing/2014/main" id="{60DD441B-F100-420C-0D11-8A2D3D10681D}"/>
              </a:ext>
            </a:extLst>
          </p:cNvPr>
          <p:cNvSpPr>
            <a:spLocks/>
          </p:cNvSpPr>
          <p:nvPr/>
        </p:nvSpPr>
        <p:spPr bwMode="auto">
          <a:xfrm rot="10598870">
            <a:off x="4276725" y="2546350"/>
            <a:ext cx="336550" cy="2460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6095" name="Text Box 15" descr="TextBox 19">
            <a:extLst>
              <a:ext uri="{FF2B5EF4-FFF2-40B4-BE49-F238E27FC236}">
                <a16:creationId xmlns:a16="http://schemas.microsoft.com/office/drawing/2014/main" id="{B0CC164A-CFB5-2D56-D406-4B6DB82EE999}"/>
              </a:ext>
            </a:extLst>
          </p:cNvPr>
          <p:cNvSpPr txBox="1">
            <a:spLocks/>
          </p:cNvSpPr>
          <p:nvPr/>
        </p:nvSpPr>
        <p:spPr bwMode="auto">
          <a:xfrm>
            <a:off x="106363" y="3771900"/>
            <a:ext cx="3313112" cy="1612900"/>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Transaction1</a:t>
            </a:r>
          </a:p>
          <a:p>
            <a:r>
              <a:rPr lang="en-US" altLang="en-US" sz="1400">
                <a:solidFill>
                  <a:srgbClr val="0000FF"/>
                </a:solidFill>
              </a:rPr>
              <a:t>Read(TippuSeats)</a:t>
            </a:r>
          </a:p>
          <a:p>
            <a:r>
              <a:rPr lang="en-US" altLang="en-US" sz="1400">
                <a:solidFill>
                  <a:srgbClr val="0000FF"/>
                </a:solidFill>
              </a:rPr>
              <a:t>TippuSeats=TippuSeats-5</a:t>
            </a:r>
          </a:p>
          <a:p>
            <a:r>
              <a:rPr lang="en-US" altLang="en-US" sz="1400">
                <a:solidFill>
                  <a:srgbClr val="0000FF"/>
                </a:solidFill>
              </a:rPr>
              <a:t>Write(TippuSeats)</a:t>
            </a:r>
          </a:p>
          <a:p>
            <a:r>
              <a:rPr lang="en-US" altLang="en-US" sz="1400">
                <a:solidFill>
                  <a:srgbClr val="0000FF"/>
                </a:solidFill>
              </a:rPr>
              <a:t>Read(ChamundiSeats)</a:t>
            </a:r>
          </a:p>
          <a:p>
            <a:r>
              <a:rPr lang="en-US" altLang="en-US" sz="1400">
                <a:solidFill>
                  <a:srgbClr val="0000FF"/>
                </a:solidFill>
              </a:rPr>
              <a:t>ChamundiSeats=ChamundiSeats+5</a:t>
            </a:r>
          </a:p>
          <a:p>
            <a:r>
              <a:rPr lang="en-US" altLang="en-US" sz="1400">
                <a:solidFill>
                  <a:srgbClr val="0000FF"/>
                </a:solidFill>
              </a:rPr>
              <a:t>Write(ChamundiSeats)</a:t>
            </a:r>
          </a:p>
        </p:txBody>
      </p:sp>
      <p:sp>
        <p:nvSpPr>
          <p:cNvPr id="46096" name="Text Box 16" descr="TextBox 21">
            <a:extLst>
              <a:ext uri="{FF2B5EF4-FFF2-40B4-BE49-F238E27FC236}">
                <a16:creationId xmlns:a16="http://schemas.microsoft.com/office/drawing/2014/main" id="{D33A1AD7-D123-9A10-B9A8-C216904048D1}"/>
              </a:ext>
            </a:extLst>
          </p:cNvPr>
          <p:cNvSpPr txBox="1">
            <a:spLocks/>
          </p:cNvSpPr>
          <p:nvPr/>
        </p:nvSpPr>
        <p:spPr bwMode="auto">
          <a:xfrm>
            <a:off x="5270500" y="3770313"/>
            <a:ext cx="2495550" cy="965200"/>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Transaction2</a:t>
            </a:r>
          </a:p>
          <a:p>
            <a:r>
              <a:rPr lang="en-US" altLang="en-US" sz="1400">
                <a:solidFill>
                  <a:srgbClr val="CC00CC"/>
                </a:solidFill>
              </a:rPr>
              <a:t>Read(TippuSeats)</a:t>
            </a:r>
          </a:p>
          <a:p>
            <a:r>
              <a:rPr lang="en-US" altLang="en-US" sz="1400">
                <a:solidFill>
                  <a:srgbClr val="CC00CC"/>
                </a:solidFill>
              </a:rPr>
              <a:t>TippuSeats=TippuSeats+4</a:t>
            </a:r>
          </a:p>
          <a:p>
            <a:r>
              <a:rPr lang="en-US" altLang="en-US" sz="1400">
                <a:solidFill>
                  <a:srgbClr val="CC00CC"/>
                </a:solidFill>
              </a:rPr>
              <a:t>Write(TippuSeats)</a:t>
            </a:r>
          </a:p>
        </p:txBody>
      </p:sp>
      <p:sp>
        <p:nvSpPr>
          <p:cNvPr id="46097" name="Text Box 17" descr="TextBox 2">
            <a:extLst>
              <a:ext uri="{FF2B5EF4-FFF2-40B4-BE49-F238E27FC236}">
                <a16:creationId xmlns:a16="http://schemas.microsoft.com/office/drawing/2014/main" id="{0F1AF425-E751-5AA9-FAE3-C8D20303026D}"/>
              </a:ext>
            </a:extLst>
          </p:cNvPr>
          <p:cNvSpPr txBox="1">
            <a:spLocks/>
          </p:cNvSpPr>
          <p:nvPr/>
        </p:nvSpPr>
        <p:spPr bwMode="auto">
          <a:xfrm>
            <a:off x="2935288" y="5354638"/>
            <a:ext cx="3021012"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sz="1600">
                <a:solidFill>
                  <a:srgbClr val="FF0000"/>
                </a:solidFill>
              </a:rPr>
              <a:t>Answer</a:t>
            </a:r>
          </a:p>
          <a:p>
            <a:pPr algn="ctr"/>
            <a:r>
              <a:rPr lang="en-US" altLang="en-US" sz="1600"/>
              <a:t>Tippu express seats: 79</a:t>
            </a:r>
          </a:p>
          <a:p>
            <a:pPr algn="ctr"/>
            <a:r>
              <a:rPr lang="en-US" altLang="en-US" sz="1600"/>
              <a:t>Chamundi express seats: 75</a:t>
            </a:r>
          </a:p>
        </p:txBody>
      </p:sp>
      <p:pic>
        <p:nvPicPr>
          <p:cNvPr id="46098" name="Picture 18" descr="Picture 3">
            <a:extLst>
              <a:ext uri="{FF2B5EF4-FFF2-40B4-BE49-F238E27FC236}">
                <a16:creationId xmlns:a16="http://schemas.microsoft.com/office/drawing/2014/main" id="{D9978B70-7A1F-1B7B-5C70-59A563667D4E}"/>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835150" y="1123950"/>
            <a:ext cx="5184775" cy="1401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descr="Title 1">
            <a:extLst>
              <a:ext uri="{FF2B5EF4-FFF2-40B4-BE49-F238E27FC236}">
                <a16:creationId xmlns:a16="http://schemas.microsoft.com/office/drawing/2014/main" id="{72C8DF6D-5611-9E1F-4352-794DBD406246}"/>
              </a:ext>
            </a:extLst>
          </p:cNvPr>
          <p:cNvSpPr>
            <a:spLocks noChangeArrowheads="1"/>
          </p:cNvSpPr>
          <p:nvPr>
            <p:ph type="title"/>
          </p:nvPr>
        </p:nvSpPr>
        <p:spPr/>
        <p:txBody>
          <a:bodyPr/>
          <a:lstStyle/>
          <a:p>
            <a:r>
              <a:rPr lang="en-US" altLang="en-US" sz="2400"/>
              <a:t>Non-interleaved vs Interleaved transactions</a:t>
            </a:r>
          </a:p>
        </p:txBody>
      </p:sp>
      <p:sp>
        <p:nvSpPr>
          <p:cNvPr id="47107" name="Text Box 3" descr="Date Placeholder 3">
            <a:extLst>
              <a:ext uri="{FF2B5EF4-FFF2-40B4-BE49-F238E27FC236}">
                <a16:creationId xmlns:a16="http://schemas.microsoft.com/office/drawing/2014/main" id="{A7A054E8-B2D2-F927-464D-7639C78F5B5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7108" name="Text Box 4" descr="Slide Number Placeholder 5">
            <a:extLst>
              <a:ext uri="{FF2B5EF4-FFF2-40B4-BE49-F238E27FC236}">
                <a16:creationId xmlns:a16="http://schemas.microsoft.com/office/drawing/2014/main" id="{F23602B8-C050-12A9-44E2-F4C49F7583BD}"/>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10B0B29-95D2-4280-B0CB-48052EC560F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47109" name="Group 5">
            <a:extLst>
              <a:ext uri="{FF2B5EF4-FFF2-40B4-BE49-F238E27FC236}">
                <a16:creationId xmlns:a16="http://schemas.microsoft.com/office/drawing/2014/main" id="{51E8E591-6FFD-EA3D-7096-B4F9FF9329F7}"/>
              </a:ext>
            </a:extLst>
          </p:cNvPr>
          <p:cNvGrpSpPr>
            <a:grpSpLocks/>
          </p:cNvGrpSpPr>
          <p:nvPr/>
        </p:nvGrpSpPr>
        <p:grpSpPr bwMode="auto">
          <a:xfrm>
            <a:off x="231775" y="1809750"/>
            <a:ext cx="3417888" cy="2565400"/>
            <a:chOff x="-1" y="0"/>
            <a:chExt cx="3417924" cy="2565003"/>
          </a:xfrm>
        </p:grpSpPr>
        <p:sp>
          <p:nvSpPr>
            <p:cNvPr id="47110" name="Text Box 6" descr="TextBox 6">
              <a:extLst>
                <a:ext uri="{FF2B5EF4-FFF2-40B4-BE49-F238E27FC236}">
                  <a16:creationId xmlns:a16="http://schemas.microsoft.com/office/drawing/2014/main" id="{50604BBC-C1AF-7422-51C2-E99468026855}"/>
                </a:ext>
              </a:extLst>
            </p:cNvPr>
            <p:cNvSpPr txBox="1">
              <a:spLocks/>
            </p:cNvSpPr>
            <p:nvPr/>
          </p:nvSpPr>
          <p:spPr bwMode="auto">
            <a:xfrm>
              <a:off x="0" y="0"/>
              <a:ext cx="3313545" cy="1612265"/>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Transaction1</a:t>
              </a:r>
            </a:p>
            <a:p>
              <a:r>
                <a:rPr lang="en-US" altLang="en-US" sz="1400">
                  <a:solidFill>
                    <a:srgbClr val="0000FF"/>
                  </a:solidFill>
                </a:rPr>
                <a:t>Read(TippuSeats)</a:t>
              </a:r>
            </a:p>
            <a:p>
              <a:r>
                <a:rPr lang="en-US" altLang="en-US" sz="1400">
                  <a:solidFill>
                    <a:srgbClr val="0000FF"/>
                  </a:solidFill>
                </a:rPr>
                <a:t>TippuSeats=TippuSeats-5</a:t>
              </a:r>
            </a:p>
            <a:p>
              <a:r>
                <a:rPr lang="en-US" altLang="en-US" sz="1400">
                  <a:solidFill>
                    <a:srgbClr val="0000FF"/>
                  </a:solidFill>
                </a:rPr>
                <a:t>Write(TippuSeats)</a:t>
              </a:r>
            </a:p>
            <a:p>
              <a:r>
                <a:rPr lang="en-US" altLang="en-US" sz="1400">
                  <a:solidFill>
                    <a:srgbClr val="0000FF"/>
                  </a:solidFill>
                </a:rPr>
                <a:t>Read(ChamundiSeats)</a:t>
              </a:r>
            </a:p>
            <a:p>
              <a:r>
                <a:rPr lang="en-US" altLang="en-US" sz="1400">
                  <a:solidFill>
                    <a:srgbClr val="0000FF"/>
                  </a:solidFill>
                </a:rPr>
                <a:t>ChamundiSeats=ChamundiSeats+5</a:t>
              </a:r>
            </a:p>
            <a:p>
              <a:r>
                <a:rPr lang="en-US" altLang="en-US" sz="1400">
                  <a:solidFill>
                    <a:srgbClr val="0000FF"/>
                  </a:solidFill>
                </a:rPr>
                <a:t>Write(ChamundiSeats)</a:t>
              </a:r>
            </a:p>
          </p:txBody>
        </p:sp>
        <p:sp>
          <p:nvSpPr>
            <p:cNvPr id="47111" name="Text Box 7" descr="TextBox 7">
              <a:extLst>
                <a:ext uri="{FF2B5EF4-FFF2-40B4-BE49-F238E27FC236}">
                  <a16:creationId xmlns:a16="http://schemas.microsoft.com/office/drawing/2014/main" id="{CCC8F713-BE8D-4086-23EF-63C23B44B460}"/>
                </a:ext>
              </a:extLst>
            </p:cNvPr>
            <p:cNvSpPr txBox="1">
              <a:spLocks/>
            </p:cNvSpPr>
            <p:nvPr/>
          </p:nvSpPr>
          <p:spPr bwMode="auto">
            <a:xfrm>
              <a:off x="6967" y="1600437"/>
              <a:ext cx="3410956" cy="964566"/>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b="1"/>
                <a:t>Transaction2</a:t>
              </a:r>
            </a:p>
            <a:p>
              <a:r>
                <a:rPr lang="en-US" altLang="en-US" sz="1400">
                  <a:solidFill>
                    <a:srgbClr val="CC00CC"/>
                  </a:solidFill>
                </a:rPr>
                <a:t>Read(TippuSeats)</a:t>
              </a:r>
            </a:p>
            <a:p>
              <a:r>
                <a:rPr lang="en-US" altLang="en-US" sz="1400">
                  <a:solidFill>
                    <a:srgbClr val="CC00CC"/>
                  </a:solidFill>
                </a:rPr>
                <a:t>TippuSeats=TippuSeats+4</a:t>
              </a:r>
            </a:p>
            <a:p>
              <a:r>
                <a:rPr lang="en-US" altLang="en-US" sz="1400">
                  <a:solidFill>
                    <a:srgbClr val="CC00CC"/>
                  </a:solidFill>
                </a:rPr>
                <a:t>Write(TippuSeats)</a:t>
              </a:r>
            </a:p>
          </p:txBody>
        </p:sp>
      </p:grpSp>
      <p:pic>
        <p:nvPicPr>
          <p:cNvPr id="47112" name="Picture 8" descr="Picture 2">
            <a:extLst>
              <a:ext uri="{FF2B5EF4-FFF2-40B4-BE49-F238E27FC236}">
                <a16:creationId xmlns:a16="http://schemas.microsoft.com/office/drawing/2014/main" id="{0E76E4B7-4482-C328-31CA-EEA38FBABF2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22713" y="3297238"/>
            <a:ext cx="5119687" cy="2003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7113" name="Text Box 9" descr="TextBox 9">
            <a:extLst>
              <a:ext uri="{FF2B5EF4-FFF2-40B4-BE49-F238E27FC236}">
                <a16:creationId xmlns:a16="http://schemas.microsoft.com/office/drawing/2014/main" id="{B4228513-65CE-5F00-5E2E-C062500E8EEA}"/>
              </a:ext>
            </a:extLst>
          </p:cNvPr>
          <p:cNvSpPr txBox="1">
            <a:spLocks/>
          </p:cNvSpPr>
          <p:nvPr/>
        </p:nvSpPr>
        <p:spPr bwMode="auto">
          <a:xfrm>
            <a:off x="276225" y="1227138"/>
            <a:ext cx="8251825"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Non-interleaved transaction (or Serial transaction)</a:t>
            </a:r>
            <a:r>
              <a:rPr lang="en-US" altLang="en-US" sz="1600"/>
              <a:t>: In this case first </a:t>
            </a:r>
          </a:p>
          <a:p>
            <a:r>
              <a:rPr lang="en-US" altLang="en-US" sz="1600"/>
              <a:t>completely transaction T1 gets executed and then transaction T2 gets executed</a:t>
            </a:r>
          </a:p>
        </p:txBody>
      </p:sp>
      <p:sp>
        <p:nvSpPr>
          <p:cNvPr id="47114" name="Text Box 10" descr="TextBox 11">
            <a:extLst>
              <a:ext uri="{FF2B5EF4-FFF2-40B4-BE49-F238E27FC236}">
                <a16:creationId xmlns:a16="http://schemas.microsoft.com/office/drawing/2014/main" id="{36167F31-9EC5-5380-0A1E-5E3DE6A87D5D}"/>
              </a:ext>
            </a:extLst>
          </p:cNvPr>
          <p:cNvSpPr txBox="1">
            <a:spLocks/>
          </p:cNvSpPr>
          <p:nvPr/>
        </p:nvSpPr>
        <p:spPr bwMode="auto">
          <a:xfrm>
            <a:off x="2660650" y="5222875"/>
            <a:ext cx="6413500"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Interleaved transaction (or Non-Serial or Concurrent): </a:t>
            </a:r>
          </a:p>
          <a:p>
            <a:r>
              <a:rPr lang="en-US" altLang="en-US" sz="1600"/>
              <a:t>First, Part of Transaction T1 gets executed, </a:t>
            </a:r>
          </a:p>
          <a:p>
            <a:r>
              <a:rPr lang="en-US" altLang="en-US" sz="1600"/>
              <a:t>second Transaction T2 gets executed  and third </a:t>
            </a:r>
          </a:p>
          <a:p>
            <a:r>
              <a:rPr lang="en-US" altLang="en-US" sz="1600"/>
              <a:t>remaining part of transaction T1 gets executed</a:t>
            </a:r>
          </a:p>
        </p:txBody>
      </p:sp>
    </p:spTree>
  </p:cSld>
  <p:clrMapOvr>
    <a:masterClrMapping/>
  </p:clrMapOvr>
  <p:transition spd="med"/>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descr="Title 1">
            <a:extLst>
              <a:ext uri="{FF2B5EF4-FFF2-40B4-BE49-F238E27FC236}">
                <a16:creationId xmlns:a16="http://schemas.microsoft.com/office/drawing/2014/main" id="{081C690D-BD48-D069-3C71-037CDF759F83}"/>
              </a:ext>
            </a:extLst>
          </p:cNvPr>
          <p:cNvSpPr>
            <a:spLocks noChangeArrowheads="1"/>
          </p:cNvSpPr>
          <p:nvPr>
            <p:ph type="title"/>
          </p:nvPr>
        </p:nvSpPr>
        <p:spPr/>
        <p:txBody>
          <a:bodyPr/>
          <a:lstStyle/>
          <a:p>
            <a:pPr marL="514350" indent="-514350"/>
            <a:r>
              <a:rPr lang="en-US" altLang="en-US"/>
              <a:t>Lost Update Problem: Example</a:t>
            </a:r>
          </a:p>
        </p:txBody>
      </p:sp>
      <p:sp>
        <p:nvSpPr>
          <p:cNvPr id="48131" name="Text Box 3" descr="Date Placeholder 3">
            <a:extLst>
              <a:ext uri="{FF2B5EF4-FFF2-40B4-BE49-F238E27FC236}">
                <a16:creationId xmlns:a16="http://schemas.microsoft.com/office/drawing/2014/main" id="{EC82F712-2F71-5DFF-E5DA-4CCD2232965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8132" name="Text Box 4" descr="Slide Number Placeholder 5">
            <a:extLst>
              <a:ext uri="{FF2B5EF4-FFF2-40B4-BE49-F238E27FC236}">
                <a16:creationId xmlns:a16="http://schemas.microsoft.com/office/drawing/2014/main" id="{30E4C166-1FAC-F008-B519-17254A38EBCC}"/>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82622CC-22C6-4E56-BC1E-F0645479294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48133" name="Picture 5" descr="Picture 3">
            <a:extLst>
              <a:ext uri="{FF2B5EF4-FFF2-40B4-BE49-F238E27FC236}">
                <a16:creationId xmlns:a16="http://schemas.microsoft.com/office/drawing/2014/main" id="{E24321C0-CE19-AF30-349B-DA43891CC3E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8134" name="Picture 6" descr="Picture 4">
            <a:extLst>
              <a:ext uri="{FF2B5EF4-FFF2-40B4-BE49-F238E27FC236}">
                <a16:creationId xmlns:a16="http://schemas.microsoft.com/office/drawing/2014/main" id="{A1844053-48B3-2D1F-1CEE-8805215FA19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8135" name="Group 7">
            <a:extLst>
              <a:ext uri="{FF2B5EF4-FFF2-40B4-BE49-F238E27FC236}">
                <a16:creationId xmlns:a16="http://schemas.microsoft.com/office/drawing/2014/main" id="{1B560E3B-A3B2-CB86-85EE-EE17024363CD}"/>
              </a:ext>
            </a:extLst>
          </p:cNvPr>
          <p:cNvGrpSpPr>
            <a:grpSpLocks/>
          </p:cNvGrpSpPr>
          <p:nvPr/>
        </p:nvGrpSpPr>
        <p:grpSpPr bwMode="auto">
          <a:xfrm>
            <a:off x="3222625" y="2667000"/>
            <a:ext cx="3268663" cy="612775"/>
            <a:chOff x="-1" y="0"/>
            <a:chExt cx="3268876" cy="613318"/>
          </a:xfrm>
        </p:grpSpPr>
        <p:sp>
          <p:nvSpPr>
            <p:cNvPr id="48136" name="Rectangle 8">
              <a:extLst>
                <a:ext uri="{FF2B5EF4-FFF2-40B4-BE49-F238E27FC236}">
                  <a16:creationId xmlns:a16="http://schemas.microsoft.com/office/drawing/2014/main" id="{3DA589EF-A196-1D6D-1615-ED10327B9959}"/>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48137" name="Text Box 9">
              <a:extLst>
                <a:ext uri="{FF2B5EF4-FFF2-40B4-BE49-F238E27FC236}">
                  <a16:creationId xmlns:a16="http://schemas.microsoft.com/office/drawing/2014/main" id="{295C5714-1E9A-8BBC-3061-699622651FE0}"/>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48138" name="Line 10" descr="Straight Arrow Connector 9">
            <a:extLst>
              <a:ext uri="{FF2B5EF4-FFF2-40B4-BE49-F238E27FC236}">
                <a16:creationId xmlns:a16="http://schemas.microsoft.com/office/drawing/2014/main" id="{C3900D7A-0618-AE55-B8D7-8C7B3F09C80E}"/>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8139" name="Line 11" descr="Straight Arrow Connector 10">
            <a:extLst>
              <a:ext uri="{FF2B5EF4-FFF2-40B4-BE49-F238E27FC236}">
                <a16:creationId xmlns:a16="http://schemas.microsoft.com/office/drawing/2014/main" id="{78D38338-22ED-30FE-8A24-CA59A429A8A9}"/>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48140" name="Text Box 12" descr="TextBox 11">
            <a:extLst>
              <a:ext uri="{FF2B5EF4-FFF2-40B4-BE49-F238E27FC236}">
                <a16:creationId xmlns:a16="http://schemas.microsoft.com/office/drawing/2014/main" id="{9DE58177-5066-9C88-F3A5-8DD6306C87E3}"/>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48141" name="Text Box 13" descr="TextBox 12">
            <a:extLst>
              <a:ext uri="{FF2B5EF4-FFF2-40B4-BE49-F238E27FC236}">
                <a16:creationId xmlns:a16="http://schemas.microsoft.com/office/drawing/2014/main" id="{E9E777FA-E618-EA11-15D8-ECD026F1139B}"/>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48142" name="AutoShape 14" descr="Down Arrow 13">
            <a:extLst>
              <a:ext uri="{FF2B5EF4-FFF2-40B4-BE49-F238E27FC236}">
                <a16:creationId xmlns:a16="http://schemas.microsoft.com/office/drawing/2014/main" id="{6A1CDFFF-4078-55F9-67C5-E25A7668D3CF}"/>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48143" name="Picture 15" descr="Picture 2">
            <a:extLst>
              <a:ext uri="{FF2B5EF4-FFF2-40B4-BE49-F238E27FC236}">
                <a16:creationId xmlns:a16="http://schemas.microsoft.com/office/drawing/2014/main" id="{094ED5DD-2EB1-B1CB-641F-8645AB0EB55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052513"/>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48144" name="Group 16">
            <a:extLst>
              <a:ext uri="{FF2B5EF4-FFF2-40B4-BE49-F238E27FC236}">
                <a16:creationId xmlns:a16="http://schemas.microsoft.com/office/drawing/2014/main" id="{39BFED53-B225-1622-B9E1-478424CE584C}"/>
              </a:ext>
            </a:extLst>
          </p:cNvPr>
          <p:cNvGraphicFramePr>
            <a:graphicFrameLocks noGrp="1"/>
          </p:cNvGraphicFramePr>
          <p:nvPr/>
        </p:nvGraphicFramePr>
        <p:xfrm>
          <a:off x="830263" y="3429000"/>
          <a:ext cx="7786687" cy="3003550"/>
        </p:xfrm>
        <a:graphic>
          <a:graphicData uri="http://schemas.openxmlformats.org/drawingml/2006/table">
            <a:tbl>
              <a:tblPr/>
              <a:tblGrid>
                <a:gridCol w="4368800">
                  <a:extLst>
                    <a:ext uri="{9D8B030D-6E8A-4147-A177-3AD203B41FA5}">
                      <a16:colId xmlns:a16="http://schemas.microsoft.com/office/drawing/2014/main" val="1020673712"/>
                    </a:ext>
                  </a:extLst>
                </a:gridCol>
                <a:gridCol w="3417887">
                  <a:extLst>
                    <a:ext uri="{9D8B030D-6E8A-4147-A177-3AD203B41FA5}">
                      <a16:colId xmlns:a16="http://schemas.microsoft.com/office/drawing/2014/main" val="76519122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95283933"/>
                  </a:ext>
                </a:extLst>
              </a:tr>
              <a:tr h="2619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ChamundiSeats=ChamundiSeats+5</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TippuSeats=TippuSeats+4</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4240492"/>
                  </a:ext>
                </a:extLst>
              </a:tr>
            </a:tbl>
          </a:graphicData>
        </a:graphic>
      </p:graphicFrame>
    </p:spTree>
  </p:cSld>
  <p:clrMapOvr>
    <a:masterClrMapping/>
  </p:clrMapOvr>
  <p:transition spd="med"/>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descr="Title 1">
            <a:extLst>
              <a:ext uri="{FF2B5EF4-FFF2-40B4-BE49-F238E27FC236}">
                <a16:creationId xmlns:a16="http://schemas.microsoft.com/office/drawing/2014/main" id="{B208A59F-7DB7-6184-9674-D692E9A054F1}"/>
              </a:ext>
            </a:extLst>
          </p:cNvPr>
          <p:cNvSpPr>
            <a:spLocks noChangeArrowheads="1"/>
          </p:cNvSpPr>
          <p:nvPr>
            <p:ph type="title"/>
          </p:nvPr>
        </p:nvSpPr>
        <p:spPr/>
        <p:txBody>
          <a:bodyPr/>
          <a:lstStyle/>
          <a:p>
            <a:r>
              <a:rPr lang="en-US" altLang="en-US"/>
              <a:t>Problems with Concurrent Execution</a:t>
            </a:r>
          </a:p>
        </p:txBody>
      </p:sp>
      <p:sp>
        <p:nvSpPr>
          <p:cNvPr id="49155" name="Rectangle 3" descr="Content Placeholder 2">
            <a:extLst>
              <a:ext uri="{FF2B5EF4-FFF2-40B4-BE49-F238E27FC236}">
                <a16:creationId xmlns:a16="http://schemas.microsoft.com/office/drawing/2014/main" id="{180E2FF6-3A13-A3A2-9D49-72C1594977E3}"/>
              </a:ext>
            </a:extLst>
          </p:cNvPr>
          <p:cNvSpPr>
            <a:spLocks noChangeArrowheads="1"/>
          </p:cNvSpPr>
          <p:nvPr>
            <p:ph type="body" idx="1"/>
          </p:nvPr>
        </p:nvSpPr>
        <p:spPr/>
        <p:txBody>
          <a:bodyPr/>
          <a:lstStyle/>
          <a:p>
            <a:pPr marL="514350" indent="-514350">
              <a:buFontTx/>
              <a:buAutoNum type="arabicPeriod"/>
            </a:pPr>
            <a:r>
              <a:rPr lang="en-US" altLang="en-US"/>
              <a:t>Lost Update Problem</a:t>
            </a:r>
          </a:p>
          <a:p>
            <a:pPr marL="0" lvl="1" indent="0">
              <a:spcBef>
                <a:spcPts val="500"/>
              </a:spcBef>
              <a:buSzTx/>
              <a:buFont typeface="Wingdings" panose="05000000000000000000" pitchFamily="2" charset="2"/>
              <a:buNone/>
            </a:pPr>
            <a:r>
              <a:rPr lang="en-US" altLang="en-US" sz="2400"/>
              <a:t>This occurs when two transactions that access the same database items have their operations interleaved in a way that makes the value of some database item incorrect. </a:t>
            </a:r>
          </a:p>
        </p:txBody>
      </p:sp>
      <p:sp>
        <p:nvSpPr>
          <p:cNvPr id="49156" name="Text Box 4" descr="Date Placeholder 3">
            <a:extLst>
              <a:ext uri="{FF2B5EF4-FFF2-40B4-BE49-F238E27FC236}">
                <a16:creationId xmlns:a16="http://schemas.microsoft.com/office/drawing/2014/main" id="{56376B96-9960-D9F1-37E6-ECEDCEFCC33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49157" name="Text Box 5" descr="Slide Number Placeholder 5">
            <a:extLst>
              <a:ext uri="{FF2B5EF4-FFF2-40B4-BE49-F238E27FC236}">
                <a16:creationId xmlns:a16="http://schemas.microsoft.com/office/drawing/2014/main" id="{6EC51983-EEEB-48E8-5455-758B521C35F9}"/>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43ADFA2-29DB-42DA-8DED-6A9DE21C811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descr="Title 1">
            <a:extLst>
              <a:ext uri="{FF2B5EF4-FFF2-40B4-BE49-F238E27FC236}">
                <a16:creationId xmlns:a16="http://schemas.microsoft.com/office/drawing/2014/main" id="{FA496636-B217-7FAD-F47F-3C41A704C4DC}"/>
              </a:ext>
            </a:extLst>
          </p:cNvPr>
          <p:cNvSpPr>
            <a:spLocks noChangeArrowheads="1"/>
          </p:cNvSpPr>
          <p:nvPr>
            <p:ph type="title"/>
          </p:nvPr>
        </p:nvSpPr>
        <p:spPr/>
        <p:txBody>
          <a:bodyPr/>
          <a:lstStyle/>
          <a:p>
            <a:pPr marL="514350" indent="-514350"/>
            <a:r>
              <a:rPr lang="en-US" altLang="en-US"/>
              <a:t>Lost Update Problem: Example</a:t>
            </a:r>
          </a:p>
        </p:txBody>
      </p:sp>
      <p:sp>
        <p:nvSpPr>
          <p:cNvPr id="50179" name="Text Box 3" descr="Date Placeholder 3">
            <a:extLst>
              <a:ext uri="{FF2B5EF4-FFF2-40B4-BE49-F238E27FC236}">
                <a16:creationId xmlns:a16="http://schemas.microsoft.com/office/drawing/2014/main" id="{97F86F4E-E910-2C3A-1096-56119831DBC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0180" name="Text Box 4" descr="Slide Number Placeholder 5">
            <a:extLst>
              <a:ext uri="{FF2B5EF4-FFF2-40B4-BE49-F238E27FC236}">
                <a16:creationId xmlns:a16="http://schemas.microsoft.com/office/drawing/2014/main" id="{4603C293-FB84-8208-C854-54A5B1B41E5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38B70DC-F8AC-4DFC-966E-52FC9E4259B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0181" name="Picture 5" descr="Picture 3">
            <a:extLst>
              <a:ext uri="{FF2B5EF4-FFF2-40B4-BE49-F238E27FC236}">
                <a16:creationId xmlns:a16="http://schemas.microsoft.com/office/drawing/2014/main" id="{4145A4A9-6AE8-384C-456C-EE8810F37EC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0182" name="Picture 6" descr="Picture 4">
            <a:extLst>
              <a:ext uri="{FF2B5EF4-FFF2-40B4-BE49-F238E27FC236}">
                <a16:creationId xmlns:a16="http://schemas.microsoft.com/office/drawing/2014/main" id="{AB3EAAEC-8292-0E94-594D-1E197D3F4E0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0183" name="Group 7">
            <a:extLst>
              <a:ext uri="{FF2B5EF4-FFF2-40B4-BE49-F238E27FC236}">
                <a16:creationId xmlns:a16="http://schemas.microsoft.com/office/drawing/2014/main" id="{2178E40A-5BC5-A4B4-D65F-09E1B8FED56A}"/>
              </a:ext>
            </a:extLst>
          </p:cNvPr>
          <p:cNvGrpSpPr>
            <a:grpSpLocks/>
          </p:cNvGrpSpPr>
          <p:nvPr/>
        </p:nvGrpSpPr>
        <p:grpSpPr bwMode="auto">
          <a:xfrm>
            <a:off x="3222625" y="2667000"/>
            <a:ext cx="3268663" cy="612775"/>
            <a:chOff x="-1" y="0"/>
            <a:chExt cx="3268876" cy="613318"/>
          </a:xfrm>
        </p:grpSpPr>
        <p:sp>
          <p:nvSpPr>
            <p:cNvPr id="50184" name="Rectangle 8">
              <a:extLst>
                <a:ext uri="{FF2B5EF4-FFF2-40B4-BE49-F238E27FC236}">
                  <a16:creationId xmlns:a16="http://schemas.microsoft.com/office/drawing/2014/main" id="{D51B8441-EB15-A241-0EBC-5202C4408AA6}"/>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50185" name="Text Box 9">
              <a:extLst>
                <a:ext uri="{FF2B5EF4-FFF2-40B4-BE49-F238E27FC236}">
                  <a16:creationId xmlns:a16="http://schemas.microsoft.com/office/drawing/2014/main" id="{2AD3ECD7-FF8D-2D70-C6D9-59269ACDB3E1}"/>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50186" name="Line 10" descr="Straight Arrow Connector 9">
            <a:extLst>
              <a:ext uri="{FF2B5EF4-FFF2-40B4-BE49-F238E27FC236}">
                <a16:creationId xmlns:a16="http://schemas.microsoft.com/office/drawing/2014/main" id="{35478957-16B6-518C-4596-7E28E92B2B85}"/>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0187" name="Line 11" descr="Straight Arrow Connector 10">
            <a:extLst>
              <a:ext uri="{FF2B5EF4-FFF2-40B4-BE49-F238E27FC236}">
                <a16:creationId xmlns:a16="http://schemas.microsoft.com/office/drawing/2014/main" id="{7EE74E31-5279-FAA2-1BC5-6A5A482419E7}"/>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0188" name="Text Box 12" descr="TextBox 11">
            <a:extLst>
              <a:ext uri="{FF2B5EF4-FFF2-40B4-BE49-F238E27FC236}">
                <a16:creationId xmlns:a16="http://schemas.microsoft.com/office/drawing/2014/main" id="{80051189-F8E9-E344-473A-C9F43A987B7E}"/>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0189" name="Text Box 13" descr="TextBox 12">
            <a:extLst>
              <a:ext uri="{FF2B5EF4-FFF2-40B4-BE49-F238E27FC236}">
                <a16:creationId xmlns:a16="http://schemas.microsoft.com/office/drawing/2014/main" id="{2B28E96F-9BAD-7291-F493-3FDC69AE44E4}"/>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50190" name="AutoShape 14" descr="Down Arrow 13">
            <a:extLst>
              <a:ext uri="{FF2B5EF4-FFF2-40B4-BE49-F238E27FC236}">
                <a16:creationId xmlns:a16="http://schemas.microsoft.com/office/drawing/2014/main" id="{D5259200-5DA6-9246-D5BF-FC4DC1DE28AD}"/>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50191" name="Picture 15" descr="Picture 2">
            <a:extLst>
              <a:ext uri="{FF2B5EF4-FFF2-40B4-BE49-F238E27FC236}">
                <a16:creationId xmlns:a16="http://schemas.microsoft.com/office/drawing/2014/main" id="{84807062-B2B3-F691-3393-42604BE0273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052513"/>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0192" name="Picture 16" descr="Picture 2">
            <a:extLst>
              <a:ext uri="{FF2B5EF4-FFF2-40B4-BE49-F238E27FC236}">
                <a16:creationId xmlns:a16="http://schemas.microsoft.com/office/drawing/2014/main" id="{74EF37A6-495C-6361-1703-2D62DA55A64A}"/>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197100" y="3355975"/>
            <a:ext cx="5351463" cy="209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0193" name="Text Box 17" descr="TextBox 24">
            <a:extLst>
              <a:ext uri="{FF2B5EF4-FFF2-40B4-BE49-F238E27FC236}">
                <a16:creationId xmlns:a16="http://schemas.microsoft.com/office/drawing/2014/main" id="{6DA9262E-FF8C-4D00-5598-010A0FB5720F}"/>
              </a:ext>
            </a:extLst>
          </p:cNvPr>
          <p:cNvSpPr txBox="1">
            <a:spLocks/>
          </p:cNvSpPr>
          <p:nvPr/>
        </p:nvSpPr>
        <p:spPr bwMode="auto">
          <a:xfrm>
            <a:off x="439738" y="5372100"/>
            <a:ext cx="8143875"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FF0000"/>
                </a:solidFill>
              </a:rPr>
              <a:t>Question</a:t>
            </a:r>
          </a:p>
          <a:p>
            <a:r>
              <a:rPr lang="en-US" altLang="en-US" sz="1600"/>
              <a:t>What will be the total number of seats on Tippu express and</a:t>
            </a:r>
          </a:p>
          <a:p>
            <a:r>
              <a:rPr lang="en-US" altLang="en-US" sz="1600"/>
              <a:t>Chamundi express after execution of the above set Transaction statements</a:t>
            </a:r>
          </a:p>
        </p:txBody>
      </p:sp>
    </p:spTree>
  </p:cSld>
  <p:clrMapOvr>
    <a:masterClrMapping/>
  </p:clrMapOvr>
  <p:transition spd="med"/>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descr="Title 1">
            <a:extLst>
              <a:ext uri="{FF2B5EF4-FFF2-40B4-BE49-F238E27FC236}">
                <a16:creationId xmlns:a16="http://schemas.microsoft.com/office/drawing/2014/main" id="{23CCA5F7-EAC7-E693-6FED-656E9527C85A}"/>
              </a:ext>
            </a:extLst>
          </p:cNvPr>
          <p:cNvSpPr>
            <a:spLocks noChangeArrowheads="1"/>
          </p:cNvSpPr>
          <p:nvPr>
            <p:ph type="title"/>
          </p:nvPr>
        </p:nvSpPr>
        <p:spPr/>
        <p:txBody>
          <a:bodyPr/>
          <a:lstStyle/>
          <a:p>
            <a:pPr marL="514350" indent="-514350"/>
            <a:r>
              <a:rPr lang="en-US" altLang="en-US" sz="2400"/>
              <a:t>Lost Update Problem: We are Loosing update</a:t>
            </a:r>
          </a:p>
        </p:txBody>
      </p:sp>
      <p:sp>
        <p:nvSpPr>
          <p:cNvPr id="51203" name="Text Box 3" descr="Date Placeholder 3">
            <a:extLst>
              <a:ext uri="{FF2B5EF4-FFF2-40B4-BE49-F238E27FC236}">
                <a16:creationId xmlns:a16="http://schemas.microsoft.com/office/drawing/2014/main" id="{56CB825F-EE25-6F97-2E5C-A00AE74759D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1204" name="Text Box 4" descr="Slide Number Placeholder 5">
            <a:extLst>
              <a:ext uri="{FF2B5EF4-FFF2-40B4-BE49-F238E27FC236}">
                <a16:creationId xmlns:a16="http://schemas.microsoft.com/office/drawing/2014/main" id="{2F890FBA-D787-8576-801A-1947E5C1B00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60DA718-9E9D-4ADD-9CBE-DB3D91E7B73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1205" name="Picture 5" descr="Picture 3">
            <a:extLst>
              <a:ext uri="{FF2B5EF4-FFF2-40B4-BE49-F238E27FC236}">
                <a16:creationId xmlns:a16="http://schemas.microsoft.com/office/drawing/2014/main" id="{7E695CE6-8709-FE74-4246-3D32D6886B6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1206" name="Picture 6" descr="Picture 4">
            <a:extLst>
              <a:ext uri="{FF2B5EF4-FFF2-40B4-BE49-F238E27FC236}">
                <a16:creationId xmlns:a16="http://schemas.microsoft.com/office/drawing/2014/main" id="{5C06DC22-6ABB-3661-1AA2-6C0F5210A3B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1207" name="Group 7">
            <a:extLst>
              <a:ext uri="{FF2B5EF4-FFF2-40B4-BE49-F238E27FC236}">
                <a16:creationId xmlns:a16="http://schemas.microsoft.com/office/drawing/2014/main" id="{F70DAA29-0A22-0E22-45C7-C3120C9E5A79}"/>
              </a:ext>
            </a:extLst>
          </p:cNvPr>
          <p:cNvGrpSpPr>
            <a:grpSpLocks/>
          </p:cNvGrpSpPr>
          <p:nvPr/>
        </p:nvGrpSpPr>
        <p:grpSpPr bwMode="auto">
          <a:xfrm>
            <a:off x="3222625" y="2667000"/>
            <a:ext cx="3268663" cy="612775"/>
            <a:chOff x="-1" y="0"/>
            <a:chExt cx="3268876" cy="613318"/>
          </a:xfrm>
        </p:grpSpPr>
        <p:sp>
          <p:nvSpPr>
            <p:cNvPr id="51208" name="Rectangle 8">
              <a:extLst>
                <a:ext uri="{FF2B5EF4-FFF2-40B4-BE49-F238E27FC236}">
                  <a16:creationId xmlns:a16="http://schemas.microsoft.com/office/drawing/2014/main" id="{083E9415-84E5-5B35-D2BA-FD0760CB8D8B}"/>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51209" name="Text Box 9">
              <a:extLst>
                <a:ext uri="{FF2B5EF4-FFF2-40B4-BE49-F238E27FC236}">
                  <a16:creationId xmlns:a16="http://schemas.microsoft.com/office/drawing/2014/main" id="{6E9A2A65-3579-AFD4-61B3-0698404B9964}"/>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51210" name="Line 10" descr="Straight Arrow Connector 9">
            <a:extLst>
              <a:ext uri="{FF2B5EF4-FFF2-40B4-BE49-F238E27FC236}">
                <a16:creationId xmlns:a16="http://schemas.microsoft.com/office/drawing/2014/main" id="{7B9265A1-E4DD-D3D2-8F64-B7E2A84D72CC}"/>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1211" name="Line 11" descr="Straight Arrow Connector 10">
            <a:extLst>
              <a:ext uri="{FF2B5EF4-FFF2-40B4-BE49-F238E27FC236}">
                <a16:creationId xmlns:a16="http://schemas.microsoft.com/office/drawing/2014/main" id="{0CC303D0-870F-8738-B9CD-3EBDA76B9414}"/>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1212" name="Text Box 12" descr="TextBox 11">
            <a:extLst>
              <a:ext uri="{FF2B5EF4-FFF2-40B4-BE49-F238E27FC236}">
                <a16:creationId xmlns:a16="http://schemas.microsoft.com/office/drawing/2014/main" id="{C0DFC1AE-D131-F80B-593F-CCF8104B556B}"/>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1213" name="Text Box 13" descr="TextBox 12">
            <a:extLst>
              <a:ext uri="{FF2B5EF4-FFF2-40B4-BE49-F238E27FC236}">
                <a16:creationId xmlns:a16="http://schemas.microsoft.com/office/drawing/2014/main" id="{9A12487E-D3CD-CDDE-CAD1-9E07A4043B45}"/>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51214" name="AutoShape 14" descr="Down Arrow 13">
            <a:extLst>
              <a:ext uri="{FF2B5EF4-FFF2-40B4-BE49-F238E27FC236}">
                <a16:creationId xmlns:a16="http://schemas.microsoft.com/office/drawing/2014/main" id="{42C99C6B-A3C6-F8F8-539F-23337C11CBEA}"/>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51215" name="Picture 15" descr="Picture 2">
            <a:extLst>
              <a:ext uri="{FF2B5EF4-FFF2-40B4-BE49-F238E27FC236}">
                <a16:creationId xmlns:a16="http://schemas.microsoft.com/office/drawing/2014/main" id="{25B584D9-CACF-A5BC-4C5E-6992EB13014E}"/>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197100" y="3355975"/>
            <a:ext cx="5351463" cy="209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1216" name="Text Box 16" descr="TextBox 16">
            <a:extLst>
              <a:ext uri="{FF2B5EF4-FFF2-40B4-BE49-F238E27FC236}">
                <a16:creationId xmlns:a16="http://schemas.microsoft.com/office/drawing/2014/main" id="{38539B55-0CDB-FACF-12C1-8BA25AFBF6EF}"/>
              </a:ext>
            </a:extLst>
          </p:cNvPr>
          <p:cNvSpPr txBox="1">
            <a:spLocks/>
          </p:cNvSpPr>
          <p:nvPr/>
        </p:nvSpPr>
        <p:spPr bwMode="auto">
          <a:xfrm>
            <a:off x="223838" y="5303838"/>
            <a:ext cx="6392862" cy="1055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FF0000"/>
                </a:solidFill>
              </a:rPr>
              <a:t>Answer </a:t>
            </a:r>
          </a:p>
          <a:p>
            <a:r>
              <a:rPr lang="en-US" altLang="en-US" sz="1600"/>
              <a:t>Tippu express seats: 84  &lt;- </a:t>
            </a:r>
            <a:r>
              <a:rPr lang="en-US" altLang="en-US" sz="1600" b="1"/>
              <a:t>INCORRECT</a:t>
            </a:r>
          </a:p>
          <a:p>
            <a:endParaRPr lang="en-US" altLang="en-US" sz="1600"/>
          </a:p>
          <a:p>
            <a:r>
              <a:rPr lang="en-US" altLang="en-US" sz="1600"/>
              <a:t>Chamundi express seats: 75</a:t>
            </a:r>
            <a:r>
              <a:rPr lang="en-US" altLang="en-US" sz="1600" b="1"/>
              <a:t>             </a:t>
            </a:r>
            <a:endParaRPr lang="en-US" altLang="en-US" sz="1600"/>
          </a:p>
        </p:txBody>
      </p:sp>
      <p:pic>
        <p:nvPicPr>
          <p:cNvPr id="51217" name="Picture 17" descr="Picture 2">
            <a:extLst>
              <a:ext uri="{FF2B5EF4-FFF2-40B4-BE49-F238E27FC236}">
                <a16:creationId xmlns:a16="http://schemas.microsoft.com/office/drawing/2014/main" id="{EC825BCC-85CC-E4C0-8225-E02AD0F4DF43}"/>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954213" y="1012825"/>
            <a:ext cx="5208587" cy="1408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1218" name="Text Box 18" descr="TextBox 2">
            <a:extLst>
              <a:ext uri="{FF2B5EF4-FFF2-40B4-BE49-F238E27FC236}">
                <a16:creationId xmlns:a16="http://schemas.microsoft.com/office/drawing/2014/main" id="{627C0D2B-E328-1BE0-5B1D-AD798CF55CCB}"/>
              </a:ext>
            </a:extLst>
          </p:cNvPr>
          <p:cNvSpPr txBox="1">
            <a:spLocks/>
          </p:cNvSpPr>
          <p:nvPr/>
        </p:nvSpPr>
        <p:spPr bwMode="auto">
          <a:xfrm>
            <a:off x="4724400" y="5568950"/>
            <a:ext cx="3446463" cy="5334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Update made by one Transaction  </a:t>
            </a:r>
          </a:p>
          <a:p>
            <a:r>
              <a:rPr lang="en-US" altLang="en-US" sz="1400"/>
              <a:t>is overridden by another Transaction </a:t>
            </a:r>
          </a:p>
        </p:txBody>
      </p:sp>
    </p:spTree>
  </p:cSld>
  <p:clrMapOvr>
    <a:masterClrMapping/>
  </p:clrMapOvr>
  <p:transition spd="med"/>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descr="Title 1">
            <a:extLst>
              <a:ext uri="{FF2B5EF4-FFF2-40B4-BE49-F238E27FC236}">
                <a16:creationId xmlns:a16="http://schemas.microsoft.com/office/drawing/2014/main" id="{B021D238-2B23-C5BC-B3BA-558FD34FF969}"/>
              </a:ext>
            </a:extLst>
          </p:cNvPr>
          <p:cNvSpPr>
            <a:spLocks noChangeArrowheads="1"/>
          </p:cNvSpPr>
          <p:nvPr>
            <p:ph type="title"/>
          </p:nvPr>
        </p:nvSpPr>
        <p:spPr/>
        <p:txBody>
          <a:bodyPr/>
          <a:lstStyle/>
          <a:p>
            <a:r>
              <a:rPr lang="en-US" altLang="en-US"/>
              <a:t>Problems with Concurrent Execution</a:t>
            </a:r>
          </a:p>
        </p:txBody>
      </p:sp>
      <p:sp>
        <p:nvSpPr>
          <p:cNvPr id="52227" name="Rectangle 3" descr="Content Placeholder 2">
            <a:extLst>
              <a:ext uri="{FF2B5EF4-FFF2-40B4-BE49-F238E27FC236}">
                <a16:creationId xmlns:a16="http://schemas.microsoft.com/office/drawing/2014/main" id="{D1A88BF7-AE08-5E52-13FB-68553509F0E9}"/>
              </a:ext>
            </a:extLst>
          </p:cNvPr>
          <p:cNvSpPr>
            <a:spLocks noChangeArrowheads="1"/>
          </p:cNvSpPr>
          <p:nvPr>
            <p:ph type="body" idx="1"/>
          </p:nvPr>
        </p:nvSpPr>
        <p:spPr/>
        <p:txBody>
          <a:bodyPr/>
          <a:lstStyle/>
          <a:p>
            <a:pPr marL="0" indent="0">
              <a:lnSpc>
                <a:spcPct val="80000"/>
              </a:lnSpc>
              <a:spcBef>
                <a:spcPts val="500"/>
              </a:spcBef>
              <a:buSzTx/>
              <a:buFont typeface="Wingdings" panose="05000000000000000000" pitchFamily="2" charset="2"/>
              <a:buNone/>
            </a:pPr>
            <a:r>
              <a:rPr lang="en-US" altLang="en-US" sz="2400"/>
              <a:t>2. The Dirty Read (or Temporary Update) Problem </a:t>
            </a:r>
          </a:p>
          <a:p>
            <a:pPr marL="908050" lvl="1" indent="-438150">
              <a:lnSpc>
                <a:spcPct val="80000"/>
              </a:lnSpc>
              <a:spcBef>
                <a:spcPts val="400"/>
              </a:spcBef>
            </a:pPr>
            <a:r>
              <a:rPr lang="en-US" altLang="en-US" sz="2000"/>
              <a:t>This occurs when one transaction updates a database item and then the transaction fails for some reason.</a:t>
            </a:r>
            <a:endParaRPr lang="en-US" altLang="en-US" sz="2600"/>
          </a:p>
          <a:p>
            <a:pPr marL="908050" lvl="1" indent="-438150">
              <a:lnSpc>
                <a:spcPct val="80000"/>
              </a:lnSpc>
              <a:spcBef>
                <a:spcPts val="400"/>
              </a:spcBef>
            </a:pPr>
            <a:r>
              <a:rPr lang="en-US" altLang="en-US" sz="2000"/>
              <a:t>The updated item is accessed by another transaction before it is changed back to its original value. </a:t>
            </a:r>
          </a:p>
        </p:txBody>
      </p:sp>
      <p:sp>
        <p:nvSpPr>
          <p:cNvPr id="52228" name="Text Box 4" descr="Date Placeholder 3">
            <a:extLst>
              <a:ext uri="{FF2B5EF4-FFF2-40B4-BE49-F238E27FC236}">
                <a16:creationId xmlns:a16="http://schemas.microsoft.com/office/drawing/2014/main" id="{3A320553-C6A0-628D-7251-524EDAE724D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2229" name="Text Box 5" descr="Slide Number Placeholder 5">
            <a:extLst>
              <a:ext uri="{FF2B5EF4-FFF2-40B4-BE49-F238E27FC236}">
                <a16:creationId xmlns:a16="http://schemas.microsoft.com/office/drawing/2014/main" id="{9658D714-E90C-AA3D-E67A-73DE1AFF2AF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F11A2BE-73E4-4BC2-A09F-CA65D98490B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descr="Title 1">
            <a:extLst>
              <a:ext uri="{FF2B5EF4-FFF2-40B4-BE49-F238E27FC236}">
                <a16:creationId xmlns:a16="http://schemas.microsoft.com/office/drawing/2014/main" id="{2A88D095-2D5C-AF47-2885-5DA5460E6509}"/>
              </a:ext>
            </a:extLst>
          </p:cNvPr>
          <p:cNvSpPr>
            <a:spLocks noChangeArrowheads="1"/>
          </p:cNvSpPr>
          <p:nvPr>
            <p:ph type="title"/>
          </p:nvPr>
        </p:nvSpPr>
        <p:spPr/>
        <p:txBody>
          <a:bodyPr/>
          <a:lstStyle/>
          <a:p>
            <a:pPr marL="514350" indent="-514350"/>
            <a:r>
              <a:rPr lang="en-US" altLang="en-US" sz="2400"/>
              <a:t>Dirty Read (or Temporary Update ) Problem</a:t>
            </a:r>
          </a:p>
        </p:txBody>
      </p:sp>
      <p:sp>
        <p:nvSpPr>
          <p:cNvPr id="53251" name="Text Box 3" descr="Date Placeholder 3">
            <a:extLst>
              <a:ext uri="{FF2B5EF4-FFF2-40B4-BE49-F238E27FC236}">
                <a16:creationId xmlns:a16="http://schemas.microsoft.com/office/drawing/2014/main" id="{7B8D34C8-A7E1-BFD8-7C35-14F7787F952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3252" name="Text Box 4" descr="Slide Number Placeholder 5">
            <a:extLst>
              <a:ext uri="{FF2B5EF4-FFF2-40B4-BE49-F238E27FC236}">
                <a16:creationId xmlns:a16="http://schemas.microsoft.com/office/drawing/2014/main" id="{26E86CC8-F86F-A9EE-528D-0B64518771CF}"/>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A7034B4-295D-4FE5-95B5-CC5A3DF36B4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49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3253" name="Picture 5" descr="Picture 3">
            <a:extLst>
              <a:ext uri="{FF2B5EF4-FFF2-40B4-BE49-F238E27FC236}">
                <a16:creationId xmlns:a16="http://schemas.microsoft.com/office/drawing/2014/main" id="{B90381BA-3FA0-6C93-157F-66FCB625C51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3254" name="Picture 6" descr="Picture 4">
            <a:extLst>
              <a:ext uri="{FF2B5EF4-FFF2-40B4-BE49-F238E27FC236}">
                <a16:creationId xmlns:a16="http://schemas.microsoft.com/office/drawing/2014/main" id="{DC40F190-8E14-863C-5A6E-BEA9ED6DAEB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3255" name="Group 7">
            <a:extLst>
              <a:ext uri="{FF2B5EF4-FFF2-40B4-BE49-F238E27FC236}">
                <a16:creationId xmlns:a16="http://schemas.microsoft.com/office/drawing/2014/main" id="{C88E5260-12AC-583B-0E3B-A43B01935C0E}"/>
              </a:ext>
            </a:extLst>
          </p:cNvPr>
          <p:cNvGrpSpPr>
            <a:grpSpLocks/>
          </p:cNvGrpSpPr>
          <p:nvPr/>
        </p:nvGrpSpPr>
        <p:grpSpPr bwMode="auto">
          <a:xfrm>
            <a:off x="3222625" y="2667000"/>
            <a:ext cx="3268663" cy="612775"/>
            <a:chOff x="-1" y="0"/>
            <a:chExt cx="3268876" cy="613318"/>
          </a:xfrm>
        </p:grpSpPr>
        <p:sp>
          <p:nvSpPr>
            <p:cNvPr id="53256" name="Rectangle 8">
              <a:extLst>
                <a:ext uri="{FF2B5EF4-FFF2-40B4-BE49-F238E27FC236}">
                  <a16:creationId xmlns:a16="http://schemas.microsoft.com/office/drawing/2014/main" id="{05F268FD-12A8-4F60-60DC-31B70CA2314B}"/>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53257" name="Text Box 9">
              <a:extLst>
                <a:ext uri="{FF2B5EF4-FFF2-40B4-BE49-F238E27FC236}">
                  <a16:creationId xmlns:a16="http://schemas.microsoft.com/office/drawing/2014/main" id="{4C0145FD-3032-F93C-FEEB-5F0B991C586D}"/>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53258" name="Line 10" descr="Straight Arrow Connector 9">
            <a:extLst>
              <a:ext uri="{FF2B5EF4-FFF2-40B4-BE49-F238E27FC236}">
                <a16:creationId xmlns:a16="http://schemas.microsoft.com/office/drawing/2014/main" id="{27ACA1DC-534C-90EF-6825-E138121D30C7}"/>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3259" name="Line 11" descr="Straight Arrow Connector 10">
            <a:extLst>
              <a:ext uri="{FF2B5EF4-FFF2-40B4-BE49-F238E27FC236}">
                <a16:creationId xmlns:a16="http://schemas.microsoft.com/office/drawing/2014/main" id="{B9711192-DB83-1263-EC26-DA452786072E}"/>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3260" name="Text Box 12" descr="TextBox 11">
            <a:extLst>
              <a:ext uri="{FF2B5EF4-FFF2-40B4-BE49-F238E27FC236}">
                <a16:creationId xmlns:a16="http://schemas.microsoft.com/office/drawing/2014/main" id="{C6515E07-92E3-B2F6-5F89-3301C4CB3545}"/>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3261" name="Text Box 13" descr="TextBox 12">
            <a:extLst>
              <a:ext uri="{FF2B5EF4-FFF2-40B4-BE49-F238E27FC236}">
                <a16:creationId xmlns:a16="http://schemas.microsoft.com/office/drawing/2014/main" id="{6FF1EB93-DA69-1FB3-87EF-86A53F9C1A56}"/>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53262" name="AutoShape 14" descr="Down Arrow 13">
            <a:extLst>
              <a:ext uri="{FF2B5EF4-FFF2-40B4-BE49-F238E27FC236}">
                <a16:creationId xmlns:a16="http://schemas.microsoft.com/office/drawing/2014/main" id="{4F9CC318-1AE3-EF41-47A9-A272939B79D0}"/>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53263" name="Picture 15" descr="Picture 2">
            <a:extLst>
              <a:ext uri="{FF2B5EF4-FFF2-40B4-BE49-F238E27FC236}">
                <a16:creationId xmlns:a16="http://schemas.microsoft.com/office/drawing/2014/main" id="{2A1FBA0B-9367-3D49-07E5-2CC057FAA92C}"/>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052513"/>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53264" name="Group 16">
            <a:extLst>
              <a:ext uri="{FF2B5EF4-FFF2-40B4-BE49-F238E27FC236}">
                <a16:creationId xmlns:a16="http://schemas.microsoft.com/office/drawing/2014/main" id="{B19F680A-2825-7B6A-D323-E18D92291522}"/>
              </a:ext>
            </a:extLst>
          </p:cNvPr>
          <p:cNvGraphicFramePr>
            <a:graphicFrameLocks noGrp="1"/>
          </p:cNvGraphicFramePr>
          <p:nvPr/>
        </p:nvGraphicFramePr>
        <p:xfrm>
          <a:off x="830263" y="3429000"/>
          <a:ext cx="7786687" cy="3003550"/>
        </p:xfrm>
        <a:graphic>
          <a:graphicData uri="http://schemas.openxmlformats.org/drawingml/2006/table">
            <a:tbl>
              <a:tblPr/>
              <a:tblGrid>
                <a:gridCol w="4368800">
                  <a:extLst>
                    <a:ext uri="{9D8B030D-6E8A-4147-A177-3AD203B41FA5}">
                      <a16:colId xmlns:a16="http://schemas.microsoft.com/office/drawing/2014/main" val="920225461"/>
                    </a:ext>
                  </a:extLst>
                </a:gridCol>
                <a:gridCol w="3417887">
                  <a:extLst>
                    <a:ext uri="{9D8B030D-6E8A-4147-A177-3AD203B41FA5}">
                      <a16:colId xmlns:a16="http://schemas.microsoft.com/office/drawing/2014/main" val="74836737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24701246"/>
                  </a:ext>
                </a:extLst>
              </a:tr>
              <a:tr h="2619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UNDO or FAIL or ROLLBack</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ChamundiSeats=ChamundiSeats+5</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TippuSeats=TippuSeats+4</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13344020"/>
                  </a:ext>
                </a:extLst>
              </a:tr>
            </a:tbl>
          </a:graphicData>
        </a:graphic>
      </p:graphicFrame>
    </p:spTree>
  </p:cSld>
  <p:clrMapOvr>
    <a:masterClrMapping/>
  </p:clrMapOvr>
  <p:transition spd="med"/>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descr="Title 1">
            <a:extLst>
              <a:ext uri="{FF2B5EF4-FFF2-40B4-BE49-F238E27FC236}">
                <a16:creationId xmlns:a16="http://schemas.microsoft.com/office/drawing/2014/main" id="{9BFBEF39-2516-BFE6-A617-3417E9505E5A}"/>
              </a:ext>
            </a:extLst>
          </p:cNvPr>
          <p:cNvSpPr>
            <a:spLocks noChangeArrowheads="1"/>
          </p:cNvSpPr>
          <p:nvPr>
            <p:ph type="title"/>
          </p:nvPr>
        </p:nvSpPr>
        <p:spPr/>
        <p:txBody>
          <a:bodyPr/>
          <a:lstStyle/>
          <a:p>
            <a:pPr marL="514350" indent="-514350"/>
            <a:r>
              <a:rPr lang="en-US" altLang="en-US" sz="2400"/>
              <a:t>Dirty Read (or Temporary Update ) Problem</a:t>
            </a:r>
          </a:p>
        </p:txBody>
      </p:sp>
      <p:sp>
        <p:nvSpPr>
          <p:cNvPr id="54275" name="Text Box 3" descr="Date Placeholder 3">
            <a:extLst>
              <a:ext uri="{FF2B5EF4-FFF2-40B4-BE49-F238E27FC236}">
                <a16:creationId xmlns:a16="http://schemas.microsoft.com/office/drawing/2014/main" id="{B68010E9-32A4-E3D8-BE2C-787F31039B6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4276" name="Text Box 4" descr="Slide Number Placeholder 5">
            <a:extLst>
              <a:ext uri="{FF2B5EF4-FFF2-40B4-BE49-F238E27FC236}">
                <a16:creationId xmlns:a16="http://schemas.microsoft.com/office/drawing/2014/main" id="{0F5B2F9A-BE54-9D03-CF10-8A91283508AB}"/>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F76FCED-79CB-4C65-8A9B-3B03527EDD6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4277" name="Picture 5" descr="Picture 3">
            <a:extLst>
              <a:ext uri="{FF2B5EF4-FFF2-40B4-BE49-F238E27FC236}">
                <a16:creationId xmlns:a16="http://schemas.microsoft.com/office/drawing/2014/main" id="{4663E541-9CCE-3E01-6119-80697D7A495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4278" name="Picture 6" descr="Picture 4">
            <a:extLst>
              <a:ext uri="{FF2B5EF4-FFF2-40B4-BE49-F238E27FC236}">
                <a16:creationId xmlns:a16="http://schemas.microsoft.com/office/drawing/2014/main" id="{143800A3-EF9D-64B1-8212-BEC0B8EA5B1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4279" name="Group 7">
            <a:extLst>
              <a:ext uri="{FF2B5EF4-FFF2-40B4-BE49-F238E27FC236}">
                <a16:creationId xmlns:a16="http://schemas.microsoft.com/office/drawing/2014/main" id="{24535D0D-6BA8-345A-BDF3-4CAA87B63979}"/>
              </a:ext>
            </a:extLst>
          </p:cNvPr>
          <p:cNvGrpSpPr>
            <a:grpSpLocks/>
          </p:cNvGrpSpPr>
          <p:nvPr/>
        </p:nvGrpSpPr>
        <p:grpSpPr bwMode="auto">
          <a:xfrm>
            <a:off x="3222625" y="2667000"/>
            <a:ext cx="3268663" cy="612775"/>
            <a:chOff x="-1" y="0"/>
            <a:chExt cx="3268876" cy="613318"/>
          </a:xfrm>
        </p:grpSpPr>
        <p:sp>
          <p:nvSpPr>
            <p:cNvPr id="54280" name="Rectangle 8">
              <a:extLst>
                <a:ext uri="{FF2B5EF4-FFF2-40B4-BE49-F238E27FC236}">
                  <a16:creationId xmlns:a16="http://schemas.microsoft.com/office/drawing/2014/main" id="{4B0AF11B-F63A-290B-7D36-5FC9E984765A}"/>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54281" name="Text Box 9">
              <a:extLst>
                <a:ext uri="{FF2B5EF4-FFF2-40B4-BE49-F238E27FC236}">
                  <a16:creationId xmlns:a16="http://schemas.microsoft.com/office/drawing/2014/main" id="{9371EDB0-8563-E735-DB0E-98102FF15F75}"/>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54282" name="Line 10" descr="Straight Arrow Connector 9">
            <a:extLst>
              <a:ext uri="{FF2B5EF4-FFF2-40B4-BE49-F238E27FC236}">
                <a16:creationId xmlns:a16="http://schemas.microsoft.com/office/drawing/2014/main" id="{BEF40A1A-BA10-EEFB-F6C0-9F306E31AE97}"/>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4283" name="Line 11" descr="Straight Arrow Connector 10">
            <a:extLst>
              <a:ext uri="{FF2B5EF4-FFF2-40B4-BE49-F238E27FC236}">
                <a16:creationId xmlns:a16="http://schemas.microsoft.com/office/drawing/2014/main" id="{EBD9B7B9-C7D4-D0E3-32D9-DB287DC335E0}"/>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4284" name="Text Box 12" descr="TextBox 11">
            <a:extLst>
              <a:ext uri="{FF2B5EF4-FFF2-40B4-BE49-F238E27FC236}">
                <a16:creationId xmlns:a16="http://schemas.microsoft.com/office/drawing/2014/main" id="{487B8945-0D81-838A-2FFC-19AF9CBED392}"/>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4285" name="Text Box 13" descr="TextBox 12">
            <a:extLst>
              <a:ext uri="{FF2B5EF4-FFF2-40B4-BE49-F238E27FC236}">
                <a16:creationId xmlns:a16="http://schemas.microsoft.com/office/drawing/2014/main" id="{E74186B7-CEEF-0F01-8964-262DF4FB9CCE}"/>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54286" name="AutoShape 14" descr="Down Arrow 13">
            <a:extLst>
              <a:ext uri="{FF2B5EF4-FFF2-40B4-BE49-F238E27FC236}">
                <a16:creationId xmlns:a16="http://schemas.microsoft.com/office/drawing/2014/main" id="{2385DA94-1659-1288-7805-0A7E5D14CCFE}"/>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54287" name="Picture 15" descr="Picture 2">
            <a:extLst>
              <a:ext uri="{FF2B5EF4-FFF2-40B4-BE49-F238E27FC236}">
                <a16:creationId xmlns:a16="http://schemas.microsoft.com/office/drawing/2014/main" id="{672B7550-FEA0-01A7-2622-AFE5B5B19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052513"/>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4288" name="Picture 16" descr="Picture 2">
            <a:extLst>
              <a:ext uri="{FF2B5EF4-FFF2-40B4-BE49-F238E27FC236}">
                <a16:creationId xmlns:a16="http://schemas.microsoft.com/office/drawing/2014/main" id="{DD4527F1-0ADE-B847-5FB0-75B9CA95B2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297113" y="3284538"/>
            <a:ext cx="5267325" cy="2060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4289" name="Text Box 17" descr="TextBox 16">
            <a:extLst>
              <a:ext uri="{FF2B5EF4-FFF2-40B4-BE49-F238E27FC236}">
                <a16:creationId xmlns:a16="http://schemas.microsoft.com/office/drawing/2014/main" id="{5A5FB648-7BE4-032D-9FD2-0F0533B6895C}"/>
              </a:ext>
            </a:extLst>
          </p:cNvPr>
          <p:cNvSpPr txBox="1">
            <a:spLocks/>
          </p:cNvSpPr>
          <p:nvPr/>
        </p:nvSpPr>
        <p:spPr bwMode="auto">
          <a:xfrm>
            <a:off x="439738" y="5227638"/>
            <a:ext cx="8143875"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FF0000"/>
                </a:solidFill>
              </a:rPr>
              <a:t>Question</a:t>
            </a:r>
          </a:p>
          <a:p>
            <a:r>
              <a:rPr lang="en-US" altLang="en-US" sz="1600"/>
              <a:t>What will be the total number of seats on Tippu express and</a:t>
            </a:r>
          </a:p>
          <a:p>
            <a:r>
              <a:rPr lang="en-US" altLang="en-US" sz="1600"/>
              <a:t>Chamundi express after execution of the above set Transaction statements</a:t>
            </a:r>
          </a:p>
        </p:txBody>
      </p:sp>
    </p:spTree>
  </p:cSld>
  <p:clrMapOvr>
    <a:masterClrMapping/>
  </p:clrMapOvr>
  <p:transition spd="med"/>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descr="Title 1">
            <a:extLst>
              <a:ext uri="{FF2B5EF4-FFF2-40B4-BE49-F238E27FC236}">
                <a16:creationId xmlns:a16="http://schemas.microsoft.com/office/drawing/2014/main" id="{6FBC5651-C55B-A209-65D2-1C8F0D342769}"/>
              </a:ext>
            </a:extLst>
          </p:cNvPr>
          <p:cNvSpPr>
            <a:spLocks noChangeArrowheads="1"/>
          </p:cNvSpPr>
          <p:nvPr>
            <p:ph type="title"/>
          </p:nvPr>
        </p:nvSpPr>
        <p:spPr/>
        <p:txBody>
          <a:bodyPr/>
          <a:lstStyle/>
          <a:p>
            <a:pPr marL="514350" indent="-514350"/>
            <a:r>
              <a:rPr lang="en-US" altLang="en-US" sz="2400"/>
              <a:t>Dirty Read (or Temporary Update ) Problem</a:t>
            </a:r>
          </a:p>
        </p:txBody>
      </p:sp>
      <p:sp>
        <p:nvSpPr>
          <p:cNvPr id="55299" name="Text Box 3" descr="Date Placeholder 3">
            <a:extLst>
              <a:ext uri="{FF2B5EF4-FFF2-40B4-BE49-F238E27FC236}">
                <a16:creationId xmlns:a16="http://schemas.microsoft.com/office/drawing/2014/main" id="{84D0F25A-0761-BD9D-F5BB-389B03F4658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5300" name="Text Box 4" descr="Slide Number Placeholder 5">
            <a:extLst>
              <a:ext uri="{FF2B5EF4-FFF2-40B4-BE49-F238E27FC236}">
                <a16:creationId xmlns:a16="http://schemas.microsoft.com/office/drawing/2014/main" id="{F834236B-861A-5873-8174-B2E61E1EC89C}"/>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A9A0529-93AA-456B-9CD3-38477C351CB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5301" name="Picture 5" descr="Picture 3">
            <a:extLst>
              <a:ext uri="{FF2B5EF4-FFF2-40B4-BE49-F238E27FC236}">
                <a16:creationId xmlns:a16="http://schemas.microsoft.com/office/drawing/2014/main" id="{24C4996E-26C5-7C3C-BB97-4D3D7746AAD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5302" name="Picture 6" descr="Picture 4">
            <a:extLst>
              <a:ext uri="{FF2B5EF4-FFF2-40B4-BE49-F238E27FC236}">
                <a16:creationId xmlns:a16="http://schemas.microsoft.com/office/drawing/2014/main" id="{F2929F36-D444-34C9-7E20-16EE1D9B11F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5303" name="Group 7">
            <a:extLst>
              <a:ext uri="{FF2B5EF4-FFF2-40B4-BE49-F238E27FC236}">
                <a16:creationId xmlns:a16="http://schemas.microsoft.com/office/drawing/2014/main" id="{FFF388C5-6465-101C-A961-333AB6C0ACDF}"/>
              </a:ext>
            </a:extLst>
          </p:cNvPr>
          <p:cNvGrpSpPr>
            <a:grpSpLocks/>
          </p:cNvGrpSpPr>
          <p:nvPr/>
        </p:nvGrpSpPr>
        <p:grpSpPr bwMode="auto">
          <a:xfrm>
            <a:off x="3222625" y="2667000"/>
            <a:ext cx="3268663" cy="612775"/>
            <a:chOff x="-1" y="0"/>
            <a:chExt cx="3268876" cy="613318"/>
          </a:xfrm>
        </p:grpSpPr>
        <p:sp>
          <p:nvSpPr>
            <p:cNvPr id="55304" name="Rectangle 8">
              <a:extLst>
                <a:ext uri="{FF2B5EF4-FFF2-40B4-BE49-F238E27FC236}">
                  <a16:creationId xmlns:a16="http://schemas.microsoft.com/office/drawing/2014/main" id="{704AEC7D-A66A-BD82-2326-CC789541D9DF}"/>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55305" name="Text Box 9">
              <a:extLst>
                <a:ext uri="{FF2B5EF4-FFF2-40B4-BE49-F238E27FC236}">
                  <a16:creationId xmlns:a16="http://schemas.microsoft.com/office/drawing/2014/main" id="{E6FA69B3-BD7D-38F2-CBC9-828FAE17EA46}"/>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55306" name="Line 10" descr="Straight Arrow Connector 9">
            <a:extLst>
              <a:ext uri="{FF2B5EF4-FFF2-40B4-BE49-F238E27FC236}">
                <a16:creationId xmlns:a16="http://schemas.microsoft.com/office/drawing/2014/main" id="{6A418BB0-3667-EF3E-E9BD-33A398D93563}"/>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5307" name="Line 11" descr="Straight Arrow Connector 10">
            <a:extLst>
              <a:ext uri="{FF2B5EF4-FFF2-40B4-BE49-F238E27FC236}">
                <a16:creationId xmlns:a16="http://schemas.microsoft.com/office/drawing/2014/main" id="{B6B165B6-C97F-F62C-5586-3C12258BA6E5}"/>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5308" name="Text Box 12" descr="TextBox 11">
            <a:extLst>
              <a:ext uri="{FF2B5EF4-FFF2-40B4-BE49-F238E27FC236}">
                <a16:creationId xmlns:a16="http://schemas.microsoft.com/office/drawing/2014/main" id="{E99960B3-84AD-AE25-95B3-B37D971BDDAF}"/>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5309" name="Text Box 13" descr="TextBox 12">
            <a:extLst>
              <a:ext uri="{FF2B5EF4-FFF2-40B4-BE49-F238E27FC236}">
                <a16:creationId xmlns:a16="http://schemas.microsoft.com/office/drawing/2014/main" id="{5D24DC33-FA47-D3A8-BDB7-76C41D4F7A18}"/>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55310" name="AutoShape 14" descr="Down Arrow 13">
            <a:extLst>
              <a:ext uri="{FF2B5EF4-FFF2-40B4-BE49-F238E27FC236}">
                <a16:creationId xmlns:a16="http://schemas.microsoft.com/office/drawing/2014/main" id="{581A6AFE-9BC5-34AE-A8A0-E76BD7DBC815}"/>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55311" name="Picture 15" descr="Picture 2">
            <a:extLst>
              <a:ext uri="{FF2B5EF4-FFF2-40B4-BE49-F238E27FC236}">
                <a16:creationId xmlns:a16="http://schemas.microsoft.com/office/drawing/2014/main" id="{977699CC-03E7-E2B3-C6AD-67C4FF699C4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052513"/>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5312" name="Picture 16" descr="Picture 2">
            <a:extLst>
              <a:ext uri="{FF2B5EF4-FFF2-40B4-BE49-F238E27FC236}">
                <a16:creationId xmlns:a16="http://schemas.microsoft.com/office/drawing/2014/main" id="{C6D0B6A0-BC42-60B1-EDCA-DFC61845D22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297113" y="3284538"/>
            <a:ext cx="5267325" cy="2060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5313" name="Text Box 17" descr="TextBox 18">
            <a:extLst>
              <a:ext uri="{FF2B5EF4-FFF2-40B4-BE49-F238E27FC236}">
                <a16:creationId xmlns:a16="http://schemas.microsoft.com/office/drawing/2014/main" id="{85F86785-56E3-8934-7E6D-CED87F3A1213}"/>
              </a:ext>
            </a:extLst>
          </p:cNvPr>
          <p:cNvSpPr txBox="1">
            <a:spLocks/>
          </p:cNvSpPr>
          <p:nvPr/>
        </p:nvSpPr>
        <p:spPr bwMode="auto">
          <a:xfrm>
            <a:off x="80963" y="5303838"/>
            <a:ext cx="6391275" cy="1055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FF0000"/>
                </a:solidFill>
              </a:rPr>
              <a:t>Answer </a:t>
            </a:r>
          </a:p>
          <a:p>
            <a:r>
              <a:rPr lang="en-US" altLang="en-US" sz="1600"/>
              <a:t>Tippu express seats: 80  &lt;- </a:t>
            </a:r>
            <a:r>
              <a:rPr lang="en-US" altLang="en-US" sz="1600" b="1"/>
              <a:t>INCORRECT</a:t>
            </a:r>
          </a:p>
          <a:p>
            <a:endParaRPr lang="en-US" altLang="en-US" sz="1600"/>
          </a:p>
          <a:p>
            <a:r>
              <a:rPr lang="en-US" altLang="en-US" sz="1600"/>
              <a:t>Chamundi express seats: 75</a:t>
            </a:r>
            <a:r>
              <a:rPr lang="en-US" altLang="en-US" sz="1600" b="1"/>
              <a:t>             </a:t>
            </a:r>
            <a:endParaRPr lang="en-US" altLang="en-US" sz="1600"/>
          </a:p>
        </p:txBody>
      </p:sp>
      <p:sp>
        <p:nvSpPr>
          <p:cNvPr id="55314" name="Text Box 18" descr="TextBox 2">
            <a:extLst>
              <a:ext uri="{FF2B5EF4-FFF2-40B4-BE49-F238E27FC236}">
                <a16:creationId xmlns:a16="http://schemas.microsoft.com/office/drawing/2014/main" id="{5AC7AD84-1F9B-4107-CF1B-09FF4C92FCC2}"/>
              </a:ext>
            </a:extLst>
          </p:cNvPr>
          <p:cNvSpPr txBox="1">
            <a:spLocks/>
          </p:cNvSpPr>
          <p:nvPr/>
        </p:nvSpPr>
        <p:spPr bwMode="auto">
          <a:xfrm>
            <a:off x="4403725" y="5445125"/>
            <a:ext cx="4694238" cy="573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“Dirty read” / Reading uncommitted data</a:t>
            </a:r>
          </a:p>
          <a:p>
            <a:r>
              <a:rPr lang="en-US" altLang="en-US" sz="1600" i="1"/>
              <a:t>Occurring with / because of a </a:t>
            </a:r>
            <a:r>
              <a:rPr lang="en-US" altLang="en-US" sz="1600" b="1" i="1"/>
              <a:t>write conflict</a:t>
            </a:r>
            <a:endParaRPr lang="en-US" altLang="en-US" sz="1600" i="1"/>
          </a:p>
        </p:txBody>
      </p:sp>
    </p:spTree>
  </p:cSld>
  <p:clrMapOvr>
    <a:masterClrMapping/>
  </p:clrMapOvr>
  <p:transition spd="med"/>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descr="Title 1">
            <a:extLst>
              <a:ext uri="{FF2B5EF4-FFF2-40B4-BE49-F238E27FC236}">
                <a16:creationId xmlns:a16="http://schemas.microsoft.com/office/drawing/2014/main" id="{60093399-6F45-D069-123D-19CF4A2964DA}"/>
              </a:ext>
            </a:extLst>
          </p:cNvPr>
          <p:cNvSpPr>
            <a:spLocks noChangeArrowheads="1"/>
          </p:cNvSpPr>
          <p:nvPr>
            <p:ph type="title"/>
          </p:nvPr>
        </p:nvSpPr>
        <p:spPr/>
        <p:txBody>
          <a:bodyPr/>
          <a:lstStyle/>
          <a:p>
            <a:pPr marL="514350" indent="-514350"/>
            <a:r>
              <a:rPr lang="en-US" altLang="en-US" sz="2400"/>
              <a:t>Example</a:t>
            </a:r>
          </a:p>
        </p:txBody>
      </p:sp>
      <p:sp>
        <p:nvSpPr>
          <p:cNvPr id="56323" name="Text Box 3" descr="Date Placeholder 3">
            <a:extLst>
              <a:ext uri="{FF2B5EF4-FFF2-40B4-BE49-F238E27FC236}">
                <a16:creationId xmlns:a16="http://schemas.microsoft.com/office/drawing/2014/main" id="{19C3D5B2-7D55-FDA4-12C5-6D8811455ED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6324" name="Text Box 4" descr="Slide Number Placeholder 5">
            <a:extLst>
              <a:ext uri="{FF2B5EF4-FFF2-40B4-BE49-F238E27FC236}">
                <a16:creationId xmlns:a16="http://schemas.microsoft.com/office/drawing/2014/main" id="{21660C54-0AC2-ECB4-5063-80B7573F13F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CF40EA6-59FB-4026-B760-633F00A0CFC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6325" name="Picture 5" descr="Picture 3">
            <a:extLst>
              <a:ext uri="{FF2B5EF4-FFF2-40B4-BE49-F238E27FC236}">
                <a16:creationId xmlns:a16="http://schemas.microsoft.com/office/drawing/2014/main" id="{9F16E4B0-C48E-5D0D-4C07-6D3959EEAC7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06625" y="2347913"/>
            <a:ext cx="5334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6326" name="Picture 6" descr="Picture 4">
            <a:extLst>
              <a:ext uri="{FF2B5EF4-FFF2-40B4-BE49-F238E27FC236}">
                <a16:creationId xmlns:a16="http://schemas.microsoft.com/office/drawing/2014/main" id="{666E36C5-DC02-132D-BB1C-502172301B9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91363" y="2460625"/>
            <a:ext cx="45720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6327" name="Group 7">
            <a:extLst>
              <a:ext uri="{FF2B5EF4-FFF2-40B4-BE49-F238E27FC236}">
                <a16:creationId xmlns:a16="http://schemas.microsoft.com/office/drawing/2014/main" id="{9D1D628A-DCD9-FFA9-C944-052EE1B7A47D}"/>
              </a:ext>
            </a:extLst>
          </p:cNvPr>
          <p:cNvGrpSpPr>
            <a:grpSpLocks/>
          </p:cNvGrpSpPr>
          <p:nvPr/>
        </p:nvGrpSpPr>
        <p:grpSpPr bwMode="auto">
          <a:xfrm>
            <a:off x="3222625" y="2667000"/>
            <a:ext cx="3268663" cy="612775"/>
            <a:chOff x="-1" y="0"/>
            <a:chExt cx="3268876" cy="613318"/>
          </a:xfrm>
        </p:grpSpPr>
        <p:sp>
          <p:nvSpPr>
            <p:cNvPr id="56328" name="Rectangle 8">
              <a:extLst>
                <a:ext uri="{FF2B5EF4-FFF2-40B4-BE49-F238E27FC236}">
                  <a16:creationId xmlns:a16="http://schemas.microsoft.com/office/drawing/2014/main" id="{483F0A18-B272-DAEC-3EBD-08CF3C999F24}"/>
                </a:ext>
              </a:extLst>
            </p:cNvPr>
            <p:cNvSpPr>
              <a:spLocks/>
            </p:cNvSpPr>
            <p:nvPr/>
          </p:nvSpPr>
          <p:spPr bwMode="auto">
            <a:xfrm>
              <a:off x="-1" y="0"/>
              <a:ext cx="3268876" cy="613318"/>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56329" name="Text Box 9">
              <a:extLst>
                <a:ext uri="{FF2B5EF4-FFF2-40B4-BE49-F238E27FC236}">
                  <a16:creationId xmlns:a16="http://schemas.microsoft.com/office/drawing/2014/main" id="{902D490C-6E13-7505-8A7C-BD0DCDB09C3B}"/>
                </a:ext>
              </a:extLst>
            </p:cNvPr>
            <p:cNvSpPr txBox="1">
              <a:spLocks/>
            </p:cNvSpPr>
            <p:nvPr/>
          </p:nvSpPr>
          <p:spPr bwMode="auto">
            <a:xfrm>
              <a:off x="64769" y="19050"/>
              <a:ext cx="3139336" cy="5740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Cancellation Software </a:t>
              </a:r>
            </a:p>
          </p:txBody>
        </p:sp>
      </p:grpSp>
      <p:sp>
        <p:nvSpPr>
          <p:cNvPr id="56330" name="Line 10" descr="Straight Arrow Connector 9">
            <a:extLst>
              <a:ext uri="{FF2B5EF4-FFF2-40B4-BE49-F238E27FC236}">
                <a16:creationId xmlns:a16="http://schemas.microsoft.com/office/drawing/2014/main" id="{3B16D4C9-4F68-95BC-4982-476836062F45}"/>
              </a:ext>
            </a:extLst>
          </p:cNvPr>
          <p:cNvSpPr>
            <a:spLocks noChangeShapeType="1"/>
          </p:cNvSpPr>
          <p:nvPr/>
        </p:nvSpPr>
        <p:spPr bwMode="auto">
          <a:xfrm>
            <a:off x="2627313" y="3013075"/>
            <a:ext cx="55562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6331" name="Line 11" descr="Straight Arrow Connector 10">
            <a:extLst>
              <a:ext uri="{FF2B5EF4-FFF2-40B4-BE49-F238E27FC236}">
                <a16:creationId xmlns:a16="http://schemas.microsoft.com/office/drawing/2014/main" id="{642DF21A-4C25-4A7E-AE61-975BB287B091}"/>
              </a:ext>
            </a:extLst>
          </p:cNvPr>
          <p:cNvSpPr>
            <a:spLocks noChangeShapeType="1"/>
          </p:cNvSpPr>
          <p:nvPr/>
        </p:nvSpPr>
        <p:spPr bwMode="auto">
          <a:xfrm flipH="1">
            <a:off x="6491288" y="2917825"/>
            <a:ext cx="6000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6332" name="Text Box 12" descr="TextBox 11">
            <a:extLst>
              <a:ext uri="{FF2B5EF4-FFF2-40B4-BE49-F238E27FC236}">
                <a16:creationId xmlns:a16="http://schemas.microsoft.com/office/drawing/2014/main" id="{511280C6-3589-EDDB-E294-4F762D2EADDC}"/>
              </a:ext>
            </a:extLst>
          </p:cNvPr>
          <p:cNvSpPr txBox="1">
            <a:spLocks/>
          </p:cNvSpPr>
          <p:nvPr/>
        </p:nvSpPr>
        <p:spPr bwMode="auto">
          <a:xfrm>
            <a:off x="1395413" y="2911475"/>
            <a:ext cx="76993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6333" name="Text Box 13" descr="TextBox 12">
            <a:extLst>
              <a:ext uri="{FF2B5EF4-FFF2-40B4-BE49-F238E27FC236}">
                <a16:creationId xmlns:a16="http://schemas.microsoft.com/office/drawing/2014/main" id="{9EAB4077-BBDE-782D-A59C-1545998575DD}"/>
              </a:ext>
            </a:extLst>
          </p:cNvPr>
          <p:cNvSpPr txBox="1">
            <a:spLocks/>
          </p:cNvSpPr>
          <p:nvPr/>
        </p:nvSpPr>
        <p:spPr bwMode="auto">
          <a:xfrm>
            <a:off x="7821613" y="2652713"/>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56334" name="AutoShape 14" descr="Down Arrow 13">
            <a:extLst>
              <a:ext uri="{FF2B5EF4-FFF2-40B4-BE49-F238E27FC236}">
                <a16:creationId xmlns:a16="http://schemas.microsoft.com/office/drawing/2014/main" id="{D00DEAA9-5971-606E-2F14-0D0F58E43638}"/>
              </a:ext>
            </a:extLst>
          </p:cNvPr>
          <p:cNvSpPr>
            <a:spLocks/>
          </p:cNvSpPr>
          <p:nvPr/>
        </p:nvSpPr>
        <p:spPr bwMode="auto">
          <a:xfrm rot="10598870">
            <a:off x="4368800" y="2430463"/>
            <a:ext cx="336550" cy="2460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56335" name="Picture 15" descr="Picture 2">
            <a:extLst>
              <a:ext uri="{FF2B5EF4-FFF2-40B4-BE49-F238E27FC236}">
                <a16:creationId xmlns:a16="http://schemas.microsoft.com/office/drawing/2014/main" id="{273A26C6-75E5-27F0-52C5-7B78CE34F90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57388" y="1052513"/>
            <a:ext cx="5062537"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6336" name="Picture 16" descr="Picture 2">
            <a:extLst>
              <a:ext uri="{FF2B5EF4-FFF2-40B4-BE49-F238E27FC236}">
                <a16:creationId xmlns:a16="http://schemas.microsoft.com/office/drawing/2014/main" id="{0DF4BFD8-AB61-3021-56D5-CCFD57BE9567}"/>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297113" y="3284538"/>
            <a:ext cx="5267325" cy="2060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6337" name="Text Box 17" descr="TextBox 18">
            <a:extLst>
              <a:ext uri="{FF2B5EF4-FFF2-40B4-BE49-F238E27FC236}">
                <a16:creationId xmlns:a16="http://schemas.microsoft.com/office/drawing/2014/main" id="{90069350-3962-02F2-81DC-9F8B3F6045EC}"/>
              </a:ext>
            </a:extLst>
          </p:cNvPr>
          <p:cNvSpPr txBox="1">
            <a:spLocks/>
          </p:cNvSpPr>
          <p:nvPr/>
        </p:nvSpPr>
        <p:spPr bwMode="auto">
          <a:xfrm>
            <a:off x="80963" y="5303838"/>
            <a:ext cx="6391275" cy="1055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solidFill>
                  <a:srgbClr val="FF0000"/>
                </a:solidFill>
              </a:rPr>
              <a:t>Answer </a:t>
            </a:r>
          </a:p>
          <a:p>
            <a:r>
              <a:rPr lang="en-US" altLang="en-US" sz="1600"/>
              <a:t>Tippu express seats: 80  &lt;- </a:t>
            </a:r>
            <a:r>
              <a:rPr lang="en-US" altLang="en-US" sz="1600" b="1"/>
              <a:t>INCORRECT</a:t>
            </a:r>
          </a:p>
          <a:p>
            <a:endParaRPr lang="en-US" altLang="en-US" sz="1600"/>
          </a:p>
          <a:p>
            <a:r>
              <a:rPr lang="en-US" altLang="en-US" sz="1600"/>
              <a:t>Chamundi express seats: 75</a:t>
            </a:r>
            <a:r>
              <a:rPr lang="en-US" altLang="en-US" sz="1600" b="1"/>
              <a:t>             </a:t>
            </a:r>
            <a:endParaRPr lang="en-US" altLang="en-US" sz="1600"/>
          </a:p>
        </p:txBody>
      </p:sp>
      <p:sp>
        <p:nvSpPr>
          <p:cNvPr id="56338" name="Text Box 18" descr="TextBox 2">
            <a:extLst>
              <a:ext uri="{FF2B5EF4-FFF2-40B4-BE49-F238E27FC236}">
                <a16:creationId xmlns:a16="http://schemas.microsoft.com/office/drawing/2014/main" id="{F681E349-8375-52C8-041C-BE8645E9E05D}"/>
              </a:ext>
            </a:extLst>
          </p:cNvPr>
          <p:cNvSpPr txBox="1">
            <a:spLocks/>
          </p:cNvSpPr>
          <p:nvPr/>
        </p:nvSpPr>
        <p:spPr bwMode="auto">
          <a:xfrm>
            <a:off x="4403725" y="5445125"/>
            <a:ext cx="4694238" cy="573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“Dirty read” / Reading uncommitted data</a:t>
            </a:r>
          </a:p>
          <a:p>
            <a:r>
              <a:rPr lang="en-US" altLang="en-US" sz="1600" i="1"/>
              <a:t>Occurring with / because of a </a:t>
            </a:r>
            <a:r>
              <a:rPr lang="en-US" altLang="en-US" sz="1600" b="1" i="1"/>
              <a:t>write conflict</a:t>
            </a:r>
            <a:endParaRPr lang="en-US" altLang="en-US" sz="1600" i="1"/>
          </a:p>
        </p:txBody>
      </p:sp>
    </p:spTree>
  </p:cSld>
  <p:clrMapOvr>
    <a:masterClrMapping/>
  </p:clrMapOvr>
  <p:transition spd="med"/>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2" descr="Title 1">
            <a:extLst>
              <a:ext uri="{FF2B5EF4-FFF2-40B4-BE49-F238E27FC236}">
                <a16:creationId xmlns:a16="http://schemas.microsoft.com/office/drawing/2014/main" id="{BA8B7B90-290F-D4D8-BAA5-AC1E52703E84}"/>
              </a:ext>
            </a:extLst>
          </p:cNvPr>
          <p:cNvSpPr>
            <a:spLocks noChangeArrowheads="1"/>
          </p:cNvSpPr>
          <p:nvPr>
            <p:ph type="title"/>
          </p:nvPr>
        </p:nvSpPr>
        <p:spPr/>
        <p:txBody>
          <a:bodyPr/>
          <a:lstStyle/>
          <a:p>
            <a:r>
              <a:rPr lang="en-US" altLang="en-US"/>
              <a:t>Problems with Concurrent Execution</a:t>
            </a:r>
          </a:p>
        </p:txBody>
      </p:sp>
      <p:sp>
        <p:nvSpPr>
          <p:cNvPr id="57347" name="Rectangle 3" descr="Content Placeholder 2">
            <a:extLst>
              <a:ext uri="{FF2B5EF4-FFF2-40B4-BE49-F238E27FC236}">
                <a16:creationId xmlns:a16="http://schemas.microsoft.com/office/drawing/2014/main" id="{08FDF875-E577-7A53-57B8-3E49FE622B31}"/>
              </a:ext>
            </a:extLst>
          </p:cNvPr>
          <p:cNvSpPr>
            <a:spLocks noChangeArrowheads="1"/>
          </p:cNvSpPr>
          <p:nvPr>
            <p:ph type="body" idx="1"/>
          </p:nvPr>
        </p:nvSpPr>
        <p:spPr/>
        <p:txBody>
          <a:bodyPr/>
          <a:lstStyle/>
          <a:p>
            <a:pPr marL="234950" indent="-234950">
              <a:spcBef>
                <a:spcPts val="500"/>
              </a:spcBef>
            </a:pPr>
            <a:r>
              <a:rPr lang="en-US" altLang="en-US" sz="2400"/>
              <a:t>What is Concurrent Execution ?</a:t>
            </a:r>
          </a:p>
          <a:p>
            <a:pPr marL="234950" indent="-234950">
              <a:spcBef>
                <a:spcPts val="500"/>
              </a:spcBef>
              <a:buSzTx/>
              <a:buFont typeface="Wingdings" panose="05000000000000000000" pitchFamily="2" charset="2"/>
              <a:buNone/>
            </a:pPr>
            <a:r>
              <a:rPr lang="en-US" altLang="en-US" sz="2400"/>
              <a:t>When Multiple users trying to access same database record in an uncontrolled manner.</a:t>
            </a:r>
          </a:p>
          <a:p>
            <a:pPr marL="234950" indent="-234950">
              <a:buSzTx/>
              <a:buFont typeface="Wingdings" panose="05000000000000000000" pitchFamily="2" charset="2"/>
              <a:buNone/>
            </a:pPr>
            <a:endParaRPr lang="en-US" altLang="en-US" sz="2400"/>
          </a:p>
          <a:p>
            <a:pPr marL="234950" indent="-234950">
              <a:spcBef>
                <a:spcPts val="500"/>
              </a:spcBef>
            </a:pPr>
            <a:r>
              <a:rPr lang="en-US" altLang="en-US" sz="2400"/>
              <a:t>Problems with Concurrent execution</a:t>
            </a:r>
          </a:p>
          <a:p>
            <a:pPr marL="984250" lvl="1" indent="-514350">
              <a:spcBef>
                <a:spcPts val="400"/>
              </a:spcBef>
              <a:buFontTx/>
              <a:buAutoNum type="arabicPeriod"/>
            </a:pPr>
            <a:r>
              <a:rPr lang="en-US" altLang="en-US" sz="2000" b="1"/>
              <a:t>Lost Update Problem</a:t>
            </a:r>
            <a:endParaRPr lang="en-US" altLang="en-US" sz="2600" b="1"/>
          </a:p>
          <a:p>
            <a:pPr marL="984250" lvl="1" indent="-514350">
              <a:spcBef>
                <a:spcPts val="400"/>
              </a:spcBef>
              <a:buFontTx/>
              <a:buAutoNum type="arabicPeriod"/>
            </a:pPr>
            <a:r>
              <a:rPr lang="en-US" altLang="en-US" sz="2000" b="1"/>
              <a:t>Temporary Update (or Dirty Read) Problem </a:t>
            </a:r>
            <a:endParaRPr lang="en-US" altLang="en-US" sz="2600" b="1"/>
          </a:p>
          <a:p>
            <a:pPr marL="984250" lvl="1" indent="-514350">
              <a:spcBef>
                <a:spcPts val="400"/>
              </a:spcBef>
              <a:buFontTx/>
              <a:buAutoNum type="arabicPeriod"/>
            </a:pPr>
            <a:r>
              <a:rPr lang="en-US" altLang="en-US" sz="2000"/>
              <a:t>Incorrect Summary Problem</a:t>
            </a:r>
            <a:endParaRPr lang="en-US" altLang="en-US" sz="2600"/>
          </a:p>
          <a:p>
            <a:pPr marL="984250" lvl="1" indent="-514350">
              <a:spcBef>
                <a:spcPts val="400"/>
              </a:spcBef>
              <a:buFontTx/>
              <a:buAutoNum type="arabicPeriod"/>
            </a:pPr>
            <a:r>
              <a:rPr lang="en-US" altLang="en-US" sz="2000"/>
              <a:t>Unrepeatable Read</a:t>
            </a:r>
          </a:p>
        </p:txBody>
      </p:sp>
      <p:sp>
        <p:nvSpPr>
          <p:cNvPr id="57348" name="Text Box 4" descr="Date Placeholder 3">
            <a:extLst>
              <a:ext uri="{FF2B5EF4-FFF2-40B4-BE49-F238E27FC236}">
                <a16:creationId xmlns:a16="http://schemas.microsoft.com/office/drawing/2014/main" id="{CDF7FFF3-D0EB-75E3-61B9-3AF4FB166A8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7349" name="Text Box 5" descr="Slide Number Placeholder 5">
            <a:extLst>
              <a:ext uri="{FF2B5EF4-FFF2-40B4-BE49-F238E27FC236}">
                <a16:creationId xmlns:a16="http://schemas.microsoft.com/office/drawing/2014/main" id="{C511540A-D8C3-F1F4-3DAC-7CBFE57BEE2B}"/>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A4B2F12-0E9D-46AC-9812-C356D1C6633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descr="Title 1">
            <a:extLst>
              <a:ext uri="{FF2B5EF4-FFF2-40B4-BE49-F238E27FC236}">
                <a16:creationId xmlns:a16="http://schemas.microsoft.com/office/drawing/2014/main" id="{770FB993-C1D2-0738-0716-17FD76BD4EE0}"/>
              </a:ext>
            </a:extLst>
          </p:cNvPr>
          <p:cNvSpPr>
            <a:spLocks noChangeArrowheads="1"/>
          </p:cNvSpPr>
          <p:nvPr>
            <p:ph type="title"/>
          </p:nvPr>
        </p:nvSpPr>
        <p:spPr/>
        <p:txBody>
          <a:bodyPr/>
          <a:lstStyle/>
          <a:p>
            <a:r>
              <a:rPr lang="en-US" altLang="en-US"/>
              <a:t>Problems with Concurrent Execution</a:t>
            </a:r>
          </a:p>
        </p:txBody>
      </p:sp>
      <p:sp>
        <p:nvSpPr>
          <p:cNvPr id="58371" name="Rectangle 3" descr="Content Placeholder 2">
            <a:extLst>
              <a:ext uri="{FF2B5EF4-FFF2-40B4-BE49-F238E27FC236}">
                <a16:creationId xmlns:a16="http://schemas.microsoft.com/office/drawing/2014/main" id="{03203618-2EDF-4F9C-E041-0BA492E331E8}"/>
              </a:ext>
            </a:extLst>
          </p:cNvPr>
          <p:cNvSpPr>
            <a:spLocks noChangeArrowheads="1"/>
          </p:cNvSpPr>
          <p:nvPr>
            <p:ph type="body" idx="1"/>
          </p:nvPr>
        </p:nvSpPr>
        <p:spPr/>
        <p:txBody>
          <a:bodyPr/>
          <a:lstStyle/>
          <a:p>
            <a:pPr marL="234950" indent="-234950">
              <a:spcBef>
                <a:spcPts val="500"/>
              </a:spcBef>
            </a:pPr>
            <a:r>
              <a:rPr lang="en-US" altLang="en-US" sz="2400"/>
              <a:t>What is Concurrent Execution ?</a:t>
            </a:r>
          </a:p>
          <a:p>
            <a:pPr marL="234950" indent="-234950">
              <a:spcBef>
                <a:spcPts val="500"/>
              </a:spcBef>
              <a:buSzTx/>
              <a:buFont typeface="Wingdings" panose="05000000000000000000" pitchFamily="2" charset="2"/>
              <a:buNone/>
            </a:pPr>
            <a:r>
              <a:rPr lang="en-US" altLang="en-US" sz="2400"/>
              <a:t>When Multiple users trying to access same database record in an uncontrolled manner.</a:t>
            </a:r>
          </a:p>
          <a:p>
            <a:pPr marL="234950" indent="-234950">
              <a:buSzTx/>
              <a:buFont typeface="Wingdings" panose="05000000000000000000" pitchFamily="2" charset="2"/>
              <a:buNone/>
            </a:pPr>
            <a:endParaRPr lang="en-US" altLang="en-US" sz="2400"/>
          </a:p>
          <a:p>
            <a:pPr marL="234950" indent="-234950">
              <a:spcBef>
                <a:spcPts val="500"/>
              </a:spcBef>
            </a:pPr>
            <a:r>
              <a:rPr lang="en-US" altLang="en-US" sz="2400"/>
              <a:t>Problems with Concurrent execution</a:t>
            </a:r>
          </a:p>
          <a:p>
            <a:pPr marL="984250" lvl="1" indent="-514350">
              <a:spcBef>
                <a:spcPts val="400"/>
              </a:spcBef>
              <a:buFontTx/>
              <a:buAutoNum type="arabicPeriod"/>
            </a:pPr>
            <a:r>
              <a:rPr lang="en-US" altLang="en-US" sz="2000"/>
              <a:t>Lost Update Problem</a:t>
            </a:r>
            <a:endParaRPr lang="en-US" altLang="en-US" sz="2600"/>
          </a:p>
          <a:p>
            <a:pPr marL="984250" lvl="1" indent="-514350">
              <a:spcBef>
                <a:spcPts val="400"/>
              </a:spcBef>
              <a:buFontTx/>
              <a:buAutoNum type="arabicPeriod"/>
            </a:pPr>
            <a:r>
              <a:rPr lang="en-US" altLang="en-US" sz="2000"/>
              <a:t>Temporary Update (or Dirty Read) Problem</a:t>
            </a:r>
            <a:r>
              <a:rPr lang="en-US" altLang="en-US" sz="2000" b="1"/>
              <a:t> </a:t>
            </a:r>
            <a:endParaRPr lang="en-US" altLang="en-US" sz="2600"/>
          </a:p>
          <a:p>
            <a:pPr marL="984250" lvl="1" indent="-514350">
              <a:spcBef>
                <a:spcPts val="400"/>
              </a:spcBef>
              <a:buFontTx/>
              <a:buAutoNum type="arabicPeriod"/>
            </a:pPr>
            <a:r>
              <a:rPr lang="en-US" altLang="en-US" sz="2000" b="1"/>
              <a:t>Incorrect Summary Problem</a:t>
            </a:r>
            <a:endParaRPr lang="en-US" altLang="en-US" sz="2600" b="1"/>
          </a:p>
          <a:p>
            <a:pPr marL="984250" lvl="1" indent="-514350">
              <a:spcBef>
                <a:spcPts val="400"/>
              </a:spcBef>
              <a:buFontTx/>
              <a:buAutoNum type="arabicPeriod"/>
            </a:pPr>
            <a:r>
              <a:rPr lang="en-US" altLang="en-US" sz="2000"/>
              <a:t>Unrepeatable Read</a:t>
            </a:r>
          </a:p>
        </p:txBody>
      </p:sp>
      <p:sp>
        <p:nvSpPr>
          <p:cNvPr id="58372" name="Text Box 4" descr="Date Placeholder 3">
            <a:extLst>
              <a:ext uri="{FF2B5EF4-FFF2-40B4-BE49-F238E27FC236}">
                <a16:creationId xmlns:a16="http://schemas.microsoft.com/office/drawing/2014/main" id="{516608FE-A990-A79D-D7C6-8E7898E2FC5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8373" name="Text Box 5" descr="Slide Number Placeholder 5">
            <a:extLst>
              <a:ext uri="{FF2B5EF4-FFF2-40B4-BE49-F238E27FC236}">
                <a16:creationId xmlns:a16="http://schemas.microsoft.com/office/drawing/2014/main" id="{FA3E9B90-5741-F68F-6DC3-344FFB20D14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84810ED-9EBC-4EE9-8AD8-FA83D9E36F3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descr="Title 1">
            <a:extLst>
              <a:ext uri="{FF2B5EF4-FFF2-40B4-BE49-F238E27FC236}">
                <a16:creationId xmlns:a16="http://schemas.microsoft.com/office/drawing/2014/main" id="{1B622277-164C-D75B-8A8B-714FDB2A89FD}"/>
              </a:ext>
            </a:extLst>
          </p:cNvPr>
          <p:cNvSpPr>
            <a:spLocks noChangeArrowheads="1"/>
          </p:cNvSpPr>
          <p:nvPr>
            <p:ph type="title"/>
          </p:nvPr>
        </p:nvSpPr>
        <p:spPr/>
        <p:txBody>
          <a:bodyPr/>
          <a:lstStyle/>
          <a:p>
            <a:pPr>
              <a:lnSpc>
                <a:spcPct val="80000"/>
              </a:lnSpc>
            </a:pPr>
            <a:r>
              <a:rPr lang="en-US" altLang="en-US" sz="2400"/>
              <a:t>Example</a:t>
            </a:r>
          </a:p>
        </p:txBody>
      </p:sp>
      <p:sp>
        <p:nvSpPr>
          <p:cNvPr id="59395" name="Text Box 3" descr="Date Placeholder 3">
            <a:extLst>
              <a:ext uri="{FF2B5EF4-FFF2-40B4-BE49-F238E27FC236}">
                <a16:creationId xmlns:a16="http://schemas.microsoft.com/office/drawing/2014/main" id="{55BA6153-6375-6DF1-5066-D5B0BA13440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59396" name="Text Box 4" descr="Slide Number Placeholder 5">
            <a:extLst>
              <a:ext uri="{FF2B5EF4-FFF2-40B4-BE49-F238E27FC236}">
                <a16:creationId xmlns:a16="http://schemas.microsoft.com/office/drawing/2014/main" id="{B103B3C8-48BD-6ECF-CEE1-69B47374526D}"/>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A75176A-121C-4563-89D3-3EC26D32718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59397" name="Picture 5" descr="Picture 3">
            <a:extLst>
              <a:ext uri="{FF2B5EF4-FFF2-40B4-BE49-F238E27FC236}">
                <a16:creationId xmlns:a16="http://schemas.microsoft.com/office/drawing/2014/main" id="{928B29D9-B52A-8479-5C94-726BCF8CBE5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7088" y="2400300"/>
            <a:ext cx="341312" cy="593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59398" name="Picture 6" descr="Picture 4">
            <a:extLst>
              <a:ext uri="{FF2B5EF4-FFF2-40B4-BE49-F238E27FC236}">
                <a16:creationId xmlns:a16="http://schemas.microsoft.com/office/drawing/2014/main" id="{9F38A01F-957E-E335-DAE7-623BC70174F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27850" y="2460625"/>
            <a:ext cx="387350" cy="696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9399" name="Line 7" descr="Straight Arrow Connector 9">
            <a:extLst>
              <a:ext uri="{FF2B5EF4-FFF2-40B4-BE49-F238E27FC236}">
                <a16:creationId xmlns:a16="http://schemas.microsoft.com/office/drawing/2014/main" id="{305C396E-9F72-C434-B0CC-F011B32D4CE8}"/>
              </a:ext>
            </a:extLst>
          </p:cNvPr>
          <p:cNvSpPr>
            <a:spLocks noChangeShapeType="1"/>
          </p:cNvSpPr>
          <p:nvPr/>
        </p:nvSpPr>
        <p:spPr bwMode="auto">
          <a:xfrm flipV="1">
            <a:off x="2438400" y="2460625"/>
            <a:ext cx="1123950" cy="236538"/>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9400" name="Line 8" descr="Straight Arrow Connector 10">
            <a:extLst>
              <a:ext uri="{FF2B5EF4-FFF2-40B4-BE49-F238E27FC236}">
                <a16:creationId xmlns:a16="http://schemas.microsoft.com/office/drawing/2014/main" id="{6D2212D7-5680-62B8-C51E-9B77D54A6A2E}"/>
              </a:ext>
            </a:extLst>
          </p:cNvPr>
          <p:cNvSpPr>
            <a:spLocks noChangeShapeType="1"/>
          </p:cNvSpPr>
          <p:nvPr/>
        </p:nvSpPr>
        <p:spPr bwMode="auto">
          <a:xfrm flipH="1" flipV="1">
            <a:off x="5362575" y="2427288"/>
            <a:ext cx="1565275" cy="382587"/>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59401" name="Text Box 9" descr="TextBox 11">
            <a:extLst>
              <a:ext uri="{FF2B5EF4-FFF2-40B4-BE49-F238E27FC236}">
                <a16:creationId xmlns:a16="http://schemas.microsoft.com/office/drawing/2014/main" id="{E43E2AD4-769C-FA44-8FE6-670C39D2CB88}"/>
              </a:ext>
            </a:extLst>
          </p:cNvPr>
          <p:cNvSpPr txBox="1">
            <a:spLocks/>
          </p:cNvSpPr>
          <p:nvPr/>
        </p:nvSpPr>
        <p:spPr bwMode="auto">
          <a:xfrm>
            <a:off x="1231900" y="2643188"/>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59402" name="Text Box 10" descr="TextBox 12">
            <a:extLst>
              <a:ext uri="{FF2B5EF4-FFF2-40B4-BE49-F238E27FC236}">
                <a16:creationId xmlns:a16="http://schemas.microsoft.com/office/drawing/2014/main" id="{5527B640-C035-673A-8C19-96E0ED350BDD}"/>
              </a:ext>
            </a:extLst>
          </p:cNvPr>
          <p:cNvSpPr txBox="1">
            <a:spLocks/>
          </p:cNvSpPr>
          <p:nvPr/>
        </p:nvSpPr>
        <p:spPr bwMode="auto">
          <a:xfrm>
            <a:off x="7370763" y="2625725"/>
            <a:ext cx="76835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User3</a:t>
            </a:r>
          </a:p>
        </p:txBody>
      </p:sp>
      <p:pic>
        <p:nvPicPr>
          <p:cNvPr id="59403" name="Picture 11" descr="Picture 2">
            <a:extLst>
              <a:ext uri="{FF2B5EF4-FFF2-40B4-BE49-F238E27FC236}">
                <a16:creationId xmlns:a16="http://schemas.microsoft.com/office/drawing/2014/main" id="{CA4FC9F7-ED1D-7EF4-85F6-0FF079593737}"/>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59404" name="Group 12">
            <a:extLst>
              <a:ext uri="{FF2B5EF4-FFF2-40B4-BE49-F238E27FC236}">
                <a16:creationId xmlns:a16="http://schemas.microsoft.com/office/drawing/2014/main" id="{6D0A60F9-8CB7-038B-C1F0-2C6CEDCF69D2}"/>
              </a:ext>
            </a:extLst>
          </p:cNvPr>
          <p:cNvGraphicFramePr>
            <a:graphicFrameLocks noGrp="1"/>
          </p:cNvGraphicFramePr>
          <p:nvPr/>
        </p:nvGraphicFramePr>
        <p:xfrm>
          <a:off x="279400" y="2997200"/>
          <a:ext cx="4368800" cy="2165350"/>
        </p:xfrm>
        <a:graphic>
          <a:graphicData uri="http://schemas.openxmlformats.org/drawingml/2006/table">
            <a:tbl>
              <a:tblPr/>
              <a:tblGrid>
                <a:gridCol w="4368800">
                  <a:extLst>
                    <a:ext uri="{9D8B030D-6E8A-4147-A177-3AD203B41FA5}">
                      <a16:colId xmlns:a16="http://schemas.microsoft.com/office/drawing/2014/main" val="346549540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19960939"/>
                  </a:ext>
                </a:extLst>
              </a:tr>
              <a:tr h="1781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TippuSeats=TippuSeats-5
Write(TippuSeats)
Read(ChamundiSeats)
ChamundiSeats=ChamundiSeats+5
Write(ChamundiSeats)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8680013"/>
                  </a:ext>
                </a:extLst>
              </a:tr>
            </a:tbl>
          </a:graphicData>
        </a:graphic>
      </p:graphicFrame>
      <p:graphicFrame>
        <p:nvGraphicFramePr>
          <p:cNvPr id="59414" name="Group 22">
            <a:extLst>
              <a:ext uri="{FF2B5EF4-FFF2-40B4-BE49-F238E27FC236}">
                <a16:creationId xmlns:a16="http://schemas.microsoft.com/office/drawing/2014/main" id="{A1E2D89B-A0F0-3B8D-5F26-8AC6A6FF5454}"/>
              </a:ext>
            </a:extLst>
          </p:cNvPr>
          <p:cNvGraphicFramePr>
            <a:graphicFrameLocks noGrp="1"/>
          </p:cNvGraphicFramePr>
          <p:nvPr/>
        </p:nvGraphicFramePr>
        <p:xfrm>
          <a:off x="5364163" y="3159125"/>
          <a:ext cx="3417887" cy="1885950"/>
        </p:xfrm>
        <a:graphic>
          <a:graphicData uri="http://schemas.openxmlformats.org/drawingml/2006/table">
            <a:tbl>
              <a:tblPr/>
              <a:tblGrid>
                <a:gridCol w="3417887">
                  <a:extLst>
                    <a:ext uri="{9D8B030D-6E8A-4147-A177-3AD203B41FA5}">
                      <a16:colId xmlns:a16="http://schemas.microsoft.com/office/drawing/2014/main" val="132225931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99973764"/>
                  </a:ext>
                </a:extLst>
              </a:tr>
              <a:tr h="15017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sum:=0</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35365746"/>
                  </a:ext>
                </a:extLst>
              </a:tr>
            </a:tbl>
          </a:graphicData>
        </a:graphic>
      </p:graphicFrame>
    </p:spTree>
  </p:cSld>
  <p:clrMapOvr>
    <a:masterClrMapping/>
  </p:clrMapOvr>
  <p:transition spd="med"/>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descr="Title 1">
            <a:extLst>
              <a:ext uri="{FF2B5EF4-FFF2-40B4-BE49-F238E27FC236}">
                <a16:creationId xmlns:a16="http://schemas.microsoft.com/office/drawing/2014/main" id="{A060082B-02E1-754D-D177-E675EC680376}"/>
              </a:ext>
            </a:extLst>
          </p:cNvPr>
          <p:cNvSpPr>
            <a:spLocks noChangeArrowheads="1"/>
          </p:cNvSpPr>
          <p:nvPr>
            <p:ph type="title"/>
          </p:nvPr>
        </p:nvSpPr>
        <p:spPr/>
        <p:txBody>
          <a:bodyPr/>
          <a:lstStyle/>
          <a:p>
            <a:pPr>
              <a:lnSpc>
                <a:spcPct val="80000"/>
              </a:lnSpc>
            </a:pPr>
            <a:r>
              <a:rPr lang="en-US" altLang="en-US" sz="2400"/>
              <a:t>Example</a:t>
            </a:r>
          </a:p>
        </p:txBody>
      </p:sp>
      <p:sp>
        <p:nvSpPr>
          <p:cNvPr id="60419" name="Text Box 3" descr="Date Placeholder 3">
            <a:extLst>
              <a:ext uri="{FF2B5EF4-FFF2-40B4-BE49-F238E27FC236}">
                <a16:creationId xmlns:a16="http://schemas.microsoft.com/office/drawing/2014/main" id="{35186324-0002-A66B-02F3-A7B5461A055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0420" name="Text Box 4" descr="Slide Number Placeholder 5">
            <a:extLst>
              <a:ext uri="{FF2B5EF4-FFF2-40B4-BE49-F238E27FC236}">
                <a16:creationId xmlns:a16="http://schemas.microsoft.com/office/drawing/2014/main" id="{A64AED63-D556-6CFF-B6E1-FA48BFADCD8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9438E19-BBBE-4E0D-8205-9B56D63D228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60421" name="Picture 5" descr="Picture 3">
            <a:extLst>
              <a:ext uri="{FF2B5EF4-FFF2-40B4-BE49-F238E27FC236}">
                <a16:creationId xmlns:a16="http://schemas.microsoft.com/office/drawing/2014/main" id="{3D64ACDD-829B-30BE-06E7-048EE046CB7F}"/>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7088" y="2400300"/>
            <a:ext cx="341312" cy="593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0422" name="Picture 6" descr="Picture 4">
            <a:extLst>
              <a:ext uri="{FF2B5EF4-FFF2-40B4-BE49-F238E27FC236}">
                <a16:creationId xmlns:a16="http://schemas.microsoft.com/office/drawing/2014/main" id="{5E02CC5D-3A1F-E397-A189-508EDCCBA2C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27850" y="2460625"/>
            <a:ext cx="387350" cy="696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0423" name="Line 7" descr="Straight Arrow Connector 9">
            <a:extLst>
              <a:ext uri="{FF2B5EF4-FFF2-40B4-BE49-F238E27FC236}">
                <a16:creationId xmlns:a16="http://schemas.microsoft.com/office/drawing/2014/main" id="{17FEAD83-35FF-CA0B-B4C7-C42702BA1DD0}"/>
              </a:ext>
            </a:extLst>
          </p:cNvPr>
          <p:cNvSpPr>
            <a:spLocks noChangeShapeType="1"/>
          </p:cNvSpPr>
          <p:nvPr/>
        </p:nvSpPr>
        <p:spPr bwMode="auto">
          <a:xfrm flipV="1">
            <a:off x="2438400" y="2460625"/>
            <a:ext cx="1123950" cy="236538"/>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0424" name="Line 8" descr="Straight Arrow Connector 10">
            <a:extLst>
              <a:ext uri="{FF2B5EF4-FFF2-40B4-BE49-F238E27FC236}">
                <a16:creationId xmlns:a16="http://schemas.microsoft.com/office/drawing/2014/main" id="{901F03CE-31A5-2428-90BD-191076FFCD04}"/>
              </a:ext>
            </a:extLst>
          </p:cNvPr>
          <p:cNvSpPr>
            <a:spLocks noChangeShapeType="1"/>
          </p:cNvSpPr>
          <p:nvPr/>
        </p:nvSpPr>
        <p:spPr bwMode="auto">
          <a:xfrm flipH="1" flipV="1">
            <a:off x="5362575" y="2427288"/>
            <a:ext cx="1565275" cy="382587"/>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0425" name="Text Box 9" descr="TextBox 11">
            <a:extLst>
              <a:ext uri="{FF2B5EF4-FFF2-40B4-BE49-F238E27FC236}">
                <a16:creationId xmlns:a16="http://schemas.microsoft.com/office/drawing/2014/main" id="{F2E59B0A-6193-BF4F-9356-70045BCB9172}"/>
              </a:ext>
            </a:extLst>
          </p:cNvPr>
          <p:cNvSpPr txBox="1">
            <a:spLocks/>
          </p:cNvSpPr>
          <p:nvPr/>
        </p:nvSpPr>
        <p:spPr bwMode="auto">
          <a:xfrm>
            <a:off x="1231900" y="2643188"/>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60426" name="Text Box 10" descr="TextBox 12">
            <a:extLst>
              <a:ext uri="{FF2B5EF4-FFF2-40B4-BE49-F238E27FC236}">
                <a16:creationId xmlns:a16="http://schemas.microsoft.com/office/drawing/2014/main" id="{697B99DB-59E7-6BD7-B0DF-7D1FE2BC0EA9}"/>
              </a:ext>
            </a:extLst>
          </p:cNvPr>
          <p:cNvSpPr txBox="1">
            <a:spLocks/>
          </p:cNvSpPr>
          <p:nvPr/>
        </p:nvSpPr>
        <p:spPr bwMode="auto">
          <a:xfrm>
            <a:off x="7370763" y="2625725"/>
            <a:ext cx="76835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User3</a:t>
            </a:r>
          </a:p>
        </p:txBody>
      </p:sp>
      <p:pic>
        <p:nvPicPr>
          <p:cNvPr id="60427" name="Picture 11" descr="Picture 2">
            <a:extLst>
              <a:ext uri="{FF2B5EF4-FFF2-40B4-BE49-F238E27FC236}">
                <a16:creationId xmlns:a16="http://schemas.microsoft.com/office/drawing/2014/main" id="{F5F3C00D-2192-40F7-A197-CEC5520F3AA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60428" name="Group 12">
            <a:extLst>
              <a:ext uri="{FF2B5EF4-FFF2-40B4-BE49-F238E27FC236}">
                <a16:creationId xmlns:a16="http://schemas.microsoft.com/office/drawing/2014/main" id="{3E25BA8A-7C11-0A99-CC39-3D44A1DE73E2}"/>
              </a:ext>
            </a:extLst>
          </p:cNvPr>
          <p:cNvGraphicFramePr>
            <a:graphicFrameLocks noGrp="1"/>
          </p:cNvGraphicFramePr>
          <p:nvPr/>
        </p:nvGraphicFramePr>
        <p:xfrm>
          <a:off x="279400" y="2997200"/>
          <a:ext cx="4368800" cy="2165350"/>
        </p:xfrm>
        <a:graphic>
          <a:graphicData uri="http://schemas.openxmlformats.org/drawingml/2006/table">
            <a:tbl>
              <a:tblPr/>
              <a:tblGrid>
                <a:gridCol w="4368800">
                  <a:extLst>
                    <a:ext uri="{9D8B030D-6E8A-4147-A177-3AD203B41FA5}">
                      <a16:colId xmlns:a16="http://schemas.microsoft.com/office/drawing/2014/main" val="10871113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39178489"/>
                  </a:ext>
                </a:extLst>
              </a:tr>
              <a:tr h="1781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TippuSeats=TippuSeats-5
Write(TippuSeats)
Read(ChamundiSeats)
ChamundiSeats=ChamundiSeats+5
Write(ChamundiSeats)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7590690"/>
                  </a:ext>
                </a:extLst>
              </a:tr>
            </a:tbl>
          </a:graphicData>
        </a:graphic>
      </p:graphicFrame>
      <p:graphicFrame>
        <p:nvGraphicFramePr>
          <p:cNvPr id="60438" name="Group 22">
            <a:extLst>
              <a:ext uri="{FF2B5EF4-FFF2-40B4-BE49-F238E27FC236}">
                <a16:creationId xmlns:a16="http://schemas.microsoft.com/office/drawing/2014/main" id="{B0EAE182-62EC-4BCE-FC4A-E392BCC52ECE}"/>
              </a:ext>
            </a:extLst>
          </p:cNvPr>
          <p:cNvGraphicFramePr>
            <a:graphicFrameLocks noGrp="1"/>
          </p:cNvGraphicFramePr>
          <p:nvPr/>
        </p:nvGraphicFramePr>
        <p:xfrm>
          <a:off x="5364163" y="3159125"/>
          <a:ext cx="3417887" cy="1885950"/>
        </p:xfrm>
        <a:graphic>
          <a:graphicData uri="http://schemas.openxmlformats.org/drawingml/2006/table">
            <a:tbl>
              <a:tblPr/>
              <a:tblGrid>
                <a:gridCol w="3417887">
                  <a:extLst>
                    <a:ext uri="{9D8B030D-6E8A-4147-A177-3AD203B41FA5}">
                      <a16:colId xmlns:a16="http://schemas.microsoft.com/office/drawing/2014/main" val="386787948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2332203"/>
                  </a:ext>
                </a:extLst>
              </a:tr>
              <a:tr h="15017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sum:=0</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06732253"/>
                  </a:ext>
                </a:extLst>
              </a:tr>
            </a:tbl>
          </a:graphicData>
        </a:graphic>
      </p:graphicFrame>
      <p:sp>
        <p:nvSpPr>
          <p:cNvPr id="60448" name="Text Box 32" descr="TextBox 21">
            <a:extLst>
              <a:ext uri="{FF2B5EF4-FFF2-40B4-BE49-F238E27FC236}">
                <a16:creationId xmlns:a16="http://schemas.microsoft.com/office/drawing/2014/main" id="{E3864FD6-FF21-2BB5-C515-F4048E3577ED}"/>
              </a:ext>
            </a:extLst>
          </p:cNvPr>
          <p:cNvSpPr txBox="1">
            <a:spLocks/>
          </p:cNvSpPr>
          <p:nvPr/>
        </p:nvSpPr>
        <p:spPr bwMode="auto">
          <a:xfrm>
            <a:off x="368300" y="5084763"/>
            <a:ext cx="8405813" cy="1296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solidFill>
                  <a:srgbClr val="FF0000"/>
                </a:solidFill>
              </a:rPr>
              <a:t>Question</a:t>
            </a:r>
          </a:p>
          <a:p>
            <a:r>
              <a:rPr lang="en-US" altLang="en-US" sz="1600"/>
              <a:t>Say if first Transaction T1 has been executed first and second Transaction T3 has been executed then, </a:t>
            </a:r>
          </a:p>
          <a:p>
            <a:r>
              <a:rPr lang="en-US" altLang="en-US" sz="1600"/>
              <a:t>What will be the total number of seats on Tippu express &amp; Chamundi express; and </a:t>
            </a:r>
            <a:r>
              <a:rPr lang="en-US" altLang="en-US" sz="1600" b="1"/>
              <a:t>sum</a:t>
            </a:r>
            <a:r>
              <a:rPr lang="en-US" altLang="en-US" sz="1600"/>
              <a:t> value</a:t>
            </a:r>
          </a:p>
        </p:txBody>
      </p:sp>
    </p:spTree>
  </p:cSld>
  <p:clrMapOvr>
    <a:masterClrMapping/>
  </p:clrMapOvr>
  <p:transition spd="med"/>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descr="Title 1">
            <a:extLst>
              <a:ext uri="{FF2B5EF4-FFF2-40B4-BE49-F238E27FC236}">
                <a16:creationId xmlns:a16="http://schemas.microsoft.com/office/drawing/2014/main" id="{D7388DF6-52A0-970A-C343-C644EDAA9EA4}"/>
              </a:ext>
            </a:extLst>
          </p:cNvPr>
          <p:cNvSpPr>
            <a:spLocks noChangeArrowheads="1"/>
          </p:cNvSpPr>
          <p:nvPr>
            <p:ph type="title"/>
          </p:nvPr>
        </p:nvSpPr>
        <p:spPr/>
        <p:txBody>
          <a:bodyPr/>
          <a:lstStyle/>
          <a:p>
            <a:pPr>
              <a:lnSpc>
                <a:spcPct val="80000"/>
              </a:lnSpc>
            </a:pPr>
            <a:r>
              <a:rPr lang="en-US" altLang="en-US" sz="2400"/>
              <a:t>Example</a:t>
            </a:r>
          </a:p>
        </p:txBody>
      </p:sp>
      <p:sp>
        <p:nvSpPr>
          <p:cNvPr id="61443" name="Text Box 3" descr="Date Placeholder 3">
            <a:extLst>
              <a:ext uri="{FF2B5EF4-FFF2-40B4-BE49-F238E27FC236}">
                <a16:creationId xmlns:a16="http://schemas.microsoft.com/office/drawing/2014/main" id="{43508EE4-6899-3A8C-C6A4-4F647E0D961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1444" name="Text Box 4" descr="Slide Number Placeholder 5">
            <a:extLst>
              <a:ext uri="{FF2B5EF4-FFF2-40B4-BE49-F238E27FC236}">
                <a16:creationId xmlns:a16="http://schemas.microsoft.com/office/drawing/2014/main" id="{CFC7D6CC-D9CB-3FCC-FE57-3081A24EADF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2BE92EE-12FB-45E2-B18B-464BE838DB0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61445" name="Picture 5" descr="Picture 3">
            <a:extLst>
              <a:ext uri="{FF2B5EF4-FFF2-40B4-BE49-F238E27FC236}">
                <a16:creationId xmlns:a16="http://schemas.microsoft.com/office/drawing/2014/main" id="{B28E8277-9A95-52D5-551F-F4A0ABE1A36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7088" y="2400300"/>
            <a:ext cx="341312" cy="593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1446" name="Picture 6" descr="Picture 4">
            <a:extLst>
              <a:ext uri="{FF2B5EF4-FFF2-40B4-BE49-F238E27FC236}">
                <a16:creationId xmlns:a16="http://schemas.microsoft.com/office/drawing/2014/main" id="{CB47676D-7965-1E9A-08AC-F1C760D4150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27850" y="2460625"/>
            <a:ext cx="387350" cy="696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1447" name="Line 7" descr="Straight Arrow Connector 9">
            <a:extLst>
              <a:ext uri="{FF2B5EF4-FFF2-40B4-BE49-F238E27FC236}">
                <a16:creationId xmlns:a16="http://schemas.microsoft.com/office/drawing/2014/main" id="{A85E66B4-E71C-C058-9799-E8A5B93C6DB7}"/>
              </a:ext>
            </a:extLst>
          </p:cNvPr>
          <p:cNvSpPr>
            <a:spLocks noChangeShapeType="1"/>
          </p:cNvSpPr>
          <p:nvPr/>
        </p:nvSpPr>
        <p:spPr bwMode="auto">
          <a:xfrm flipV="1">
            <a:off x="2438400" y="2460625"/>
            <a:ext cx="1123950" cy="236538"/>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1448" name="Line 8" descr="Straight Arrow Connector 10">
            <a:extLst>
              <a:ext uri="{FF2B5EF4-FFF2-40B4-BE49-F238E27FC236}">
                <a16:creationId xmlns:a16="http://schemas.microsoft.com/office/drawing/2014/main" id="{E8E99213-9ED6-2FAF-8A5E-B65C0C33BE11}"/>
              </a:ext>
            </a:extLst>
          </p:cNvPr>
          <p:cNvSpPr>
            <a:spLocks noChangeShapeType="1"/>
          </p:cNvSpPr>
          <p:nvPr/>
        </p:nvSpPr>
        <p:spPr bwMode="auto">
          <a:xfrm flipH="1" flipV="1">
            <a:off x="5362575" y="2427288"/>
            <a:ext cx="1565275" cy="382587"/>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1449" name="Text Box 9" descr="TextBox 11">
            <a:extLst>
              <a:ext uri="{FF2B5EF4-FFF2-40B4-BE49-F238E27FC236}">
                <a16:creationId xmlns:a16="http://schemas.microsoft.com/office/drawing/2014/main" id="{EB413078-6BD1-6C75-66F1-93ADBCBAAC2C}"/>
              </a:ext>
            </a:extLst>
          </p:cNvPr>
          <p:cNvSpPr txBox="1">
            <a:spLocks/>
          </p:cNvSpPr>
          <p:nvPr/>
        </p:nvSpPr>
        <p:spPr bwMode="auto">
          <a:xfrm>
            <a:off x="1231900" y="2643188"/>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61450" name="Text Box 10" descr="TextBox 12">
            <a:extLst>
              <a:ext uri="{FF2B5EF4-FFF2-40B4-BE49-F238E27FC236}">
                <a16:creationId xmlns:a16="http://schemas.microsoft.com/office/drawing/2014/main" id="{2A367950-6529-E64B-D762-3C1E91F7C864}"/>
              </a:ext>
            </a:extLst>
          </p:cNvPr>
          <p:cNvSpPr txBox="1">
            <a:spLocks/>
          </p:cNvSpPr>
          <p:nvPr/>
        </p:nvSpPr>
        <p:spPr bwMode="auto">
          <a:xfrm>
            <a:off x="7370763" y="2625725"/>
            <a:ext cx="76835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User3</a:t>
            </a:r>
          </a:p>
        </p:txBody>
      </p:sp>
      <p:pic>
        <p:nvPicPr>
          <p:cNvPr id="61451" name="Picture 11" descr="Picture 2">
            <a:extLst>
              <a:ext uri="{FF2B5EF4-FFF2-40B4-BE49-F238E27FC236}">
                <a16:creationId xmlns:a16="http://schemas.microsoft.com/office/drawing/2014/main" id="{85EEDC46-B901-28A6-9FD9-6A6E611C428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61452" name="Group 12">
            <a:extLst>
              <a:ext uri="{FF2B5EF4-FFF2-40B4-BE49-F238E27FC236}">
                <a16:creationId xmlns:a16="http://schemas.microsoft.com/office/drawing/2014/main" id="{16DFFED5-099F-76CC-3353-0E6E875157EF}"/>
              </a:ext>
            </a:extLst>
          </p:cNvPr>
          <p:cNvGraphicFramePr>
            <a:graphicFrameLocks noGrp="1"/>
          </p:cNvGraphicFramePr>
          <p:nvPr/>
        </p:nvGraphicFramePr>
        <p:xfrm>
          <a:off x="279400" y="2997200"/>
          <a:ext cx="4368800" cy="2165350"/>
        </p:xfrm>
        <a:graphic>
          <a:graphicData uri="http://schemas.openxmlformats.org/drawingml/2006/table">
            <a:tbl>
              <a:tblPr/>
              <a:tblGrid>
                <a:gridCol w="4368800">
                  <a:extLst>
                    <a:ext uri="{9D8B030D-6E8A-4147-A177-3AD203B41FA5}">
                      <a16:colId xmlns:a16="http://schemas.microsoft.com/office/drawing/2014/main" val="366368982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03859554"/>
                  </a:ext>
                </a:extLst>
              </a:tr>
              <a:tr h="1781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TippuSeats=TippuSeats-5
Write(TippuSeats)
Read(ChamundiSeats)
ChamundiSeats=ChamundiSeats+5
Write(ChamundiSeats)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11925774"/>
                  </a:ext>
                </a:extLst>
              </a:tr>
            </a:tbl>
          </a:graphicData>
        </a:graphic>
      </p:graphicFrame>
      <p:graphicFrame>
        <p:nvGraphicFramePr>
          <p:cNvPr id="61462" name="Group 22">
            <a:extLst>
              <a:ext uri="{FF2B5EF4-FFF2-40B4-BE49-F238E27FC236}">
                <a16:creationId xmlns:a16="http://schemas.microsoft.com/office/drawing/2014/main" id="{5B35D3E3-7F0E-4C72-E2BF-15A0AC945CDB}"/>
              </a:ext>
            </a:extLst>
          </p:cNvPr>
          <p:cNvGraphicFramePr>
            <a:graphicFrameLocks noGrp="1"/>
          </p:cNvGraphicFramePr>
          <p:nvPr/>
        </p:nvGraphicFramePr>
        <p:xfrm>
          <a:off x="5364163" y="3159125"/>
          <a:ext cx="3417887" cy="1885950"/>
        </p:xfrm>
        <a:graphic>
          <a:graphicData uri="http://schemas.openxmlformats.org/drawingml/2006/table">
            <a:tbl>
              <a:tblPr/>
              <a:tblGrid>
                <a:gridCol w="3417887">
                  <a:extLst>
                    <a:ext uri="{9D8B030D-6E8A-4147-A177-3AD203B41FA5}">
                      <a16:colId xmlns:a16="http://schemas.microsoft.com/office/drawing/2014/main" val="39881295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10802963"/>
                  </a:ext>
                </a:extLst>
              </a:tr>
              <a:tr h="15017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sum:=0</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72745385"/>
                  </a:ext>
                </a:extLst>
              </a:tr>
            </a:tbl>
          </a:graphicData>
        </a:graphic>
      </p:graphicFrame>
      <p:sp>
        <p:nvSpPr>
          <p:cNvPr id="61472" name="Text Box 32" descr="TextBox 21">
            <a:extLst>
              <a:ext uri="{FF2B5EF4-FFF2-40B4-BE49-F238E27FC236}">
                <a16:creationId xmlns:a16="http://schemas.microsoft.com/office/drawing/2014/main" id="{85868F5D-5E90-30B3-6441-9F4968313D2C}"/>
              </a:ext>
            </a:extLst>
          </p:cNvPr>
          <p:cNvSpPr txBox="1">
            <a:spLocks/>
          </p:cNvSpPr>
          <p:nvPr/>
        </p:nvSpPr>
        <p:spPr bwMode="auto">
          <a:xfrm>
            <a:off x="368300" y="5159375"/>
            <a:ext cx="8405813"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solidFill>
                  <a:srgbClr val="FF0000"/>
                </a:solidFill>
              </a:rPr>
              <a:t>Answer</a:t>
            </a:r>
          </a:p>
          <a:p>
            <a:r>
              <a:rPr lang="en-US" altLang="en-US" sz="1600"/>
              <a:t>Tippu express  seats=75</a:t>
            </a:r>
          </a:p>
          <a:p>
            <a:r>
              <a:rPr lang="en-US" altLang="en-US" sz="1600"/>
              <a:t>Chamundi express seats=75</a:t>
            </a:r>
          </a:p>
          <a:p>
            <a:r>
              <a:rPr lang="en-US" altLang="en-US" sz="1600" b="1"/>
              <a:t>sum</a:t>
            </a:r>
            <a:r>
              <a:rPr lang="en-US" altLang="en-US" sz="1600"/>
              <a:t>=150</a:t>
            </a:r>
            <a:endParaRPr lang="en-US" altLang="en-US" sz="1600" b="1"/>
          </a:p>
        </p:txBody>
      </p:sp>
    </p:spTree>
  </p:cSld>
  <p:clrMapOvr>
    <a:masterClrMapping/>
  </p:clrMapOvr>
  <p:transition spd="med"/>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descr="Title 1">
            <a:extLst>
              <a:ext uri="{FF2B5EF4-FFF2-40B4-BE49-F238E27FC236}">
                <a16:creationId xmlns:a16="http://schemas.microsoft.com/office/drawing/2014/main" id="{89A6C43C-4DCF-46A1-A9C5-8465552AD602}"/>
              </a:ext>
            </a:extLst>
          </p:cNvPr>
          <p:cNvSpPr>
            <a:spLocks noChangeArrowheads="1"/>
          </p:cNvSpPr>
          <p:nvPr>
            <p:ph type="title"/>
          </p:nvPr>
        </p:nvSpPr>
        <p:spPr/>
        <p:txBody>
          <a:bodyPr/>
          <a:lstStyle/>
          <a:p>
            <a:r>
              <a:rPr lang="en-US" altLang="en-US"/>
              <a:t>Problems with Concurrent Execution</a:t>
            </a:r>
          </a:p>
        </p:txBody>
      </p:sp>
      <p:sp>
        <p:nvSpPr>
          <p:cNvPr id="62467" name="Rectangle 3" descr="Content Placeholder 2">
            <a:extLst>
              <a:ext uri="{FF2B5EF4-FFF2-40B4-BE49-F238E27FC236}">
                <a16:creationId xmlns:a16="http://schemas.microsoft.com/office/drawing/2014/main" id="{633DE2BD-6B16-8538-6D93-5E1DE61258B6}"/>
              </a:ext>
            </a:extLst>
          </p:cNvPr>
          <p:cNvSpPr>
            <a:spLocks noChangeArrowheads="1"/>
          </p:cNvSpPr>
          <p:nvPr>
            <p:ph type="body" idx="1"/>
          </p:nvPr>
        </p:nvSpPr>
        <p:spPr/>
        <p:txBody>
          <a:bodyPr/>
          <a:lstStyle/>
          <a:p>
            <a:pPr marL="0" indent="0">
              <a:lnSpc>
                <a:spcPct val="80000"/>
              </a:lnSpc>
              <a:spcBef>
                <a:spcPts val="500"/>
              </a:spcBef>
              <a:buSzTx/>
              <a:buFont typeface="Wingdings" panose="05000000000000000000" pitchFamily="2" charset="2"/>
              <a:buNone/>
            </a:pPr>
            <a:r>
              <a:rPr lang="en-US" altLang="en-US" sz="2400"/>
              <a:t>3. The Incorrect Summary Problem</a:t>
            </a:r>
          </a:p>
          <a:p>
            <a:pPr marL="908050" lvl="1" indent="-438150">
              <a:lnSpc>
                <a:spcPct val="80000"/>
              </a:lnSpc>
              <a:spcBef>
                <a:spcPts val="400"/>
              </a:spcBef>
            </a:pPr>
            <a:r>
              <a:rPr lang="en-US" altLang="en-US" sz="2000"/>
              <a:t>If one transaction is calculating an aggregate summary function on a number of records while other transactions are updating some of these records, the aggregate function may calculate some values before they are updated and others after they are updated. </a:t>
            </a:r>
          </a:p>
        </p:txBody>
      </p:sp>
      <p:sp>
        <p:nvSpPr>
          <p:cNvPr id="62468" name="Text Box 4" descr="Date Placeholder 3">
            <a:extLst>
              <a:ext uri="{FF2B5EF4-FFF2-40B4-BE49-F238E27FC236}">
                <a16:creationId xmlns:a16="http://schemas.microsoft.com/office/drawing/2014/main" id="{5488617E-E0EA-3457-5CBF-0A957D4D1F3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2469" name="Text Box 5" descr="Slide Number Placeholder 5">
            <a:extLst>
              <a:ext uri="{FF2B5EF4-FFF2-40B4-BE49-F238E27FC236}">
                <a16:creationId xmlns:a16="http://schemas.microsoft.com/office/drawing/2014/main" id="{E2BBEA9B-5590-4865-495A-F6D3A2B2C632}"/>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F7C1FC3-C5DA-4650-AE2F-79DBAA6BC58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descr="Title 1">
            <a:extLst>
              <a:ext uri="{FF2B5EF4-FFF2-40B4-BE49-F238E27FC236}">
                <a16:creationId xmlns:a16="http://schemas.microsoft.com/office/drawing/2014/main" id="{4F1C6CCA-5A9C-EA34-6033-6C772566BF6D}"/>
              </a:ext>
            </a:extLst>
          </p:cNvPr>
          <p:cNvSpPr>
            <a:spLocks noChangeArrowheads="1"/>
          </p:cNvSpPr>
          <p:nvPr>
            <p:ph type="title"/>
          </p:nvPr>
        </p:nvSpPr>
        <p:spPr/>
        <p:txBody>
          <a:bodyPr/>
          <a:lstStyle/>
          <a:p>
            <a:pPr>
              <a:lnSpc>
                <a:spcPct val="80000"/>
              </a:lnSpc>
            </a:pPr>
            <a:r>
              <a:rPr lang="en-US" altLang="en-US" sz="2400"/>
              <a:t>Incorrect Summary Problem</a:t>
            </a:r>
          </a:p>
        </p:txBody>
      </p:sp>
      <p:sp>
        <p:nvSpPr>
          <p:cNvPr id="63491" name="Text Box 3" descr="Date Placeholder 3">
            <a:extLst>
              <a:ext uri="{FF2B5EF4-FFF2-40B4-BE49-F238E27FC236}">
                <a16:creationId xmlns:a16="http://schemas.microsoft.com/office/drawing/2014/main" id="{F2A292B6-232F-4918-8646-DB986B2A27F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3492" name="Text Box 4" descr="Slide Number Placeholder 5">
            <a:extLst>
              <a:ext uri="{FF2B5EF4-FFF2-40B4-BE49-F238E27FC236}">
                <a16:creationId xmlns:a16="http://schemas.microsoft.com/office/drawing/2014/main" id="{818CDA95-4403-0938-B3DD-76F9BEB6ED1C}"/>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C22B403-3D75-4D3F-8096-DECDBF29737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59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63493" name="Picture 5" descr="Picture 3">
            <a:extLst>
              <a:ext uri="{FF2B5EF4-FFF2-40B4-BE49-F238E27FC236}">
                <a16:creationId xmlns:a16="http://schemas.microsoft.com/office/drawing/2014/main" id="{7C4C7A9D-C0CB-16D9-1244-C7D6C6BC1F2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7088" y="2400300"/>
            <a:ext cx="420687" cy="731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3494" name="Picture 6" descr="Picture 4">
            <a:extLst>
              <a:ext uri="{FF2B5EF4-FFF2-40B4-BE49-F238E27FC236}">
                <a16:creationId xmlns:a16="http://schemas.microsoft.com/office/drawing/2014/main" id="{419EC0B2-514D-8262-521F-7EFEE276A75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27850" y="2460625"/>
            <a:ext cx="387350" cy="696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3495" name="Line 7" descr="Straight Arrow Connector 9">
            <a:extLst>
              <a:ext uri="{FF2B5EF4-FFF2-40B4-BE49-F238E27FC236}">
                <a16:creationId xmlns:a16="http://schemas.microsoft.com/office/drawing/2014/main" id="{3170BE77-5663-5F62-603E-B8C768619257}"/>
              </a:ext>
            </a:extLst>
          </p:cNvPr>
          <p:cNvSpPr>
            <a:spLocks noChangeShapeType="1"/>
          </p:cNvSpPr>
          <p:nvPr/>
        </p:nvSpPr>
        <p:spPr bwMode="auto">
          <a:xfrm flipV="1">
            <a:off x="2463800" y="2460625"/>
            <a:ext cx="1098550" cy="55245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3496" name="Line 8" descr="Straight Arrow Connector 10">
            <a:extLst>
              <a:ext uri="{FF2B5EF4-FFF2-40B4-BE49-F238E27FC236}">
                <a16:creationId xmlns:a16="http://schemas.microsoft.com/office/drawing/2014/main" id="{ED578D6A-0773-60F7-37A2-EDDDF73587C2}"/>
              </a:ext>
            </a:extLst>
          </p:cNvPr>
          <p:cNvSpPr>
            <a:spLocks noChangeShapeType="1"/>
          </p:cNvSpPr>
          <p:nvPr/>
        </p:nvSpPr>
        <p:spPr bwMode="auto">
          <a:xfrm flipH="1" flipV="1">
            <a:off x="5362575" y="2427288"/>
            <a:ext cx="1565275" cy="382587"/>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3497" name="Text Box 9" descr="TextBox 11">
            <a:extLst>
              <a:ext uri="{FF2B5EF4-FFF2-40B4-BE49-F238E27FC236}">
                <a16:creationId xmlns:a16="http://schemas.microsoft.com/office/drawing/2014/main" id="{980948C8-4D57-DC55-F215-18EE78C98233}"/>
              </a:ext>
            </a:extLst>
          </p:cNvPr>
          <p:cNvSpPr txBox="1">
            <a:spLocks/>
          </p:cNvSpPr>
          <p:nvPr/>
        </p:nvSpPr>
        <p:spPr bwMode="auto">
          <a:xfrm>
            <a:off x="1231900" y="2643188"/>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63498" name="Text Box 10" descr="TextBox 12">
            <a:extLst>
              <a:ext uri="{FF2B5EF4-FFF2-40B4-BE49-F238E27FC236}">
                <a16:creationId xmlns:a16="http://schemas.microsoft.com/office/drawing/2014/main" id="{64C12EEB-121C-EEAB-A8D0-68CA53388B3C}"/>
              </a:ext>
            </a:extLst>
          </p:cNvPr>
          <p:cNvSpPr txBox="1">
            <a:spLocks/>
          </p:cNvSpPr>
          <p:nvPr/>
        </p:nvSpPr>
        <p:spPr bwMode="auto">
          <a:xfrm>
            <a:off x="7370763" y="2625725"/>
            <a:ext cx="76835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User3</a:t>
            </a:r>
          </a:p>
        </p:txBody>
      </p:sp>
      <p:pic>
        <p:nvPicPr>
          <p:cNvPr id="63499" name="Picture 11" descr="Picture 2">
            <a:extLst>
              <a:ext uri="{FF2B5EF4-FFF2-40B4-BE49-F238E27FC236}">
                <a16:creationId xmlns:a16="http://schemas.microsoft.com/office/drawing/2014/main" id="{BF5ACC3B-85E3-B931-1145-7223F7CEAF3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63500" name="Group 12">
            <a:extLst>
              <a:ext uri="{FF2B5EF4-FFF2-40B4-BE49-F238E27FC236}">
                <a16:creationId xmlns:a16="http://schemas.microsoft.com/office/drawing/2014/main" id="{A87E29C5-02E0-D3F6-3330-1D4B3D0A30F6}"/>
              </a:ext>
            </a:extLst>
          </p:cNvPr>
          <p:cNvGraphicFramePr>
            <a:graphicFrameLocks noGrp="1"/>
          </p:cNvGraphicFramePr>
          <p:nvPr/>
        </p:nvGraphicFramePr>
        <p:xfrm>
          <a:off x="673100" y="3141663"/>
          <a:ext cx="7786688" cy="3282950"/>
        </p:xfrm>
        <a:graphic>
          <a:graphicData uri="http://schemas.openxmlformats.org/drawingml/2006/table">
            <a:tbl>
              <a:tblPr/>
              <a:tblGrid>
                <a:gridCol w="4368800">
                  <a:extLst>
                    <a:ext uri="{9D8B030D-6E8A-4147-A177-3AD203B41FA5}">
                      <a16:colId xmlns:a16="http://schemas.microsoft.com/office/drawing/2014/main" val="3576969502"/>
                    </a:ext>
                  </a:extLst>
                </a:gridCol>
                <a:gridCol w="3417888">
                  <a:extLst>
                    <a:ext uri="{9D8B030D-6E8A-4147-A177-3AD203B41FA5}">
                      <a16:colId xmlns:a16="http://schemas.microsoft.com/office/drawing/2014/main" val="80665046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49391137"/>
                  </a:ext>
                </a:extLst>
              </a:tr>
              <a:tr h="28987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ChamundiSeats=ChamundiSeats+5</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sum:=0</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Read(ChamundiSeats)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333333"/>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sum=sum+ChamundiSeats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61488729"/>
                  </a:ext>
                </a:extLst>
              </a:tr>
            </a:tbl>
          </a:graphicData>
        </a:graphic>
      </p:graphicFrame>
    </p:spTree>
  </p:cSld>
  <p:clrMapOvr>
    <a:masterClrMapping/>
  </p:clrMapOvr>
  <p:transition spd="med"/>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descr="Title 1">
            <a:extLst>
              <a:ext uri="{FF2B5EF4-FFF2-40B4-BE49-F238E27FC236}">
                <a16:creationId xmlns:a16="http://schemas.microsoft.com/office/drawing/2014/main" id="{FA1CFCAB-C686-5F12-4124-A37A4A275A27}"/>
              </a:ext>
            </a:extLst>
          </p:cNvPr>
          <p:cNvSpPr>
            <a:spLocks noChangeArrowheads="1"/>
          </p:cNvSpPr>
          <p:nvPr>
            <p:ph type="title"/>
          </p:nvPr>
        </p:nvSpPr>
        <p:spPr/>
        <p:txBody>
          <a:bodyPr/>
          <a:lstStyle/>
          <a:p>
            <a:pPr>
              <a:lnSpc>
                <a:spcPct val="80000"/>
              </a:lnSpc>
            </a:pPr>
            <a:r>
              <a:rPr lang="en-US" altLang="en-US" sz="2400"/>
              <a:t>Incorrect Summary Problem</a:t>
            </a:r>
          </a:p>
        </p:txBody>
      </p:sp>
      <p:sp>
        <p:nvSpPr>
          <p:cNvPr id="64515" name="Text Box 3" descr="Date Placeholder 3">
            <a:extLst>
              <a:ext uri="{FF2B5EF4-FFF2-40B4-BE49-F238E27FC236}">
                <a16:creationId xmlns:a16="http://schemas.microsoft.com/office/drawing/2014/main" id="{683D0128-55CA-E4BB-4EFD-515F2509EB5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4516" name="Text Box 4" descr="Slide Number Placeholder 5">
            <a:extLst>
              <a:ext uri="{FF2B5EF4-FFF2-40B4-BE49-F238E27FC236}">
                <a16:creationId xmlns:a16="http://schemas.microsoft.com/office/drawing/2014/main" id="{34E446FF-D1BA-A642-1858-7A3417A18E56}"/>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B4EA951-B85A-41E2-B63D-F0650F9D46B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64517" name="Picture 5" descr="Picture 3">
            <a:extLst>
              <a:ext uri="{FF2B5EF4-FFF2-40B4-BE49-F238E27FC236}">
                <a16:creationId xmlns:a16="http://schemas.microsoft.com/office/drawing/2014/main" id="{42AE5BDC-ADFF-13E3-D593-69715A74EAA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7088" y="2400300"/>
            <a:ext cx="420687" cy="731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4518" name="Picture 6" descr="Picture 4">
            <a:extLst>
              <a:ext uri="{FF2B5EF4-FFF2-40B4-BE49-F238E27FC236}">
                <a16:creationId xmlns:a16="http://schemas.microsoft.com/office/drawing/2014/main" id="{9385171E-127F-AC16-AAD7-16937D78935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27850" y="2460625"/>
            <a:ext cx="387350" cy="696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4519" name="Line 7" descr="Straight Arrow Connector 9">
            <a:extLst>
              <a:ext uri="{FF2B5EF4-FFF2-40B4-BE49-F238E27FC236}">
                <a16:creationId xmlns:a16="http://schemas.microsoft.com/office/drawing/2014/main" id="{82559F30-C163-F659-D1D2-7624C682D1D4}"/>
              </a:ext>
            </a:extLst>
          </p:cNvPr>
          <p:cNvSpPr>
            <a:spLocks noChangeShapeType="1"/>
          </p:cNvSpPr>
          <p:nvPr/>
        </p:nvSpPr>
        <p:spPr bwMode="auto">
          <a:xfrm flipV="1">
            <a:off x="2517775" y="2460625"/>
            <a:ext cx="1044575" cy="306388"/>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4520" name="Line 8" descr="Straight Arrow Connector 10">
            <a:extLst>
              <a:ext uri="{FF2B5EF4-FFF2-40B4-BE49-F238E27FC236}">
                <a16:creationId xmlns:a16="http://schemas.microsoft.com/office/drawing/2014/main" id="{B72A2BAC-F4C0-895F-4349-57C6910C2BF7}"/>
              </a:ext>
            </a:extLst>
          </p:cNvPr>
          <p:cNvSpPr>
            <a:spLocks noChangeShapeType="1"/>
          </p:cNvSpPr>
          <p:nvPr/>
        </p:nvSpPr>
        <p:spPr bwMode="auto">
          <a:xfrm flipH="1" flipV="1">
            <a:off x="5362575" y="2427288"/>
            <a:ext cx="1565275" cy="382587"/>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4521" name="Text Box 9" descr="TextBox 11">
            <a:extLst>
              <a:ext uri="{FF2B5EF4-FFF2-40B4-BE49-F238E27FC236}">
                <a16:creationId xmlns:a16="http://schemas.microsoft.com/office/drawing/2014/main" id="{78E24B10-AAE6-C133-4CA2-382357976A4F}"/>
              </a:ext>
            </a:extLst>
          </p:cNvPr>
          <p:cNvSpPr txBox="1">
            <a:spLocks/>
          </p:cNvSpPr>
          <p:nvPr/>
        </p:nvSpPr>
        <p:spPr bwMode="auto">
          <a:xfrm>
            <a:off x="1231900" y="2643188"/>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64522" name="Text Box 10" descr="TextBox 12">
            <a:extLst>
              <a:ext uri="{FF2B5EF4-FFF2-40B4-BE49-F238E27FC236}">
                <a16:creationId xmlns:a16="http://schemas.microsoft.com/office/drawing/2014/main" id="{C639BCE6-E996-6BA7-AF50-CFA1D0951A5B}"/>
              </a:ext>
            </a:extLst>
          </p:cNvPr>
          <p:cNvSpPr txBox="1">
            <a:spLocks/>
          </p:cNvSpPr>
          <p:nvPr/>
        </p:nvSpPr>
        <p:spPr bwMode="auto">
          <a:xfrm>
            <a:off x="7370763" y="2625725"/>
            <a:ext cx="76835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User3</a:t>
            </a:r>
          </a:p>
        </p:txBody>
      </p:sp>
      <p:pic>
        <p:nvPicPr>
          <p:cNvPr id="64523" name="Picture 11" descr="Picture 2">
            <a:extLst>
              <a:ext uri="{FF2B5EF4-FFF2-40B4-BE49-F238E27FC236}">
                <a16:creationId xmlns:a16="http://schemas.microsoft.com/office/drawing/2014/main" id="{084366FD-0D4E-7E2A-CC14-A9DF38028BF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4524" name="Picture 12" descr="Picture 2">
            <a:extLst>
              <a:ext uri="{FF2B5EF4-FFF2-40B4-BE49-F238E27FC236}">
                <a16:creationId xmlns:a16="http://schemas.microsoft.com/office/drawing/2014/main" id="{EF096689-789E-E65F-3625-FD6DBA5E5C23}"/>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517775" y="3074988"/>
            <a:ext cx="4572000" cy="1949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4525" name="Text Box 13" descr="TextBox 15">
            <a:extLst>
              <a:ext uri="{FF2B5EF4-FFF2-40B4-BE49-F238E27FC236}">
                <a16:creationId xmlns:a16="http://schemas.microsoft.com/office/drawing/2014/main" id="{85534882-8B8A-35B8-470D-529D42F718C5}"/>
              </a:ext>
            </a:extLst>
          </p:cNvPr>
          <p:cNvSpPr txBox="1">
            <a:spLocks/>
          </p:cNvSpPr>
          <p:nvPr/>
        </p:nvSpPr>
        <p:spPr bwMode="auto">
          <a:xfrm>
            <a:off x="368300" y="5084763"/>
            <a:ext cx="8405813" cy="814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solidFill>
                  <a:srgbClr val="FF0000"/>
                </a:solidFill>
              </a:rPr>
              <a:t>Question</a:t>
            </a:r>
          </a:p>
          <a:p>
            <a:r>
              <a:rPr lang="en-US" altLang="en-US" sz="1600"/>
              <a:t>What will be the total number of seats on Tippu express &amp; Chamundi express; and sum value when above set of transactions statements are executed</a:t>
            </a:r>
          </a:p>
        </p:txBody>
      </p:sp>
    </p:spTree>
  </p:cSld>
  <p:clrMapOvr>
    <a:masterClrMapping/>
  </p:clrMapOvr>
  <p:transition spd="med"/>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descr="Title 1">
            <a:extLst>
              <a:ext uri="{FF2B5EF4-FFF2-40B4-BE49-F238E27FC236}">
                <a16:creationId xmlns:a16="http://schemas.microsoft.com/office/drawing/2014/main" id="{D359D133-CD5B-46CF-1D05-101F22E5240F}"/>
              </a:ext>
            </a:extLst>
          </p:cNvPr>
          <p:cNvSpPr>
            <a:spLocks noChangeArrowheads="1"/>
          </p:cNvSpPr>
          <p:nvPr>
            <p:ph type="title"/>
          </p:nvPr>
        </p:nvSpPr>
        <p:spPr/>
        <p:txBody>
          <a:bodyPr/>
          <a:lstStyle/>
          <a:p>
            <a:pPr>
              <a:lnSpc>
                <a:spcPct val="80000"/>
              </a:lnSpc>
            </a:pPr>
            <a:r>
              <a:rPr lang="en-US" altLang="en-US" sz="2400"/>
              <a:t>Incorrect Summary Problem</a:t>
            </a:r>
          </a:p>
        </p:txBody>
      </p:sp>
      <p:sp>
        <p:nvSpPr>
          <p:cNvPr id="65539" name="Text Box 3" descr="Date Placeholder 3">
            <a:extLst>
              <a:ext uri="{FF2B5EF4-FFF2-40B4-BE49-F238E27FC236}">
                <a16:creationId xmlns:a16="http://schemas.microsoft.com/office/drawing/2014/main" id="{970256EF-7392-E3C0-5A57-25251908ED4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5540" name="Text Box 4" descr="Slide Number Placeholder 5">
            <a:extLst>
              <a:ext uri="{FF2B5EF4-FFF2-40B4-BE49-F238E27FC236}">
                <a16:creationId xmlns:a16="http://schemas.microsoft.com/office/drawing/2014/main" id="{0F5E3090-F76C-8E75-85D7-20B9B867A86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41BF604-FBE7-4E33-9EC1-40856ADAA3A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65541" name="Picture 5" descr="Picture 3">
            <a:extLst>
              <a:ext uri="{FF2B5EF4-FFF2-40B4-BE49-F238E27FC236}">
                <a16:creationId xmlns:a16="http://schemas.microsoft.com/office/drawing/2014/main" id="{68B4D8B7-0BE9-3629-6430-59CCC4600F3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097088" y="2400300"/>
            <a:ext cx="420687" cy="731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5542" name="Picture 6" descr="Picture 4">
            <a:extLst>
              <a:ext uri="{FF2B5EF4-FFF2-40B4-BE49-F238E27FC236}">
                <a16:creationId xmlns:a16="http://schemas.microsoft.com/office/drawing/2014/main" id="{E4497C4B-6447-CDE9-A9E6-227208EAA39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27850" y="2460625"/>
            <a:ext cx="387350" cy="696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5543" name="Line 7" descr="Straight Arrow Connector 9">
            <a:extLst>
              <a:ext uri="{FF2B5EF4-FFF2-40B4-BE49-F238E27FC236}">
                <a16:creationId xmlns:a16="http://schemas.microsoft.com/office/drawing/2014/main" id="{501F75A4-167C-2846-7141-C22360813374}"/>
              </a:ext>
            </a:extLst>
          </p:cNvPr>
          <p:cNvSpPr>
            <a:spLocks noChangeShapeType="1"/>
          </p:cNvSpPr>
          <p:nvPr/>
        </p:nvSpPr>
        <p:spPr bwMode="auto">
          <a:xfrm flipV="1">
            <a:off x="2517775" y="2460625"/>
            <a:ext cx="1044575" cy="306388"/>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5544" name="Line 8" descr="Straight Arrow Connector 10">
            <a:extLst>
              <a:ext uri="{FF2B5EF4-FFF2-40B4-BE49-F238E27FC236}">
                <a16:creationId xmlns:a16="http://schemas.microsoft.com/office/drawing/2014/main" id="{57BEEF3A-F732-09D8-35F1-B634846D2ECF}"/>
              </a:ext>
            </a:extLst>
          </p:cNvPr>
          <p:cNvSpPr>
            <a:spLocks noChangeShapeType="1"/>
          </p:cNvSpPr>
          <p:nvPr/>
        </p:nvSpPr>
        <p:spPr bwMode="auto">
          <a:xfrm flipH="1" flipV="1">
            <a:off x="5362575" y="2427288"/>
            <a:ext cx="1565275" cy="382587"/>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65545" name="Text Box 9" descr="TextBox 11">
            <a:extLst>
              <a:ext uri="{FF2B5EF4-FFF2-40B4-BE49-F238E27FC236}">
                <a16:creationId xmlns:a16="http://schemas.microsoft.com/office/drawing/2014/main" id="{6920A81F-840E-39D9-DB62-6EF12E0153A6}"/>
              </a:ext>
            </a:extLst>
          </p:cNvPr>
          <p:cNvSpPr txBox="1">
            <a:spLocks/>
          </p:cNvSpPr>
          <p:nvPr/>
        </p:nvSpPr>
        <p:spPr bwMode="auto">
          <a:xfrm>
            <a:off x="1231900" y="2643188"/>
            <a:ext cx="76993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65546" name="Text Box 10" descr="TextBox 12">
            <a:extLst>
              <a:ext uri="{FF2B5EF4-FFF2-40B4-BE49-F238E27FC236}">
                <a16:creationId xmlns:a16="http://schemas.microsoft.com/office/drawing/2014/main" id="{603046A1-2501-CB4F-3AC1-BF12E93FEB8C}"/>
              </a:ext>
            </a:extLst>
          </p:cNvPr>
          <p:cNvSpPr txBox="1">
            <a:spLocks/>
          </p:cNvSpPr>
          <p:nvPr/>
        </p:nvSpPr>
        <p:spPr bwMode="auto">
          <a:xfrm>
            <a:off x="7370763" y="2625725"/>
            <a:ext cx="76835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User3</a:t>
            </a:r>
          </a:p>
        </p:txBody>
      </p:sp>
      <p:pic>
        <p:nvPicPr>
          <p:cNvPr id="65547" name="Picture 11" descr="Picture 2">
            <a:extLst>
              <a:ext uri="{FF2B5EF4-FFF2-40B4-BE49-F238E27FC236}">
                <a16:creationId xmlns:a16="http://schemas.microsoft.com/office/drawing/2014/main" id="{23BBA236-B03D-D7EC-F177-236083A20B1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5548" name="Picture 12" descr="Picture 2">
            <a:extLst>
              <a:ext uri="{FF2B5EF4-FFF2-40B4-BE49-F238E27FC236}">
                <a16:creationId xmlns:a16="http://schemas.microsoft.com/office/drawing/2014/main" id="{A28465FC-C4A8-99C7-41B1-57A0494A7B57}"/>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517775" y="3074988"/>
            <a:ext cx="4572000" cy="1949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5549" name="Text Box 13" descr="TextBox 15">
            <a:extLst>
              <a:ext uri="{FF2B5EF4-FFF2-40B4-BE49-F238E27FC236}">
                <a16:creationId xmlns:a16="http://schemas.microsoft.com/office/drawing/2014/main" id="{7184FC73-5D02-CACA-D618-31AF568B6237}"/>
              </a:ext>
            </a:extLst>
          </p:cNvPr>
          <p:cNvSpPr txBox="1">
            <a:spLocks/>
          </p:cNvSpPr>
          <p:nvPr/>
        </p:nvSpPr>
        <p:spPr bwMode="auto">
          <a:xfrm>
            <a:off x="368300" y="5084763"/>
            <a:ext cx="8405813" cy="1296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solidFill>
                  <a:srgbClr val="FF0000"/>
                </a:solidFill>
              </a:rPr>
              <a:t>Answer</a:t>
            </a:r>
          </a:p>
          <a:p>
            <a:r>
              <a:rPr lang="en-US" altLang="en-US" sz="1600"/>
              <a:t>Tippu express  seats=75</a:t>
            </a:r>
          </a:p>
          <a:p>
            <a:r>
              <a:rPr lang="en-US" altLang="en-US" sz="1600"/>
              <a:t>Chamundi express seats=75</a:t>
            </a:r>
          </a:p>
          <a:p>
            <a:r>
              <a:rPr lang="en-US" altLang="en-US" sz="1600"/>
              <a:t>Sum=145   &lt;- </a:t>
            </a:r>
            <a:r>
              <a:rPr lang="en-US" altLang="en-US" sz="1600" b="1"/>
              <a:t>INCORRECT</a:t>
            </a:r>
          </a:p>
        </p:txBody>
      </p:sp>
    </p:spTree>
  </p:cSld>
  <p:clrMapOvr>
    <a:masterClrMapping/>
  </p:clrMapOvr>
  <p:transition spd="med"/>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descr="Title 1">
            <a:extLst>
              <a:ext uri="{FF2B5EF4-FFF2-40B4-BE49-F238E27FC236}">
                <a16:creationId xmlns:a16="http://schemas.microsoft.com/office/drawing/2014/main" id="{E84258D5-864A-7622-6C57-F922C2204776}"/>
              </a:ext>
            </a:extLst>
          </p:cNvPr>
          <p:cNvSpPr>
            <a:spLocks noChangeArrowheads="1"/>
          </p:cNvSpPr>
          <p:nvPr>
            <p:ph type="title"/>
          </p:nvPr>
        </p:nvSpPr>
        <p:spPr/>
        <p:txBody>
          <a:bodyPr/>
          <a:lstStyle/>
          <a:p>
            <a:r>
              <a:rPr lang="en-US" altLang="en-US"/>
              <a:t>Problems with Concurrent Execution</a:t>
            </a:r>
          </a:p>
        </p:txBody>
      </p:sp>
      <p:sp>
        <p:nvSpPr>
          <p:cNvPr id="66563" name="Rectangle 3" descr="Content Placeholder 2">
            <a:extLst>
              <a:ext uri="{FF2B5EF4-FFF2-40B4-BE49-F238E27FC236}">
                <a16:creationId xmlns:a16="http://schemas.microsoft.com/office/drawing/2014/main" id="{60D4D207-1A7A-07BE-4990-E7F0B3CC77F3}"/>
              </a:ext>
            </a:extLst>
          </p:cNvPr>
          <p:cNvSpPr>
            <a:spLocks noChangeArrowheads="1"/>
          </p:cNvSpPr>
          <p:nvPr>
            <p:ph type="body" idx="1"/>
          </p:nvPr>
        </p:nvSpPr>
        <p:spPr/>
        <p:txBody>
          <a:bodyPr/>
          <a:lstStyle/>
          <a:p>
            <a:pPr marL="234950" indent="-234950">
              <a:spcBef>
                <a:spcPts val="500"/>
              </a:spcBef>
            </a:pPr>
            <a:r>
              <a:rPr lang="en-US" altLang="en-US" sz="2400"/>
              <a:t>What is Concurrent Execution ?</a:t>
            </a:r>
          </a:p>
          <a:p>
            <a:pPr marL="234950" indent="-234950">
              <a:spcBef>
                <a:spcPts val="500"/>
              </a:spcBef>
              <a:buSzTx/>
              <a:buFont typeface="Wingdings" panose="05000000000000000000" pitchFamily="2" charset="2"/>
              <a:buNone/>
            </a:pPr>
            <a:r>
              <a:rPr lang="en-US" altLang="en-US" sz="2400"/>
              <a:t>When Multiple users trying to access same database record in an uncontrolled manner.</a:t>
            </a:r>
          </a:p>
          <a:p>
            <a:pPr marL="234950" indent="-234950">
              <a:buSzTx/>
              <a:buFont typeface="Wingdings" panose="05000000000000000000" pitchFamily="2" charset="2"/>
              <a:buNone/>
            </a:pPr>
            <a:endParaRPr lang="en-US" altLang="en-US" sz="2400"/>
          </a:p>
          <a:p>
            <a:pPr marL="234950" indent="-234950">
              <a:spcBef>
                <a:spcPts val="500"/>
              </a:spcBef>
            </a:pPr>
            <a:r>
              <a:rPr lang="en-US" altLang="en-US" sz="2400"/>
              <a:t>Problems with Concurrent execution</a:t>
            </a:r>
          </a:p>
          <a:p>
            <a:pPr marL="984250" lvl="1" indent="-514350">
              <a:spcBef>
                <a:spcPts val="400"/>
              </a:spcBef>
              <a:buFontTx/>
              <a:buAutoNum type="arabicPeriod"/>
            </a:pPr>
            <a:r>
              <a:rPr lang="en-US" altLang="en-US" sz="2000"/>
              <a:t>Lost Update Problem</a:t>
            </a:r>
            <a:endParaRPr lang="en-US" altLang="en-US" sz="2600"/>
          </a:p>
          <a:p>
            <a:pPr marL="984250" lvl="1" indent="-514350">
              <a:spcBef>
                <a:spcPts val="400"/>
              </a:spcBef>
              <a:buFontTx/>
              <a:buAutoNum type="arabicPeriod"/>
            </a:pPr>
            <a:r>
              <a:rPr lang="en-US" altLang="en-US" sz="2000"/>
              <a:t>Temporary Update (or Dirty Read) Problem</a:t>
            </a:r>
            <a:r>
              <a:rPr lang="en-US" altLang="en-US" sz="2000" b="1"/>
              <a:t> </a:t>
            </a:r>
            <a:endParaRPr lang="en-US" altLang="en-US" sz="2600"/>
          </a:p>
          <a:p>
            <a:pPr marL="984250" lvl="1" indent="-514350">
              <a:spcBef>
                <a:spcPts val="400"/>
              </a:spcBef>
              <a:buFontTx/>
              <a:buAutoNum type="arabicPeriod"/>
            </a:pPr>
            <a:r>
              <a:rPr lang="en-US" altLang="en-US" sz="2000"/>
              <a:t>Incorrect Summary Problem</a:t>
            </a:r>
            <a:endParaRPr lang="en-US" altLang="en-US" sz="2600"/>
          </a:p>
          <a:p>
            <a:pPr marL="984250" lvl="1" indent="-514350">
              <a:spcBef>
                <a:spcPts val="400"/>
              </a:spcBef>
              <a:buFontTx/>
              <a:buAutoNum type="arabicPeriod"/>
            </a:pPr>
            <a:r>
              <a:rPr lang="en-US" altLang="en-US" sz="2000" b="1"/>
              <a:t>Unrepeatable Read</a:t>
            </a:r>
          </a:p>
        </p:txBody>
      </p:sp>
      <p:sp>
        <p:nvSpPr>
          <p:cNvPr id="66564" name="Text Box 4" descr="Date Placeholder 3">
            <a:extLst>
              <a:ext uri="{FF2B5EF4-FFF2-40B4-BE49-F238E27FC236}">
                <a16:creationId xmlns:a16="http://schemas.microsoft.com/office/drawing/2014/main" id="{83AE2993-5477-DD6E-DD3F-0FA53892219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6565" name="Text Box 5" descr="Slide Number Placeholder 5">
            <a:extLst>
              <a:ext uri="{FF2B5EF4-FFF2-40B4-BE49-F238E27FC236}">
                <a16:creationId xmlns:a16="http://schemas.microsoft.com/office/drawing/2014/main" id="{7CD42D68-E127-B4D2-3FB0-AAE1782D8B8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65F92A8-CB16-4507-AA1C-67230541DEB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descr="Title 1">
            <a:extLst>
              <a:ext uri="{FF2B5EF4-FFF2-40B4-BE49-F238E27FC236}">
                <a16:creationId xmlns:a16="http://schemas.microsoft.com/office/drawing/2014/main" id="{DD3FDA94-E539-5DFB-2D7D-FAC1137D5643}"/>
              </a:ext>
            </a:extLst>
          </p:cNvPr>
          <p:cNvSpPr>
            <a:spLocks noChangeArrowheads="1"/>
          </p:cNvSpPr>
          <p:nvPr>
            <p:ph type="title"/>
          </p:nvPr>
        </p:nvSpPr>
        <p:spPr/>
        <p:txBody>
          <a:bodyPr/>
          <a:lstStyle/>
          <a:p>
            <a:r>
              <a:rPr lang="en-US" altLang="en-US"/>
              <a:t>Unrepeatable Read</a:t>
            </a:r>
          </a:p>
        </p:txBody>
      </p:sp>
      <p:sp>
        <p:nvSpPr>
          <p:cNvPr id="67587" name="Rectangle 3" descr="Content Placeholder 2">
            <a:extLst>
              <a:ext uri="{FF2B5EF4-FFF2-40B4-BE49-F238E27FC236}">
                <a16:creationId xmlns:a16="http://schemas.microsoft.com/office/drawing/2014/main" id="{F09AFB37-88CD-2A41-740A-C794A5A3ED7E}"/>
              </a:ext>
            </a:extLst>
          </p:cNvPr>
          <p:cNvSpPr>
            <a:spLocks noChangeArrowheads="1"/>
          </p:cNvSpPr>
          <p:nvPr>
            <p:ph type="body" idx="1"/>
          </p:nvPr>
        </p:nvSpPr>
        <p:spPr/>
        <p:txBody>
          <a:bodyPr/>
          <a:lstStyle/>
          <a:p>
            <a:pPr>
              <a:spcBef>
                <a:spcPts val="500"/>
              </a:spcBef>
            </a:pPr>
            <a:r>
              <a:rPr lang="en-US" altLang="en-US" sz="2400"/>
              <a:t>Unrepeatable Read occurs, if transaction T1 reads an item twice and the item is changed by an another transaction T2 between two reads hence T1 finds two different values on it's two reads.</a:t>
            </a:r>
          </a:p>
        </p:txBody>
      </p:sp>
      <p:sp>
        <p:nvSpPr>
          <p:cNvPr id="67588" name="Text Box 4" descr="Date Placeholder 3">
            <a:extLst>
              <a:ext uri="{FF2B5EF4-FFF2-40B4-BE49-F238E27FC236}">
                <a16:creationId xmlns:a16="http://schemas.microsoft.com/office/drawing/2014/main" id="{BEFE5706-758A-528C-B5E0-9167E5D39EF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7589" name="Text Box 5" descr="Slide Number Placeholder 5">
            <a:extLst>
              <a:ext uri="{FF2B5EF4-FFF2-40B4-BE49-F238E27FC236}">
                <a16:creationId xmlns:a16="http://schemas.microsoft.com/office/drawing/2014/main" id="{57C32DD6-3037-8FD3-5F07-82F2CF9AFF0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81F835C-54BD-4EF2-9F83-4798E116FC3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descr="Title 1">
            <a:extLst>
              <a:ext uri="{FF2B5EF4-FFF2-40B4-BE49-F238E27FC236}">
                <a16:creationId xmlns:a16="http://schemas.microsoft.com/office/drawing/2014/main" id="{028B6043-30D4-CF2A-E975-E8B78890D012}"/>
              </a:ext>
            </a:extLst>
          </p:cNvPr>
          <p:cNvSpPr>
            <a:spLocks noChangeArrowheads="1"/>
          </p:cNvSpPr>
          <p:nvPr>
            <p:ph type="title"/>
          </p:nvPr>
        </p:nvSpPr>
        <p:spPr/>
        <p:txBody>
          <a:bodyPr/>
          <a:lstStyle/>
          <a:p>
            <a:r>
              <a:rPr lang="en-US" altLang="en-US"/>
              <a:t>Unrepeatable Read: Example</a:t>
            </a:r>
          </a:p>
        </p:txBody>
      </p:sp>
      <p:sp>
        <p:nvSpPr>
          <p:cNvPr id="68611" name="Text Box 3" descr="Date Placeholder 3">
            <a:extLst>
              <a:ext uri="{FF2B5EF4-FFF2-40B4-BE49-F238E27FC236}">
                <a16:creationId xmlns:a16="http://schemas.microsoft.com/office/drawing/2014/main" id="{DFD93CE8-D78F-0712-99AA-BC8ED1D8FFF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8612" name="Text Box 4" descr="Slide Number Placeholder 5">
            <a:extLst>
              <a:ext uri="{FF2B5EF4-FFF2-40B4-BE49-F238E27FC236}">
                <a16:creationId xmlns:a16="http://schemas.microsoft.com/office/drawing/2014/main" id="{03054E0B-4F44-3679-9E6F-F5EA7521F4DF}"/>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AF4AC5A-4BD3-44C3-BBD9-80DBB80A872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68613" name="Group 5">
            <a:extLst>
              <a:ext uri="{FF2B5EF4-FFF2-40B4-BE49-F238E27FC236}">
                <a16:creationId xmlns:a16="http://schemas.microsoft.com/office/drawing/2014/main" id="{71BA5C25-2FC0-A441-0F22-BB046F3D205F}"/>
              </a:ext>
            </a:extLst>
          </p:cNvPr>
          <p:cNvGraphicFramePr>
            <a:graphicFrameLocks noGrp="1"/>
          </p:cNvGraphicFramePr>
          <p:nvPr/>
        </p:nvGraphicFramePr>
        <p:xfrm>
          <a:off x="900113" y="2636838"/>
          <a:ext cx="7129462" cy="2165350"/>
        </p:xfrm>
        <a:graphic>
          <a:graphicData uri="http://schemas.openxmlformats.org/drawingml/2006/table">
            <a:tbl>
              <a:tblPr/>
              <a:tblGrid>
                <a:gridCol w="3230562">
                  <a:extLst>
                    <a:ext uri="{9D8B030D-6E8A-4147-A177-3AD203B41FA5}">
                      <a16:colId xmlns:a16="http://schemas.microsoft.com/office/drawing/2014/main" val="2619983041"/>
                    </a:ext>
                  </a:extLst>
                </a:gridCol>
                <a:gridCol w="3898900">
                  <a:extLst>
                    <a:ext uri="{9D8B030D-6E8A-4147-A177-3AD203B41FA5}">
                      <a16:colId xmlns:a16="http://schemas.microsoft.com/office/drawing/2014/main" val="319941460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58383183"/>
                  </a:ext>
                </a:extLst>
              </a:tr>
              <a:tr h="1781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	 TippuSeats=TippuSeats+4</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00CC"/>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87509747"/>
                  </a:ext>
                </a:extLst>
              </a:tr>
            </a:tbl>
          </a:graphicData>
        </a:graphic>
      </p:graphicFrame>
      <p:pic>
        <p:nvPicPr>
          <p:cNvPr id="68630" name="Picture 22" descr="Picture 2">
            <a:extLst>
              <a:ext uri="{FF2B5EF4-FFF2-40B4-BE49-F238E27FC236}">
                <a16:creationId xmlns:a16="http://schemas.microsoft.com/office/drawing/2014/main" id="{BF4516B2-BE31-FD93-56C4-BFDFF2588D2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93875" y="1052513"/>
            <a:ext cx="5062538" cy="1366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8631" name="Text Box 23" descr="TextBox 8">
            <a:extLst>
              <a:ext uri="{FF2B5EF4-FFF2-40B4-BE49-F238E27FC236}">
                <a16:creationId xmlns:a16="http://schemas.microsoft.com/office/drawing/2014/main" id="{59E8E823-9711-EE02-C4B1-A98C3E5B5C5A}"/>
              </a:ext>
            </a:extLst>
          </p:cNvPr>
          <p:cNvSpPr txBox="1">
            <a:spLocks/>
          </p:cNvSpPr>
          <p:nvPr/>
        </p:nvSpPr>
        <p:spPr bwMode="auto">
          <a:xfrm>
            <a:off x="512763" y="5011738"/>
            <a:ext cx="8077200"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First time when Transaction T1 reads, TippuSeats value</a:t>
            </a:r>
          </a:p>
          <a:p>
            <a:r>
              <a:rPr lang="en-US" altLang="en-US"/>
              <a:t>will be 80  but second time when the same Transaction T1</a:t>
            </a:r>
          </a:p>
          <a:p>
            <a:r>
              <a:rPr lang="en-US" altLang="en-US"/>
              <a:t>Reads,  TippuSeats value will be 84. T1 is seeing two different values</a:t>
            </a:r>
          </a:p>
          <a:p>
            <a:r>
              <a:rPr lang="en-US" altLang="en-US"/>
              <a:t>for same item TippuSeats</a:t>
            </a:r>
          </a:p>
        </p:txBody>
      </p:sp>
    </p:spTree>
  </p:cSld>
  <p:clrMapOvr>
    <a:masterClrMapping/>
  </p:clrMapOvr>
  <p:transition spd="med"/>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descr="Title 1">
            <a:extLst>
              <a:ext uri="{FF2B5EF4-FFF2-40B4-BE49-F238E27FC236}">
                <a16:creationId xmlns:a16="http://schemas.microsoft.com/office/drawing/2014/main" id="{9D8835B6-2B23-76B0-CA07-57E8E23FDA8F}"/>
              </a:ext>
            </a:extLst>
          </p:cNvPr>
          <p:cNvSpPr>
            <a:spLocks noChangeArrowheads="1"/>
          </p:cNvSpPr>
          <p:nvPr>
            <p:ph type="title"/>
          </p:nvPr>
        </p:nvSpPr>
        <p:spPr/>
        <p:txBody>
          <a:bodyPr/>
          <a:lstStyle/>
          <a:p>
            <a:r>
              <a:rPr lang="en-US" altLang="en-US"/>
              <a:t>Why Concurrency Control is needed ?</a:t>
            </a:r>
          </a:p>
        </p:txBody>
      </p:sp>
      <p:sp>
        <p:nvSpPr>
          <p:cNvPr id="69635" name="Rectangle 3" descr="Content Placeholder 2">
            <a:extLst>
              <a:ext uri="{FF2B5EF4-FFF2-40B4-BE49-F238E27FC236}">
                <a16:creationId xmlns:a16="http://schemas.microsoft.com/office/drawing/2014/main" id="{EBC856AF-472A-D23C-8BEE-CC34B7B69657}"/>
              </a:ext>
            </a:extLst>
          </p:cNvPr>
          <p:cNvSpPr>
            <a:spLocks noChangeArrowheads="1"/>
          </p:cNvSpPr>
          <p:nvPr>
            <p:ph type="body" idx="1"/>
          </p:nvPr>
        </p:nvSpPr>
        <p:spPr/>
        <p:txBody>
          <a:bodyPr/>
          <a:lstStyle/>
          <a:p>
            <a:pPr marL="514350" indent="-482600">
              <a:spcBef>
                <a:spcPts val="600"/>
              </a:spcBef>
              <a:buSzTx/>
              <a:buFont typeface="Wingdings" panose="05000000000000000000" pitchFamily="2" charset="2"/>
              <a:buNone/>
            </a:pPr>
            <a:r>
              <a:rPr lang="en-US" altLang="en-US" sz="2800"/>
              <a:t>To avoid following Problems</a:t>
            </a:r>
          </a:p>
          <a:p>
            <a:pPr marL="984250" lvl="1" indent="-514350">
              <a:spcBef>
                <a:spcPts val="500"/>
              </a:spcBef>
              <a:buFontTx/>
              <a:buAutoNum type="arabicPeriod"/>
            </a:pPr>
            <a:r>
              <a:rPr lang="en-US" altLang="en-US" sz="2400"/>
              <a:t>Lost Update Problem</a:t>
            </a:r>
            <a:endParaRPr lang="en-US" altLang="en-US" sz="2600"/>
          </a:p>
          <a:p>
            <a:pPr marL="984250" lvl="1" indent="-514350">
              <a:spcBef>
                <a:spcPts val="500"/>
              </a:spcBef>
              <a:buFontTx/>
              <a:buAutoNum type="arabicPeriod"/>
            </a:pPr>
            <a:r>
              <a:rPr lang="en-US" altLang="en-US" sz="2400"/>
              <a:t>Temporary Update (or Dirty Read) Problem </a:t>
            </a:r>
            <a:endParaRPr lang="en-US" altLang="en-US" sz="2600"/>
          </a:p>
          <a:p>
            <a:pPr marL="984250" lvl="1" indent="-514350">
              <a:spcBef>
                <a:spcPts val="500"/>
              </a:spcBef>
              <a:buFontTx/>
              <a:buAutoNum type="arabicPeriod"/>
            </a:pPr>
            <a:r>
              <a:rPr lang="en-US" altLang="en-US" sz="2400"/>
              <a:t>Incorrect Summary Problem</a:t>
            </a:r>
            <a:endParaRPr lang="en-US" altLang="en-US" sz="2600"/>
          </a:p>
          <a:p>
            <a:pPr marL="984250" lvl="1" indent="-514350">
              <a:spcBef>
                <a:spcPts val="500"/>
              </a:spcBef>
              <a:buFontTx/>
              <a:buAutoNum type="arabicPeriod"/>
            </a:pPr>
            <a:r>
              <a:rPr lang="en-US" altLang="en-US" sz="2400"/>
              <a:t>Unrepeatable Read</a:t>
            </a:r>
          </a:p>
        </p:txBody>
      </p:sp>
      <p:sp>
        <p:nvSpPr>
          <p:cNvPr id="69636" name="Text Box 4" descr="Date Placeholder 3">
            <a:extLst>
              <a:ext uri="{FF2B5EF4-FFF2-40B4-BE49-F238E27FC236}">
                <a16:creationId xmlns:a16="http://schemas.microsoft.com/office/drawing/2014/main" id="{CE7EFC94-A0B7-C6A0-7DC3-4EF318FFE97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69637" name="Text Box 5" descr="Slide Number Placeholder 5">
            <a:extLst>
              <a:ext uri="{FF2B5EF4-FFF2-40B4-BE49-F238E27FC236}">
                <a16:creationId xmlns:a16="http://schemas.microsoft.com/office/drawing/2014/main" id="{DDEA1BF0-38D5-AB3A-AEE7-72917B3EEFB4}"/>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D575D83-6EE5-4B25-A72F-39C089FFAD5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descr="Rectangle 2">
            <a:extLst>
              <a:ext uri="{FF2B5EF4-FFF2-40B4-BE49-F238E27FC236}">
                <a16:creationId xmlns:a16="http://schemas.microsoft.com/office/drawing/2014/main" id="{6870742A-6125-A330-F681-390AF57D708D}"/>
              </a:ext>
            </a:extLst>
          </p:cNvPr>
          <p:cNvSpPr>
            <a:spLocks noChangeArrowheads="1"/>
          </p:cNvSpPr>
          <p:nvPr>
            <p:ph type="title"/>
          </p:nvPr>
        </p:nvSpPr>
        <p:spPr/>
        <p:txBody>
          <a:bodyPr/>
          <a:lstStyle/>
          <a:p>
            <a:r>
              <a:rPr lang="en-US" altLang="en-US" sz="2800"/>
              <a:t>Next we  will Understand Schedules</a:t>
            </a:r>
          </a:p>
        </p:txBody>
      </p:sp>
      <p:sp>
        <p:nvSpPr>
          <p:cNvPr id="70659" name="Rectangle 3" descr="Rectangle 3">
            <a:extLst>
              <a:ext uri="{FF2B5EF4-FFF2-40B4-BE49-F238E27FC236}">
                <a16:creationId xmlns:a16="http://schemas.microsoft.com/office/drawing/2014/main" id="{357660FB-AAAE-79EA-8336-BA1B6520947E}"/>
              </a:ext>
            </a:extLst>
          </p:cNvPr>
          <p:cNvSpPr>
            <a:spLocks noChangeArrowheads="1"/>
          </p:cNvSpPr>
          <p:nvPr>
            <p:ph type="body" sz="half" idx="1"/>
          </p:nvPr>
        </p:nvSpPr>
        <p:spPr>
          <a:xfrm>
            <a:off x="457200" y="3200400"/>
            <a:ext cx="8382000" cy="1600200"/>
          </a:xfrm>
        </p:spPr>
        <p:txBody>
          <a:bodyPr/>
          <a:lstStyle/>
          <a:p>
            <a:pPr marL="0" indent="0" algn="ctr">
              <a:lnSpc>
                <a:spcPct val="80000"/>
              </a:lnSpc>
              <a:spcBef>
                <a:spcPts val="400"/>
              </a:spcBef>
              <a:buClrTx/>
              <a:buSzTx/>
              <a:buFontTx/>
              <a:buNone/>
            </a:pPr>
            <a:r>
              <a:rPr lang="en-US" altLang="en-US" sz="2000"/>
              <a:t>Schedule is  a sequence of operations of various transactions</a:t>
            </a:r>
          </a:p>
        </p:txBody>
      </p:sp>
      <p:sp>
        <p:nvSpPr>
          <p:cNvPr id="70660" name="Text Box 4" descr="Date Placeholder 1">
            <a:extLst>
              <a:ext uri="{FF2B5EF4-FFF2-40B4-BE49-F238E27FC236}">
                <a16:creationId xmlns:a16="http://schemas.microsoft.com/office/drawing/2014/main" id="{9CA1CB0D-D306-2CAB-2AA3-7A3E8F835477}"/>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0661" name="Text Box 5" descr="Slide Number Placeholder 2">
            <a:extLst>
              <a:ext uri="{FF2B5EF4-FFF2-40B4-BE49-F238E27FC236}">
                <a16:creationId xmlns:a16="http://schemas.microsoft.com/office/drawing/2014/main" id="{3B518649-6931-5FB1-33C4-7EC76B1DAD31}"/>
              </a:ext>
            </a:extLst>
          </p:cNvPr>
          <p:cNvSpPr txBox="1">
            <a:spLocks/>
          </p:cNvSpPr>
          <p:nvPr/>
        </p:nvSpPr>
        <p:spPr bwMode="auto">
          <a:xfrm>
            <a:off x="8183563" y="6248400"/>
            <a:ext cx="274637"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DB34757-387F-4B84-962E-C5BC3D9BA60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descr="Title 1">
            <a:extLst>
              <a:ext uri="{FF2B5EF4-FFF2-40B4-BE49-F238E27FC236}">
                <a16:creationId xmlns:a16="http://schemas.microsoft.com/office/drawing/2014/main" id="{94820802-CDB1-EAB6-378F-DA787B15FC84}"/>
              </a:ext>
            </a:extLst>
          </p:cNvPr>
          <p:cNvSpPr>
            <a:spLocks noChangeArrowheads="1"/>
          </p:cNvSpPr>
          <p:nvPr>
            <p:ph type="title"/>
          </p:nvPr>
        </p:nvSpPr>
        <p:spPr/>
        <p:txBody>
          <a:bodyPr/>
          <a:lstStyle/>
          <a:p>
            <a:r>
              <a:rPr lang="en-US" altLang="en-US"/>
              <a:t>Transaction Schedules </a:t>
            </a:r>
          </a:p>
        </p:txBody>
      </p:sp>
      <p:sp>
        <p:nvSpPr>
          <p:cNvPr id="71683" name="Rectangle 3" descr="Content Placeholder 2">
            <a:extLst>
              <a:ext uri="{FF2B5EF4-FFF2-40B4-BE49-F238E27FC236}">
                <a16:creationId xmlns:a16="http://schemas.microsoft.com/office/drawing/2014/main" id="{48FBD030-07A6-980E-2712-4E1DAC4872D5}"/>
              </a:ext>
            </a:extLst>
          </p:cNvPr>
          <p:cNvSpPr>
            <a:spLocks noChangeArrowheads="1"/>
          </p:cNvSpPr>
          <p:nvPr>
            <p:ph type="body" idx="1"/>
          </p:nvPr>
        </p:nvSpPr>
        <p:spPr/>
        <p:txBody>
          <a:bodyPr/>
          <a:lstStyle/>
          <a:p>
            <a:pPr marL="79375" indent="-79375" defTabSz="876300">
              <a:spcBef>
                <a:spcPts val="300"/>
              </a:spcBef>
              <a:buSzTx/>
              <a:buFont typeface="Wingdings" panose="05000000000000000000" pitchFamily="2" charset="2"/>
              <a:buNone/>
            </a:pPr>
            <a:r>
              <a:rPr lang="en-US" altLang="en-US" sz="1500"/>
              <a:t>Example to Understand Transaction Schedules</a:t>
            </a:r>
          </a:p>
          <a:p>
            <a:pPr marL="79375" indent="-79375" defTabSz="876300">
              <a:spcBef>
                <a:spcPts val="600"/>
              </a:spcBef>
              <a:buSzTx/>
              <a:buFont typeface="Wingdings" panose="05000000000000000000" pitchFamily="2" charset="2"/>
              <a:buNone/>
            </a:pPr>
            <a:endParaRPr lang="en-US" altLang="en-US" sz="1500"/>
          </a:p>
          <a:p>
            <a:pPr marL="79375" indent="-79375" defTabSz="876300">
              <a:spcBef>
                <a:spcPts val="600"/>
              </a:spcBef>
              <a:buSzTx/>
              <a:buFont typeface="Wingdings" panose="05000000000000000000" pitchFamily="2" charset="2"/>
              <a:buNone/>
            </a:pPr>
            <a:endParaRPr lang="en-US" altLang="en-US" sz="1500"/>
          </a:p>
          <a:p>
            <a:pPr marL="79375" indent="-79375" defTabSz="876300">
              <a:spcBef>
                <a:spcPts val="600"/>
              </a:spcBef>
              <a:buSzTx/>
              <a:buFont typeface="Wingdings" panose="05000000000000000000" pitchFamily="2" charset="2"/>
              <a:buNone/>
            </a:pPr>
            <a:endParaRPr lang="en-US" altLang="en-US" sz="1500"/>
          </a:p>
          <a:p>
            <a:pPr marL="79375" indent="-79375" defTabSz="876300">
              <a:spcBef>
                <a:spcPts val="600"/>
              </a:spcBef>
              <a:buSzTx/>
              <a:buFont typeface="Wingdings" panose="05000000000000000000" pitchFamily="2" charset="2"/>
              <a:buNone/>
            </a:pPr>
            <a:endParaRPr lang="en-US" altLang="en-US" sz="1500"/>
          </a:p>
          <a:p>
            <a:pPr marL="79375" indent="-79375" defTabSz="876300">
              <a:spcBef>
                <a:spcPts val="600"/>
              </a:spcBef>
              <a:buSzTx/>
              <a:buFont typeface="Wingdings" panose="05000000000000000000" pitchFamily="2" charset="2"/>
              <a:buNone/>
            </a:pPr>
            <a:endParaRPr lang="en-US" altLang="en-US" sz="1500"/>
          </a:p>
          <a:p>
            <a:pPr marL="79375" indent="-79375" defTabSz="876300">
              <a:spcBef>
                <a:spcPts val="600"/>
              </a:spcBef>
              <a:buSzTx/>
              <a:buFont typeface="Wingdings" panose="05000000000000000000" pitchFamily="2" charset="2"/>
              <a:buNone/>
            </a:pPr>
            <a:endParaRPr lang="en-US" altLang="en-US" sz="1500"/>
          </a:p>
          <a:p>
            <a:pPr marL="79375" indent="-79375" defTabSz="876300">
              <a:spcBef>
                <a:spcPts val="300"/>
              </a:spcBef>
              <a:buSzTx/>
              <a:buFont typeface="Wingdings" panose="05000000000000000000" pitchFamily="2" charset="2"/>
              <a:buNone/>
            </a:pPr>
            <a:r>
              <a:rPr lang="en-US" altLang="en-US" sz="1500"/>
              <a:t>Consider TWO transactions </a:t>
            </a:r>
            <a:r>
              <a:rPr lang="en-US" altLang="en-US" sz="1500" b="1">
                <a:solidFill>
                  <a:srgbClr val="0000FF"/>
                </a:solidFill>
              </a:rPr>
              <a:t>T1</a:t>
            </a:r>
            <a:r>
              <a:rPr lang="en-US" altLang="en-US" sz="1500"/>
              <a:t> and </a:t>
            </a:r>
            <a:r>
              <a:rPr lang="en-US" altLang="en-US" sz="1500" b="1">
                <a:solidFill>
                  <a:srgbClr val="FF00FF"/>
                </a:solidFill>
              </a:rPr>
              <a:t>T2</a:t>
            </a:r>
          </a:p>
          <a:p>
            <a:pPr marL="79375" indent="-79375" defTabSz="876300">
              <a:spcBef>
                <a:spcPts val="300"/>
              </a:spcBef>
            </a:pPr>
            <a:r>
              <a:rPr lang="en-US" altLang="en-US" sz="1500" b="1">
                <a:solidFill>
                  <a:srgbClr val="0000FF"/>
                </a:solidFill>
              </a:rPr>
              <a:t>T1: </a:t>
            </a:r>
            <a:r>
              <a:rPr lang="en-US" altLang="en-US" sz="1500"/>
              <a:t>Cancel  FIVE seats on Tippu express</a:t>
            </a:r>
          </a:p>
          <a:p>
            <a:pPr marL="79375" indent="-79375" defTabSz="876300">
              <a:spcBef>
                <a:spcPts val="300"/>
              </a:spcBef>
              <a:buSzTx/>
              <a:buFont typeface="Wingdings" panose="05000000000000000000" pitchFamily="2" charset="2"/>
              <a:buNone/>
            </a:pPr>
            <a:r>
              <a:rPr lang="en-US" altLang="en-US" sz="1500">
                <a:solidFill>
                  <a:srgbClr val="0000FF"/>
                </a:solidFill>
              </a:rPr>
              <a:t>Read(TippuSeats)</a:t>
            </a:r>
          </a:p>
          <a:p>
            <a:pPr marL="79375" indent="-79375" defTabSz="876300">
              <a:spcBef>
                <a:spcPts val="300"/>
              </a:spcBef>
              <a:buSzTx/>
              <a:buFont typeface="Wingdings" panose="05000000000000000000" pitchFamily="2" charset="2"/>
              <a:buNone/>
            </a:pPr>
            <a:r>
              <a:rPr lang="en-US" altLang="en-US" sz="1500">
                <a:solidFill>
                  <a:srgbClr val="0000FF"/>
                </a:solidFill>
              </a:rPr>
              <a:t>TippuSeats=TippuSeats-5</a:t>
            </a:r>
          </a:p>
          <a:p>
            <a:pPr marL="79375" indent="-79375" defTabSz="876300">
              <a:spcBef>
                <a:spcPts val="300"/>
              </a:spcBef>
              <a:buSzTx/>
              <a:buFont typeface="Wingdings" panose="05000000000000000000" pitchFamily="2" charset="2"/>
              <a:buNone/>
            </a:pPr>
            <a:r>
              <a:rPr lang="en-US" altLang="en-US" sz="1500">
                <a:solidFill>
                  <a:srgbClr val="0000FF"/>
                </a:solidFill>
              </a:rPr>
              <a:t>Write(TippuSeats)</a:t>
            </a:r>
          </a:p>
          <a:p>
            <a:pPr marL="79375" indent="-79375" defTabSz="876300">
              <a:spcBef>
                <a:spcPts val="600"/>
              </a:spcBef>
            </a:pPr>
            <a:endParaRPr lang="en-US" altLang="en-US" sz="1500"/>
          </a:p>
          <a:p>
            <a:pPr marL="79375" indent="-79375" defTabSz="876300">
              <a:spcBef>
                <a:spcPts val="300"/>
              </a:spcBef>
            </a:pPr>
            <a:r>
              <a:rPr lang="en-US" altLang="en-US" sz="1500" b="1">
                <a:solidFill>
                  <a:srgbClr val="FF00FF"/>
                </a:solidFill>
              </a:rPr>
              <a:t>T2: </a:t>
            </a:r>
            <a:r>
              <a:rPr lang="en-US" altLang="en-US" sz="1500"/>
              <a:t>Reserve  FOUR seats on Chamundi express</a:t>
            </a:r>
          </a:p>
          <a:p>
            <a:pPr marL="79375" indent="-79375" defTabSz="876300">
              <a:spcBef>
                <a:spcPts val="300"/>
              </a:spcBef>
              <a:buSzTx/>
              <a:buFont typeface="Wingdings" panose="05000000000000000000" pitchFamily="2" charset="2"/>
              <a:buNone/>
            </a:pPr>
            <a:r>
              <a:rPr lang="en-US" altLang="en-US" sz="1500">
                <a:solidFill>
                  <a:srgbClr val="CC00CC"/>
                </a:solidFill>
              </a:rPr>
              <a:t>Read(ChamundiSeats)	 </a:t>
            </a:r>
          </a:p>
          <a:p>
            <a:pPr marL="79375" indent="-79375" defTabSz="876300">
              <a:spcBef>
                <a:spcPts val="300"/>
              </a:spcBef>
              <a:buSzTx/>
              <a:buFont typeface="Wingdings" panose="05000000000000000000" pitchFamily="2" charset="2"/>
              <a:buNone/>
            </a:pPr>
            <a:r>
              <a:rPr lang="en-US" altLang="en-US" sz="1500">
                <a:solidFill>
                  <a:srgbClr val="CC00CC"/>
                </a:solidFill>
              </a:rPr>
              <a:t>ChamundiSeats=ChamundiSeats+4</a:t>
            </a:r>
          </a:p>
          <a:p>
            <a:pPr marL="79375" indent="-79375" defTabSz="876300">
              <a:spcBef>
                <a:spcPct val="0"/>
              </a:spcBef>
              <a:buSzTx/>
              <a:buFont typeface="Wingdings" panose="05000000000000000000" pitchFamily="2" charset="2"/>
              <a:buNone/>
            </a:pPr>
            <a:r>
              <a:rPr lang="en-US" altLang="en-US" sz="1500">
                <a:solidFill>
                  <a:srgbClr val="CC00CC"/>
                </a:solidFill>
              </a:rPr>
              <a:t>Write(ChamundiSeats)</a:t>
            </a:r>
          </a:p>
        </p:txBody>
      </p:sp>
      <p:sp>
        <p:nvSpPr>
          <p:cNvPr id="71684" name="Text Box 4" descr="Date Placeholder 3">
            <a:extLst>
              <a:ext uri="{FF2B5EF4-FFF2-40B4-BE49-F238E27FC236}">
                <a16:creationId xmlns:a16="http://schemas.microsoft.com/office/drawing/2014/main" id="{9A018373-C4B9-8D76-3875-2FC7FF40A79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1685" name="Text Box 5" descr="Slide Number Placeholder 5">
            <a:extLst>
              <a:ext uri="{FF2B5EF4-FFF2-40B4-BE49-F238E27FC236}">
                <a16:creationId xmlns:a16="http://schemas.microsoft.com/office/drawing/2014/main" id="{19DE62D8-2EE3-448F-A862-C66FB3CB1F8C}"/>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4E6F7CD-C867-4A5C-9137-CAF0301DF0B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71686" name="Picture 6" descr="Picture 2">
            <a:extLst>
              <a:ext uri="{FF2B5EF4-FFF2-40B4-BE49-F238E27FC236}">
                <a16:creationId xmlns:a16="http://schemas.microsoft.com/office/drawing/2014/main" id="{C81438BA-D3E5-961C-AACB-CB8CF8D4738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14425" y="1628775"/>
            <a:ext cx="5102225" cy="1377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descr="Title 1">
            <a:extLst>
              <a:ext uri="{FF2B5EF4-FFF2-40B4-BE49-F238E27FC236}">
                <a16:creationId xmlns:a16="http://schemas.microsoft.com/office/drawing/2014/main" id="{521B0DF7-7C16-E4A8-E4B2-758727B56027}"/>
              </a:ext>
            </a:extLst>
          </p:cNvPr>
          <p:cNvSpPr>
            <a:spLocks noChangeArrowheads="1"/>
          </p:cNvSpPr>
          <p:nvPr>
            <p:ph type="title"/>
          </p:nvPr>
        </p:nvSpPr>
        <p:spPr/>
        <p:txBody>
          <a:bodyPr/>
          <a:lstStyle/>
          <a:p>
            <a:r>
              <a:rPr lang="en-US" altLang="en-US"/>
              <a:t>Transaction Schedules</a:t>
            </a:r>
          </a:p>
        </p:txBody>
      </p:sp>
      <p:sp>
        <p:nvSpPr>
          <p:cNvPr id="72707" name="Text Box 3" descr="Date Placeholder 3">
            <a:extLst>
              <a:ext uri="{FF2B5EF4-FFF2-40B4-BE49-F238E27FC236}">
                <a16:creationId xmlns:a16="http://schemas.microsoft.com/office/drawing/2014/main" id="{10DB00EA-0F22-6703-E586-99A60BE83D4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2708" name="Text Box 4" descr="Slide Number Placeholder 5">
            <a:extLst>
              <a:ext uri="{FF2B5EF4-FFF2-40B4-BE49-F238E27FC236}">
                <a16:creationId xmlns:a16="http://schemas.microsoft.com/office/drawing/2014/main" id="{9E79BDA0-7837-D926-06B7-757DC61B62AE}"/>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6197BC6-91CF-46BD-80C0-3ACCE90EA1C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72709" name="Text Box 5" descr="TextBox 7">
            <a:extLst>
              <a:ext uri="{FF2B5EF4-FFF2-40B4-BE49-F238E27FC236}">
                <a16:creationId xmlns:a16="http://schemas.microsoft.com/office/drawing/2014/main" id="{7C4F47FC-1E02-DB95-3918-0E7070614B08}"/>
              </a:ext>
            </a:extLst>
          </p:cNvPr>
          <p:cNvSpPr txBox="1">
            <a:spLocks/>
          </p:cNvSpPr>
          <p:nvPr/>
        </p:nvSpPr>
        <p:spPr bwMode="auto">
          <a:xfrm>
            <a:off x="179388" y="1628775"/>
            <a:ext cx="4116387" cy="15478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T1:Read(TippuSeats)</a:t>
            </a:r>
          </a:p>
          <a:p>
            <a:r>
              <a:rPr lang="en-US" altLang="en-US" sz="1600">
                <a:solidFill>
                  <a:srgbClr val="0000FF"/>
                </a:solidFill>
              </a:rPr>
              <a:t>T1:TippuSeats=TippuSeats-5 </a:t>
            </a:r>
          </a:p>
          <a:p>
            <a:r>
              <a:rPr lang="en-US" altLang="en-US" sz="1600">
                <a:solidFill>
                  <a:srgbClr val="0000FF"/>
                </a:solidFill>
              </a:rPr>
              <a:t>T1:Write(TippuSeats) </a:t>
            </a:r>
          </a:p>
          <a:p>
            <a:r>
              <a:rPr lang="en-US" altLang="en-US" sz="1600">
                <a:solidFill>
                  <a:srgbClr val="CC00CC"/>
                </a:solidFill>
              </a:rPr>
              <a:t>T2:Read(ChamundiSeats)	 </a:t>
            </a:r>
          </a:p>
          <a:p>
            <a:r>
              <a:rPr lang="en-US" altLang="en-US" sz="1600">
                <a:solidFill>
                  <a:srgbClr val="CC00CC"/>
                </a:solidFill>
              </a:rPr>
              <a:t>T2:ChamundiSeats=ChamundiSeats+4</a:t>
            </a:r>
          </a:p>
          <a:p>
            <a:r>
              <a:rPr lang="en-US" altLang="en-US" sz="1600">
                <a:solidFill>
                  <a:srgbClr val="CC00CC"/>
                </a:solidFill>
              </a:rPr>
              <a:t>T2:Write(ChamundiSeats)</a:t>
            </a:r>
          </a:p>
        </p:txBody>
      </p:sp>
      <p:sp>
        <p:nvSpPr>
          <p:cNvPr id="72710" name="Text Box 6" descr="TextBox 8">
            <a:extLst>
              <a:ext uri="{FF2B5EF4-FFF2-40B4-BE49-F238E27FC236}">
                <a16:creationId xmlns:a16="http://schemas.microsoft.com/office/drawing/2014/main" id="{FEDDC026-6CEA-77B7-D805-8DD191541789}"/>
              </a:ext>
            </a:extLst>
          </p:cNvPr>
          <p:cNvSpPr txBox="1">
            <a:spLocks/>
          </p:cNvSpPr>
          <p:nvPr/>
        </p:nvSpPr>
        <p:spPr bwMode="auto">
          <a:xfrm>
            <a:off x="512763" y="1290638"/>
            <a:ext cx="2439987"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Schedule 1</a:t>
            </a:r>
            <a:r>
              <a:rPr lang="en-US" altLang="en-US"/>
              <a:t>: </a:t>
            </a:r>
            <a:r>
              <a:rPr lang="en-US" altLang="en-US">
                <a:solidFill>
                  <a:srgbClr val="0000FF"/>
                </a:solidFill>
              </a:rPr>
              <a:t>T1</a:t>
            </a:r>
            <a:r>
              <a:rPr lang="en-US" altLang="en-US"/>
              <a:t>, </a:t>
            </a:r>
            <a:r>
              <a:rPr lang="en-US" altLang="en-US">
                <a:solidFill>
                  <a:srgbClr val="FF00FF"/>
                </a:solidFill>
              </a:rPr>
              <a:t>T2</a:t>
            </a:r>
            <a:endParaRPr lang="en-US" altLang="en-US" b="1"/>
          </a:p>
        </p:txBody>
      </p:sp>
      <p:sp>
        <p:nvSpPr>
          <p:cNvPr id="72711" name="AutoShape 7" descr="Down Arrow 11">
            <a:extLst>
              <a:ext uri="{FF2B5EF4-FFF2-40B4-BE49-F238E27FC236}">
                <a16:creationId xmlns:a16="http://schemas.microsoft.com/office/drawing/2014/main" id="{88BFCFF8-DD05-8997-BD54-BBFB1E8398E3}"/>
              </a:ext>
            </a:extLst>
          </p:cNvPr>
          <p:cNvSpPr>
            <a:spLocks/>
          </p:cNvSpPr>
          <p:nvPr/>
        </p:nvSpPr>
        <p:spPr bwMode="auto">
          <a:xfrm>
            <a:off x="1403350" y="3284538"/>
            <a:ext cx="431800" cy="7191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5120"/>
                </a:moveTo>
                <a:lnTo>
                  <a:pt x="5400" y="15120"/>
                </a:lnTo>
                <a:lnTo>
                  <a:pt x="5400" y="0"/>
                </a:lnTo>
                <a:lnTo>
                  <a:pt x="16200" y="0"/>
                </a:lnTo>
                <a:lnTo>
                  <a:pt x="16200" y="15120"/>
                </a:lnTo>
                <a:lnTo>
                  <a:pt x="21600" y="1512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72712" name="Text Box 8" descr="TextBox 12">
            <a:extLst>
              <a:ext uri="{FF2B5EF4-FFF2-40B4-BE49-F238E27FC236}">
                <a16:creationId xmlns:a16="http://schemas.microsoft.com/office/drawing/2014/main" id="{ECC568B8-80BA-A167-F8A1-58B046F6F28E}"/>
              </a:ext>
            </a:extLst>
          </p:cNvPr>
          <p:cNvSpPr txBox="1">
            <a:spLocks/>
          </p:cNvSpPr>
          <p:nvPr/>
        </p:nvSpPr>
        <p:spPr bwMode="auto">
          <a:xfrm>
            <a:off x="1881188" y="3475038"/>
            <a:ext cx="2103437"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Shorthand Notation</a:t>
            </a:r>
          </a:p>
        </p:txBody>
      </p:sp>
      <p:sp>
        <p:nvSpPr>
          <p:cNvPr id="72713" name="Text Box 9" descr="TextBox 13">
            <a:extLst>
              <a:ext uri="{FF2B5EF4-FFF2-40B4-BE49-F238E27FC236}">
                <a16:creationId xmlns:a16="http://schemas.microsoft.com/office/drawing/2014/main" id="{EAB069A2-A140-9EA3-ABB8-6CF6CEECB472}"/>
              </a:ext>
            </a:extLst>
          </p:cNvPr>
          <p:cNvSpPr txBox="1">
            <a:spLocks/>
          </p:cNvSpPr>
          <p:nvPr/>
        </p:nvSpPr>
        <p:spPr bwMode="auto">
          <a:xfrm>
            <a:off x="682625" y="4341813"/>
            <a:ext cx="2071688" cy="4064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solidFill>
                  <a:srgbClr val="0000FF"/>
                </a:solidFill>
              </a:rPr>
              <a:t>R1, W1, </a:t>
            </a:r>
            <a:r>
              <a:rPr lang="en-US" altLang="en-US" sz="2000">
                <a:solidFill>
                  <a:srgbClr val="FF00FF"/>
                </a:solidFill>
              </a:rPr>
              <a:t>R2,W2</a:t>
            </a:r>
            <a:endParaRPr lang="en-US" altLang="en-US" sz="2000">
              <a:solidFill>
                <a:srgbClr val="0000FF"/>
              </a:solidFill>
            </a:endParaRPr>
          </a:p>
        </p:txBody>
      </p:sp>
      <p:sp>
        <p:nvSpPr>
          <p:cNvPr id="72714" name="Text Box 10" descr="TextBox 14">
            <a:extLst>
              <a:ext uri="{FF2B5EF4-FFF2-40B4-BE49-F238E27FC236}">
                <a16:creationId xmlns:a16="http://schemas.microsoft.com/office/drawing/2014/main" id="{C51616FF-C0D8-78CB-7DAD-D2B46EFF5118}"/>
              </a:ext>
            </a:extLst>
          </p:cNvPr>
          <p:cNvSpPr txBox="1">
            <a:spLocks/>
          </p:cNvSpPr>
          <p:nvPr/>
        </p:nvSpPr>
        <p:spPr bwMode="auto">
          <a:xfrm>
            <a:off x="546100" y="4003675"/>
            <a:ext cx="243998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Schedule 1</a:t>
            </a:r>
            <a:r>
              <a:rPr lang="en-US" altLang="en-US"/>
              <a:t>: </a:t>
            </a:r>
            <a:r>
              <a:rPr lang="en-US" altLang="en-US">
                <a:solidFill>
                  <a:srgbClr val="0000FF"/>
                </a:solidFill>
              </a:rPr>
              <a:t>T1</a:t>
            </a:r>
            <a:r>
              <a:rPr lang="en-US" altLang="en-US"/>
              <a:t>, </a:t>
            </a:r>
            <a:r>
              <a:rPr lang="en-US" altLang="en-US">
                <a:solidFill>
                  <a:srgbClr val="FF00FF"/>
                </a:solidFill>
              </a:rPr>
              <a:t>T2</a:t>
            </a:r>
            <a:endParaRPr lang="en-US" altLang="en-US" b="1"/>
          </a:p>
        </p:txBody>
      </p:sp>
    </p:spTree>
  </p:cSld>
  <p:clrMapOvr>
    <a:masterClrMapping/>
  </p:clrMapOvr>
  <p:transition spd="med"/>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descr="Title 1">
            <a:extLst>
              <a:ext uri="{FF2B5EF4-FFF2-40B4-BE49-F238E27FC236}">
                <a16:creationId xmlns:a16="http://schemas.microsoft.com/office/drawing/2014/main" id="{B10475DA-CB52-0C97-F020-995824874A17}"/>
              </a:ext>
            </a:extLst>
          </p:cNvPr>
          <p:cNvSpPr>
            <a:spLocks noChangeArrowheads="1"/>
          </p:cNvSpPr>
          <p:nvPr>
            <p:ph type="title"/>
          </p:nvPr>
        </p:nvSpPr>
        <p:spPr/>
        <p:txBody>
          <a:bodyPr/>
          <a:lstStyle/>
          <a:p>
            <a:r>
              <a:rPr lang="en-US" altLang="en-US"/>
              <a:t>Transaction Schedules</a:t>
            </a:r>
          </a:p>
        </p:txBody>
      </p:sp>
      <p:sp>
        <p:nvSpPr>
          <p:cNvPr id="73731" name="Text Box 3" descr="Date Placeholder 3">
            <a:extLst>
              <a:ext uri="{FF2B5EF4-FFF2-40B4-BE49-F238E27FC236}">
                <a16:creationId xmlns:a16="http://schemas.microsoft.com/office/drawing/2014/main" id="{704A95E1-9AC1-1E97-AC5E-73BFBC31038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3732" name="Text Box 4" descr="Slide Number Placeholder 5">
            <a:extLst>
              <a:ext uri="{FF2B5EF4-FFF2-40B4-BE49-F238E27FC236}">
                <a16:creationId xmlns:a16="http://schemas.microsoft.com/office/drawing/2014/main" id="{D4181A2A-172E-881C-6510-C1B2BFD6334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68DB88D-321A-4C08-880E-76F2D4E9A51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69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73733" name="Text Box 5" descr="TextBox 7">
            <a:extLst>
              <a:ext uri="{FF2B5EF4-FFF2-40B4-BE49-F238E27FC236}">
                <a16:creationId xmlns:a16="http://schemas.microsoft.com/office/drawing/2014/main" id="{A6D394DC-7339-C657-80BE-0D6489E2E090}"/>
              </a:ext>
            </a:extLst>
          </p:cNvPr>
          <p:cNvSpPr txBox="1">
            <a:spLocks/>
          </p:cNvSpPr>
          <p:nvPr/>
        </p:nvSpPr>
        <p:spPr bwMode="auto">
          <a:xfrm>
            <a:off x="179388" y="1628775"/>
            <a:ext cx="4116387" cy="15478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T1:Read(TippuSeats)</a:t>
            </a:r>
          </a:p>
          <a:p>
            <a:r>
              <a:rPr lang="en-US" altLang="en-US" sz="1600">
                <a:solidFill>
                  <a:srgbClr val="0000FF"/>
                </a:solidFill>
              </a:rPr>
              <a:t>T1:TippuSeats=TippuSeats-5 </a:t>
            </a:r>
          </a:p>
          <a:p>
            <a:r>
              <a:rPr lang="en-US" altLang="en-US" sz="1600">
                <a:solidFill>
                  <a:srgbClr val="0000FF"/>
                </a:solidFill>
              </a:rPr>
              <a:t>T1:Write(TippuSeats) </a:t>
            </a:r>
          </a:p>
          <a:p>
            <a:r>
              <a:rPr lang="en-US" altLang="en-US" sz="1600">
                <a:solidFill>
                  <a:srgbClr val="CC00CC"/>
                </a:solidFill>
              </a:rPr>
              <a:t>T2:Read(ChamundiSeats)	 </a:t>
            </a:r>
          </a:p>
          <a:p>
            <a:r>
              <a:rPr lang="en-US" altLang="en-US" sz="1600">
                <a:solidFill>
                  <a:srgbClr val="CC00CC"/>
                </a:solidFill>
              </a:rPr>
              <a:t>T2:ChamundiSeats=ChamundiSeats+4</a:t>
            </a:r>
          </a:p>
          <a:p>
            <a:r>
              <a:rPr lang="en-US" altLang="en-US" sz="1600">
                <a:solidFill>
                  <a:srgbClr val="CC00CC"/>
                </a:solidFill>
              </a:rPr>
              <a:t>T2:Write(ChamundiSeats)</a:t>
            </a:r>
          </a:p>
        </p:txBody>
      </p:sp>
      <p:sp>
        <p:nvSpPr>
          <p:cNvPr id="73734" name="Text Box 6" descr="TextBox 8">
            <a:extLst>
              <a:ext uri="{FF2B5EF4-FFF2-40B4-BE49-F238E27FC236}">
                <a16:creationId xmlns:a16="http://schemas.microsoft.com/office/drawing/2014/main" id="{B45B0D1E-FB10-3180-C933-BE3D9529F309}"/>
              </a:ext>
            </a:extLst>
          </p:cNvPr>
          <p:cNvSpPr txBox="1">
            <a:spLocks/>
          </p:cNvSpPr>
          <p:nvPr/>
        </p:nvSpPr>
        <p:spPr bwMode="auto">
          <a:xfrm>
            <a:off x="512763" y="1290638"/>
            <a:ext cx="2439987"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Schedule 1</a:t>
            </a:r>
            <a:r>
              <a:rPr lang="en-US" altLang="en-US"/>
              <a:t>: </a:t>
            </a:r>
            <a:r>
              <a:rPr lang="en-US" altLang="en-US">
                <a:solidFill>
                  <a:srgbClr val="0000FF"/>
                </a:solidFill>
              </a:rPr>
              <a:t>T1</a:t>
            </a:r>
            <a:r>
              <a:rPr lang="en-US" altLang="en-US"/>
              <a:t>, </a:t>
            </a:r>
            <a:r>
              <a:rPr lang="en-US" altLang="en-US">
                <a:solidFill>
                  <a:srgbClr val="FF00FF"/>
                </a:solidFill>
              </a:rPr>
              <a:t>T2</a:t>
            </a:r>
            <a:endParaRPr lang="en-US" altLang="en-US" b="1"/>
          </a:p>
        </p:txBody>
      </p:sp>
      <p:sp>
        <p:nvSpPr>
          <p:cNvPr id="73735" name="Text Box 7" descr="TextBox 9">
            <a:extLst>
              <a:ext uri="{FF2B5EF4-FFF2-40B4-BE49-F238E27FC236}">
                <a16:creationId xmlns:a16="http://schemas.microsoft.com/office/drawing/2014/main" id="{211E8837-C74B-DEBD-0A4A-F0462B11963D}"/>
              </a:ext>
            </a:extLst>
          </p:cNvPr>
          <p:cNvSpPr txBox="1">
            <a:spLocks/>
          </p:cNvSpPr>
          <p:nvPr/>
        </p:nvSpPr>
        <p:spPr bwMode="auto">
          <a:xfrm>
            <a:off x="4733925" y="1612900"/>
            <a:ext cx="4117975" cy="15494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C00CC"/>
                </a:solidFill>
              </a:rPr>
              <a:t>T2:Read(ChamundiSeats)	 </a:t>
            </a:r>
          </a:p>
          <a:p>
            <a:r>
              <a:rPr lang="en-US" altLang="en-US" sz="1600">
                <a:solidFill>
                  <a:srgbClr val="CC00CC"/>
                </a:solidFill>
              </a:rPr>
              <a:t>T2:ChamundiSeats=ChamundiSeats+4</a:t>
            </a:r>
          </a:p>
          <a:p>
            <a:r>
              <a:rPr lang="en-US" altLang="en-US" sz="1600">
                <a:solidFill>
                  <a:srgbClr val="CC00CC"/>
                </a:solidFill>
              </a:rPr>
              <a:t>T2:Write(ChamundiSeats)</a:t>
            </a:r>
            <a:endParaRPr lang="en-US" altLang="en-US" sz="1600">
              <a:solidFill>
                <a:srgbClr val="0000FF"/>
              </a:solidFill>
            </a:endParaRPr>
          </a:p>
          <a:p>
            <a:r>
              <a:rPr lang="en-US" altLang="en-US" sz="1600">
                <a:solidFill>
                  <a:srgbClr val="0000FF"/>
                </a:solidFill>
              </a:rPr>
              <a:t>T1:Read(TippuSeats)</a:t>
            </a:r>
          </a:p>
          <a:p>
            <a:r>
              <a:rPr lang="en-US" altLang="en-US" sz="1600">
                <a:solidFill>
                  <a:srgbClr val="0000FF"/>
                </a:solidFill>
              </a:rPr>
              <a:t>T1:TippuSeats=TippuSeats-5 </a:t>
            </a:r>
          </a:p>
          <a:p>
            <a:r>
              <a:rPr lang="en-US" altLang="en-US" sz="1600">
                <a:solidFill>
                  <a:srgbClr val="0000FF"/>
                </a:solidFill>
              </a:rPr>
              <a:t>T1:Write(TippuSeats) </a:t>
            </a:r>
          </a:p>
        </p:txBody>
      </p:sp>
      <p:sp>
        <p:nvSpPr>
          <p:cNvPr id="73736" name="Text Box 8" descr="TextBox 10">
            <a:extLst>
              <a:ext uri="{FF2B5EF4-FFF2-40B4-BE49-F238E27FC236}">
                <a16:creationId xmlns:a16="http://schemas.microsoft.com/office/drawing/2014/main" id="{DD5DE7D2-4F49-13A3-C033-66FACD0F0B73}"/>
              </a:ext>
            </a:extLst>
          </p:cNvPr>
          <p:cNvSpPr txBox="1">
            <a:spLocks/>
          </p:cNvSpPr>
          <p:nvPr/>
        </p:nvSpPr>
        <p:spPr bwMode="auto">
          <a:xfrm>
            <a:off x="5192713" y="1268413"/>
            <a:ext cx="2441575"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Schedule 2</a:t>
            </a:r>
            <a:r>
              <a:rPr lang="en-US" altLang="en-US"/>
              <a:t>: </a:t>
            </a:r>
            <a:r>
              <a:rPr lang="en-US" altLang="en-US">
                <a:solidFill>
                  <a:srgbClr val="FF00FF"/>
                </a:solidFill>
              </a:rPr>
              <a:t>T2, </a:t>
            </a:r>
            <a:r>
              <a:rPr lang="en-US" altLang="en-US">
                <a:solidFill>
                  <a:srgbClr val="0000FF"/>
                </a:solidFill>
              </a:rPr>
              <a:t>T1</a:t>
            </a:r>
            <a:endParaRPr lang="en-US" altLang="en-US" b="1"/>
          </a:p>
        </p:txBody>
      </p:sp>
      <p:sp>
        <p:nvSpPr>
          <p:cNvPr id="73737" name="AutoShape 9" descr="Down Arrow 11">
            <a:extLst>
              <a:ext uri="{FF2B5EF4-FFF2-40B4-BE49-F238E27FC236}">
                <a16:creationId xmlns:a16="http://schemas.microsoft.com/office/drawing/2014/main" id="{A72DDB99-389C-FEFE-AA07-69656A65EE14}"/>
              </a:ext>
            </a:extLst>
          </p:cNvPr>
          <p:cNvSpPr>
            <a:spLocks/>
          </p:cNvSpPr>
          <p:nvPr/>
        </p:nvSpPr>
        <p:spPr bwMode="auto">
          <a:xfrm>
            <a:off x="1403350" y="3284538"/>
            <a:ext cx="431800" cy="7191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5120"/>
                </a:moveTo>
                <a:lnTo>
                  <a:pt x="5400" y="15120"/>
                </a:lnTo>
                <a:lnTo>
                  <a:pt x="5400" y="0"/>
                </a:lnTo>
                <a:lnTo>
                  <a:pt x="16200" y="0"/>
                </a:lnTo>
                <a:lnTo>
                  <a:pt x="16200" y="15120"/>
                </a:lnTo>
                <a:lnTo>
                  <a:pt x="21600" y="1512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73738" name="Text Box 10" descr="TextBox 12">
            <a:extLst>
              <a:ext uri="{FF2B5EF4-FFF2-40B4-BE49-F238E27FC236}">
                <a16:creationId xmlns:a16="http://schemas.microsoft.com/office/drawing/2014/main" id="{C31BCFDD-D51C-F578-2332-8D8733F4A75B}"/>
              </a:ext>
            </a:extLst>
          </p:cNvPr>
          <p:cNvSpPr txBox="1">
            <a:spLocks/>
          </p:cNvSpPr>
          <p:nvPr/>
        </p:nvSpPr>
        <p:spPr bwMode="auto">
          <a:xfrm>
            <a:off x="1881188" y="3475038"/>
            <a:ext cx="2103437"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Shorthand Notation</a:t>
            </a:r>
          </a:p>
        </p:txBody>
      </p:sp>
      <p:sp>
        <p:nvSpPr>
          <p:cNvPr id="73739" name="Text Box 11" descr="TextBox 13">
            <a:extLst>
              <a:ext uri="{FF2B5EF4-FFF2-40B4-BE49-F238E27FC236}">
                <a16:creationId xmlns:a16="http://schemas.microsoft.com/office/drawing/2014/main" id="{A5B15C4F-29D5-61AD-776A-B07962525E6E}"/>
              </a:ext>
            </a:extLst>
          </p:cNvPr>
          <p:cNvSpPr txBox="1">
            <a:spLocks/>
          </p:cNvSpPr>
          <p:nvPr/>
        </p:nvSpPr>
        <p:spPr bwMode="auto">
          <a:xfrm>
            <a:off x="682625" y="4341813"/>
            <a:ext cx="2071688" cy="4064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solidFill>
                  <a:srgbClr val="0000FF"/>
                </a:solidFill>
              </a:rPr>
              <a:t>R1, W1, </a:t>
            </a:r>
            <a:r>
              <a:rPr lang="en-US" altLang="en-US" sz="2000">
                <a:solidFill>
                  <a:srgbClr val="FF00FF"/>
                </a:solidFill>
              </a:rPr>
              <a:t>R2,W2</a:t>
            </a:r>
            <a:endParaRPr lang="en-US" altLang="en-US" sz="2000">
              <a:solidFill>
                <a:srgbClr val="0000FF"/>
              </a:solidFill>
            </a:endParaRPr>
          </a:p>
        </p:txBody>
      </p:sp>
      <p:sp>
        <p:nvSpPr>
          <p:cNvPr id="73740" name="Text Box 12" descr="TextBox 14">
            <a:extLst>
              <a:ext uri="{FF2B5EF4-FFF2-40B4-BE49-F238E27FC236}">
                <a16:creationId xmlns:a16="http://schemas.microsoft.com/office/drawing/2014/main" id="{C4039A4F-1A3E-555C-FF26-FA1ADACEF841}"/>
              </a:ext>
            </a:extLst>
          </p:cNvPr>
          <p:cNvSpPr txBox="1">
            <a:spLocks/>
          </p:cNvSpPr>
          <p:nvPr/>
        </p:nvSpPr>
        <p:spPr bwMode="auto">
          <a:xfrm>
            <a:off x="546100" y="4003675"/>
            <a:ext cx="2439988"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Schedule 1</a:t>
            </a:r>
            <a:r>
              <a:rPr lang="en-US" altLang="en-US"/>
              <a:t>: </a:t>
            </a:r>
            <a:r>
              <a:rPr lang="en-US" altLang="en-US">
                <a:solidFill>
                  <a:srgbClr val="0000FF"/>
                </a:solidFill>
              </a:rPr>
              <a:t>T1</a:t>
            </a:r>
            <a:r>
              <a:rPr lang="en-US" altLang="en-US"/>
              <a:t>, </a:t>
            </a:r>
            <a:r>
              <a:rPr lang="en-US" altLang="en-US">
                <a:solidFill>
                  <a:srgbClr val="FF00FF"/>
                </a:solidFill>
              </a:rPr>
              <a:t>T2</a:t>
            </a:r>
            <a:endParaRPr lang="en-US" altLang="en-US" b="1"/>
          </a:p>
        </p:txBody>
      </p:sp>
      <p:sp>
        <p:nvSpPr>
          <p:cNvPr id="73741" name="AutoShape 13" descr="Down Arrow 15">
            <a:extLst>
              <a:ext uri="{FF2B5EF4-FFF2-40B4-BE49-F238E27FC236}">
                <a16:creationId xmlns:a16="http://schemas.microsoft.com/office/drawing/2014/main" id="{84BEAA61-DAFC-654B-320D-7AC895BD3A4A}"/>
              </a:ext>
            </a:extLst>
          </p:cNvPr>
          <p:cNvSpPr>
            <a:spLocks/>
          </p:cNvSpPr>
          <p:nvPr/>
        </p:nvSpPr>
        <p:spPr bwMode="auto">
          <a:xfrm>
            <a:off x="5676900" y="3284538"/>
            <a:ext cx="433388" cy="7191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5120"/>
                </a:moveTo>
                <a:lnTo>
                  <a:pt x="5400" y="15120"/>
                </a:lnTo>
                <a:lnTo>
                  <a:pt x="5400" y="0"/>
                </a:lnTo>
                <a:lnTo>
                  <a:pt x="16200" y="0"/>
                </a:lnTo>
                <a:lnTo>
                  <a:pt x="16200" y="15120"/>
                </a:lnTo>
                <a:lnTo>
                  <a:pt x="21600" y="1512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73742" name="Text Box 14" descr="TextBox 16">
            <a:extLst>
              <a:ext uri="{FF2B5EF4-FFF2-40B4-BE49-F238E27FC236}">
                <a16:creationId xmlns:a16="http://schemas.microsoft.com/office/drawing/2014/main" id="{B3EC8B43-176B-8B0E-6BFB-0D3891F8D4F1}"/>
              </a:ext>
            </a:extLst>
          </p:cNvPr>
          <p:cNvSpPr txBox="1">
            <a:spLocks/>
          </p:cNvSpPr>
          <p:nvPr/>
        </p:nvSpPr>
        <p:spPr bwMode="auto">
          <a:xfrm>
            <a:off x="6154738" y="3475038"/>
            <a:ext cx="210502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Shorthand Notation</a:t>
            </a:r>
          </a:p>
        </p:txBody>
      </p:sp>
      <p:sp>
        <p:nvSpPr>
          <p:cNvPr id="73743" name="Text Box 15" descr="TextBox 17">
            <a:extLst>
              <a:ext uri="{FF2B5EF4-FFF2-40B4-BE49-F238E27FC236}">
                <a16:creationId xmlns:a16="http://schemas.microsoft.com/office/drawing/2014/main" id="{B713191B-B945-8AED-CA7D-8120EA0479F2}"/>
              </a:ext>
            </a:extLst>
          </p:cNvPr>
          <p:cNvSpPr txBox="1">
            <a:spLocks/>
          </p:cNvSpPr>
          <p:nvPr/>
        </p:nvSpPr>
        <p:spPr bwMode="auto">
          <a:xfrm>
            <a:off x="4957763" y="4341813"/>
            <a:ext cx="2070100" cy="4064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solidFill>
                  <a:srgbClr val="FF00FF"/>
                </a:solidFill>
              </a:rPr>
              <a:t>R2,W2, </a:t>
            </a:r>
            <a:r>
              <a:rPr lang="en-US" altLang="en-US" sz="2000">
                <a:solidFill>
                  <a:srgbClr val="0000FF"/>
                </a:solidFill>
              </a:rPr>
              <a:t>R1, W1</a:t>
            </a:r>
            <a:endParaRPr lang="en-US" altLang="en-US" sz="2000">
              <a:solidFill>
                <a:srgbClr val="FF00FF"/>
              </a:solidFill>
            </a:endParaRPr>
          </a:p>
        </p:txBody>
      </p:sp>
      <p:sp>
        <p:nvSpPr>
          <p:cNvPr id="73744" name="Text Box 16" descr="TextBox 18">
            <a:extLst>
              <a:ext uri="{FF2B5EF4-FFF2-40B4-BE49-F238E27FC236}">
                <a16:creationId xmlns:a16="http://schemas.microsoft.com/office/drawing/2014/main" id="{F7B6E2D0-78E7-C7E6-DE5E-894A6FAB3527}"/>
              </a:ext>
            </a:extLst>
          </p:cNvPr>
          <p:cNvSpPr txBox="1">
            <a:spLocks/>
          </p:cNvSpPr>
          <p:nvPr/>
        </p:nvSpPr>
        <p:spPr bwMode="auto">
          <a:xfrm>
            <a:off x="4819650" y="4003675"/>
            <a:ext cx="2441575"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Schedule 2</a:t>
            </a:r>
            <a:r>
              <a:rPr lang="en-US" altLang="en-US"/>
              <a:t>: </a:t>
            </a:r>
            <a:r>
              <a:rPr lang="en-US" altLang="en-US">
                <a:solidFill>
                  <a:srgbClr val="FF00FF"/>
                </a:solidFill>
              </a:rPr>
              <a:t>T2, </a:t>
            </a:r>
            <a:r>
              <a:rPr lang="en-US" altLang="en-US">
                <a:solidFill>
                  <a:srgbClr val="0000FF"/>
                </a:solidFill>
              </a:rPr>
              <a:t>T1</a:t>
            </a:r>
            <a:endParaRPr lang="en-US" altLang="en-US" b="1"/>
          </a:p>
        </p:txBody>
      </p:sp>
    </p:spTree>
  </p:cSld>
  <p:clrMapOvr>
    <a:masterClrMapping/>
  </p:clrMapOvr>
  <p:transition spd="med"/>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descr="Title 1">
            <a:extLst>
              <a:ext uri="{FF2B5EF4-FFF2-40B4-BE49-F238E27FC236}">
                <a16:creationId xmlns:a16="http://schemas.microsoft.com/office/drawing/2014/main" id="{D1292C49-4E9C-31D5-D0CE-51340237367C}"/>
              </a:ext>
            </a:extLst>
          </p:cNvPr>
          <p:cNvSpPr>
            <a:spLocks noChangeArrowheads="1"/>
          </p:cNvSpPr>
          <p:nvPr>
            <p:ph type="title"/>
          </p:nvPr>
        </p:nvSpPr>
        <p:spPr/>
        <p:txBody>
          <a:bodyPr/>
          <a:lstStyle/>
          <a:p>
            <a:r>
              <a:rPr lang="en-US" altLang="en-US" sz="2000"/>
              <a:t>Different Possible Schedules for given set of transactions</a:t>
            </a:r>
          </a:p>
        </p:txBody>
      </p:sp>
      <p:graphicFrame>
        <p:nvGraphicFramePr>
          <p:cNvPr id="74755" name="Group 3">
            <a:extLst>
              <a:ext uri="{FF2B5EF4-FFF2-40B4-BE49-F238E27FC236}">
                <a16:creationId xmlns:a16="http://schemas.microsoft.com/office/drawing/2014/main" id="{AE2E3BC8-4FCB-E784-7D91-1919DE6838FD}"/>
              </a:ext>
            </a:extLst>
          </p:cNvPr>
          <p:cNvGraphicFramePr>
            <a:graphicFrameLocks noGrp="1"/>
          </p:cNvGraphicFramePr>
          <p:nvPr/>
        </p:nvGraphicFramePr>
        <p:xfrm>
          <a:off x="755650" y="2708275"/>
          <a:ext cx="5545138" cy="1892300"/>
        </p:xfrm>
        <a:graphic>
          <a:graphicData uri="http://schemas.openxmlformats.org/drawingml/2006/table">
            <a:tbl>
              <a:tblPr/>
              <a:tblGrid>
                <a:gridCol w="2319338">
                  <a:extLst>
                    <a:ext uri="{9D8B030D-6E8A-4147-A177-3AD203B41FA5}">
                      <a16:colId xmlns:a16="http://schemas.microsoft.com/office/drawing/2014/main" val="1314735705"/>
                    </a:ext>
                  </a:extLst>
                </a:gridCol>
                <a:gridCol w="3225800">
                  <a:extLst>
                    <a:ext uri="{9D8B030D-6E8A-4147-A177-3AD203B41FA5}">
                      <a16:colId xmlns:a16="http://schemas.microsoft.com/office/drawing/2014/main" val="2268660455"/>
                    </a:ext>
                  </a:extLst>
                </a:gridCol>
              </a:tblGrid>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04176259"/>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08568512"/>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21148977"/>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04572113"/>
                  </a:ext>
                </a:extLst>
              </a:tr>
            </a:tbl>
          </a:graphicData>
        </a:graphic>
      </p:graphicFrame>
      <p:sp>
        <p:nvSpPr>
          <p:cNvPr id="74786" name="Text Box 34" descr="Date Placeholder 3">
            <a:extLst>
              <a:ext uri="{FF2B5EF4-FFF2-40B4-BE49-F238E27FC236}">
                <a16:creationId xmlns:a16="http://schemas.microsoft.com/office/drawing/2014/main" id="{CB6FBDD6-48A9-5605-A01F-250B1306A64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4787" name="Text Box 35" descr="Slide Number Placeholder 5">
            <a:extLst>
              <a:ext uri="{FF2B5EF4-FFF2-40B4-BE49-F238E27FC236}">
                <a16:creationId xmlns:a16="http://schemas.microsoft.com/office/drawing/2014/main" id="{557E8E6B-C158-B282-4FF8-7995EB156D66}"/>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5EA9318-5FCA-4A94-A577-CAD11F9B756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74788" name="Text Box 36" descr="TextBox 7">
            <a:extLst>
              <a:ext uri="{FF2B5EF4-FFF2-40B4-BE49-F238E27FC236}">
                <a16:creationId xmlns:a16="http://schemas.microsoft.com/office/drawing/2014/main" id="{05EEC180-D4AA-BDDF-D444-15AB351E3878}"/>
              </a:ext>
            </a:extLst>
          </p:cNvPr>
          <p:cNvSpPr txBox="1">
            <a:spLocks/>
          </p:cNvSpPr>
          <p:nvPr/>
        </p:nvSpPr>
        <p:spPr bwMode="auto">
          <a:xfrm>
            <a:off x="368300" y="1195388"/>
            <a:ext cx="8666163" cy="1489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Two Transactions</a:t>
            </a:r>
          </a:p>
          <a:p>
            <a:r>
              <a:rPr lang="en-US" altLang="en-US" b="1">
                <a:solidFill>
                  <a:srgbClr val="0000FF"/>
                </a:solidFill>
              </a:rPr>
              <a:t>T1: </a:t>
            </a:r>
            <a:r>
              <a:rPr lang="en-US" altLang="en-US"/>
              <a:t>Cancel  FIVE seats on Tippu express (</a:t>
            </a:r>
            <a:r>
              <a:rPr lang="en-US" altLang="en-US">
                <a:solidFill>
                  <a:srgbClr val="0000FF"/>
                </a:solidFill>
              </a:rPr>
              <a:t>R1, W1)</a:t>
            </a:r>
            <a:endParaRPr lang="en-US" altLang="en-US" b="1">
              <a:solidFill>
                <a:srgbClr val="0000FF"/>
              </a:solidFill>
            </a:endParaRPr>
          </a:p>
          <a:p>
            <a:r>
              <a:rPr lang="en-US" altLang="en-US" b="1">
                <a:solidFill>
                  <a:srgbClr val="FF00FF"/>
                </a:solidFill>
              </a:rPr>
              <a:t>T2: </a:t>
            </a:r>
            <a:r>
              <a:rPr lang="en-US" altLang="en-US"/>
              <a:t>Reserve  four seats on Chamundi express (</a:t>
            </a:r>
            <a:r>
              <a:rPr lang="en-US" altLang="en-US">
                <a:solidFill>
                  <a:srgbClr val="FF00FF"/>
                </a:solidFill>
              </a:rPr>
              <a:t>R2,W2)</a:t>
            </a:r>
            <a:endParaRPr lang="en-US" altLang="en-US" b="1">
              <a:solidFill>
                <a:srgbClr val="FF00FF"/>
              </a:solidFill>
            </a:endParaRPr>
          </a:p>
          <a:p>
            <a:endParaRPr lang="en-US" altLang="en-US"/>
          </a:p>
          <a:p>
            <a:r>
              <a:rPr lang="en-US" altLang="en-US"/>
              <a:t>Different possible schedules for the above two transactions are as follows:</a:t>
            </a:r>
          </a:p>
        </p:txBody>
      </p:sp>
    </p:spTree>
  </p:cSld>
  <p:clrMapOvr>
    <a:masterClrMapping/>
  </p:clrMapOvr>
  <p:transition spd="med"/>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descr="Title 1">
            <a:extLst>
              <a:ext uri="{FF2B5EF4-FFF2-40B4-BE49-F238E27FC236}">
                <a16:creationId xmlns:a16="http://schemas.microsoft.com/office/drawing/2014/main" id="{E827FA50-B06D-C808-2B46-DE37C36B4B53}"/>
              </a:ext>
            </a:extLst>
          </p:cNvPr>
          <p:cNvSpPr>
            <a:spLocks noChangeArrowheads="1"/>
          </p:cNvSpPr>
          <p:nvPr>
            <p:ph type="title"/>
          </p:nvPr>
        </p:nvSpPr>
        <p:spPr/>
        <p:txBody>
          <a:bodyPr/>
          <a:lstStyle/>
          <a:p>
            <a:r>
              <a:rPr lang="en-US" altLang="en-US"/>
              <a:t>Transaction Schedules</a:t>
            </a:r>
          </a:p>
        </p:txBody>
      </p:sp>
      <p:graphicFrame>
        <p:nvGraphicFramePr>
          <p:cNvPr id="75779" name="Group 3">
            <a:extLst>
              <a:ext uri="{FF2B5EF4-FFF2-40B4-BE49-F238E27FC236}">
                <a16:creationId xmlns:a16="http://schemas.microsoft.com/office/drawing/2014/main" id="{1C48D148-C1D9-E920-F0D0-124A702E774F}"/>
              </a:ext>
            </a:extLst>
          </p:cNvPr>
          <p:cNvGraphicFramePr>
            <a:graphicFrameLocks noGrp="1"/>
          </p:cNvGraphicFramePr>
          <p:nvPr/>
        </p:nvGraphicFramePr>
        <p:xfrm>
          <a:off x="755650" y="2708275"/>
          <a:ext cx="5545138" cy="1892300"/>
        </p:xfrm>
        <a:graphic>
          <a:graphicData uri="http://schemas.openxmlformats.org/drawingml/2006/table">
            <a:tbl>
              <a:tblPr/>
              <a:tblGrid>
                <a:gridCol w="2319338">
                  <a:extLst>
                    <a:ext uri="{9D8B030D-6E8A-4147-A177-3AD203B41FA5}">
                      <a16:colId xmlns:a16="http://schemas.microsoft.com/office/drawing/2014/main" val="2697130226"/>
                    </a:ext>
                  </a:extLst>
                </a:gridCol>
                <a:gridCol w="3225800">
                  <a:extLst>
                    <a:ext uri="{9D8B030D-6E8A-4147-A177-3AD203B41FA5}">
                      <a16:colId xmlns:a16="http://schemas.microsoft.com/office/drawing/2014/main" val="2858697241"/>
                    </a:ext>
                  </a:extLst>
                </a:gridCol>
              </a:tblGrid>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54063335"/>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50871809"/>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51370937"/>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55852294"/>
                  </a:ext>
                </a:extLst>
              </a:tr>
            </a:tbl>
          </a:graphicData>
        </a:graphic>
      </p:graphicFrame>
      <p:sp>
        <p:nvSpPr>
          <p:cNvPr id="75810" name="Text Box 34" descr="Date Placeholder 3">
            <a:extLst>
              <a:ext uri="{FF2B5EF4-FFF2-40B4-BE49-F238E27FC236}">
                <a16:creationId xmlns:a16="http://schemas.microsoft.com/office/drawing/2014/main" id="{080AC8E7-6918-45F8-29A7-791CE077A74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5811" name="Text Box 35" descr="Slide Number Placeholder 5">
            <a:extLst>
              <a:ext uri="{FF2B5EF4-FFF2-40B4-BE49-F238E27FC236}">
                <a16:creationId xmlns:a16="http://schemas.microsoft.com/office/drawing/2014/main" id="{A8D05F9A-71FC-DE9A-C121-1EBC4862714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556D456-EF06-4D45-A9AD-8BE4084DD9C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75812" name="Text Box 36" descr="TextBox 8">
            <a:extLst>
              <a:ext uri="{FF2B5EF4-FFF2-40B4-BE49-F238E27FC236}">
                <a16:creationId xmlns:a16="http://schemas.microsoft.com/office/drawing/2014/main" id="{44C8C5A8-50C3-73BD-7380-A56852D20004}"/>
              </a:ext>
            </a:extLst>
          </p:cNvPr>
          <p:cNvSpPr txBox="1">
            <a:spLocks/>
          </p:cNvSpPr>
          <p:nvPr/>
        </p:nvSpPr>
        <p:spPr bwMode="auto">
          <a:xfrm>
            <a:off x="512763" y="4705350"/>
            <a:ext cx="7343775"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Following are </a:t>
            </a:r>
            <a:r>
              <a:rPr lang="en-US" altLang="en-US" b="1"/>
              <a:t>not feasible schedules </a:t>
            </a:r>
            <a:r>
              <a:rPr lang="en-US" altLang="en-US"/>
              <a:t>because they do not </a:t>
            </a:r>
          </a:p>
          <a:p>
            <a:r>
              <a:rPr lang="en-US" altLang="en-US"/>
              <a:t>preserve the order of operations of the individual Transactions </a:t>
            </a:r>
          </a:p>
        </p:txBody>
      </p:sp>
      <p:sp>
        <p:nvSpPr>
          <p:cNvPr id="75813" name="Text Box 37" descr="TextBox 9">
            <a:extLst>
              <a:ext uri="{FF2B5EF4-FFF2-40B4-BE49-F238E27FC236}">
                <a16:creationId xmlns:a16="http://schemas.microsoft.com/office/drawing/2014/main" id="{62665C21-D295-CAD2-0F1D-1171596DAA42}"/>
              </a:ext>
            </a:extLst>
          </p:cNvPr>
          <p:cNvSpPr txBox="1">
            <a:spLocks/>
          </p:cNvSpPr>
          <p:nvPr/>
        </p:nvSpPr>
        <p:spPr bwMode="auto">
          <a:xfrm>
            <a:off x="628650" y="5362575"/>
            <a:ext cx="2160588" cy="3810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0000FF"/>
                </a:solidFill>
              </a:rPr>
              <a:t> W1, R1, </a:t>
            </a:r>
            <a:r>
              <a:rPr lang="en-US" altLang="en-US">
                <a:solidFill>
                  <a:srgbClr val="FF00FF"/>
                </a:solidFill>
              </a:rPr>
              <a:t>W2, R2</a:t>
            </a:r>
            <a:endParaRPr lang="en-US" altLang="en-US">
              <a:solidFill>
                <a:srgbClr val="0000FF"/>
              </a:solidFill>
            </a:endParaRPr>
          </a:p>
        </p:txBody>
      </p:sp>
      <p:sp>
        <p:nvSpPr>
          <p:cNvPr id="75814" name="Text Box 38" descr="TextBox 10">
            <a:extLst>
              <a:ext uri="{FF2B5EF4-FFF2-40B4-BE49-F238E27FC236}">
                <a16:creationId xmlns:a16="http://schemas.microsoft.com/office/drawing/2014/main" id="{7F646D27-8A29-2968-97A5-D9A91264F54B}"/>
              </a:ext>
            </a:extLst>
          </p:cNvPr>
          <p:cNvSpPr txBox="1">
            <a:spLocks/>
          </p:cNvSpPr>
          <p:nvPr/>
        </p:nvSpPr>
        <p:spPr bwMode="auto">
          <a:xfrm>
            <a:off x="3275013" y="5362575"/>
            <a:ext cx="2160587" cy="3810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FF00FF"/>
                </a:solidFill>
              </a:rPr>
              <a:t>W2, R2, </a:t>
            </a:r>
            <a:r>
              <a:rPr lang="en-US" altLang="en-US">
                <a:solidFill>
                  <a:srgbClr val="0000FF"/>
                </a:solidFill>
              </a:rPr>
              <a:t>W1, R1</a:t>
            </a:r>
            <a:endParaRPr lang="en-US" altLang="en-US">
              <a:solidFill>
                <a:srgbClr val="FF00FF"/>
              </a:solidFill>
            </a:endParaRPr>
          </a:p>
        </p:txBody>
      </p:sp>
      <p:sp>
        <p:nvSpPr>
          <p:cNvPr id="75815" name="Text Box 39" descr="TextBox 11">
            <a:extLst>
              <a:ext uri="{FF2B5EF4-FFF2-40B4-BE49-F238E27FC236}">
                <a16:creationId xmlns:a16="http://schemas.microsoft.com/office/drawing/2014/main" id="{8914896E-CD0E-1F47-EE97-8A45B0C38DFE}"/>
              </a:ext>
            </a:extLst>
          </p:cNvPr>
          <p:cNvSpPr txBox="1">
            <a:spLocks/>
          </p:cNvSpPr>
          <p:nvPr/>
        </p:nvSpPr>
        <p:spPr bwMode="auto">
          <a:xfrm>
            <a:off x="368300" y="1195388"/>
            <a:ext cx="8666163" cy="1489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Two Transactions</a:t>
            </a:r>
          </a:p>
          <a:p>
            <a:r>
              <a:rPr lang="en-US" altLang="en-US" b="1">
                <a:solidFill>
                  <a:srgbClr val="0000FF"/>
                </a:solidFill>
              </a:rPr>
              <a:t>T1: </a:t>
            </a:r>
            <a:r>
              <a:rPr lang="en-US" altLang="en-US"/>
              <a:t>Cancel  FIVE seats on Tippu express (</a:t>
            </a:r>
            <a:r>
              <a:rPr lang="en-US" altLang="en-US">
                <a:solidFill>
                  <a:srgbClr val="0000FF"/>
                </a:solidFill>
              </a:rPr>
              <a:t>R1, W1)</a:t>
            </a:r>
            <a:endParaRPr lang="en-US" altLang="en-US" b="1">
              <a:solidFill>
                <a:srgbClr val="0000FF"/>
              </a:solidFill>
            </a:endParaRPr>
          </a:p>
          <a:p>
            <a:r>
              <a:rPr lang="en-US" altLang="en-US" b="1">
                <a:solidFill>
                  <a:srgbClr val="FF00FF"/>
                </a:solidFill>
              </a:rPr>
              <a:t>T2: </a:t>
            </a:r>
            <a:r>
              <a:rPr lang="en-US" altLang="en-US"/>
              <a:t>Reserve  four seats on Chamundi express (</a:t>
            </a:r>
            <a:r>
              <a:rPr lang="en-US" altLang="en-US">
                <a:solidFill>
                  <a:srgbClr val="FF00FF"/>
                </a:solidFill>
              </a:rPr>
              <a:t>R2,W2)</a:t>
            </a:r>
            <a:endParaRPr lang="en-US" altLang="en-US" b="1">
              <a:solidFill>
                <a:srgbClr val="FF00FF"/>
              </a:solidFill>
            </a:endParaRPr>
          </a:p>
          <a:p>
            <a:endParaRPr lang="en-US" altLang="en-US"/>
          </a:p>
          <a:p>
            <a:r>
              <a:rPr lang="en-US" altLang="en-US"/>
              <a:t>Different possible schedules for the above two transactions are as follows:</a:t>
            </a:r>
          </a:p>
        </p:txBody>
      </p:sp>
    </p:spTree>
  </p:cSld>
  <p:clrMapOvr>
    <a:masterClrMapping/>
  </p:clrMapOvr>
  <p:transition spd="med"/>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descr="Title 1">
            <a:extLst>
              <a:ext uri="{FF2B5EF4-FFF2-40B4-BE49-F238E27FC236}">
                <a16:creationId xmlns:a16="http://schemas.microsoft.com/office/drawing/2014/main" id="{8A426B80-8287-DC6B-AB96-8B4DF2A2B5A5}"/>
              </a:ext>
            </a:extLst>
          </p:cNvPr>
          <p:cNvSpPr>
            <a:spLocks noChangeArrowheads="1"/>
          </p:cNvSpPr>
          <p:nvPr>
            <p:ph type="title"/>
          </p:nvPr>
        </p:nvSpPr>
        <p:spPr/>
        <p:txBody>
          <a:bodyPr/>
          <a:lstStyle/>
          <a:p>
            <a:r>
              <a:rPr lang="en-US" altLang="en-US"/>
              <a:t>Transaction Schedules</a:t>
            </a:r>
          </a:p>
        </p:txBody>
      </p:sp>
      <p:graphicFrame>
        <p:nvGraphicFramePr>
          <p:cNvPr id="76803" name="Group 3">
            <a:extLst>
              <a:ext uri="{FF2B5EF4-FFF2-40B4-BE49-F238E27FC236}">
                <a16:creationId xmlns:a16="http://schemas.microsoft.com/office/drawing/2014/main" id="{7B2B551F-0B7A-B330-75FD-69DEB6BC40BC}"/>
              </a:ext>
            </a:extLst>
          </p:cNvPr>
          <p:cNvGraphicFramePr>
            <a:graphicFrameLocks noGrp="1"/>
          </p:cNvGraphicFramePr>
          <p:nvPr/>
        </p:nvGraphicFramePr>
        <p:xfrm>
          <a:off x="755650" y="2708275"/>
          <a:ext cx="5545138" cy="1892300"/>
        </p:xfrm>
        <a:graphic>
          <a:graphicData uri="http://schemas.openxmlformats.org/drawingml/2006/table">
            <a:tbl>
              <a:tblPr/>
              <a:tblGrid>
                <a:gridCol w="2319338">
                  <a:extLst>
                    <a:ext uri="{9D8B030D-6E8A-4147-A177-3AD203B41FA5}">
                      <a16:colId xmlns:a16="http://schemas.microsoft.com/office/drawing/2014/main" val="1662253517"/>
                    </a:ext>
                  </a:extLst>
                </a:gridCol>
                <a:gridCol w="3225800">
                  <a:extLst>
                    <a:ext uri="{9D8B030D-6E8A-4147-A177-3AD203B41FA5}">
                      <a16:colId xmlns:a16="http://schemas.microsoft.com/office/drawing/2014/main" val="1564748701"/>
                    </a:ext>
                  </a:extLst>
                </a:gridCol>
              </a:tblGrid>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85638456"/>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35106595"/>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1795128"/>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9419868"/>
                  </a:ext>
                </a:extLst>
              </a:tr>
            </a:tbl>
          </a:graphicData>
        </a:graphic>
      </p:graphicFrame>
      <p:sp>
        <p:nvSpPr>
          <p:cNvPr id="76834" name="Text Box 34" descr="Date Placeholder 3">
            <a:extLst>
              <a:ext uri="{FF2B5EF4-FFF2-40B4-BE49-F238E27FC236}">
                <a16:creationId xmlns:a16="http://schemas.microsoft.com/office/drawing/2014/main" id="{9011F2BB-BB83-416E-3571-11A45984DA0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6835" name="Text Box 35" descr="Slide Number Placeholder 5">
            <a:extLst>
              <a:ext uri="{FF2B5EF4-FFF2-40B4-BE49-F238E27FC236}">
                <a16:creationId xmlns:a16="http://schemas.microsoft.com/office/drawing/2014/main" id="{4C47DBA3-B26A-6A3B-F71B-683CDDE39581}"/>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6FF5AB0-8A4A-4CA9-B41E-AABAA70DA74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76836" name="Text Box 36" descr="TextBox 8">
            <a:extLst>
              <a:ext uri="{FF2B5EF4-FFF2-40B4-BE49-F238E27FC236}">
                <a16:creationId xmlns:a16="http://schemas.microsoft.com/office/drawing/2014/main" id="{E87EFB29-70AA-B19C-93D7-E012DE6D7A13}"/>
              </a:ext>
            </a:extLst>
          </p:cNvPr>
          <p:cNvSpPr txBox="1">
            <a:spLocks/>
          </p:cNvSpPr>
          <p:nvPr/>
        </p:nvSpPr>
        <p:spPr bwMode="auto">
          <a:xfrm>
            <a:off x="512763" y="4705350"/>
            <a:ext cx="7343775"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Following are </a:t>
            </a:r>
            <a:r>
              <a:rPr lang="en-US" altLang="en-US" b="1"/>
              <a:t>not feasible schedules </a:t>
            </a:r>
            <a:r>
              <a:rPr lang="en-US" altLang="en-US"/>
              <a:t>because they do not </a:t>
            </a:r>
          </a:p>
          <a:p>
            <a:r>
              <a:rPr lang="en-US" altLang="en-US"/>
              <a:t>preserve the order of operations of the individual Transactions </a:t>
            </a:r>
          </a:p>
        </p:txBody>
      </p:sp>
      <p:sp>
        <p:nvSpPr>
          <p:cNvPr id="76837" name="Text Box 37" descr="TextBox 9">
            <a:extLst>
              <a:ext uri="{FF2B5EF4-FFF2-40B4-BE49-F238E27FC236}">
                <a16:creationId xmlns:a16="http://schemas.microsoft.com/office/drawing/2014/main" id="{9F19CED7-6F60-436C-85C6-B5FDC399C349}"/>
              </a:ext>
            </a:extLst>
          </p:cNvPr>
          <p:cNvSpPr txBox="1">
            <a:spLocks/>
          </p:cNvSpPr>
          <p:nvPr/>
        </p:nvSpPr>
        <p:spPr bwMode="auto">
          <a:xfrm>
            <a:off x="490538" y="5362575"/>
            <a:ext cx="2160587" cy="3810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0000FF"/>
                </a:solidFill>
              </a:rPr>
              <a:t> W1, R1, </a:t>
            </a:r>
            <a:r>
              <a:rPr lang="en-US" altLang="en-US">
                <a:solidFill>
                  <a:srgbClr val="FF00FF"/>
                </a:solidFill>
              </a:rPr>
              <a:t>W2, R2</a:t>
            </a:r>
            <a:endParaRPr lang="en-US" altLang="en-US">
              <a:solidFill>
                <a:srgbClr val="0000FF"/>
              </a:solidFill>
            </a:endParaRPr>
          </a:p>
        </p:txBody>
      </p:sp>
      <p:sp>
        <p:nvSpPr>
          <p:cNvPr id="76838" name="Text Box 38" descr="TextBox 10">
            <a:extLst>
              <a:ext uri="{FF2B5EF4-FFF2-40B4-BE49-F238E27FC236}">
                <a16:creationId xmlns:a16="http://schemas.microsoft.com/office/drawing/2014/main" id="{E91D59AF-700C-5195-E425-7D40AF287B9B}"/>
              </a:ext>
            </a:extLst>
          </p:cNvPr>
          <p:cNvSpPr txBox="1">
            <a:spLocks/>
          </p:cNvSpPr>
          <p:nvPr/>
        </p:nvSpPr>
        <p:spPr bwMode="auto">
          <a:xfrm>
            <a:off x="3136900" y="5362575"/>
            <a:ext cx="2160588" cy="3810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FF00FF"/>
                </a:solidFill>
              </a:rPr>
              <a:t>W2, R2, </a:t>
            </a:r>
            <a:r>
              <a:rPr lang="en-US" altLang="en-US">
                <a:solidFill>
                  <a:srgbClr val="0000FF"/>
                </a:solidFill>
              </a:rPr>
              <a:t>W1, R1</a:t>
            </a:r>
            <a:endParaRPr lang="en-US" altLang="en-US">
              <a:solidFill>
                <a:srgbClr val="FF00FF"/>
              </a:solidFill>
            </a:endParaRPr>
          </a:p>
        </p:txBody>
      </p:sp>
      <p:sp>
        <p:nvSpPr>
          <p:cNvPr id="76839" name="Text Box 39" descr="TextBox 11">
            <a:extLst>
              <a:ext uri="{FF2B5EF4-FFF2-40B4-BE49-F238E27FC236}">
                <a16:creationId xmlns:a16="http://schemas.microsoft.com/office/drawing/2014/main" id="{0E7F1E9C-A057-A6F0-56C7-9BBA242E8FFE}"/>
              </a:ext>
            </a:extLst>
          </p:cNvPr>
          <p:cNvSpPr txBox="1">
            <a:spLocks/>
          </p:cNvSpPr>
          <p:nvPr/>
        </p:nvSpPr>
        <p:spPr bwMode="auto">
          <a:xfrm>
            <a:off x="368300" y="1195388"/>
            <a:ext cx="8666163" cy="1489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Two Transactions</a:t>
            </a:r>
          </a:p>
          <a:p>
            <a:r>
              <a:rPr lang="en-US" altLang="en-US" b="1">
                <a:solidFill>
                  <a:srgbClr val="0000FF"/>
                </a:solidFill>
              </a:rPr>
              <a:t>T1: </a:t>
            </a:r>
            <a:r>
              <a:rPr lang="en-US" altLang="en-US"/>
              <a:t>Cancel  FIVE seats on Tippu express (</a:t>
            </a:r>
            <a:r>
              <a:rPr lang="en-US" altLang="en-US">
                <a:solidFill>
                  <a:srgbClr val="0000FF"/>
                </a:solidFill>
              </a:rPr>
              <a:t>R1, W1)</a:t>
            </a:r>
            <a:endParaRPr lang="en-US" altLang="en-US" b="1">
              <a:solidFill>
                <a:srgbClr val="0000FF"/>
              </a:solidFill>
            </a:endParaRPr>
          </a:p>
          <a:p>
            <a:r>
              <a:rPr lang="en-US" altLang="en-US" b="1">
                <a:solidFill>
                  <a:srgbClr val="FF00FF"/>
                </a:solidFill>
              </a:rPr>
              <a:t>T2: </a:t>
            </a:r>
            <a:r>
              <a:rPr lang="en-US" altLang="en-US"/>
              <a:t>Reserve  four seats on Chamundi express (</a:t>
            </a:r>
            <a:r>
              <a:rPr lang="en-US" altLang="en-US">
                <a:solidFill>
                  <a:srgbClr val="FF00FF"/>
                </a:solidFill>
              </a:rPr>
              <a:t>R2,W2)</a:t>
            </a:r>
            <a:endParaRPr lang="en-US" altLang="en-US" b="1">
              <a:solidFill>
                <a:srgbClr val="FF00FF"/>
              </a:solidFill>
            </a:endParaRPr>
          </a:p>
          <a:p>
            <a:endParaRPr lang="en-US" altLang="en-US"/>
          </a:p>
          <a:p>
            <a:r>
              <a:rPr lang="en-US" altLang="en-US"/>
              <a:t>Different possible schedules for the above two transactions are as follows:</a:t>
            </a:r>
          </a:p>
        </p:txBody>
      </p:sp>
      <p:sp>
        <p:nvSpPr>
          <p:cNvPr id="76840" name="Text Box 40" descr="TextBox 12">
            <a:extLst>
              <a:ext uri="{FF2B5EF4-FFF2-40B4-BE49-F238E27FC236}">
                <a16:creationId xmlns:a16="http://schemas.microsoft.com/office/drawing/2014/main" id="{05199DD3-ECB0-6870-0B01-10CD051A79CA}"/>
              </a:ext>
            </a:extLst>
          </p:cNvPr>
          <p:cNvSpPr txBox="1">
            <a:spLocks/>
          </p:cNvSpPr>
          <p:nvPr/>
        </p:nvSpPr>
        <p:spPr bwMode="auto">
          <a:xfrm>
            <a:off x="466725" y="5880100"/>
            <a:ext cx="2160588" cy="3794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0000FF"/>
                </a:solidFill>
              </a:rPr>
              <a:t> W1, </a:t>
            </a:r>
            <a:r>
              <a:rPr lang="en-US" altLang="en-US">
                <a:solidFill>
                  <a:srgbClr val="FF00FF"/>
                </a:solidFill>
              </a:rPr>
              <a:t>W2, </a:t>
            </a:r>
            <a:r>
              <a:rPr lang="en-US" altLang="en-US">
                <a:solidFill>
                  <a:srgbClr val="0000FF"/>
                </a:solidFill>
              </a:rPr>
              <a:t>R1, </a:t>
            </a:r>
            <a:r>
              <a:rPr lang="en-US" altLang="en-US">
                <a:solidFill>
                  <a:srgbClr val="FF00FF"/>
                </a:solidFill>
              </a:rPr>
              <a:t>R2</a:t>
            </a:r>
            <a:endParaRPr lang="en-US" altLang="en-US">
              <a:solidFill>
                <a:srgbClr val="0000FF"/>
              </a:solidFill>
            </a:endParaRPr>
          </a:p>
        </p:txBody>
      </p:sp>
      <p:sp>
        <p:nvSpPr>
          <p:cNvPr id="76841" name="Text Box 41" descr="TextBox 13">
            <a:extLst>
              <a:ext uri="{FF2B5EF4-FFF2-40B4-BE49-F238E27FC236}">
                <a16:creationId xmlns:a16="http://schemas.microsoft.com/office/drawing/2014/main" id="{9D091252-BF8D-0CC2-928A-729C26697806}"/>
              </a:ext>
            </a:extLst>
          </p:cNvPr>
          <p:cNvSpPr txBox="1">
            <a:spLocks/>
          </p:cNvSpPr>
          <p:nvPr/>
        </p:nvSpPr>
        <p:spPr bwMode="auto">
          <a:xfrm>
            <a:off x="3151188" y="5880100"/>
            <a:ext cx="2160587" cy="3794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FF00FF"/>
                </a:solidFill>
              </a:rPr>
              <a:t>W2, </a:t>
            </a:r>
            <a:r>
              <a:rPr lang="en-US" altLang="en-US">
                <a:solidFill>
                  <a:srgbClr val="0000FF"/>
                </a:solidFill>
              </a:rPr>
              <a:t>W1, </a:t>
            </a:r>
            <a:r>
              <a:rPr lang="en-US" altLang="en-US">
                <a:solidFill>
                  <a:srgbClr val="FF00FF"/>
                </a:solidFill>
              </a:rPr>
              <a:t>R2, </a:t>
            </a:r>
            <a:r>
              <a:rPr lang="en-US" altLang="en-US">
                <a:solidFill>
                  <a:srgbClr val="0000FF"/>
                </a:solidFill>
              </a:rPr>
              <a:t>R1</a:t>
            </a:r>
            <a:endParaRPr lang="en-US" altLang="en-US">
              <a:solidFill>
                <a:srgbClr val="FF00FF"/>
              </a:solidFill>
            </a:endParaRPr>
          </a:p>
        </p:txBody>
      </p:sp>
    </p:spTree>
  </p:cSld>
  <p:clrMapOvr>
    <a:masterClrMapping/>
  </p:clrMapOvr>
  <p:transition spd="med"/>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descr="Title 1">
            <a:extLst>
              <a:ext uri="{FF2B5EF4-FFF2-40B4-BE49-F238E27FC236}">
                <a16:creationId xmlns:a16="http://schemas.microsoft.com/office/drawing/2014/main" id="{C2DF2977-2053-F935-D028-DFEB7B4B0EEE}"/>
              </a:ext>
            </a:extLst>
          </p:cNvPr>
          <p:cNvSpPr>
            <a:spLocks noChangeArrowheads="1"/>
          </p:cNvSpPr>
          <p:nvPr>
            <p:ph type="title"/>
          </p:nvPr>
        </p:nvSpPr>
        <p:spPr/>
        <p:txBody>
          <a:bodyPr/>
          <a:lstStyle/>
          <a:p>
            <a:r>
              <a:rPr lang="en-US" altLang="en-US" sz="2800"/>
              <a:t>Serial Schedule vs Interleaved Schedule</a:t>
            </a:r>
          </a:p>
        </p:txBody>
      </p:sp>
      <p:graphicFrame>
        <p:nvGraphicFramePr>
          <p:cNvPr id="77827" name="Group 3">
            <a:extLst>
              <a:ext uri="{FF2B5EF4-FFF2-40B4-BE49-F238E27FC236}">
                <a16:creationId xmlns:a16="http://schemas.microsoft.com/office/drawing/2014/main" id="{BE87E39F-CA03-7697-12A9-1AD48ED3BB77}"/>
              </a:ext>
            </a:extLst>
          </p:cNvPr>
          <p:cNvGraphicFramePr>
            <a:graphicFrameLocks noGrp="1"/>
          </p:cNvGraphicFramePr>
          <p:nvPr/>
        </p:nvGraphicFramePr>
        <p:xfrm>
          <a:off x="755650" y="2708275"/>
          <a:ext cx="5283200" cy="1892300"/>
        </p:xfrm>
        <a:graphic>
          <a:graphicData uri="http://schemas.openxmlformats.org/drawingml/2006/table">
            <a:tbl>
              <a:tblPr/>
              <a:tblGrid>
                <a:gridCol w="2268538">
                  <a:extLst>
                    <a:ext uri="{9D8B030D-6E8A-4147-A177-3AD203B41FA5}">
                      <a16:colId xmlns:a16="http://schemas.microsoft.com/office/drawing/2014/main" val="2407451883"/>
                    </a:ext>
                  </a:extLst>
                </a:gridCol>
                <a:gridCol w="3014662">
                  <a:extLst>
                    <a:ext uri="{9D8B030D-6E8A-4147-A177-3AD203B41FA5}">
                      <a16:colId xmlns:a16="http://schemas.microsoft.com/office/drawing/2014/main" val="539027870"/>
                    </a:ext>
                  </a:extLst>
                </a:gridCol>
              </a:tblGrid>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18468553"/>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57715832"/>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t>
                      </a:r>
                      <a:endPar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2803097"/>
                  </a:ext>
                </a:extLst>
              </a:tr>
              <a:tr h="473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 </a:t>
                      </a:r>
                      <a:r>
                        <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 </a:t>
                      </a:r>
                      <a:r>
                        <a:rPr kumimoji="0" lang="en-US" altLang="en-US" sz="24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t>
                      </a:r>
                      <a:endParaRPr kumimoji="0" lang="en-US" altLang="en-US" sz="2400" b="0" i="0" u="none" strike="noStrike" cap="none" normalizeH="0" baseline="0">
                        <a:ln>
                          <a:noFill/>
                        </a:ln>
                        <a:solidFill>
                          <a:srgbClr val="FF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70600682"/>
                  </a:ext>
                </a:extLst>
              </a:tr>
            </a:tbl>
          </a:graphicData>
        </a:graphic>
      </p:graphicFrame>
      <p:sp>
        <p:nvSpPr>
          <p:cNvPr id="77858" name="Text Box 34" descr="Date Placeholder 3">
            <a:extLst>
              <a:ext uri="{FF2B5EF4-FFF2-40B4-BE49-F238E27FC236}">
                <a16:creationId xmlns:a16="http://schemas.microsoft.com/office/drawing/2014/main" id="{65578830-67F8-633B-9156-BC0118A3F75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7859" name="Text Box 35" descr="Slide Number Placeholder 5">
            <a:extLst>
              <a:ext uri="{FF2B5EF4-FFF2-40B4-BE49-F238E27FC236}">
                <a16:creationId xmlns:a16="http://schemas.microsoft.com/office/drawing/2014/main" id="{36F022A6-6867-C897-F24D-14A4D1666A8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01D301F-BD54-44BA-8F5F-ECF7AF36A39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77860" name="Text Box 36" descr="TextBox 7">
            <a:extLst>
              <a:ext uri="{FF2B5EF4-FFF2-40B4-BE49-F238E27FC236}">
                <a16:creationId xmlns:a16="http://schemas.microsoft.com/office/drawing/2014/main" id="{FB772DCD-3601-B12C-73D7-E46AB1207018}"/>
              </a:ext>
            </a:extLst>
          </p:cNvPr>
          <p:cNvSpPr txBox="1">
            <a:spLocks/>
          </p:cNvSpPr>
          <p:nvPr/>
        </p:nvSpPr>
        <p:spPr bwMode="auto">
          <a:xfrm>
            <a:off x="584200" y="1195388"/>
            <a:ext cx="8666163"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Two Transactions</a:t>
            </a:r>
          </a:p>
          <a:p>
            <a:r>
              <a:rPr lang="en-US" altLang="en-US" b="1">
                <a:solidFill>
                  <a:srgbClr val="0000FF"/>
                </a:solidFill>
              </a:rPr>
              <a:t>T1: </a:t>
            </a:r>
            <a:r>
              <a:rPr lang="en-US" altLang="en-US"/>
              <a:t>Cancel  FIVE seats on Tippu express</a:t>
            </a:r>
          </a:p>
          <a:p>
            <a:r>
              <a:rPr lang="en-US" altLang="en-US" b="1">
                <a:solidFill>
                  <a:srgbClr val="FF00FF"/>
                </a:solidFill>
              </a:rPr>
              <a:t>T2: </a:t>
            </a:r>
            <a:r>
              <a:rPr lang="en-US" altLang="en-US"/>
              <a:t>Reserve  four seats on Chamundi express</a:t>
            </a:r>
          </a:p>
          <a:p>
            <a:r>
              <a:rPr lang="en-US" altLang="en-US"/>
              <a:t>Different possible schedules for the above two transactions are as follows:</a:t>
            </a:r>
          </a:p>
        </p:txBody>
      </p:sp>
      <p:sp>
        <p:nvSpPr>
          <p:cNvPr id="77861" name="AutoShape 37" descr="Right Brace 2">
            <a:extLst>
              <a:ext uri="{FF2B5EF4-FFF2-40B4-BE49-F238E27FC236}">
                <a16:creationId xmlns:a16="http://schemas.microsoft.com/office/drawing/2014/main" id="{D65B4319-F9A0-2F28-141D-D7BAB91631A9}"/>
              </a:ext>
            </a:extLst>
          </p:cNvPr>
          <p:cNvSpPr>
            <a:spLocks/>
          </p:cNvSpPr>
          <p:nvPr/>
        </p:nvSpPr>
        <p:spPr bwMode="auto">
          <a:xfrm>
            <a:off x="6037263" y="2708275"/>
            <a:ext cx="261937" cy="9207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5965" y="0"/>
                  <a:pt x="10800" y="229"/>
                  <a:pt x="10800" y="511"/>
                </a:cubicBezTo>
                <a:lnTo>
                  <a:pt x="10800" y="10289"/>
                </a:lnTo>
                <a:cubicBezTo>
                  <a:pt x="10800" y="10571"/>
                  <a:pt x="15635" y="10800"/>
                  <a:pt x="21600" y="10800"/>
                </a:cubicBezTo>
                <a:cubicBezTo>
                  <a:pt x="15635" y="10800"/>
                  <a:pt x="10800" y="11029"/>
                  <a:pt x="10800" y="11311"/>
                </a:cubicBezTo>
                <a:lnTo>
                  <a:pt x="10800" y="21089"/>
                </a:lnTo>
                <a:cubicBezTo>
                  <a:pt x="10800" y="21371"/>
                  <a:pt x="5965" y="21600"/>
                  <a:pt x="0" y="21600"/>
                </a:cubicBezTo>
              </a:path>
            </a:pathLst>
          </a:cu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77862" name="Text Box 38" descr="TextBox 11">
            <a:extLst>
              <a:ext uri="{FF2B5EF4-FFF2-40B4-BE49-F238E27FC236}">
                <a16:creationId xmlns:a16="http://schemas.microsoft.com/office/drawing/2014/main" id="{49EE46A6-2D7B-4CBC-67F9-29F276B4814C}"/>
              </a:ext>
            </a:extLst>
          </p:cNvPr>
          <p:cNvSpPr txBox="1">
            <a:spLocks/>
          </p:cNvSpPr>
          <p:nvPr/>
        </p:nvSpPr>
        <p:spPr bwMode="auto">
          <a:xfrm>
            <a:off x="6416675" y="2708275"/>
            <a:ext cx="2295525"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1 &amp; 2 are</a:t>
            </a:r>
          </a:p>
          <a:p>
            <a:r>
              <a:rPr lang="en-US" altLang="en-US">
                <a:solidFill>
                  <a:srgbClr val="C00000"/>
                </a:solidFill>
              </a:rPr>
              <a:t>Serial Schedule</a:t>
            </a:r>
          </a:p>
        </p:txBody>
      </p:sp>
      <p:sp>
        <p:nvSpPr>
          <p:cNvPr id="77863" name="Text Box 39" descr="TextBox 12">
            <a:extLst>
              <a:ext uri="{FF2B5EF4-FFF2-40B4-BE49-F238E27FC236}">
                <a16:creationId xmlns:a16="http://schemas.microsoft.com/office/drawing/2014/main" id="{2687F0FF-7FAB-C083-53AD-736398679143}"/>
              </a:ext>
            </a:extLst>
          </p:cNvPr>
          <p:cNvSpPr txBox="1">
            <a:spLocks/>
          </p:cNvSpPr>
          <p:nvPr/>
        </p:nvSpPr>
        <p:spPr bwMode="auto">
          <a:xfrm>
            <a:off x="6434138" y="3651250"/>
            <a:ext cx="2636837" cy="928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3 &amp; 4 are</a:t>
            </a:r>
          </a:p>
          <a:p>
            <a:r>
              <a:rPr lang="en-US" altLang="en-US">
                <a:solidFill>
                  <a:srgbClr val="C00000"/>
                </a:solidFill>
              </a:rPr>
              <a:t>Interleaved or Parallel</a:t>
            </a:r>
          </a:p>
          <a:p>
            <a:r>
              <a:rPr lang="en-US" altLang="en-US">
                <a:solidFill>
                  <a:srgbClr val="C00000"/>
                </a:solidFill>
              </a:rPr>
              <a:t>Schedule</a:t>
            </a:r>
          </a:p>
        </p:txBody>
      </p:sp>
      <p:sp>
        <p:nvSpPr>
          <p:cNvPr id="77864" name="AutoShape 40" descr="Right Brace 13">
            <a:extLst>
              <a:ext uri="{FF2B5EF4-FFF2-40B4-BE49-F238E27FC236}">
                <a16:creationId xmlns:a16="http://schemas.microsoft.com/office/drawing/2014/main" id="{577B6963-1358-A5AC-45A1-792E6F2E92DE}"/>
              </a:ext>
            </a:extLst>
          </p:cNvPr>
          <p:cNvSpPr>
            <a:spLocks/>
          </p:cNvSpPr>
          <p:nvPr/>
        </p:nvSpPr>
        <p:spPr bwMode="auto">
          <a:xfrm>
            <a:off x="6061075" y="3716338"/>
            <a:ext cx="238125" cy="7921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5965" y="0"/>
                  <a:pt x="10800" y="242"/>
                  <a:pt x="10800" y="541"/>
                </a:cubicBezTo>
                <a:lnTo>
                  <a:pt x="10800" y="10259"/>
                </a:lnTo>
                <a:cubicBezTo>
                  <a:pt x="10800" y="10558"/>
                  <a:pt x="15635" y="10800"/>
                  <a:pt x="21600" y="10800"/>
                </a:cubicBezTo>
                <a:cubicBezTo>
                  <a:pt x="15635" y="10800"/>
                  <a:pt x="10800" y="11042"/>
                  <a:pt x="10800" y="11341"/>
                </a:cubicBezTo>
                <a:lnTo>
                  <a:pt x="10800" y="21059"/>
                </a:lnTo>
                <a:cubicBezTo>
                  <a:pt x="10800" y="21358"/>
                  <a:pt x="5965" y="21600"/>
                  <a:pt x="0" y="21600"/>
                </a:cubicBezTo>
              </a:path>
            </a:pathLst>
          </a:custGeom>
          <a:noFill/>
          <a:ln w="2857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77865" name="Text Box 41" descr="TextBox 14">
            <a:extLst>
              <a:ext uri="{FF2B5EF4-FFF2-40B4-BE49-F238E27FC236}">
                <a16:creationId xmlns:a16="http://schemas.microsoft.com/office/drawing/2014/main" id="{B329CA82-8454-4011-DB6D-CA3B0C8DEBCE}"/>
              </a:ext>
            </a:extLst>
          </p:cNvPr>
          <p:cNvSpPr txBox="1">
            <a:spLocks/>
          </p:cNvSpPr>
          <p:nvPr/>
        </p:nvSpPr>
        <p:spPr bwMode="auto">
          <a:xfrm>
            <a:off x="512763" y="4724400"/>
            <a:ext cx="8358187" cy="1539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Note: </a:t>
            </a:r>
          </a:p>
          <a:p>
            <a:r>
              <a:rPr lang="en-US" altLang="en-US" sz="1600" b="1"/>
              <a:t>Serial Schedule</a:t>
            </a:r>
            <a:r>
              <a:rPr lang="en-US" altLang="en-US" sz="1600"/>
              <a:t>: A schedule in which the different transactions are NOT interleaved (i.e., transactions are executed from start to finish one-by-one)</a:t>
            </a:r>
          </a:p>
          <a:p>
            <a:endParaRPr lang="en-US" altLang="en-US" sz="1600"/>
          </a:p>
          <a:p>
            <a:r>
              <a:rPr lang="en-US" altLang="en-US" sz="1600"/>
              <a:t>-The result of </a:t>
            </a:r>
            <a:r>
              <a:rPr lang="en-US" altLang="en-US" sz="1600" b="1"/>
              <a:t>Interleaved Schedule </a:t>
            </a:r>
            <a:r>
              <a:rPr lang="en-US" altLang="en-US" sz="1600"/>
              <a:t>should be equivalent Some serial schedule</a:t>
            </a:r>
          </a:p>
        </p:txBody>
      </p:sp>
    </p:spTree>
  </p:cSld>
  <p:clrMapOvr>
    <a:masterClrMapping/>
  </p:clrMapOvr>
  <p:transition spd="med"/>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descr="Title 1">
            <a:extLst>
              <a:ext uri="{FF2B5EF4-FFF2-40B4-BE49-F238E27FC236}">
                <a16:creationId xmlns:a16="http://schemas.microsoft.com/office/drawing/2014/main" id="{678D3B4F-14E4-CC49-A686-621BBD5AB153}"/>
              </a:ext>
            </a:extLst>
          </p:cNvPr>
          <p:cNvSpPr>
            <a:spLocks noChangeArrowheads="1"/>
          </p:cNvSpPr>
          <p:nvPr>
            <p:ph type="title"/>
          </p:nvPr>
        </p:nvSpPr>
        <p:spPr/>
        <p:txBody>
          <a:bodyPr/>
          <a:lstStyle/>
          <a:p>
            <a:r>
              <a:rPr lang="en-US" altLang="en-US">
                <a:solidFill>
                  <a:srgbClr val="FF0000"/>
                </a:solidFill>
              </a:rPr>
              <a:t>Question</a:t>
            </a:r>
          </a:p>
        </p:txBody>
      </p:sp>
      <p:sp>
        <p:nvSpPr>
          <p:cNvPr id="78851" name="Rectangle 3" descr="Content Placeholder 2">
            <a:extLst>
              <a:ext uri="{FF2B5EF4-FFF2-40B4-BE49-F238E27FC236}">
                <a16:creationId xmlns:a16="http://schemas.microsoft.com/office/drawing/2014/main" id="{C3DD53BE-CF3E-FC20-427D-E7860BA73EA5}"/>
              </a:ext>
            </a:extLst>
          </p:cNvPr>
          <p:cNvSpPr>
            <a:spLocks noChangeArrowheads="1"/>
          </p:cNvSpPr>
          <p:nvPr>
            <p:ph type="body" idx="1"/>
          </p:nvPr>
        </p:nvSpPr>
        <p:spPr/>
        <p:txBody>
          <a:bodyPr/>
          <a:lstStyle/>
          <a:p>
            <a:pPr>
              <a:spcBef>
                <a:spcPts val="400"/>
              </a:spcBef>
            </a:pPr>
            <a:r>
              <a:rPr lang="en-US" altLang="en-US" sz="2000"/>
              <a:t>What will be the total number of </a:t>
            </a:r>
            <a:r>
              <a:rPr lang="en-US" altLang="en-US" sz="2000" b="1"/>
              <a:t>serial schedules</a:t>
            </a:r>
            <a:r>
              <a:rPr lang="en-US" altLang="en-US" sz="2000"/>
              <a:t> that can occur if there are m Transactions i.e., T1, T2,….Tm</a:t>
            </a:r>
          </a:p>
        </p:txBody>
      </p:sp>
      <p:sp>
        <p:nvSpPr>
          <p:cNvPr id="78852" name="Text Box 4" descr="Date Placeholder 3">
            <a:extLst>
              <a:ext uri="{FF2B5EF4-FFF2-40B4-BE49-F238E27FC236}">
                <a16:creationId xmlns:a16="http://schemas.microsoft.com/office/drawing/2014/main" id="{F7DC6F86-E655-84F5-1130-A22A286BD95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8853" name="Text Box 5" descr="Slide Number Placeholder 5">
            <a:extLst>
              <a:ext uri="{FF2B5EF4-FFF2-40B4-BE49-F238E27FC236}">
                <a16:creationId xmlns:a16="http://schemas.microsoft.com/office/drawing/2014/main" id="{1C635BE1-84F0-9E1A-E3D6-8D0651CE9AF8}"/>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AC23A12-D1FD-4DC5-A75C-FEAC826F51F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descr="Title 1">
            <a:extLst>
              <a:ext uri="{FF2B5EF4-FFF2-40B4-BE49-F238E27FC236}">
                <a16:creationId xmlns:a16="http://schemas.microsoft.com/office/drawing/2014/main" id="{781A1A01-16F8-2E77-3CF4-7EB384DB4735}"/>
              </a:ext>
            </a:extLst>
          </p:cNvPr>
          <p:cNvSpPr>
            <a:spLocks noChangeArrowheads="1"/>
          </p:cNvSpPr>
          <p:nvPr>
            <p:ph type="title"/>
          </p:nvPr>
        </p:nvSpPr>
        <p:spPr/>
        <p:txBody>
          <a:bodyPr/>
          <a:lstStyle/>
          <a:p>
            <a:r>
              <a:rPr lang="en-US" altLang="en-US"/>
              <a:t>Question</a:t>
            </a:r>
          </a:p>
        </p:txBody>
      </p:sp>
      <p:sp>
        <p:nvSpPr>
          <p:cNvPr id="79875" name="Rectangle 3" descr="Content Placeholder 2">
            <a:extLst>
              <a:ext uri="{FF2B5EF4-FFF2-40B4-BE49-F238E27FC236}">
                <a16:creationId xmlns:a16="http://schemas.microsoft.com/office/drawing/2014/main" id="{118B61EF-7CBA-5C13-FDF3-91B79F33FB68}"/>
              </a:ext>
            </a:extLst>
          </p:cNvPr>
          <p:cNvSpPr>
            <a:spLocks noChangeArrowheads="1"/>
          </p:cNvSpPr>
          <p:nvPr>
            <p:ph type="body" idx="1"/>
          </p:nvPr>
        </p:nvSpPr>
        <p:spPr/>
        <p:txBody>
          <a:bodyPr/>
          <a:lstStyle/>
          <a:p>
            <a:pPr marL="146050" indent="-146050">
              <a:spcBef>
                <a:spcPts val="300"/>
              </a:spcBef>
            </a:pPr>
            <a:r>
              <a:rPr lang="en-US" altLang="en-US" sz="1600"/>
              <a:t>What will be the total number of </a:t>
            </a:r>
            <a:r>
              <a:rPr lang="en-US" altLang="en-US" sz="1600" b="1"/>
              <a:t>serial schedules</a:t>
            </a:r>
            <a:r>
              <a:rPr lang="en-US" altLang="en-US" sz="1600"/>
              <a:t> that can occur  if there are m Transactions i.e., T1, T2,….Tm</a:t>
            </a:r>
          </a:p>
          <a:p>
            <a:pPr marL="146050" indent="-146050">
              <a:spcBef>
                <a:spcPts val="300"/>
              </a:spcBef>
            </a:pPr>
            <a:r>
              <a:rPr lang="en-US" altLang="en-US" sz="1600"/>
              <a:t>Answer: </a:t>
            </a:r>
            <a:r>
              <a:rPr lang="en-US" altLang="en-US" sz="1600" b="1"/>
              <a:t>m!</a:t>
            </a:r>
            <a:r>
              <a:rPr lang="en-US" altLang="en-US" sz="1600"/>
              <a:t>  (m * (m-1) * (m-2)…..*1)</a:t>
            </a:r>
          </a:p>
          <a:p>
            <a:pPr marL="146050" indent="-146050"/>
            <a:endParaRPr lang="en-US" altLang="en-US" sz="1600"/>
          </a:p>
          <a:p>
            <a:pPr marL="146050" indent="-146050">
              <a:spcBef>
                <a:spcPts val="300"/>
              </a:spcBef>
              <a:buSzTx/>
              <a:buFont typeface="Wingdings" panose="05000000000000000000" pitchFamily="2" charset="2"/>
              <a:buNone/>
            </a:pPr>
            <a:r>
              <a:rPr lang="en-US" altLang="en-US" sz="1600"/>
              <a:t>Example: </a:t>
            </a:r>
          </a:p>
          <a:p>
            <a:pPr marL="146050" indent="-146050">
              <a:spcBef>
                <a:spcPts val="300"/>
              </a:spcBef>
            </a:pPr>
            <a:r>
              <a:rPr lang="en-US" altLang="en-US" sz="1600"/>
              <a:t>Two Transactions T1 &amp; T2</a:t>
            </a:r>
          </a:p>
          <a:p>
            <a:pPr marL="146050" indent="-146050">
              <a:spcBef>
                <a:spcPts val="300"/>
              </a:spcBef>
              <a:buSzTx/>
              <a:buFont typeface="Wingdings" panose="05000000000000000000" pitchFamily="2" charset="2"/>
              <a:buNone/>
            </a:pPr>
            <a:r>
              <a:rPr lang="en-US" altLang="en-US" sz="1600"/>
              <a:t>Two (2!) Serial Schedules: </a:t>
            </a:r>
          </a:p>
          <a:p>
            <a:pPr marL="146050" indent="-146050">
              <a:spcBef>
                <a:spcPts val="300"/>
              </a:spcBef>
              <a:buSzTx/>
              <a:buFont typeface="Wingdings" panose="05000000000000000000" pitchFamily="2" charset="2"/>
              <a:buNone/>
            </a:pPr>
            <a:r>
              <a:rPr lang="en-US" altLang="en-US" sz="1600"/>
              <a:t>T1, T2  </a:t>
            </a:r>
          </a:p>
          <a:p>
            <a:pPr marL="146050" indent="-146050">
              <a:spcBef>
                <a:spcPts val="300"/>
              </a:spcBef>
              <a:buSzTx/>
              <a:buFont typeface="Wingdings" panose="05000000000000000000" pitchFamily="2" charset="2"/>
              <a:buNone/>
            </a:pPr>
            <a:r>
              <a:rPr lang="en-US" altLang="en-US" sz="1600"/>
              <a:t>T2,T1 </a:t>
            </a:r>
          </a:p>
          <a:p>
            <a:pPr marL="146050" indent="-146050">
              <a:spcBef>
                <a:spcPts val="300"/>
              </a:spcBef>
            </a:pPr>
            <a:r>
              <a:rPr lang="en-US" altLang="en-US" sz="1600"/>
              <a:t>Three Transactions T1 , T2 &amp; T3</a:t>
            </a:r>
          </a:p>
          <a:p>
            <a:pPr marL="146050" indent="-146050">
              <a:spcBef>
                <a:spcPts val="300"/>
              </a:spcBef>
              <a:buSzTx/>
              <a:buFont typeface="Wingdings" panose="05000000000000000000" pitchFamily="2" charset="2"/>
              <a:buNone/>
            </a:pPr>
            <a:r>
              <a:rPr lang="en-US" altLang="en-US" sz="1600"/>
              <a:t>Six (3!) Serial Schedules : </a:t>
            </a:r>
          </a:p>
          <a:p>
            <a:pPr marL="146050" indent="-146050">
              <a:spcBef>
                <a:spcPts val="300"/>
              </a:spcBef>
              <a:buSzTx/>
              <a:buFont typeface="Wingdings" panose="05000000000000000000" pitchFamily="2" charset="2"/>
              <a:buNone/>
            </a:pPr>
            <a:r>
              <a:rPr lang="en-US" altLang="en-US" sz="1600"/>
              <a:t>T1,T2,T3  </a:t>
            </a:r>
          </a:p>
          <a:p>
            <a:pPr marL="146050" indent="-146050">
              <a:spcBef>
                <a:spcPts val="300"/>
              </a:spcBef>
              <a:buSzTx/>
              <a:buFont typeface="Wingdings" panose="05000000000000000000" pitchFamily="2" charset="2"/>
              <a:buNone/>
            </a:pPr>
            <a:r>
              <a:rPr lang="en-US" altLang="en-US" sz="1600"/>
              <a:t>T1,T3,T2 </a:t>
            </a:r>
          </a:p>
          <a:p>
            <a:pPr marL="146050" indent="-146050">
              <a:spcBef>
                <a:spcPts val="300"/>
              </a:spcBef>
              <a:buSzTx/>
              <a:buFont typeface="Wingdings" panose="05000000000000000000" pitchFamily="2" charset="2"/>
              <a:buNone/>
            </a:pPr>
            <a:r>
              <a:rPr lang="en-US" altLang="en-US" sz="1600"/>
              <a:t>T2,T1,T3  </a:t>
            </a:r>
          </a:p>
          <a:p>
            <a:pPr marL="146050" indent="-146050">
              <a:spcBef>
                <a:spcPts val="300"/>
              </a:spcBef>
              <a:buSzTx/>
              <a:buFont typeface="Wingdings" panose="05000000000000000000" pitchFamily="2" charset="2"/>
              <a:buNone/>
            </a:pPr>
            <a:r>
              <a:rPr lang="en-US" altLang="en-US" sz="1600"/>
              <a:t>T2,T3,T1 </a:t>
            </a:r>
          </a:p>
          <a:p>
            <a:pPr marL="146050" indent="-146050">
              <a:spcBef>
                <a:spcPts val="300"/>
              </a:spcBef>
              <a:buSzTx/>
              <a:buFont typeface="Wingdings" panose="05000000000000000000" pitchFamily="2" charset="2"/>
              <a:buNone/>
            </a:pPr>
            <a:r>
              <a:rPr lang="en-US" altLang="en-US" sz="1600"/>
              <a:t>T3,T1,T2 </a:t>
            </a:r>
          </a:p>
          <a:p>
            <a:pPr marL="146050" indent="-146050">
              <a:spcBef>
                <a:spcPts val="300"/>
              </a:spcBef>
              <a:buSzTx/>
              <a:buFont typeface="Wingdings" panose="05000000000000000000" pitchFamily="2" charset="2"/>
              <a:buNone/>
            </a:pPr>
            <a:r>
              <a:rPr lang="en-US" altLang="en-US" sz="1600"/>
              <a:t>T3,T2,T1</a:t>
            </a:r>
          </a:p>
        </p:txBody>
      </p:sp>
      <p:sp>
        <p:nvSpPr>
          <p:cNvPr id="79876" name="Text Box 4" descr="Date Placeholder 3">
            <a:extLst>
              <a:ext uri="{FF2B5EF4-FFF2-40B4-BE49-F238E27FC236}">
                <a16:creationId xmlns:a16="http://schemas.microsoft.com/office/drawing/2014/main" id="{BD4A9D41-FE37-807B-1E57-323C23C3DE0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79877" name="Text Box 5" descr="Slide Number Placeholder 5">
            <a:extLst>
              <a:ext uri="{FF2B5EF4-FFF2-40B4-BE49-F238E27FC236}">
                <a16:creationId xmlns:a16="http://schemas.microsoft.com/office/drawing/2014/main" id="{C599FF3F-B08A-4FC5-0BD4-ADA1F76579A1}"/>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2982E0B-EA6C-47F6-9F67-2FADA240BF3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75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Rectangle 1" descr="Rectangle 2">
            <a:extLst>
              <a:ext uri="{FF2B5EF4-FFF2-40B4-BE49-F238E27FC236}">
                <a16:creationId xmlns:a16="http://schemas.microsoft.com/office/drawing/2014/main" id="{F8EB9B38-D2B2-97CA-0FFA-C5E786C8B63D}"/>
              </a:ext>
            </a:extLst>
          </p:cNvPr>
          <p:cNvSpPr>
            <a:spLocks noChangeArrowheads="1"/>
          </p:cNvSpPr>
          <p:nvPr>
            <p:ph type="title"/>
          </p:nvPr>
        </p:nvSpPr>
        <p:spPr/>
        <p:txBody>
          <a:bodyPr/>
          <a:lstStyle/>
          <a:p>
            <a:r>
              <a:rPr lang="en-US" altLang="en-US"/>
              <a:t>Scheduling Definitions</a:t>
            </a:r>
          </a:p>
        </p:txBody>
      </p:sp>
      <p:sp>
        <p:nvSpPr>
          <p:cNvPr id="81922" name="Rectangle 2" descr="Rectangle 3">
            <a:extLst>
              <a:ext uri="{FF2B5EF4-FFF2-40B4-BE49-F238E27FC236}">
                <a16:creationId xmlns:a16="http://schemas.microsoft.com/office/drawing/2014/main" id="{2D00CD90-BB14-D480-257F-FFE69B1E6B48}"/>
              </a:ext>
            </a:extLst>
          </p:cNvPr>
          <p:cNvSpPr>
            <a:spLocks noChangeArrowheads="1"/>
          </p:cNvSpPr>
          <p:nvPr>
            <p:ph type="body" idx="1"/>
          </p:nvPr>
        </p:nvSpPr>
        <p:spPr>
          <a:xfrm>
            <a:off x="603250" y="1311275"/>
            <a:ext cx="7886700" cy="4800600"/>
          </a:xfrm>
        </p:spPr>
        <p:txBody>
          <a:bodyPr/>
          <a:lstStyle/>
          <a:p>
            <a:pPr>
              <a:spcBef>
                <a:spcPts val="400"/>
              </a:spcBef>
            </a:pPr>
            <a:r>
              <a:rPr lang="en-US" altLang="en-US" sz="2000"/>
              <a:t>A </a:t>
            </a:r>
            <a:r>
              <a:rPr lang="en-US" altLang="en-US" sz="2000" b="1" u="sng"/>
              <a:t>serial schedule</a:t>
            </a:r>
            <a:r>
              <a:rPr lang="en-US" altLang="en-US" sz="2000"/>
              <a:t> is one that does not interleave the actions of different transactions</a:t>
            </a:r>
          </a:p>
          <a:p>
            <a:endParaRPr lang="en-US" altLang="en-US" sz="2000" i="1" u="sng">
              <a:solidFill>
                <a:schemeClr val="accent2"/>
              </a:solidFill>
            </a:endParaRPr>
          </a:p>
          <a:p>
            <a:pPr>
              <a:spcBef>
                <a:spcPts val="400"/>
              </a:spcBef>
            </a:pPr>
            <a:r>
              <a:rPr lang="en-US" altLang="en-US" sz="2000"/>
              <a:t>A and B are </a:t>
            </a:r>
            <a:r>
              <a:rPr lang="en-US" altLang="en-US" sz="2000" b="1" u="sng"/>
              <a:t>equivalent schedules</a:t>
            </a:r>
            <a:r>
              <a:rPr lang="en-US" altLang="en-US" sz="2000"/>
              <a:t> if,</a:t>
            </a:r>
            <a:r>
              <a:rPr lang="en-US" altLang="en-US" sz="2000" i="1"/>
              <a:t> </a:t>
            </a:r>
            <a:r>
              <a:rPr lang="en-US" altLang="en-US" sz="2000" b="1" i="1"/>
              <a:t>for any database state</a:t>
            </a:r>
            <a:r>
              <a:rPr lang="en-US" altLang="en-US" sz="2000"/>
              <a:t>, the effect on database of executing A </a:t>
            </a:r>
            <a:r>
              <a:rPr lang="en-US" altLang="en-US" sz="2000" b="1"/>
              <a:t>is identical to </a:t>
            </a:r>
            <a:r>
              <a:rPr lang="en-US" altLang="en-US" sz="2000"/>
              <a:t>the effect of executing B</a:t>
            </a:r>
          </a:p>
        </p:txBody>
      </p:sp>
    </p:spTree>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Rectangle 1" descr="Title 1">
            <a:extLst>
              <a:ext uri="{FF2B5EF4-FFF2-40B4-BE49-F238E27FC236}">
                <a16:creationId xmlns:a16="http://schemas.microsoft.com/office/drawing/2014/main" id="{6E8F3E44-52B3-D09B-FB7F-A75F38F04C47}"/>
              </a:ext>
            </a:extLst>
          </p:cNvPr>
          <p:cNvSpPr>
            <a:spLocks noChangeArrowheads="1"/>
          </p:cNvSpPr>
          <p:nvPr>
            <p:ph type="title"/>
          </p:nvPr>
        </p:nvSpPr>
        <p:spPr>
          <a:xfrm>
            <a:off x="571500" y="115888"/>
            <a:ext cx="8001000" cy="762000"/>
          </a:xfrm>
        </p:spPr>
        <p:txBody>
          <a:bodyPr/>
          <a:lstStyle/>
          <a:p>
            <a:r>
              <a:rPr lang="en-US" altLang="en-US" sz="2000"/>
              <a:t>Question: Schedule-1 and Schedule-2 are result Equivalent</a:t>
            </a:r>
          </a:p>
        </p:txBody>
      </p:sp>
      <p:sp>
        <p:nvSpPr>
          <p:cNvPr id="82946" name="Rectangle 2" descr="Content Placeholder 2">
            <a:extLst>
              <a:ext uri="{FF2B5EF4-FFF2-40B4-BE49-F238E27FC236}">
                <a16:creationId xmlns:a16="http://schemas.microsoft.com/office/drawing/2014/main" id="{77CE7A39-1615-D15F-7441-C46F010D8C58}"/>
              </a:ext>
            </a:extLst>
          </p:cNvPr>
          <p:cNvSpPr>
            <a:spLocks noChangeArrowheads="1"/>
          </p:cNvSpPr>
          <p:nvPr>
            <p:ph type="body" idx="1"/>
          </p:nvPr>
        </p:nvSpPr>
        <p:spPr>
          <a:xfrm>
            <a:off x="490538" y="1219200"/>
            <a:ext cx="8001000" cy="5029200"/>
          </a:xfrm>
        </p:spPr>
        <p:txBody>
          <a:bodyPr/>
          <a:lstStyle/>
          <a:p>
            <a:pPr marL="0" indent="0">
              <a:spcBef>
                <a:spcPts val="300"/>
              </a:spcBef>
              <a:buSzTx/>
              <a:buFont typeface="Wingdings" panose="05000000000000000000" pitchFamily="2" charset="2"/>
              <a:buNone/>
            </a:pPr>
            <a:r>
              <a:rPr lang="en-US" altLang="en-US" sz="1600">
                <a:solidFill>
                  <a:srgbClr val="273239"/>
                </a:solidFill>
                <a:latin typeface="urw-din" charset="0"/>
                <a:ea typeface="urw-din" charset="0"/>
                <a:cs typeface="urw-din" charset="0"/>
                <a:sym typeface="urw-din" charset="0"/>
              </a:rPr>
              <a:t>Let us consider the following schedules S1 and S2 and check for result equivalence on initial values of X and Y as 2 and 5 respectively.</a:t>
            </a:r>
          </a:p>
        </p:txBody>
      </p:sp>
      <p:graphicFrame>
        <p:nvGraphicFramePr>
          <p:cNvPr id="82947" name="Group 3">
            <a:extLst>
              <a:ext uri="{FF2B5EF4-FFF2-40B4-BE49-F238E27FC236}">
                <a16:creationId xmlns:a16="http://schemas.microsoft.com/office/drawing/2014/main" id="{AD96698D-E682-D906-59E4-1C6AB0C81D5C}"/>
              </a:ext>
            </a:extLst>
          </p:cNvPr>
          <p:cNvGraphicFramePr>
            <a:graphicFrameLocks noGrp="1"/>
          </p:cNvGraphicFramePr>
          <p:nvPr/>
        </p:nvGraphicFramePr>
        <p:xfrm>
          <a:off x="492125" y="2041525"/>
          <a:ext cx="1943100" cy="4406900"/>
        </p:xfrm>
        <a:graphic>
          <a:graphicData uri="http://schemas.openxmlformats.org/drawingml/2006/table">
            <a:tbl>
              <a:tblPr/>
              <a:tblGrid>
                <a:gridCol w="971550">
                  <a:extLst>
                    <a:ext uri="{9D8B030D-6E8A-4147-A177-3AD203B41FA5}">
                      <a16:colId xmlns:a16="http://schemas.microsoft.com/office/drawing/2014/main" val="993135311"/>
                    </a:ext>
                  </a:extLst>
                </a:gridCol>
                <a:gridCol w="971550">
                  <a:extLst>
                    <a:ext uri="{9D8B030D-6E8A-4147-A177-3AD203B41FA5}">
                      <a16:colId xmlns:a16="http://schemas.microsoft.com/office/drawing/2014/main" val="488194435"/>
                    </a:ext>
                  </a:extLst>
                </a:gridCol>
              </a:tblGrid>
              <a:tr h="4064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89307787"/>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8912006"/>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8032381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2365197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7089603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Y=Y+5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9728598"/>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1430027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78452208"/>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22819162"/>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67467963"/>
                  </a:ext>
                </a:extLst>
              </a:tr>
            </a:tbl>
          </a:graphicData>
        </a:graphic>
      </p:graphicFrame>
      <p:sp>
        <p:nvSpPr>
          <p:cNvPr id="83020" name="Text Box 76" descr="TextBox 8">
            <a:extLst>
              <a:ext uri="{FF2B5EF4-FFF2-40B4-BE49-F238E27FC236}">
                <a16:creationId xmlns:a16="http://schemas.microsoft.com/office/drawing/2014/main" id="{E5E4F9B6-8C42-CDBB-2A6E-94B7C40E0E30}"/>
              </a:ext>
            </a:extLst>
          </p:cNvPr>
          <p:cNvSpPr txBox="1">
            <a:spLocks/>
          </p:cNvSpPr>
          <p:nvPr/>
        </p:nvSpPr>
        <p:spPr bwMode="auto">
          <a:xfrm>
            <a:off x="687388" y="1701800"/>
            <a:ext cx="139541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Schedule-1</a:t>
            </a:r>
          </a:p>
        </p:txBody>
      </p:sp>
      <p:sp>
        <p:nvSpPr>
          <p:cNvPr id="83021" name="Text Box 77" descr="TextBox 9">
            <a:extLst>
              <a:ext uri="{FF2B5EF4-FFF2-40B4-BE49-F238E27FC236}">
                <a16:creationId xmlns:a16="http://schemas.microsoft.com/office/drawing/2014/main" id="{9BA612BA-FB24-DCC2-E1CC-38B3EA26D3FC}"/>
              </a:ext>
            </a:extLst>
          </p:cNvPr>
          <p:cNvSpPr txBox="1">
            <a:spLocks/>
          </p:cNvSpPr>
          <p:nvPr/>
        </p:nvSpPr>
        <p:spPr bwMode="auto">
          <a:xfrm>
            <a:off x="3168650" y="1719263"/>
            <a:ext cx="1395413"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Schedule-2</a:t>
            </a:r>
          </a:p>
        </p:txBody>
      </p:sp>
      <p:graphicFrame>
        <p:nvGraphicFramePr>
          <p:cNvPr id="83022" name="Group 78">
            <a:extLst>
              <a:ext uri="{FF2B5EF4-FFF2-40B4-BE49-F238E27FC236}">
                <a16:creationId xmlns:a16="http://schemas.microsoft.com/office/drawing/2014/main" id="{1F9C9B5C-A853-5B56-0CE1-307223C0A05C}"/>
              </a:ext>
            </a:extLst>
          </p:cNvPr>
          <p:cNvGraphicFramePr>
            <a:graphicFrameLocks noGrp="1"/>
          </p:cNvGraphicFramePr>
          <p:nvPr/>
        </p:nvGraphicFramePr>
        <p:xfrm>
          <a:off x="2916238" y="2089150"/>
          <a:ext cx="2212975" cy="4343400"/>
        </p:xfrm>
        <a:graphic>
          <a:graphicData uri="http://schemas.openxmlformats.org/drawingml/2006/table">
            <a:tbl>
              <a:tblPr/>
              <a:tblGrid>
                <a:gridCol w="1106487">
                  <a:extLst>
                    <a:ext uri="{9D8B030D-6E8A-4147-A177-3AD203B41FA5}">
                      <a16:colId xmlns:a16="http://schemas.microsoft.com/office/drawing/2014/main" val="903532031"/>
                    </a:ext>
                  </a:extLst>
                </a:gridCol>
                <a:gridCol w="1106488">
                  <a:extLst>
                    <a:ext uri="{9D8B030D-6E8A-4147-A177-3AD203B41FA5}">
                      <a16:colId xmlns:a16="http://schemas.microsoft.com/office/drawing/2014/main" val="286749356"/>
                    </a:ext>
                  </a:extLst>
                </a:gridCol>
              </a:tblGrid>
              <a:tr h="3810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78383393"/>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02601810"/>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934286772"/>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40673180"/>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8652874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67390582"/>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94474258"/>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598893792"/>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Y=Y+5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77116808"/>
                  </a:ext>
                </a:extLst>
              </a:tr>
              <a:tr h="4064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19166545"/>
                  </a:ext>
                </a:extLst>
              </a:tr>
            </a:tbl>
          </a:graphicData>
        </a:graphic>
      </p:graphicFrame>
    </p:spTree>
  </p:cSld>
  <p:clrMapOvr>
    <a:masterClrMapping/>
  </p:clrMapOvr>
  <p:transition spd="med"/>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1" descr="Title 1">
            <a:extLst>
              <a:ext uri="{FF2B5EF4-FFF2-40B4-BE49-F238E27FC236}">
                <a16:creationId xmlns:a16="http://schemas.microsoft.com/office/drawing/2014/main" id="{75FABCC0-39A7-1474-99A0-2538E5EF6405}"/>
              </a:ext>
            </a:extLst>
          </p:cNvPr>
          <p:cNvSpPr>
            <a:spLocks noChangeArrowheads="1"/>
          </p:cNvSpPr>
          <p:nvPr>
            <p:ph type="title"/>
          </p:nvPr>
        </p:nvSpPr>
        <p:spPr/>
        <p:txBody>
          <a:bodyPr/>
          <a:lstStyle/>
          <a:p>
            <a:r>
              <a:rPr lang="en-US" altLang="en-US"/>
              <a:t>Example for Equivalent Schedules</a:t>
            </a:r>
          </a:p>
        </p:txBody>
      </p:sp>
      <p:sp>
        <p:nvSpPr>
          <p:cNvPr id="83970" name="Rectangle 2" descr="Content Placeholder 2">
            <a:extLst>
              <a:ext uri="{FF2B5EF4-FFF2-40B4-BE49-F238E27FC236}">
                <a16:creationId xmlns:a16="http://schemas.microsoft.com/office/drawing/2014/main" id="{BA2C6856-5A4C-8FF8-345D-CA0D13319A05}"/>
              </a:ext>
            </a:extLst>
          </p:cNvPr>
          <p:cNvSpPr>
            <a:spLocks noChangeArrowheads="1"/>
          </p:cNvSpPr>
          <p:nvPr>
            <p:ph type="body" idx="1"/>
          </p:nvPr>
        </p:nvSpPr>
        <p:spPr>
          <a:xfrm>
            <a:off x="490538" y="1219200"/>
            <a:ext cx="8001000" cy="5029200"/>
          </a:xfrm>
        </p:spPr>
        <p:txBody>
          <a:bodyPr/>
          <a:lstStyle/>
          <a:p>
            <a:pPr marL="0" indent="0">
              <a:spcBef>
                <a:spcPts val="300"/>
              </a:spcBef>
              <a:buSzTx/>
              <a:buFont typeface="Wingdings" panose="05000000000000000000" pitchFamily="2" charset="2"/>
              <a:buNone/>
            </a:pPr>
            <a:r>
              <a:rPr lang="en-US" altLang="en-US" sz="1600">
                <a:solidFill>
                  <a:srgbClr val="273239"/>
                </a:solidFill>
                <a:latin typeface="urw-din" charset="0"/>
                <a:ea typeface="urw-din" charset="0"/>
                <a:cs typeface="urw-din" charset="0"/>
                <a:sym typeface="urw-din" charset="0"/>
              </a:rPr>
              <a:t>Let us consider the following schedules S1 and S2 and check for result equivalence on initial values of X and Y as 2 and 5 respectively.</a:t>
            </a:r>
          </a:p>
        </p:txBody>
      </p:sp>
      <p:graphicFrame>
        <p:nvGraphicFramePr>
          <p:cNvPr id="83971" name="Group 3">
            <a:extLst>
              <a:ext uri="{FF2B5EF4-FFF2-40B4-BE49-F238E27FC236}">
                <a16:creationId xmlns:a16="http://schemas.microsoft.com/office/drawing/2014/main" id="{DCBA5805-4CF2-0A7A-1609-C9B356DE66E3}"/>
              </a:ext>
            </a:extLst>
          </p:cNvPr>
          <p:cNvGraphicFramePr>
            <a:graphicFrameLocks noGrp="1"/>
          </p:cNvGraphicFramePr>
          <p:nvPr/>
        </p:nvGraphicFramePr>
        <p:xfrm>
          <a:off x="492125" y="2041525"/>
          <a:ext cx="1943100" cy="4406900"/>
        </p:xfrm>
        <a:graphic>
          <a:graphicData uri="http://schemas.openxmlformats.org/drawingml/2006/table">
            <a:tbl>
              <a:tblPr/>
              <a:tblGrid>
                <a:gridCol w="971550">
                  <a:extLst>
                    <a:ext uri="{9D8B030D-6E8A-4147-A177-3AD203B41FA5}">
                      <a16:colId xmlns:a16="http://schemas.microsoft.com/office/drawing/2014/main" val="2290198936"/>
                    </a:ext>
                  </a:extLst>
                </a:gridCol>
                <a:gridCol w="971550">
                  <a:extLst>
                    <a:ext uri="{9D8B030D-6E8A-4147-A177-3AD203B41FA5}">
                      <a16:colId xmlns:a16="http://schemas.microsoft.com/office/drawing/2014/main" val="1178230608"/>
                    </a:ext>
                  </a:extLst>
                </a:gridCol>
              </a:tblGrid>
              <a:tr h="4064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29874691"/>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92035781"/>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59252986"/>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37216615"/>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8608173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Y=Y+5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04455486"/>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17790502"/>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44191499"/>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54287229"/>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90858840"/>
                  </a:ext>
                </a:extLst>
              </a:tr>
            </a:tbl>
          </a:graphicData>
        </a:graphic>
      </p:graphicFrame>
      <p:sp>
        <p:nvSpPr>
          <p:cNvPr id="84044" name="Text Box 76" descr="TextBox 8">
            <a:extLst>
              <a:ext uri="{FF2B5EF4-FFF2-40B4-BE49-F238E27FC236}">
                <a16:creationId xmlns:a16="http://schemas.microsoft.com/office/drawing/2014/main" id="{1E8D7B59-2C2A-79CB-D4E9-05161C1F258F}"/>
              </a:ext>
            </a:extLst>
          </p:cNvPr>
          <p:cNvSpPr txBox="1">
            <a:spLocks/>
          </p:cNvSpPr>
          <p:nvPr/>
        </p:nvSpPr>
        <p:spPr bwMode="auto">
          <a:xfrm>
            <a:off x="687388" y="1701800"/>
            <a:ext cx="139541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Schedule-1</a:t>
            </a:r>
          </a:p>
        </p:txBody>
      </p:sp>
      <p:sp>
        <p:nvSpPr>
          <p:cNvPr id="84045" name="Text Box 77" descr="TextBox 9">
            <a:extLst>
              <a:ext uri="{FF2B5EF4-FFF2-40B4-BE49-F238E27FC236}">
                <a16:creationId xmlns:a16="http://schemas.microsoft.com/office/drawing/2014/main" id="{8975B870-1C8C-88D8-6F2E-AB3B65D501B2}"/>
              </a:ext>
            </a:extLst>
          </p:cNvPr>
          <p:cNvSpPr txBox="1">
            <a:spLocks/>
          </p:cNvSpPr>
          <p:nvPr/>
        </p:nvSpPr>
        <p:spPr bwMode="auto">
          <a:xfrm>
            <a:off x="3168650" y="1719263"/>
            <a:ext cx="1395413"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Schedule-2</a:t>
            </a:r>
          </a:p>
        </p:txBody>
      </p:sp>
      <p:graphicFrame>
        <p:nvGraphicFramePr>
          <p:cNvPr id="84046" name="Group 78">
            <a:extLst>
              <a:ext uri="{FF2B5EF4-FFF2-40B4-BE49-F238E27FC236}">
                <a16:creationId xmlns:a16="http://schemas.microsoft.com/office/drawing/2014/main" id="{A0D25938-2E9A-2816-0D9D-CD5EEEB74EE5}"/>
              </a:ext>
            </a:extLst>
          </p:cNvPr>
          <p:cNvGraphicFramePr>
            <a:graphicFrameLocks noGrp="1"/>
          </p:cNvGraphicFramePr>
          <p:nvPr/>
        </p:nvGraphicFramePr>
        <p:xfrm>
          <a:off x="2916238" y="2089150"/>
          <a:ext cx="2212975" cy="4343400"/>
        </p:xfrm>
        <a:graphic>
          <a:graphicData uri="http://schemas.openxmlformats.org/drawingml/2006/table">
            <a:tbl>
              <a:tblPr/>
              <a:tblGrid>
                <a:gridCol w="1106487">
                  <a:extLst>
                    <a:ext uri="{9D8B030D-6E8A-4147-A177-3AD203B41FA5}">
                      <a16:colId xmlns:a16="http://schemas.microsoft.com/office/drawing/2014/main" val="3396602364"/>
                    </a:ext>
                  </a:extLst>
                </a:gridCol>
                <a:gridCol w="1106488">
                  <a:extLst>
                    <a:ext uri="{9D8B030D-6E8A-4147-A177-3AD203B41FA5}">
                      <a16:colId xmlns:a16="http://schemas.microsoft.com/office/drawing/2014/main" val="2109703309"/>
                    </a:ext>
                  </a:extLst>
                </a:gridCol>
              </a:tblGrid>
              <a:tr h="3810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15434193"/>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77756218"/>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0038993"/>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29116177"/>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826594997"/>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34625184"/>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228453038"/>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91038252"/>
                  </a:ext>
                </a:extLst>
              </a:tr>
              <a:tr h="4445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Y=Y+5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08172338"/>
                  </a:ext>
                </a:extLst>
              </a:tr>
              <a:tr h="4064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76200" marR="76200" marT="76200" marB="762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15844038"/>
                  </a:ext>
                </a:extLst>
              </a:tr>
            </a:tbl>
          </a:graphicData>
        </a:graphic>
      </p:graphicFrame>
      <p:sp>
        <p:nvSpPr>
          <p:cNvPr id="84119" name="Text Box 151" descr="TextBox 11">
            <a:extLst>
              <a:ext uri="{FF2B5EF4-FFF2-40B4-BE49-F238E27FC236}">
                <a16:creationId xmlns:a16="http://schemas.microsoft.com/office/drawing/2014/main" id="{20CDC41C-14B3-FAF0-B2BF-D19CA9D6B407}"/>
              </a:ext>
            </a:extLst>
          </p:cNvPr>
          <p:cNvSpPr txBox="1">
            <a:spLocks/>
          </p:cNvSpPr>
          <p:nvPr/>
        </p:nvSpPr>
        <p:spPr bwMode="auto">
          <a:xfrm>
            <a:off x="5192713" y="3284538"/>
            <a:ext cx="3832225" cy="1296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273239"/>
                </a:solidFill>
                <a:latin typeface="urw-din" charset="0"/>
                <a:ea typeface="urw-din" charset="0"/>
                <a:cs typeface="urw-din" charset="0"/>
                <a:sym typeface="urw-din" charset="0"/>
              </a:rPr>
              <a:t>In both the above schedules, final values </a:t>
            </a:r>
          </a:p>
          <a:p>
            <a:r>
              <a:rPr lang="en-US" altLang="en-US" sz="1600">
                <a:solidFill>
                  <a:srgbClr val="273239"/>
                </a:solidFill>
                <a:latin typeface="urw-din" charset="0"/>
                <a:ea typeface="urw-din" charset="0"/>
                <a:cs typeface="urw-din" charset="0"/>
                <a:sym typeface="urw-din" charset="0"/>
              </a:rPr>
              <a:t>on substituting X and Y as 2 and 5 </a:t>
            </a:r>
          </a:p>
          <a:p>
            <a:r>
              <a:rPr lang="en-US" altLang="en-US" sz="1600">
                <a:solidFill>
                  <a:srgbClr val="273239"/>
                </a:solidFill>
                <a:latin typeface="urw-din" charset="0"/>
                <a:ea typeface="urw-din" charset="0"/>
                <a:cs typeface="urw-din" charset="0"/>
                <a:sym typeface="urw-din" charset="0"/>
              </a:rPr>
              <a:t>respectively are </a:t>
            </a:r>
            <a:r>
              <a:rPr lang="en-US" altLang="en-US" sz="1600" b="1">
                <a:solidFill>
                  <a:srgbClr val="273239"/>
                </a:solidFill>
                <a:latin typeface="urw-din" charset="0"/>
                <a:ea typeface="urw-din" charset="0"/>
                <a:cs typeface="urw-din" charset="0"/>
                <a:sym typeface="urw-din" charset="0"/>
              </a:rPr>
              <a:t>X=21 AND Y=10</a:t>
            </a:r>
            <a:r>
              <a:rPr lang="en-US" altLang="en-US" sz="1600">
                <a:solidFill>
                  <a:srgbClr val="273239"/>
                </a:solidFill>
                <a:latin typeface="urw-din" charset="0"/>
                <a:ea typeface="urw-din" charset="0"/>
                <a:cs typeface="urw-din" charset="0"/>
                <a:sym typeface="urw-din" charset="0"/>
              </a:rPr>
              <a:t>.</a:t>
            </a:r>
            <a:br>
              <a:rPr lang="en-US" altLang="en-US" sz="1600">
                <a:solidFill>
                  <a:srgbClr val="273239"/>
                </a:solidFill>
                <a:latin typeface="urw-din" charset="0"/>
                <a:ea typeface="urw-din" charset="0"/>
                <a:cs typeface="urw-din" charset="0"/>
                <a:sym typeface="urw-din" charset="0"/>
              </a:rPr>
            </a:br>
            <a:r>
              <a:rPr lang="en-US" altLang="en-US" sz="1600">
                <a:solidFill>
                  <a:srgbClr val="273239"/>
                </a:solidFill>
                <a:latin typeface="urw-din" charset="0"/>
                <a:ea typeface="urw-din" charset="0"/>
                <a:cs typeface="urw-din" charset="0"/>
                <a:sym typeface="urw-din" charset="0"/>
              </a:rPr>
              <a:t>Thus, S1 and S2 are </a:t>
            </a:r>
          </a:p>
          <a:p>
            <a:r>
              <a:rPr lang="en-US" altLang="en-US" sz="1600" b="1">
                <a:solidFill>
                  <a:srgbClr val="273239"/>
                </a:solidFill>
                <a:latin typeface="urw-din" charset="0"/>
                <a:ea typeface="urw-din" charset="0"/>
                <a:cs typeface="urw-din" charset="0"/>
                <a:sym typeface="urw-din" charset="0"/>
              </a:rPr>
              <a:t>Equivalent Schedules.</a:t>
            </a:r>
          </a:p>
        </p:txBody>
      </p:sp>
    </p:spTree>
  </p:cSld>
  <p:clrMapOvr>
    <a:masterClrMapping/>
  </p:clrMapOvr>
  <p:transition spd="med"/>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3" name="Rectangle 1" descr="Rectangle 2">
            <a:extLst>
              <a:ext uri="{FF2B5EF4-FFF2-40B4-BE49-F238E27FC236}">
                <a16:creationId xmlns:a16="http://schemas.microsoft.com/office/drawing/2014/main" id="{1FE05BF9-29F6-E45F-1872-BA82F568B139}"/>
              </a:ext>
            </a:extLst>
          </p:cNvPr>
          <p:cNvSpPr>
            <a:spLocks noChangeArrowheads="1"/>
          </p:cNvSpPr>
          <p:nvPr>
            <p:ph type="title"/>
          </p:nvPr>
        </p:nvSpPr>
        <p:spPr/>
        <p:txBody>
          <a:bodyPr/>
          <a:lstStyle/>
          <a:p>
            <a:r>
              <a:rPr lang="en-US" altLang="en-US"/>
              <a:t>Scheduling Definitions</a:t>
            </a:r>
          </a:p>
        </p:txBody>
      </p:sp>
      <p:sp>
        <p:nvSpPr>
          <p:cNvPr id="84994" name="Rectangle 2" descr="Rectangle 3">
            <a:extLst>
              <a:ext uri="{FF2B5EF4-FFF2-40B4-BE49-F238E27FC236}">
                <a16:creationId xmlns:a16="http://schemas.microsoft.com/office/drawing/2014/main" id="{E7528150-262F-6C5F-5FC2-E2EBABBE45CA}"/>
              </a:ext>
            </a:extLst>
          </p:cNvPr>
          <p:cNvSpPr>
            <a:spLocks noChangeArrowheads="1"/>
          </p:cNvSpPr>
          <p:nvPr>
            <p:ph type="body" idx="1"/>
          </p:nvPr>
        </p:nvSpPr>
        <p:spPr>
          <a:xfrm>
            <a:off x="603250" y="1311275"/>
            <a:ext cx="7886700" cy="4800600"/>
          </a:xfrm>
        </p:spPr>
        <p:txBody>
          <a:bodyPr/>
          <a:lstStyle/>
          <a:p>
            <a:pPr>
              <a:spcBef>
                <a:spcPts val="400"/>
              </a:spcBef>
            </a:pPr>
            <a:r>
              <a:rPr lang="en-US" altLang="en-US" sz="2000"/>
              <a:t>A </a:t>
            </a:r>
            <a:r>
              <a:rPr lang="en-US" altLang="en-US" sz="2000" b="1" u="sng"/>
              <a:t>serial schedule</a:t>
            </a:r>
            <a:r>
              <a:rPr lang="en-US" altLang="en-US" sz="2000"/>
              <a:t> is one that does not interleave the actions of different transactions</a:t>
            </a:r>
          </a:p>
          <a:p>
            <a:endParaRPr lang="en-US" altLang="en-US" sz="2000" i="1" u="sng">
              <a:solidFill>
                <a:schemeClr val="accent2"/>
              </a:solidFill>
            </a:endParaRPr>
          </a:p>
          <a:p>
            <a:pPr>
              <a:spcBef>
                <a:spcPts val="400"/>
              </a:spcBef>
            </a:pPr>
            <a:r>
              <a:rPr lang="en-US" altLang="en-US" sz="2000"/>
              <a:t>A and B are </a:t>
            </a:r>
            <a:r>
              <a:rPr lang="en-US" altLang="en-US" sz="2000" b="1" u="sng"/>
              <a:t>equivalent schedules</a:t>
            </a:r>
            <a:r>
              <a:rPr lang="en-US" altLang="en-US" sz="2000"/>
              <a:t> if,</a:t>
            </a:r>
            <a:r>
              <a:rPr lang="en-US" altLang="en-US" sz="2000" i="1"/>
              <a:t> </a:t>
            </a:r>
            <a:r>
              <a:rPr lang="en-US" altLang="en-US" sz="2000" b="1" i="1"/>
              <a:t>for any database state</a:t>
            </a:r>
            <a:r>
              <a:rPr lang="en-US" altLang="en-US" sz="2000"/>
              <a:t>, the effect on DB of executing A </a:t>
            </a:r>
            <a:r>
              <a:rPr lang="en-US" altLang="en-US" sz="2000" b="1"/>
              <a:t>is identical to </a:t>
            </a:r>
            <a:r>
              <a:rPr lang="en-US" altLang="en-US" sz="2000"/>
              <a:t>the effect of executing B</a:t>
            </a:r>
          </a:p>
          <a:p>
            <a:endParaRPr lang="en-US" altLang="en-US" sz="2000" i="1" u="sng">
              <a:solidFill>
                <a:schemeClr val="accent2"/>
              </a:solidFill>
            </a:endParaRPr>
          </a:p>
          <a:p>
            <a:pPr>
              <a:spcBef>
                <a:spcPts val="400"/>
              </a:spcBef>
            </a:pPr>
            <a:r>
              <a:rPr lang="en-US" altLang="en-US" sz="2000" i="1"/>
              <a:t>A </a:t>
            </a:r>
            <a:r>
              <a:rPr lang="en-US" altLang="en-US" sz="2000" b="1" u="sng"/>
              <a:t>serializable schedule</a:t>
            </a:r>
            <a:r>
              <a:rPr lang="en-US" altLang="en-US" sz="2000"/>
              <a:t> is a schedule that is equivalent to </a:t>
            </a:r>
            <a:r>
              <a:rPr lang="en-US" altLang="en-US" sz="2000" b="1" i="1"/>
              <a:t>some</a:t>
            </a:r>
            <a:r>
              <a:rPr lang="en-US" altLang="en-US" sz="2000"/>
              <a:t> serial execution of the transactions.</a:t>
            </a:r>
            <a:endParaRPr lang="en-US" altLang="en-US" sz="2000" i="1"/>
          </a:p>
        </p:txBody>
      </p:sp>
      <p:sp>
        <p:nvSpPr>
          <p:cNvPr id="84995" name="Text Box 3" descr="TextBox 2">
            <a:extLst>
              <a:ext uri="{FF2B5EF4-FFF2-40B4-BE49-F238E27FC236}">
                <a16:creationId xmlns:a16="http://schemas.microsoft.com/office/drawing/2014/main" id="{E5BBE922-751E-EA8D-D641-7EF4EFD0D790}"/>
              </a:ext>
            </a:extLst>
          </p:cNvPr>
          <p:cNvSpPr txBox="1">
            <a:spLocks/>
          </p:cNvSpPr>
          <p:nvPr/>
        </p:nvSpPr>
        <p:spPr bwMode="auto">
          <a:xfrm>
            <a:off x="4211638" y="5046663"/>
            <a:ext cx="4176712" cy="701675"/>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sz="2000"/>
              <a:t>The word “</a:t>
            </a:r>
            <a:r>
              <a:rPr lang="en-US" altLang="en-US" sz="2000" b="1"/>
              <a:t>some” </a:t>
            </a:r>
            <a:r>
              <a:rPr lang="en-US" altLang="en-US" sz="2000"/>
              <a:t>makes this definition powerful and tricky!</a:t>
            </a:r>
          </a:p>
        </p:txBody>
      </p:sp>
    </p:spTree>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descr="Rectangle 2">
            <a:extLst>
              <a:ext uri="{FF2B5EF4-FFF2-40B4-BE49-F238E27FC236}">
                <a16:creationId xmlns:a16="http://schemas.microsoft.com/office/drawing/2014/main" id="{2E8891BC-926D-194C-B46E-E086B11E94F4}"/>
              </a:ext>
            </a:extLst>
          </p:cNvPr>
          <p:cNvSpPr>
            <a:spLocks noChangeArrowheads="1"/>
          </p:cNvSpPr>
          <p:nvPr>
            <p:ph type="title"/>
          </p:nvPr>
        </p:nvSpPr>
        <p:spPr/>
        <p:txBody>
          <a:bodyPr/>
          <a:lstStyle/>
          <a:p>
            <a:r>
              <a:rPr lang="en-US" altLang="en-US" sz="2800"/>
              <a:t>Problem to Solve</a:t>
            </a:r>
          </a:p>
        </p:txBody>
      </p:sp>
      <p:sp>
        <p:nvSpPr>
          <p:cNvPr id="86019" name="Rectangle 3" descr="Rectangle 3">
            <a:extLst>
              <a:ext uri="{FF2B5EF4-FFF2-40B4-BE49-F238E27FC236}">
                <a16:creationId xmlns:a16="http://schemas.microsoft.com/office/drawing/2014/main" id="{05AF2625-65BE-C405-9705-EE470BCAD15D}"/>
              </a:ext>
            </a:extLst>
          </p:cNvPr>
          <p:cNvSpPr>
            <a:spLocks noChangeArrowheads="1"/>
          </p:cNvSpPr>
          <p:nvPr>
            <p:ph type="body" sz="half" idx="1"/>
          </p:nvPr>
        </p:nvSpPr>
        <p:spPr>
          <a:xfrm>
            <a:off x="457200" y="3200400"/>
            <a:ext cx="8382000" cy="1600200"/>
          </a:xfrm>
        </p:spPr>
        <p:txBody>
          <a:bodyPr/>
          <a:lstStyle/>
          <a:p>
            <a:pPr marL="0" indent="0">
              <a:lnSpc>
                <a:spcPct val="80000"/>
              </a:lnSpc>
              <a:spcBef>
                <a:spcPts val="400"/>
              </a:spcBef>
              <a:buClrTx/>
              <a:buSzTx/>
              <a:buFontTx/>
              <a:buNone/>
            </a:pPr>
            <a:r>
              <a:rPr lang="en-US" altLang="en-US" sz="2000"/>
              <a:t>To check whether given schedule is </a:t>
            </a:r>
            <a:r>
              <a:rPr lang="en-US" altLang="en-US" sz="2000" b="1"/>
              <a:t>serializable or not</a:t>
            </a:r>
            <a:endParaRPr lang="en-US" altLang="en-US" sz="2000"/>
          </a:p>
        </p:txBody>
      </p:sp>
      <p:sp>
        <p:nvSpPr>
          <p:cNvPr id="86020" name="Text Box 4" descr="Date Placeholder 1">
            <a:extLst>
              <a:ext uri="{FF2B5EF4-FFF2-40B4-BE49-F238E27FC236}">
                <a16:creationId xmlns:a16="http://schemas.microsoft.com/office/drawing/2014/main" id="{7FB43AC6-A9C6-1A16-3902-1442C347EE6A}"/>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86021" name="Text Box 5" descr="Slide Number Placeholder 2">
            <a:extLst>
              <a:ext uri="{FF2B5EF4-FFF2-40B4-BE49-F238E27FC236}">
                <a16:creationId xmlns:a16="http://schemas.microsoft.com/office/drawing/2014/main" id="{310018B4-1686-7732-5ED3-EEB488B2E433}"/>
              </a:ext>
            </a:extLst>
          </p:cNvPr>
          <p:cNvSpPr txBox="1">
            <a:spLocks/>
          </p:cNvSpPr>
          <p:nvPr/>
        </p:nvSpPr>
        <p:spPr bwMode="auto">
          <a:xfrm>
            <a:off x="8183563" y="6248400"/>
            <a:ext cx="274637"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522F028-B134-405E-9093-55FDBA73CF4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1" name="Rectangle 1" descr="Rectangle 2">
            <a:extLst>
              <a:ext uri="{FF2B5EF4-FFF2-40B4-BE49-F238E27FC236}">
                <a16:creationId xmlns:a16="http://schemas.microsoft.com/office/drawing/2014/main" id="{5B8CAD7E-75A0-57FB-9854-92191228AB03}"/>
              </a:ext>
            </a:extLst>
          </p:cNvPr>
          <p:cNvSpPr>
            <a:spLocks noChangeArrowheads="1"/>
          </p:cNvSpPr>
          <p:nvPr>
            <p:ph type="title"/>
          </p:nvPr>
        </p:nvSpPr>
        <p:spPr/>
        <p:txBody>
          <a:bodyPr/>
          <a:lstStyle/>
          <a:p>
            <a:r>
              <a:rPr lang="en-US" altLang="en-US"/>
              <a:t>Example- consider two TXNs:</a:t>
            </a:r>
          </a:p>
        </p:txBody>
      </p:sp>
      <p:sp>
        <p:nvSpPr>
          <p:cNvPr id="87042" name="Rectangle 2" descr="Rectangle 3">
            <a:extLst>
              <a:ext uri="{FF2B5EF4-FFF2-40B4-BE49-F238E27FC236}">
                <a16:creationId xmlns:a16="http://schemas.microsoft.com/office/drawing/2014/main" id="{F1239108-7B6C-7E13-1AAD-84403FEF4026}"/>
              </a:ext>
            </a:extLst>
          </p:cNvPr>
          <p:cNvSpPr>
            <a:spLocks/>
          </p:cNvSpPr>
          <p:nvPr/>
        </p:nvSpPr>
        <p:spPr bwMode="auto">
          <a:xfrm>
            <a:off x="971550" y="1339850"/>
            <a:ext cx="3641725" cy="2501900"/>
          </a:xfrm>
          <a:prstGeom prst="rect">
            <a:avLst/>
          </a:prstGeom>
          <a:solidFill>
            <a:srgbClr val="FFFFFF"/>
          </a:solidFill>
          <a:ln w="9525" cap="flat" cmpd="sng">
            <a:solidFill>
              <a:srgbClr val="808080"/>
            </a:solidFill>
            <a:prstDash val="solid"/>
            <a:miter lim="800000"/>
            <a:headEnd type="none" w="med" len="med"/>
            <a:tailEnd type="none" w="med" len="med"/>
          </a:ln>
          <a:effectLst>
            <a:outerShdw blurRad="50800" dist="12700" dir="2700000" algn="ctr" rotWithShape="0">
              <a:srgbClr val="000000">
                <a:alpha val="39999"/>
              </a:srgbClr>
            </a:outerShdw>
          </a:effectLst>
        </p:spPr>
        <p:txBody>
          <a:bodyPr wrap="none" lIns="45720" rIns="45720">
            <a:spAutoFit/>
          </a:bodyPr>
          <a:lstStyle/>
          <a:p>
            <a:r>
              <a:rPr lang="en-US" altLang="en-US">
                <a:latin typeface="Menlo Regular" charset="0"/>
                <a:ea typeface="Menlo Regular" charset="0"/>
                <a:cs typeface="Menlo Regular" charset="0"/>
                <a:sym typeface="Menlo Regular" charset="0"/>
              </a:rPr>
              <a:t>T1: START TRANSACTION</a:t>
            </a:r>
          </a:p>
          <a:p>
            <a:r>
              <a:rPr lang="en-US" altLang="en-US">
                <a:solidFill>
                  <a:schemeClr val="accent2"/>
                </a:solidFill>
                <a:latin typeface="Menlo Regular" charset="0"/>
                <a:ea typeface="Menlo Regular" charset="0"/>
                <a:cs typeface="Menlo Regular" charset="0"/>
                <a:sym typeface="Menlo Regular" charset="0"/>
              </a:rPr>
              <a:t>	UPDATE</a:t>
            </a:r>
            <a:r>
              <a:rPr lang="en-US" altLang="en-US">
                <a:latin typeface="Menlo Regular" charset="0"/>
                <a:ea typeface="Menlo Regular" charset="0"/>
                <a:cs typeface="Menlo Regular" charset="0"/>
                <a:sym typeface="Menlo Regular" charset="0"/>
              </a:rPr>
              <a:t> Accounts</a:t>
            </a:r>
            <a:br>
              <a:rPr lang="en-US" altLang="en-US">
                <a:latin typeface="Menlo Regular" charset="0"/>
                <a:ea typeface="Menlo Regular" charset="0"/>
                <a:cs typeface="Menlo Regular" charset="0"/>
                <a:sym typeface="Menlo Regular" charset="0"/>
              </a:rPr>
            </a:br>
            <a:r>
              <a:rPr lang="en-US" altLang="en-US">
                <a:latin typeface="Menlo Regular" charset="0"/>
                <a:ea typeface="Menlo Regular" charset="0"/>
                <a:cs typeface="Menlo Regular" charset="0"/>
                <a:sym typeface="Menlo Regular" charset="0"/>
              </a:rPr>
              <a:t>	</a:t>
            </a:r>
            <a:r>
              <a:rPr lang="en-US" altLang="en-US">
                <a:solidFill>
                  <a:schemeClr val="accent2"/>
                </a:solidFill>
                <a:latin typeface="Menlo Regular" charset="0"/>
                <a:ea typeface="Menlo Regular" charset="0"/>
                <a:cs typeface="Menlo Regular" charset="0"/>
                <a:sym typeface="Menlo Regular" charset="0"/>
              </a:rPr>
              <a:t>SET</a:t>
            </a:r>
            <a:r>
              <a:rPr lang="en-US" altLang="en-US">
                <a:latin typeface="Menlo Regular" charset="0"/>
                <a:ea typeface="Menlo Regular" charset="0"/>
                <a:cs typeface="Menlo Regular" charset="0"/>
                <a:sym typeface="Menlo Regular" charset="0"/>
              </a:rPr>
              <a:t> Amt = Amt + 100</a:t>
            </a:r>
          </a:p>
          <a:p>
            <a:r>
              <a:rPr lang="en-US" altLang="en-US">
                <a:solidFill>
                  <a:schemeClr val="accent2"/>
                </a:solidFill>
                <a:latin typeface="Menlo Regular" charset="0"/>
                <a:ea typeface="Menlo Regular" charset="0"/>
                <a:cs typeface="Menlo Regular" charset="0"/>
                <a:sym typeface="Menlo Regular" charset="0"/>
              </a:rPr>
              <a:t>	WHERE</a:t>
            </a:r>
            <a:r>
              <a:rPr lang="en-US" altLang="en-US">
                <a:latin typeface="Menlo Regular" charset="0"/>
                <a:ea typeface="Menlo Regular" charset="0"/>
                <a:cs typeface="Menlo Regular" charset="0"/>
                <a:sym typeface="Menlo Regular" charset="0"/>
              </a:rPr>
              <a:t> Name = ‘A’</a:t>
            </a:r>
          </a:p>
          <a:p>
            <a:r>
              <a:rPr lang="en-US" altLang="en-US">
                <a:solidFill>
                  <a:schemeClr val="accent2"/>
                </a:solidFill>
                <a:latin typeface="Menlo Regular" charset="0"/>
                <a:ea typeface="Menlo Regular" charset="0"/>
                <a:cs typeface="Menlo Regular" charset="0"/>
                <a:sym typeface="Menlo Regular" charset="0"/>
              </a:rPr>
              <a:t>	</a:t>
            </a:r>
          </a:p>
          <a:p>
            <a:r>
              <a:rPr lang="en-US" altLang="en-US">
                <a:solidFill>
                  <a:schemeClr val="accent2"/>
                </a:solidFill>
                <a:latin typeface="Menlo Regular" charset="0"/>
                <a:ea typeface="Menlo Regular" charset="0"/>
                <a:cs typeface="Menlo Regular" charset="0"/>
                <a:sym typeface="Menlo Regular" charset="0"/>
              </a:rPr>
              <a:t>	UPDATE</a:t>
            </a:r>
            <a:r>
              <a:rPr lang="en-US" altLang="en-US">
                <a:latin typeface="Menlo Regular" charset="0"/>
                <a:ea typeface="Menlo Regular" charset="0"/>
                <a:cs typeface="Menlo Regular" charset="0"/>
                <a:sym typeface="Menlo Regular" charset="0"/>
              </a:rPr>
              <a:t> Accounts</a:t>
            </a:r>
            <a:br>
              <a:rPr lang="en-US" altLang="en-US">
                <a:latin typeface="Menlo Regular" charset="0"/>
                <a:ea typeface="Menlo Regular" charset="0"/>
                <a:cs typeface="Menlo Regular" charset="0"/>
                <a:sym typeface="Menlo Regular" charset="0"/>
              </a:rPr>
            </a:br>
            <a:r>
              <a:rPr lang="en-US" altLang="en-US">
                <a:latin typeface="Menlo Regular" charset="0"/>
                <a:ea typeface="Menlo Regular" charset="0"/>
                <a:cs typeface="Menlo Regular" charset="0"/>
                <a:sym typeface="Menlo Regular" charset="0"/>
              </a:rPr>
              <a:t>	</a:t>
            </a:r>
            <a:r>
              <a:rPr lang="en-US" altLang="en-US">
                <a:solidFill>
                  <a:schemeClr val="accent2"/>
                </a:solidFill>
                <a:latin typeface="Menlo Regular" charset="0"/>
                <a:ea typeface="Menlo Regular" charset="0"/>
                <a:cs typeface="Menlo Regular" charset="0"/>
                <a:sym typeface="Menlo Regular" charset="0"/>
              </a:rPr>
              <a:t>SET</a:t>
            </a:r>
            <a:r>
              <a:rPr lang="en-US" altLang="en-US">
                <a:latin typeface="Menlo Regular" charset="0"/>
                <a:ea typeface="Menlo Regular" charset="0"/>
                <a:cs typeface="Menlo Regular" charset="0"/>
                <a:sym typeface="Menlo Regular" charset="0"/>
              </a:rPr>
              <a:t> Amt = Amt - 100</a:t>
            </a:r>
          </a:p>
          <a:p>
            <a:r>
              <a:rPr lang="en-US" altLang="en-US">
                <a:solidFill>
                  <a:schemeClr val="accent2"/>
                </a:solidFill>
                <a:latin typeface="Menlo Regular" charset="0"/>
                <a:ea typeface="Menlo Regular" charset="0"/>
                <a:cs typeface="Menlo Regular" charset="0"/>
                <a:sym typeface="Menlo Regular" charset="0"/>
              </a:rPr>
              <a:t>	WHERE</a:t>
            </a:r>
            <a:r>
              <a:rPr lang="en-US" altLang="en-US">
                <a:latin typeface="Menlo Regular" charset="0"/>
                <a:ea typeface="Menlo Regular" charset="0"/>
                <a:cs typeface="Menlo Regular" charset="0"/>
                <a:sym typeface="Menlo Regular" charset="0"/>
              </a:rPr>
              <a:t> Name = ‘B’</a:t>
            </a:r>
          </a:p>
          <a:p>
            <a:r>
              <a:rPr lang="en-US" altLang="en-US">
                <a:latin typeface="Menlo Regular" charset="0"/>
                <a:ea typeface="Menlo Regular" charset="0"/>
                <a:cs typeface="Menlo Regular" charset="0"/>
                <a:sym typeface="Menlo Regular" charset="0"/>
              </a:rPr>
              <a:t>COMMIT</a:t>
            </a:r>
          </a:p>
        </p:txBody>
      </p:sp>
      <p:sp>
        <p:nvSpPr>
          <p:cNvPr id="87043" name="Rectangle 3" descr="Rectangle 3">
            <a:extLst>
              <a:ext uri="{FF2B5EF4-FFF2-40B4-BE49-F238E27FC236}">
                <a16:creationId xmlns:a16="http://schemas.microsoft.com/office/drawing/2014/main" id="{620AF8DD-DDD8-9074-DE34-C3D2ABC3288B}"/>
              </a:ext>
            </a:extLst>
          </p:cNvPr>
          <p:cNvSpPr>
            <a:spLocks/>
          </p:cNvSpPr>
          <p:nvPr/>
        </p:nvSpPr>
        <p:spPr bwMode="auto">
          <a:xfrm>
            <a:off x="5059363" y="1700213"/>
            <a:ext cx="3781425" cy="1166812"/>
          </a:xfrm>
          <a:prstGeom prst="rect">
            <a:avLst/>
          </a:prstGeom>
          <a:solidFill>
            <a:srgbClr val="FFFFFF"/>
          </a:solidFill>
          <a:ln w="9525" cap="flat" cmpd="sng">
            <a:solidFill>
              <a:srgbClr val="808080"/>
            </a:solidFill>
            <a:prstDash val="solid"/>
            <a:miter lim="800000"/>
            <a:headEnd type="none" w="med" len="med"/>
            <a:tailEnd type="none" w="med" len="med"/>
          </a:ln>
          <a:effectLst>
            <a:outerShdw blurRad="50800" dist="12700" dir="2700000" algn="ctr" rotWithShape="0">
              <a:srgbClr val="000000">
                <a:alpha val="39999"/>
              </a:srgbClr>
            </a:outerShdw>
          </a:effectLst>
        </p:spPr>
        <p:txBody>
          <a:bodyPr wrap="none" lIns="45720" rIns="45720">
            <a:spAutoFit/>
          </a:bodyPr>
          <a:lstStyle/>
          <a:p>
            <a:r>
              <a:rPr lang="en-US" altLang="en-US">
                <a:latin typeface="Menlo Regular" charset="0"/>
                <a:ea typeface="Menlo Regular" charset="0"/>
                <a:cs typeface="Menlo Regular" charset="0"/>
                <a:sym typeface="Menlo Regular" charset="0"/>
              </a:rPr>
              <a:t>T2: START TRANSACTION</a:t>
            </a:r>
          </a:p>
          <a:p>
            <a:r>
              <a:rPr lang="en-US" altLang="en-US">
                <a:solidFill>
                  <a:schemeClr val="accent2"/>
                </a:solidFill>
                <a:latin typeface="Menlo Regular" charset="0"/>
                <a:ea typeface="Menlo Regular" charset="0"/>
                <a:cs typeface="Menlo Regular" charset="0"/>
                <a:sym typeface="Menlo Regular" charset="0"/>
              </a:rPr>
              <a:t>	UPDATE</a:t>
            </a:r>
            <a:r>
              <a:rPr lang="en-US" altLang="en-US">
                <a:latin typeface="Menlo Regular" charset="0"/>
                <a:ea typeface="Menlo Regular" charset="0"/>
                <a:cs typeface="Menlo Regular" charset="0"/>
                <a:sym typeface="Menlo Regular" charset="0"/>
              </a:rPr>
              <a:t> Accounts</a:t>
            </a:r>
            <a:br>
              <a:rPr lang="en-US" altLang="en-US">
                <a:latin typeface="Menlo Regular" charset="0"/>
                <a:ea typeface="Menlo Regular" charset="0"/>
                <a:cs typeface="Menlo Regular" charset="0"/>
                <a:sym typeface="Menlo Regular" charset="0"/>
              </a:rPr>
            </a:br>
            <a:r>
              <a:rPr lang="en-US" altLang="en-US">
                <a:latin typeface="Menlo Regular" charset="0"/>
                <a:ea typeface="Menlo Regular" charset="0"/>
                <a:cs typeface="Menlo Regular" charset="0"/>
                <a:sym typeface="Menlo Regular" charset="0"/>
              </a:rPr>
              <a:t>	</a:t>
            </a:r>
            <a:r>
              <a:rPr lang="en-US" altLang="en-US">
                <a:solidFill>
                  <a:schemeClr val="accent2"/>
                </a:solidFill>
                <a:latin typeface="Menlo Regular" charset="0"/>
                <a:ea typeface="Menlo Regular" charset="0"/>
                <a:cs typeface="Menlo Regular" charset="0"/>
                <a:sym typeface="Menlo Regular" charset="0"/>
              </a:rPr>
              <a:t>SET</a:t>
            </a:r>
            <a:r>
              <a:rPr lang="en-US" altLang="en-US">
                <a:latin typeface="Menlo Regular" charset="0"/>
                <a:ea typeface="Menlo Regular" charset="0"/>
                <a:cs typeface="Menlo Regular" charset="0"/>
                <a:sym typeface="Menlo Regular" charset="0"/>
              </a:rPr>
              <a:t> Amt = Amt * 1.06</a:t>
            </a:r>
          </a:p>
          <a:p>
            <a:r>
              <a:rPr lang="en-US" altLang="en-US">
                <a:latin typeface="Menlo Regular" charset="0"/>
                <a:ea typeface="Menlo Regular" charset="0"/>
                <a:cs typeface="Menlo Regular" charset="0"/>
                <a:sym typeface="Menlo Regular" charset="0"/>
              </a:rPr>
              <a:t>COMMIT</a:t>
            </a:r>
          </a:p>
        </p:txBody>
      </p:sp>
      <p:sp>
        <p:nvSpPr>
          <p:cNvPr id="87044" name="Rectangle 4" descr="Rectangle 1">
            <a:extLst>
              <a:ext uri="{FF2B5EF4-FFF2-40B4-BE49-F238E27FC236}">
                <a16:creationId xmlns:a16="http://schemas.microsoft.com/office/drawing/2014/main" id="{D4A14FCB-B43A-C52B-8AE5-0D32E5033BE1}"/>
              </a:ext>
            </a:extLst>
          </p:cNvPr>
          <p:cNvSpPr>
            <a:spLocks/>
          </p:cNvSpPr>
          <p:nvPr/>
        </p:nvSpPr>
        <p:spPr bwMode="auto">
          <a:xfrm>
            <a:off x="812800" y="4340225"/>
            <a:ext cx="3479800" cy="1006475"/>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pPr algn="ctr"/>
            <a:r>
              <a:rPr lang="en-US" altLang="en-US" sz="2000"/>
              <a:t>T1 transfers Rs.100/- from B’s account to A’s account</a:t>
            </a:r>
          </a:p>
        </p:txBody>
      </p:sp>
      <p:sp>
        <p:nvSpPr>
          <p:cNvPr id="87045" name="Rectangle 5" descr="Rectangle 14">
            <a:extLst>
              <a:ext uri="{FF2B5EF4-FFF2-40B4-BE49-F238E27FC236}">
                <a16:creationId xmlns:a16="http://schemas.microsoft.com/office/drawing/2014/main" id="{8162EDA6-A76F-BEE4-2922-E64406EA1F1E}"/>
              </a:ext>
            </a:extLst>
          </p:cNvPr>
          <p:cNvSpPr>
            <a:spLocks/>
          </p:cNvSpPr>
          <p:nvPr/>
        </p:nvSpPr>
        <p:spPr bwMode="auto">
          <a:xfrm>
            <a:off x="5057775" y="3429000"/>
            <a:ext cx="3619500" cy="1004888"/>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pPr algn="ctr"/>
            <a:r>
              <a:rPr lang="en-US" altLang="en-US" sz="2000"/>
              <a:t>T2 credits both accounts with a 6% interest payment</a:t>
            </a:r>
          </a:p>
        </p:txBody>
      </p:sp>
    </p:spTree>
  </p:cSld>
  <p:clrMapOvr>
    <a:masterClrMapping/>
  </p:clrMapOvr>
  <p:transition>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Rectangle 1" descr="Rectangle 2">
            <a:extLst>
              <a:ext uri="{FF2B5EF4-FFF2-40B4-BE49-F238E27FC236}">
                <a16:creationId xmlns:a16="http://schemas.microsoft.com/office/drawing/2014/main" id="{CFB6E7AD-0CB6-5EC7-EF22-8D6EFF7AC7A1}"/>
              </a:ext>
            </a:extLst>
          </p:cNvPr>
          <p:cNvSpPr>
            <a:spLocks noChangeArrowheads="1"/>
          </p:cNvSpPr>
          <p:nvPr>
            <p:ph type="title"/>
          </p:nvPr>
        </p:nvSpPr>
        <p:spPr/>
        <p:txBody>
          <a:bodyPr/>
          <a:lstStyle/>
          <a:p>
            <a:r>
              <a:rPr lang="en-US" altLang="en-US" sz="2400"/>
              <a:t>Example- consider two Transactions (T1 and T2):</a:t>
            </a:r>
          </a:p>
        </p:txBody>
      </p:sp>
      <p:sp>
        <p:nvSpPr>
          <p:cNvPr id="88066" name="Rectangle 2" descr="Rectangle 1">
            <a:extLst>
              <a:ext uri="{FF2B5EF4-FFF2-40B4-BE49-F238E27FC236}">
                <a16:creationId xmlns:a16="http://schemas.microsoft.com/office/drawing/2014/main" id="{1103A6D1-89AE-E22C-A4AE-1EE1F0897433}"/>
              </a:ext>
            </a:extLst>
          </p:cNvPr>
          <p:cNvSpPr>
            <a:spLocks/>
          </p:cNvSpPr>
          <p:nvPr/>
        </p:nvSpPr>
        <p:spPr bwMode="auto">
          <a:xfrm>
            <a:off x="1690688" y="4940300"/>
            <a:ext cx="3024187" cy="1006475"/>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sz="2000"/>
              <a:t>T1 transfers Rs.100 from B’s account to A’s account</a:t>
            </a:r>
          </a:p>
        </p:txBody>
      </p:sp>
      <p:sp>
        <p:nvSpPr>
          <p:cNvPr id="88067" name="Rectangle 3" descr="Rectangle 14">
            <a:extLst>
              <a:ext uri="{FF2B5EF4-FFF2-40B4-BE49-F238E27FC236}">
                <a16:creationId xmlns:a16="http://schemas.microsoft.com/office/drawing/2014/main" id="{41D19B7F-A570-5D0B-8FB5-D29262D67BD3}"/>
              </a:ext>
            </a:extLst>
          </p:cNvPr>
          <p:cNvSpPr>
            <a:spLocks/>
          </p:cNvSpPr>
          <p:nvPr/>
        </p:nvSpPr>
        <p:spPr bwMode="auto">
          <a:xfrm>
            <a:off x="5362575" y="4932363"/>
            <a:ext cx="3236913" cy="1006475"/>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sz="2000"/>
              <a:t>T2 credits both accounts with a 6% interest payment</a:t>
            </a:r>
          </a:p>
        </p:txBody>
      </p:sp>
      <p:sp>
        <p:nvSpPr>
          <p:cNvPr id="88068" name="Line 4" descr="Straight Arrow Connector 3">
            <a:extLst>
              <a:ext uri="{FF2B5EF4-FFF2-40B4-BE49-F238E27FC236}">
                <a16:creationId xmlns:a16="http://schemas.microsoft.com/office/drawing/2014/main" id="{50DE7642-D791-84A9-4F8F-36E426248F43}"/>
              </a:ext>
            </a:extLst>
          </p:cNvPr>
          <p:cNvSpPr>
            <a:spLocks noChangeShapeType="1"/>
          </p:cNvSpPr>
          <p:nvPr/>
        </p:nvSpPr>
        <p:spPr bwMode="auto">
          <a:xfrm>
            <a:off x="893763" y="4398963"/>
            <a:ext cx="7815262" cy="12700"/>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88069" name="Text Box 5" descr="TextBox 8">
            <a:extLst>
              <a:ext uri="{FF2B5EF4-FFF2-40B4-BE49-F238E27FC236}">
                <a16:creationId xmlns:a16="http://schemas.microsoft.com/office/drawing/2014/main" id="{B22C034B-6807-6054-3983-502F8692086A}"/>
              </a:ext>
            </a:extLst>
          </p:cNvPr>
          <p:cNvSpPr txBox="1">
            <a:spLocks/>
          </p:cNvSpPr>
          <p:nvPr/>
        </p:nvSpPr>
        <p:spPr bwMode="auto">
          <a:xfrm>
            <a:off x="452438" y="2697163"/>
            <a:ext cx="514350" cy="590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88070" name="Text Box 6" descr="TextBox 13">
            <a:extLst>
              <a:ext uri="{FF2B5EF4-FFF2-40B4-BE49-F238E27FC236}">
                <a16:creationId xmlns:a16="http://schemas.microsoft.com/office/drawing/2014/main" id="{FE2A369B-D315-94DA-E928-15EBAFDE8D46}"/>
              </a:ext>
            </a:extLst>
          </p:cNvPr>
          <p:cNvSpPr txBox="1">
            <a:spLocks/>
          </p:cNvSpPr>
          <p:nvPr/>
        </p:nvSpPr>
        <p:spPr bwMode="auto">
          <a:xfrm>
            <a:off x="452438" y="3584575"/>
            <a:ext cx="514350" cy="590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88071" name="Text Box 7" descr="TextBox 9">
            <a:extLst>
              <a:ext uri="{FF2B5EF4-FFF2-40B4-BE49-F238E27FC236}">
                <a16:creationId xmlns:a16="http://schemas.microsoft.com/office/drawing/2014/main" id="{4C9BF10F-B6FE-019B-9D91-7DFD9894E807}"/>
              </a:ext>
            </a:extLst>
          </p:cNvPr>
          <p:cNvSpPr txBox="1">
            <a:spLocks/>
          </p:cNvSpPr>
          <p:nvPr/>
        </p:nvSpPr>
        <p:spPr bwMode="auto">
          <a:xfrm>
            <a:off x="1316038" y="2665413"/>
            <a:ext cx="1616075" cy="469900"/>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A += 100</a:t>
            </a:r>
          </a:p>
        </p:txBody>
      </p:sp>
      <p:sp>
        <p:nvSpPr>
          <p:cNvPr id="88072" name="Text Box 8" descr="TextBox 18">
            <a:extLst>
              <a:ext uri="{FF2B5EF4-FFF2-40B4-BE49-F238E27FC236}">
                <a16:creationId xmlns:a16="http://schemas.microsoft.com/office/drawing/2014/main" id="{21E6CE41-AF32-4DCF-249B-2411E1B5A2AA}"/>
              </a:ext>
            </a:extLst>
          </p:cNvPr>
          <p:cNvSpPr txBox="1">
            <a:spLocks/>
          </p:cNvSpPr>
          <p:nvPr/>
        </p:nvSpPr>
        <p:spPr bwMode="auto">
          <a:xfrm>
            <a:off x="3275013" y="2665413"/>
            <a:ext cx="1620837" cy="469900"/>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2400"/>
              <a:t>B -= 100</a:t>
            </a:r>
          </a:p>
        </p:txBody>
      </p:sp>
      <p:sp>
        <p:nvSpPr>
          <p:cNvPr id="88073" name="Text Box 9" descr="TextBox 19">
            <a:extLst>
              <a:ext uri="{FF2B5EF4-FFF2-40B4-BE49-F238E27FC236}">
                <a16:creationId xmlns:a16="http://schemas.microsoft.com/office/drawing/2014/main" id="{CC89C27A-F97F-FA0D-2090-BCA77E84E364}"/>
              </a:ext>
            </a:extLst>
          </p:cNvPr>
          <p:cNvSpPr txBox="1">
            <a:spLocks/>
          </p:cNvSpPr>
          <p:nvPr/>
        </p:nvSpPr>
        <p:spPr bwMode="auto">
          <a:xfrm>
            <a:off x="4978400" y="3500438"/>
            <a:ext cx="1671638" cy="468312"/>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A *= 1.06</a:t>
            </a:r>
          </a:p>
        </p:txBody>
      </p:sp>
      <p:sp>
        <p:nvSpPr>
          <p:cNvPr id="88074" name="Text Box 10" descr="TextBox 20">
            <a:extLst>
              <a:ext uri="{FF2B5EF4-FFF2-40B4-BE49-F238E27FC236}">
                <a16:creationId xmlns:a16="http://schemas.microsoft.com/office/drawing/2014/main" id="{6560C26D-85ED-345E-CCBA-1566832A5B8E}"/>
              </a:ext>
            </a:extLst>
          </p:cNvPr>
          <p:cNvSpPr txBox="1">
            <a:spLocks/>
          </p:cNvSpPr>
          <p:nvPr/>
        </p:nvSpPr>
        <p:spPr bwMode="auto">
          <a:xfrm>
            <a:off x="6919913" y="3503613"/>
            <a:ext cx="1673225" cy="469900"/>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B *= 1.06</a:t>
            </a:r>
          </a:p>
        </p:txBody>
      </p:sp>
      <p:sp>
        <p:nvSpPr>
          <p:cNvPr id="88075" name="Text Box 11" descr="TextBox 10">
            <a:extLst>
              <a:ext uri="{FF2B5EF4-FFF2-40B4-BE49-F238E27FC236}">
                <a16:creationId xmlns:a16="http://schemas.microsoft.com/office/drawing/2014/main" id="{C1E6AE97-0341-DC25-5700-EBFE4019C95C}"/>
              </a:ext>
            </a:extLst>
          </p:cNvPr>
          <p:cNvSpPr txBox="1">
            <a:spLocks/>
          </p:cNvSpPr>
          <p:nvPr/>
        </p:nvSpPr>
        <p:spPr bwMode="auto">
          <a:xfrm>
            <a:off x="8261350" y="4441825"/>
            <a:ext cx="6667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i="1"/>
              <a:t>Time</a:t>
            </a:r>
          </a:p>
        </p:txBody>
      </p:sp>
      <p:sp>
        <p:nvSpPr>
          <p:cNvPr id="88076" name="Text Box 12" descr="TextBox 22">
            <a:extLst>
              <a:ext uri="{FF2B5EF4-FFF2-40B4-BE49-F238E27FC236}">
                <a16:creationId xmlns:a16="http://schemas.microsoft.com/office/drawing/2014/main" id="{AA8F19C9-5E1E-912C-7063-7A7CDBACE1C2}"/>
              </a:ext>
            </a:extLst>
          </p:cNvPr>
          <p:cNvSpPr txBox="1">
            <a:spLocks/>
          </p:cNvSpPr>
          <p:nvPr/>
        </p:nvSpPr>
        <p:spPr bwMode="auto">
          <a:xfrm>
            <a:off x="652463" y="1339850"/>
            <a:ext cx="8270875"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2000"/>
              <a:t>We can look at the transactions in a timeline view- serial execution:</a:t>
            </a:r>
          </a:p>
        </p:txBody>
      </p:sp>
    </p:spTree>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Text Box 1" descr="Slide Number Placeholder 3">
            <a:extLst>
              <a:ext uri="{FF2B5EF4-FFF2-40B4-BE49-F238E27FC236}">
                <a16:creationId xmlns:a16="http://schemas.microsoft.com/office/drawing/2014/main" id="{FBE46F0F-CDE9-C3A4-AD2D-528C6D29267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85B6DFA-8724-4CC7-8014-4AB44C22D47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89090" name="Group 2">
            <a:extLst>
              <a:ext uri="{FF2B5EF4-FFF2-40B4-BE49-F238E27FC236}">
                <a16:creationId xmlns:a16="http://schemas.microsoft.com/office/drawing/2014/main" id="{9CDA2FA7-3F3A-3316-6E1B-7C72AA87B201}"/>
              </a:ext>
            </a:extLst>
          </p:cNvPr>
          <p:cNvGrpSpPr>
            <a:grpSpLocks/>
          </p:cNvGrpSpPr>
          <p:nvPr/>
        </p:nvGrpSpPr>
        <p:grpSpPr bwMode="auto">
          <a:xfrm>
            <a:off x="152400" y="1982788"/>
            <a:ext cx="6154738" cy="1403350"/>
            <a:chOff x="0" y="-1"/>
            <a:chExt cx="6155206" cy="1403907"/>
          </a:xfrm>
        </p:grpSpPr>
        <p:sp>
          <p:nvSpPr>
            <p:cNvPr id="89091" name="Line 3" descr="Straight Arrow Connector 9">
              <a:extLst>
                <a:ext uri="{FF2B5EF4-FFF2-40B4-BE49-F238E27FC236}">
                  <a16:creationId xmlns:a16="http://schemas.microsoft.com/office/drawing/2014/main" id="{363E9940-475E-0B66-CE01-A5C0B7356FCA}"/>
                </a:ext>
              </a:extLst>
            </p:cNvPr>
            <p:cNvSpPr>
              <a:spLocks noChangeShapeType="1"/>
            </p:cNvSpPr>
            <p:nvPr/>
          </p:nvSpPr>
          <p:spPr bwMode="auto">
            <a:xfrm>
              <a:off x="271022" y="1403905"/>
              <a:ext cx="5884184" cy="1"/>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89092" name="Text Box 4" descr="TextBox 10">
              <a:extLst>
                <a:ext uri="{FF2B5EF4-FFF2-40B4-BE49-F238E27FC236}">
                  <a16:creationId xmlns:a16="http://schemas.microsoft.com/office/drawing/2014/main" id="{B5B43A80-70CD-7943-DF55-2C5A92D9AE1C}"/>
                </a:ext>
              </a:extLst>
            </p:cNvPr>
            <p:cNvSpPr txBox="1">
              <a:spLocks/>
            </p:cNvSpPr>
            <p:nvPr/>
          </p:nvSpPr>
          <p:spPr bwMode="auto">
            <a:xfrm>
              <a:off x="0" y="24932"/>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89093" name="Text Box 5" descr="TextBox 11">
              <a:extLst>
                <a:ext uri="{FF2B5EF4-FFF2-40B4-BE49-F238E27FC236}">
                  <a16:creationId xmlns:a16="http://schemas.microsoft.com/office/drawing/2014/main" id="{649143FB-09CF-DFC2-D83F-6CA12ADE5768}"/>
                </a:ext>
              </a:extLst>
            </p:cNvPr>
            <p:cNvSpPr txBox="1">
              <a:spLocks/>
            </p:cNvSpPr>
            <p:nvPr/>
          </p:nvSpPr>
          <p:spPr bwMode="auto">
            <a:xfrm>
              <a:off x="0" y="74420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89094" name="Text Box 6" descr="TextBox 12">
              <a:extLst>
                <a:ext uri="{FF2B5EF4-FFF2-40B4-BE49-F238E27FC236}">
                  <a16:creationId xmlns:a16="http://schemas.microsoft.com/office/drawing/2014/main" id="{282E68BB-1923-64BD-D8AE-2E57413B0D4A}"/>
                </a:ext>
              </a:extLst>
            </p:cNvPr>
            <p:cNvSpPr txBox="1">
              <a:spLocks/>
            </p:cNvSpPr>
            <p:nvPr/>
          </p:nvSpPr>
          <p:spPr bwMode="auto">
            <a:xfrm>
              <a:off x="545662" y="0"/>
              <a:ext cx="1240815"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89095" name="Text Box 7" descr="TextBox 13">
              <a:extLst>
                <a:ext uri="{FF2B5EF4-FFF2-40B4-BE49-F238E27FC236}">
                  <a16:creationId xmlns:a16="http://schemas.microsoft.com/office/drawing/2014/main" id="{0AD1690B-6DFB-4FB6-C429-E1AC2BA68273}"/>
                </a:ext>
              </a:extLst>
            </p:cNvPr>
            <p:cNvSpPr txBox="1">
              <a:spLocks/>
            </p:cNvSpPr>
            <p:nvPr/>
          </p:nvSpPr>
          <p:spPr bwMode="auto">
            <a:xfrm>
              <a:off x="1975462" y="0"/>
              <a:ext cx="129614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B -= 100</a:t>
              </a:r>
            </a:p>
          </p:txBody>
        </p:sp>
        <p:sp>
          <p:nvSpPr>
            <p:cNvPr id="89096" name="Text Box 8" descr="TextBox 14">
              <a:extLst>
                <a:ext uri="{FF2B5EF4-FFF2-40B4-BE49-F238E27FC236}">
                  <a16:creationId xmlns:a16="http://schemas.microsoft.com/office/drawing/2014/main" id="{3C9B2C90-160A-B14E-E476-BA22D80AD146}"/>
                </a:ext>
              </a:extLst>
            </p:cNvPr>
            <p:cNvSpPr txBox="1">
              <a:spLocks/>
            </p:cNvSpPr>
            <p:nvPr/>
          </p:nvSpPr>
          <p:spPr bwMode="auto">
            <a:xfrm>
              <a:off x="3285523" y="757770"/>
              <a:ext cx="1282227"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89097" name="Text Box 9" descr="TextBox 15">
              <a:extLst>
                <a:ext uri="{FF2B5EF4-FFF2-40B4-BE49-F238E27FC236}">
                  <a16:creationId xmlns:a16="http://schemas.microsoft.com/office/drawing/2014/main" id="{91190BB0-5341-9E84-A776-A197DEF3FE4B}"/>
                </a:ext>
              </a:extLst>
            </p:cNvPr>
            <p:cNvSpPr txBox="1">
              <a:spLocks/>
            </p:cNvSpPr>
            <p:nvPr/>
          </p:nvSpPr>
          <p:spPr bwMode="auto">
            <a:xfrm>
              <a:off x="4783465" y="744200"/>
              <a:ext cx="1282674"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graphicFrame>
        <p:nvGraphicFramePr>
          <p:cNvPr id="89098" name="Group 10">
            <a:extLst>
              <a:ext uri="{FF2B5EF4-FFF2-40B4-BE49-F238E27FC236}">
                <a16:creationId xmlns:a16="http://schemas.microsoft.com/office/drawing/2014/main" id="{3C03BB27-ACEA-6236-E713-60D14D4614A8}"/>
              </a:ext>
            </a:extLst>
          </p:cNvPr>
          <p:cNvGraphicFramePr>
            <a:graphicFrameLocks noGrp="1"/>
          </p:cNvGraphicFramePr>
          <p:nvPr/>
        </p:nvGraphicFramePr>
        <p:xfrm>
          <a:off x="6461125" y="1073150"/>
          <a:ext cx="2143125" cy="819150"/>
        </p:xfrm>
        <a:graphic>
          <a:graphicData uri="http://schemas.openxmlformats.org/drawingml/2006/table">
            <a:tbl>
              <a:tblPr/>
              <a:tblGrid>
                <a:gridCol w="1071563">
                  <a:extLst>
                    <a:ext uri="{9D8B030D-6E8A-4147-A177-3AD203B41FA5}">
                      <a16:colId xmlns:a16="http://schemas.microsoft.com/office/drawing/2014/main" val="683519216"/>
                    </a:ext>
                  </a:extLst>
                </a:gridCol>
                <a:gridCol w="1071562">
                  <a:extLst>
                    <a:ext uri="{9D8B030D-6E8A-4147-A177-3AD203B41FA5}">
                      <a16:colId xmlns:a16="http://schemas.microsoft.com/office/drawing/2014/main" val="1838241768"/>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10634937"/>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95031004"/>
                  </a:ext>
                </a:extLst>
              </a:tr>
            </a:tbl>
          </a:graphicData>
        </a:graphic>
      </p:graphicFrame>
      <p:sp>
        <p:nvSpPr>
          <p:cNvPr id="89115" name="Text Box 27" descr="TextBox 43">
            <a:extLst>
              <a:ext uri="{FF2B5EF4-FFF2-40B4-BE49-F238E27FC236}">
                <a16:creationId xmlns:a16="http://schemas.microsoft.com/office/drawing/2014/main" id="{08951131-008A-CC3C-F6FB-1D9DA870D85D}"/>
              </a:ext>
            </a:extLst>
          </p:cNvPr>
          <p:cNvSpPr txBox="1">
            <a:spLocks/>
          </p:cNvSpPr>
          <p:nvPr/>
        </p:nvSpPr>
        <p:spPr bwMode="auto">
          <a:xfrm>
            <a:off x="6478588" y="692150"/>
            <a:ext cx="238442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89116" name="Text Box 28" descr="TextBox 38">
            <a:extLst>
              <a:ext uri="{FF2B5EF4-FFF2-40B4-BE49-F238E27FC236}">
                <a16:creationId xmlns:a16="http://schemas.microsoft.com/office/drawing/2014/main" id="{720DE2A6-D3BC-AF59-9E3D-FCE063215508}"/>
              </a:ext>
            </a:extLst>
          </p:cNvPr>
          <p:cNvSpPr txBox="1">
            <a:spLocks/>
          </p:cNvSpPr>
          <p:nvPr/>
        </p:nvSpPr>
        <p:spPr bwMode="auto">
          <a:xfrm>
            <a:off x="577850" y="1136650"/>
            <a:ext cx="3141663" cy="444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b="1"/>
              <a:t>Serial schedule T</a:t>
            </a:r>
            <a:r>
              <a:rPr lang="en-US" altLang="en-US" sz="2000" b="1" baseline="-25000"/>
              <a:t>1</a:t>
            </a:r>
            <a:r>
              <a:rPr lang="en-US" altLang="en-US" sz="2000" b="1"/>
              <a:t>,T</a:t>
            </a:r>
            <a:r>
              <a:rPr lang="en-US" altLang="en-US" sz="2000" b="1" baseline="-25000"/>
              <a:t>2</a:t>
            </a:r>
            <a:r>
              <a:rPr lang="en-US" altLang="en-US" sz="2000" b="1"/>
              <a:t>:</a:t>
            </a:r>
          </a:p>
        </p:txBody>
      </p:sp>
      <p:sp>
        <p:nvSpPr>
          <p:cNvPr id="89117" name="Text Box 29" descr="TextBox 35">
            <a:extLst>
              <a:ext uri="{FF2B5EF4-FFF2-40B4-BE49-F238E27FC236}">
                <a16:creationId xmlns:a16="http://schemas.microsoft.com/office/drawing/2014/main" id="{86439368-E4C7-815C-C79E-278038C1B13A}"/>
              </a:ext>
            </a:extLst>
          </p:cNvPr>
          <p:cNvSpPr txBox="1">
            <a:spLocks/>
          </p:cNvSpPr>
          <p:nvPr/>
        </p:nvSpPr>
        <p:spPr bwMode="auto">
          <a:xfrm>
            <a:off x="406400" y="3405188"/>
            <a:ext cx="66675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i="1"/>
              <a:t>Time</a:t>
            </a:r>
          </a:p>
        </p:txBody>
      </p:sp>
    </p:spTree>
  </p:cSld>
  <p:clrMapOvr>
    <a:masterClrMapping/>
  </p:clrMapOvr>
  <p:transition spd="med"/>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Text Box 1" descr="Slide Number Placeholder 3">
            <a:extLst>
              <a:ext uri="{FF2B5EF4-FFF2-40B4-BE49-F238E27FC236}">
                <a16:creationId xmlns:a16="http://schemas.microsoft.com/office/drawing/2014/main" id="{A6A03997-1A3E-67F6-BED5-B6A60C309D9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9DAC930-8149-42E3-B4EC-60EC66ECD86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90114" name="Group 2">
            <a:extLst>
              <a:ext uri="{FF2B5EF4-FFF2-40B4-BE49-F238E27FC236}">
                <a16:creationId xmlns:a16="http://schemas.microsoft.com/office/drawing/2014/main" id="{FE007D8B-4ED8-66D4-D20D-3C1D92DFB419}"/>
              </a:ext>
            </a:extLst>
          </p:cNvPr>
          <p:cNvGrpSpPr>
            <a:grpSpLocks/>
          </p:cNvGrpSpPr>
          <p:nvPr/>
        </p:nvGrpSpPr>
        <p:grpSpPr bwMode="auto">
          <a:xfrm>
            <a:off x="152400" y="1982788"/>
            <a:ext cx="6154738" cy="1403350"/>
            <a:chOff x="0" y="-1"/>
            <a:chExt cx="6155206" cy="1403907"/>
          </a:xfrm>
        </p:grpSpPr>
        <p:sp>
          <p:nvSpPr>
            <p:cNvPr id="90115" name="Line 3" descr="Straight Arrow Connector 9">
              <a:extLst>
                <a:ext uri="{FF2B5EF4-FFF2-40B4-BE49-F238E27FC236}">
                  <a16:creationId xmlns:a16="http://schemas.microsoft.com/office/drawing/2014/main" id="{855A29C8-933D-D7B4-8BA7-FBC1E6B858A4}"/>
                </a:ext>
              </a:extLst>
            </p:cNvPr>
            <p:cNvSpPr>
              <a:spLocks noChangeShapeType="1"/>
            </p:cNvSpPr>
            <p:nvPr/>
          </p:nvSpPr>
          <p:spPr bwMode="auto">
            <a:xfrm>
              <a:off x="271022" y="1403905"/>
              <a:ext cx="5884184" cy="1"/>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0116" name="Text Box 4" descr="TextBox 10">
              <a:extLst>
                <a:ext uri="{FF2B5EF4-FFF2-40B4-BE49-F238E27FC236}">
                  <a16:creationId xmlns:a16="http://schemas.microsoft.com/office/drawing/2014/main" id="{C340C135-765F-4CF8-3147-3A875E1FADCE}"/>
                </a:ext>
              </a:extLst>
            </p:cNvPr>
            <p:cNvSpPr txBox="1">
              <a:spLocks/>
            </p:cNvSpPr>
            <p:nvPr/>
          </p:nvSpPr>
          <p:spPr bwMode="auto">
            <a:xfrm>
              <a:off x="0" y="24932"/>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0117" name="Text Box 5" descr="TextBox 11">
              <a:extLst>
                <a:ext uri="{FF2B5EF4-FFF2-40B4-BE49-F238E27FC236}">
                  <a16:creationId xmlns:a16="http://schemas.microsoft.com/office/drawing/2014/main" id="{E5F73659-88CF-FC71-36FE-73392CAF8E04}"/>
                </a:ext>
              </a:extLst>
            </p:cNvPr>
            <p:cNvSpPr txBox="1">
              <a:spLocks/>
            </p:cNvSpPr>
            <p:nvPr/>
          </p:nvSpPr>
          <p:spPr bwMode="auto">
            <a:xfrm>
              <a:off x="0" y="74420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0118" name="Text Box 6" descr="TextBox 12">
              <a:extLst>
                <a:ext uri="{FF2B5EF4-FFF2-40B4-BE49-F238E27FC236}">
                  <a16:creationId xmlns:a16="http://schemas.microsoft.com/office/drawing/2014/main" id="{312AD482-1B80-9C33-4AAC-0CA1807A5E86}"/>
                </a:ext>
              </a:extLst>
            </p:cNvPr>
            <p:cNvSpPr txBox="1">
              <a:spLocks/>
            </p:cNvSpPr>
            <p:nvPr/>
          </p:nvSpPr>
          <p:spPr bwMode="auto">
            <a:xfrm>
              <a:off x="545662" y="0"/>
              <a:ext cx="1240815"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0119" name="Text Box 7" descr="TextBox 13">
              <a:extLst>
                <a:ext uri="{FF2B5EF4-FFF2-40B4-BE49-F238E27FC236}">
                  <a16:creationId xmlns:a16="http://schemas.microsoft.com/office/drawing/2014/main" id="{6AF82BFA-193D-83D6-41DF-0B38769BBEA5}"/>
                </a:ext>
              </a:extLst>
            </p:cNvPr>
            <p:cNvSpPr txBox="1">
              <a:spLocks/>
            </p:cNvSpPr>
            <p:nvPr/>
          </p:nvSpPr>
          <p:spPr bwMode="auto">
            <a:xfrm>
              <a:off x="1975462" y="0"/>
              <a:ext cx="129614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B -= 100</a:t>
              </a:r>
            </a:p>
          </p:txBody>
        </p:sp>
        <p:sp>
          <p:nvSpPr>
            <p:cNvPr id="90120" name="Text Box 8" descr="TextBox 14">
              <a:extLst>
                <a:ext uri="{FF2B5EF4-FFF2-40B4-BE49-F238E27FC236}">
                  <a16:creationId xmlns:a16="http://schemas.microsoft.com/office/drawing/2014/main" id="{1B607FA4-DB37-712C-AC0F-399EFA6D3A79}"/>
                </a:ext>
              </a:extLst>
            </p:cNvPr>
            <p:cNvSpPr txBox="1">
              <a:spLocks/>
            </p:cNvSpPr>
            <p:nvPr/>
          </p:nvSpPr>
          <p:spPr bwMode="auto">
            <a:xfrm>
              <a:off x="3285523" y="757770"/>
              <a:ext cx="1282227"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0121" name="Text Box 9" descr="TextBox 15">
              <a:extLst>
                <a:ext uri="{FF2B5EF4-FFF2-40B4-BE49-F238E27FC236}">
                  <a16:creationId xmlns:a16="http://schemas.microsoft.com/office/drawing/2014/main" id="{DC0479BA-9C32-D0E9-E347-0CC411341022}"/>
                </a:ext>
              </a:extLst>
            </p:cNvPr>
            <p:cNvSpPr txBox="1">
              <a:spLocks/>
            </p:cNvSpPr>
            <p:nvPr/>
          </p:nvSpPr>
          <p:spPr bwMode="auto">
            <a:xfrm>
              <a:off x="4783465" y="744200"/>
              <a:ext cx="1282674"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graphicFrame>
        <p:nvGraphicFramePr>
          <p:cNvPr id="90122" name="Group 10">
            <a:extLst>
              <a:ext uri="{FF2B5EF4-FFF2-40B4-BE49-F238E27FC236}">
                <a16:creationId xmlns:a16="http://schemas.microsoft.com/office/drawing/2014/main" id="{84767014-63EC-143C-A4B5-0D3D65D1B66F}"/>
              </a:ext>
            </a:extLst>
          </p:cNvPr>
          <p:cNvGraphicFramePr>
            <a:graphicFrameLocks noGrp="1"/>
          </p:cNvGraphicFramePr>
          <p:nvPr/>
        </p:nvGraphicFramePr>
        <p:xfrm>
          <a:off x="6461125" y="1073150"/>
          <a:ext cx="2143125" cy="819150"/>
        </p:xfrm>
        <a:graphic>
          <a:graphicData uri="http://schemas.openxmlformats.org/drawingml/2006/table">
            <a:tbl>
              <a:tblPr/>
              <a:tblGrid>
                <a:gridCol w="1071563">
                  <a:extLst>
                    <a:ext uri="{9D8B030D-6E8A-4147-A177-3AD203B41FA5}">
                      <a16:colId xmlns:a16="http://schemas.microsoft.com/office/drawing/2014/main" val="2965901600"/>
                    </a:ext>
                  </a:extLst>
                </a:gridCol>
                <a:gridCol w="1071562">
                  <a:extLst>
                    <a:ext uri="{9D8B030D-6E8A-4147-A177-3AD203B41FA5}">
                      <a16:colId xmlns:a16="http://schemas.microsoft.com/office/drawing/2014/main" val="2159481438"/>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24955460"/>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35492812"/>
                  </a:ext>
                </a:extLst>
              </a:tr>
            </a:tbl>
          </a:graphicData>
        </a:graphic>
      </p:graphicFrame>
      <p:graphicFrame>
        <p:nvGraphicFramePr>
          <p:cNvPr id="90139" name="Group 27">
            <a:extLst>
              <a:ext uri="{FF2B5EF4-FFF2-40B4-BE49-F238E27FC236}">
                <a16:creationId xmlns:a16="http://schemas.microsoft.com/office/drawing/2014/main" id="{433F38AD-79EC-3E59-9BF9-863FC0C699F3}"/>
              </a:ext>
            </a:extLst>
          </p:cNvPr>
          <p:cNvGraphicFramePr>
            <a:graphicFrameLocks noGrp="1"/>
          </p:cNvGraphicFramePr>
          <p:nvPr/>
        </p:nvGraphicFramePr>
        <p:xfrm>
          <a:off x="6877050" y="2465388"/>
          <a:ext cx="2201863" cy="819150"/>
        </p:xfrm>
        <a:graphic>
          <a:graphicData uri="http://schemas.openxmlformats.org/drawingml/2006/table">
            <a:tbl>
              <a:tblPr/>
              <a:tblGrid>
                <a:gridCol w="1244600">
                  <a:extLst>
                    <a:ext uri="{9D8B030D-6E8A-4147-A177-3AD203B41FA5}">
                      <a16:colId xmlns:a16="http://schemas.microsoft.com/office/drawing/2014/main" val="3541624412"/>
                    </a:ext>
                  </a:extLst>
                </a:gridCol>
                <a:gridCol w="957263">
                  <a:extLst>
                    <a:ext uri="{9D8B030D-6E8A-4147-A177-3AD203B41FA5}">
                      <a16:colId xmlns:a16="http://schemas.microsoft.com/office/drawing/2014/main" val="3622978884"/>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5930432"/>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2836839123"/>
                  </a:ext>
                </a:extLst>
              </a:tr>
            </a:tbl>
          </a:graphicData>
        </a:graphic>
      </p:graphicFrame>
      <p:sp>
        <p:nvSpPr>
          <p:cNvPr id="90156" name="Text Box 44" descr="TextBox 43">
            <a:extLst>
              <a:ext uri="{FF2B5EF4-FFF2-40B4-BE49-F238E27FC236}">
                <a16:creationId xmlns:a16="http://schemas.microsoft.com/office/drawing/2014/main" id="{92CE2231-3B54-4597-B906-E1A1AE168DBA}"/>
              </a:ext>
            </a:extLst>
          </p:cNvPr>
          <p:cNvSpPr txBox="1">
            <a:spLocks/>
          </p:cNvSpPr>
          <p:nvPr/>
        </p:nvSpPr>
        <p:spPr bwMode="auto">
          <a:xfrm>
            <a:off x="6478588" y="692150"/>
            <a:ext cx="238442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0157" name="Text Box 45" descr="TextBox 38">
            <a:extLst>
              <a:ext uri="{FF2B5EF4-FFF2-40B4-BE49-F238E27FC236}">
                <a16:creationId xmlns:a16="http://schemas.microsoft.com/office/drawing/2014/main" id="{439FCEA6-6146-749E-AF66-1CC958BEED69}"/>
              </a:ext>
            </a:extLst>
          </p:cNvPr>
          <p:cNvSpPr txBox="1">
            <a:spLocks/>
          </p:cNvSpPr>
          <p:nvPr/>
        </p:nvSpPr>
        <p:spPr bwMode="auto">
          <a:xfrm>
            <a:off x="577850" y="1136650"/>
            <a:ext cx="3141663" cy="444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b="1"/>
              <a:t>Serial schedule T</a:t>
            </a:r>
            <a:r>
              <a:rPr lang="en-US" altLang="en-US" sz="2000" b="1" baseline="-25000"/>
              <a:t>1</a:t>
            </a:r>
            <a:r>
              <a:rPr lang="en-US" altLang="en-US" sz="2000" b="1"/>
              <a:t>,T</a:t>
            </a:r>
            <a:r>
              <a:rPr lang="en-US" altLang="en-US" sz="2000" b="1" baseline="-25000"/>
              <a:t>2</a:t>
            </a:r>
            <a:r>
              <a:rPr lang="en-US" altLang="en-US" sz="2000" b="1"/>
              <a:t>:</a:t>
            </a:r>
          </a:p>
        </p:txBody>
      </p:sp>
      <p:sp>
        <p:nvSpPr>
          <p:cNvPr id="90158" name="Text Box 46" descr="TextBox 35">
            <a:extLst>
              <a:ext uri="{FF2B5EF4-FFF2-40B4-BE49-F238E27FC236}">
                <a16:creationId xmlns:a16="http://schemas.microsoft.com/office/drawing/2014/main" id="{95D9B9B0-2908-E0E5-7C6B-CC92C9737065}"/>
              </a:ext>
            </a:extLst>
          </p:cNvPr>
          <p:cNvSpPr txBox="1">
            <a:spLocks/>
          </p:cNvSpPr>
          <p:nvPr/>
        </p:nvSpPr>
        <p:spPr bwMode="auto">
          <a:xfrm>
            <a:off x="406400" y="3405188"/>
            <a:ext cx="66675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i="1"/>
              <a:t>Time</a:t>
            </a:r>
          </a:p>
        </p:txBody>
      </p:sp>
      <p:sp>
        <p:nvSpPr>
          <p:cNvPr id="90159" name="Text Box 47" descr="TextBox 7">
            <a:extLst>
              <a:ext uri="{FF2B5EF4-FFF2-40B4-BE49-F238E27FC236}">
                <a16:creationId xmlns:a16="http://schemas.microsoft.com/office/drawing/2014/main" id="{6925A39B-DB89-C3A9-425C-226F8F31A326}"/>
              </a:ext>
            </a:extLst>
          </p:cNvPr>
          <p:cNvSpPr txBox="1">
            <a:spLocks/>
          </p:cNvSpPr>
          <p:nvPr/>
        </p:nvSpPr>
        <p:spPr bwMode="auto">
          <a:xfrm>
            <a:off x="6635750" y="2155825"/>
            <a:ext cx="2451100"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Result of Executing T1, T2</a:t>
            </a:r>
          </a:p>
        </p:txBody>
      </p:sp>
    </p:spTree>
  </p:cSld>
  <p:clrMapOvr>
    <a:masterClrMapping/>
  </p:clrMapOvr>
  <p:transition spd="med"/>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Rectangle 1" descr="Rectangle 2">
            <a:extLst>
              <a:ext uri="{FF2B5EF4-FFF2-40B4-BE49-F238E27FC236}">
                <a16:creationId xmlns:a16="http://schemas.microsoft.com/office/drawing/2014/main" id="{122CAA66-FCE8-44CD-5064-E99232FADE3A}"/>
              </a:ext>
            </a:extLst>
          </p:cNvPr>
          <p:cNvSpPr>
            <a:spLocks noChangeArrowheads="1"/>
          </p:cNvSpPr>
          <p:nvPr>
            <p:ph type="title"/>
          </p:nvPr>
        </p:nvSpPr>
        <p:spPr/>
        <p:txBody>
          <a:bodyPr/>
          <a:lstStyle/>
          <a:p>
            <a:r>
              <a:rPr lang="en-US" altLang="en-US" sz="2400"/>
              <a:t>Example- consider two Transactions (T1 and T2):</a:t>
            </a:r>
          </a:p>
        </p:txBody>
      </p:sp>
      <p:sp>
        <p:nvSpPr>
          <p:cNvPr id="91138" name="Rectangle 2" descr="Rectangle 1">
            <a:extLst>
              <a:ext uri="{FF2B5EF4-FFF2-40B4-BE49-F238E27FC236}">
                <a16:creationId xmlns:a16="http://schemas.microsoft.com/office/drawing/2014/main" id="{5C63C1CF-BB40-B145-73AA-65BDA0044A58}"/>
              </a:ext>
            </a:extLst>
          </p:cNvPr>
          <p:cNvSpPr>
            <a:spLocks/>
          </p:cNvSpPr>
          <p:nvPr/>
        </p:nvSpPr>
        <p:spPr bwMode="auto">
          <a:xfrm>
            <a:off x="5168900" y="4933950"/>
            <a:ext cx="3046413" cy="930275"/>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a:t>T1 transfers Rs.100/- from B’s account to A’s account</a:t>
            </a:r>
          </a:p>
        </p:txBody>
      </p:sp>
      <p:sp>
        <p:nvSpPr>
          <p:cNvPr id="91139" name="Rectangle 3" descr="Rectangle 14">
            <a:extLst>
              <a:ext uri="{FF2B5EF4-FFF2-40B4-BE49-F238E27FC236}">
                <a16:creationId xmlns:a16="http://schemas.microsoft.com/office/drawing/2014/main" id="{227D4E15-D5B7-E02B-7F05-6E94BB9F8FED}"/>
              </a:ext>
            </a:extLst>
          </p:cNvPr>
          <p:cNvSpPr>
            <a:spLocks/>
          </p:cNvSpPr>
          <p:nvPr/>
        </p:nvSpPr>
        <p:spPr bwMode="auto">
          <a:xfrm>
            <a:off x="1252538" y="4933950"/>
            <a:ext cx="3260725" cy="930275"/>
          </a:xfrm>
          <a:prstGeom prst="rect">
            <a:avLst/>
          </a:prstGeom>
          <a:solidFill>
            <a:srgbClr val="CCCCCC"/>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a:t>T2 credits both accounts with a 6% interest payment</a:t>
            </a:r>
          </a:p>
        </p:txBody>
      </p:sp>
      <p:sp>
        <p:nvSpPr>
          <p:cNvPr id="91140" name="Line 4" descr="Straight Arrow Connector 3">
            <a:extLst>
              <a:ext uri="{FF2B5EF4-FFF2-40B4-BE49-F238E27FC236}">
                <a16:creationId xmlns:a16="http://schemas.microsoft.com/office/drawing/2014/main" id="{A69B923D-1438-7BD4-2D89-B8E3BC126F21}"/>
              </a:ext>
            </a:extLst>
          </p:cNvPr>
          <p:cNvSpPr>
            <a:spLocks noChangeShapeType="1"/>
          </p:cNvSpPr>
          <p:nvPr/>
        </p:nvSpPr>
        <p:spPr bwMode="auto">
          <a:xfrm>
            <a:off x="893763" y="4398963"/>
            <a:ext cx="7815262" cy="12700"/>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1141" name="Text Box 5" descr="TextBox 8">
            <a:extLst>
              <a:ext uri="{FF2B5EF4-FFF2-40B4-BE49-F238E27FC236}">
                <a16:creationId xmlns:a16="http://schemas.microsoft.com/office/drawing/2014/main" id="{090B0C52-A5A7-0BB7-EB02-AA66249423DA}"/>
              </a:ext>
            </a:extLst>
          </p:cNvPr>
          <p:cNvSpPr txBox="1">
            <a:spLocks/>
          </p:cNvSpPr>
          <p:nvPr/>
        </p:nvSpPr>
        <p:spPr bwMode="auto">
          <a:xfrm>
            <a:off x="452438" y="2697163"/>
            <a:ext cx="455612" cy="517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b="1">
                <a:solidFill>
                  <a:srgbClr val="C00000"/>
                </a:solidFill>
              </a:rPr>
              <a:t>T</a:t>
            </a:r>
            <a:r>
              <a:rPr lang="en-US" altLang="en-US" sz="2400" b="1" baseline="-25000">
                <a:solidFill>
                  <a:srgbClr val="C00000"/>
                </a:solidFill>
              </a:rPr>
              <a:t>1</a:t>
            </a:r>
            <a:endParaRPr lang="en-US" altLang="en-US" sz="2400" b="1">
              <a:solidFill>
                <a:srgbClr val="C00000"/>
              </a:solidFill>
            </a:endParaRPr>
          </a:p>
        </p:txBody>
      </p:sp>
      <p:sp>
        <p:nvSpPr>
          <p:cNvPr id="91142" name="Text Box 6" descr="TextBox 13">
            <a:extLst>
              <a:ext uri="{FF2B5EF4-FFF2-40B4-BE49-F238E27FC236}">
                <a16:creationId xmlns:a16="http://schemas.microsoft.com/office/drawing/2014/main" id="{80E061D9-3659-43A5-17A0-1FDDAFA3319F}"/>
              </a:ext>
            </a:extLst>
          </p:cNvPr>
          <p:cNvSpPr txBox="1">
            <a:spLocks/>
          </p:cNvSpPr>
          <p:nvPr/>
        </p:nvSpPr>
        <p:spPr bwMode="auto">
          <a:xfrm>
            <a:off x="452438" y="3584575"/>
            <a:ext cx="455612" cy="517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b="1">
                <a:solidFill>
                  <a:srgbClr val="0070C0"/>
                </a:solidFill>
              </a:rPr>
              <a:t>T</a:t>
            </a:r>
            <a:r>
              <a:rPr lang="en-US" altLang="en-US" sz="2400" b="1" baseline="-25000">
                <a:solidFill>
                  <a:srgbClr val="0070C0"/>
                </a:solidFill>
              </a:rPr>
              <a:t>2</a:t>
            </a:r>
            <a:endParaRPr lang="en-US" altLang="en-US" sz="2400" b="1">
              <a:solidFill>
                <a:srgbClr val="0070C0"/>
              </a:solidFill>
            </a:endParaRPr>
          </a:p>
        </p:txBody>
      </p:sp>
      <p:sp>
        <p:nvSpPr>
          <p:cNvPr id="91143" name="Text Box 7" descr="TextBox 9">
            <a:extLst>
              <a:ext uri="{FF2B5EF4-FFF2-40B4-BE49-F238E27FC236}">
                <a16:creationId xmlns:a16="http://schemas.microsoft.com/office/drawing/2014/main" id="{D7BC4E02-DC90-4C94-3EFC-F9BEF74A51FB}"/>
              </a:ext>
            </a:extLst>
          </p:cNvPr>
          <p:cNvSpPr txBox="1">
            <a:spLocks/>
          </p:cNvSpPr>
          <p:nvPr/>
        </p:nvSpPr>
        <p:spPr bwMode="auto">
          <a:xfrm>
            <a:off x="5168900" y="2697163"/>
            <a:ext cx="1617663" cy="468312"/>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A += 100</a:t>
            </a:r>
          </a:p>
        </p:txBody>
      </p:sp>
      <p:sp>
        <p:nvSpPr>
          <p:cNvPr id="91144" name="Text Box 8" descr="TextBox 18">
            <a:extLst>
              <a:ext uri="{FF2B5EF4-FFF2-40B4-BE49-F238E27FC236}">
                <a16:creationId xmlns:a16="http://schemas.microsoft.com/office/drawing/2014/main" id="{59D15BC7-C0BD-208E-01D9-F402EB4F9DC9}"/>
              </a:ext>
            </a:extLst>
          </p:cNvPr>
          <p:cNvSpPr txBox="1">
            <a:spLocks/>
          </p:cNvSpPr>
          <p:nvPr/>
        </p:nvSpPr>
        <p:spPr bwMode="auto">
          <a:xfrm>
            <a:off x="7056438" y="2665413"/>
            <a:ext cx="1506537" cy="469900"/>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B -= 100</a:t>
            </a:r>
          </a:p>
        </p:txBody>
      </p:sp>
      <p:sp>
        <p:nvSpPr>
          <p:cNvPr id="91145" name="Text Box 9" descr="TextBox 19">
            <a:extLst>
              <a:ext uri="{FF2B5EF4-FFF2-40B4-BE49-F238E27FC236}">
                <a16:creationId xmlns:a16="http://schemas.microsoft.com/office/drawing/2014/main" id="{9CDE5621-A3EA-A1A2-4540-22F0CFDCDA0C}"/>
              </a:ext>
            </a:extLst>
          </p:cNvPr>
          <p:cNvSpPr txBox="1">
            <a:spLocks/>
          </p:cNvSpPr>
          <p:nvPr/>
        </p:nvSpPr>
        <p:spPr bwMode="auto">
          <a:xfrm>
            <a:off x="1252538" y="3549650"/>
            <a:ext cx="1671637" cy="469900"/>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A *= 1.06</a:t>
            </a:r>
          </a:p>
        </p:txBody>
      </p:sp>
      <p:sp>
        <p:nvSpPr>
          <p:cNvPr id="91146" name="Text Box 10" descr="TextBox 20">
            <a:extLst>
              <a:ext uri="{FF2B5EF4-FFF2-40B4-BE49-F238E27FC236}">
                <a16:creationId xmlns:a16="http://schemas.microsoft.com/office/drawing/2014/main" id="{347FCDF4-2F5D-633A-2B1A-B2782A99BD9E}"/>
              </a:ext>
            </a:extLst>
          </p:cNvPr>
          <p:cNvSpPr txBox="1">
            <a:spLocks/>
          </p:cNvSpPr>
          <p:nvPr/>
        </p:nvSpPr>
        <p:spPr bwMode="auto">
          <a:xfrm>
            <a:off x="3214688" y="3554413"/>
            <a:ext cx="1673225" cy="468312"/>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B *= 1.06</a:t>
            </a:r>
          </a:p>
        </p:txBody>
      </p:sp>
      <p:sp>
        <p:nvSpPr>
          <p:cNvPr id="91147" name="Text Box 11" descr="TextBox 10">
            <a:extLst>
              <a:ext uri="{FF2B5EF4-FFF2-40B4-BE49-F238E27FC236}">
                <a16:creationId xmlns:a16="http://schemas.microsoft.com/office/drawing/2014/main" id="{675BA372-896D-E3E1-F169-55486CADA5BE}"/>
              </a:ext>
            </a:extLst>
          </p:cNvPr>
          <p:cNvSpPr txBox="1">
            <a:spLocks/>
          </p:cNvSpPr>
          <p:nvPr/>
        </p:nvSpPr>
        <p:spPr bwMode="auto">
          <a:xfrm>
            <a:off x="8261350" y="4441825"/>
            <a:ext cx="854075" cy="46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i="1"/>
              <a:t>Time</a:t>
            </a:r>
          </a:p>
        </p:txBody>
      </p:sp>
      <p:sp>
        <p:nvSpPr>
          <p:cNvPr id="91148" name="Text Box 12" descr="TextBox 2">
            <a:extLst>
              <a:ext uri="{FF2B5EF4-FFF2-40B4-BE49-F238E27FC236}">
                <a16:creationId xmlns:a16="http://schemas.microsoft.com/office/drawing/2014/main" id="{ECFA1E2E-2CC1-0BBE-E558-7823DC90230F}"/>
              </a:ext>
            </a:extLst>
          </p:cNvPr>
          <p:cNvSpPr txBox="1">
            <a:spLocks/>
          </p:cNvSpPr>
          <p:nvPr/>
        </p:nvSpPr>
        <p:spPr bwMode="auto">
          <a:xfrm>
            <a:off x="588963" y="1490663"/>
            <a:ext cx="8074025"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The transactions could occur in either order… DBMS allows!</a:t>
            </a:r>
          </a:p>
        </p:txBody>
      </p:sp>
    </p:spTree>
  </p:cSld>
  <p:clrMapOvr>
    <a:masterClrMapping/>
  </p:clrMapOvr>
  <p:transition>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Text Box 1" descr="Slide Number Placeholder 3">
            <a:extLst>
              <a:ext uri="{FF2B5EF4-FFF2-40B4-BE49-F238E27FC236}">
                <a16:creationId xmlns:a16="http://schemas.microsoft.com/office/drawing/2014/main" id="{45ADF3CA-D997-A214-E319-618620007F9A}"/>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EABB25B-AD50-441E-AEA1-BC6319ACE16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92162" name="Group 2">
            <a:extLst>
              <a:ext uri="{FF2B5EF4-FFF2-40B4-BE49-F238E27FC236}">
                <a16:creationId xmlns:a16="http://schemas.microsoft.com/office/drawing/2014/main" id="{84F0BB5F-52FB-3B9F-DF1C-09BEC5D8613A}"/>
              </a:ext>
            </a:extLst>
          </p:cNvPr>
          <p:cNvGrpSpPr>
            <a:grpSpLocks/>
          </p:cNvGrpSpPr>
          <p:nvPr/>
        </p:nvGrpSpPr>
        <p:grpSpPr bwMode="auto">
          <a:xfrm>
            <a:off x="152400" y="1982788"/>
            <a:ext cx="6154738" cy="1403350"/>
            <a:chOff x="0" y="-1"/>
            <a:chExt cx="6155206" cy="1403907"/>
          </a:xfrm>
        </p:grpSpPr>
        <p:sp>
          <p:nvSpPr>
            <p:cNvPr id="92163" name="Line 3" descr="Straight Arrow Connector 9">
              <a:extLst>
                <a:ext uri="{FF2B5EF4-FFF2-40B4-BE49-F238E27FC236}">
                  <a16:creationId xmlns:a16="http://schemas.microsoft.com/office/drawing/2014/main" id="{E97CDA3F-E45A-5DB2-77E1-4BE4F50B82C0}"/>
                </a:ext>
              </a:extLst>
            </p:cNvPr>
            <p:cNvSpPr>
              <a:spLocks noChangeShapeType="1"/>
            </p:cNvSpPr>
            <p:nvPr/>
          </p:nvSpPr>
          <p:spPr bwMode="auto">
            <a:xfrm>
              <a:off x="271022" y="1403905"/>
              <a:ext cx="5884184" cy="1"/>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2164" name="Text Box 4" descr="TextBox 10">
              <a:extLst>
                <a:ext uri="{FF2B5EF4-FFF2-40B4-BE49-F238E27FC236}">
                  <a16:creationId xmlns:a16="http://schemas.microsoft.com/office/drawing/2014/main" id="{CB69DC7D-A0C4-0EFA-DED8-28E73793B33A}"/>
                </a:ext>
              </a:extLst>
            </p:cNvPr>
            <p:cNvSpPr txBox="1">
              <a:spLocks/>
            </p:cNvSpPr>
            <p:nvPr/>
          </p:nvSpPr>
          <p:spPr bwMode="auto">
            <a:xfrm>
              <a:off x="0" y="24932"/>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2165" name="Text Box 5" descr="TextBox 11">
              <a:extLst>
                <a:ext uri="{FF2B5EF4-FFF2-40B4-BE49-F238E27FC236}">
                  <a16:creationId xmlns:a16="http://schemas.microsoft.com/office/drawing/2014/main" id="{9A981A61-E6FB-7747-D94F-68D7D3E97929}"/>
                </a:ext>
              </a:extLst>
            </p:cNvPr>
            <p:cNvSpPr txBox="1">
              <a:spLocks/>
            </p:cNvSpPr>
            <p:nvPr/>
          </p:nvSpPr>
          <p:spPr bwMode="auto">
            <a:xfrm>
              <a:off x="0" y="74420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2166" name="Text Box 6" descr="TextBox 12">
              <a:extLst>
                <a:ext uri="{FF2B5EF4-FFF2-40B4-BE49-F238E27FC236}">
                  <a16:creationId xmlns:a16="http://schemas.microsoft.com/office/drawing/2014/main" id="{CBA24B27-C1AE-C2A9-BE0E-FF3A362B415A}"/>
                </a:ext>
              </a:extLst>
            </p:cNvPr>
            <p:cNvSpPr txBox="1">
              <a:spLocks/>
            </p:cNvSpPr>
            <p:nvPr/>
          </p:nvSpPr>
          <p:spPr bwMode="auto">
            <a:xfrm>
              <a:off x="545662" y="0"/>
              <a:ext cx="1240815"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2167" name="Text Box 7" descr="TextBox 13">
              <a:extLst>
                <a:ext uri="{FF2B5EF4-FFF2-40B4-BE49-F238E27FC236}">
                  <a16:creationId xmlns:a16="http://schemas.microsoft.com/office/drawing/2014/main" id="{FB558C00-896E-A9D1-19B5-136587481FE6}"/>
                </a:ext>
              </a:extLst>
            </p:cNvPr>
            <p:cNvSpPr txBox="1">
              <a:spLocks/>
            </p:cNvSpPr>
            <p:nvPr/>
          </p:nvSpPr>
          <p:spPr bwMode="auto">
            <a:xfrm>
              <a:off x="1975462" y="0"/>
              <a:ext cx="129614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B -= 100</a:t>
              </a:r>
            </a:p>
          </p:txBody>
        </p:sp>
        <p:sp>
          <p:nvSpPr>
            <p:cNvPr id="92168" name="Text Box 8" descr="TextBox 14">
              <a:extLst>
                <a:ext uri="{FF2B5EF4-FFF2-40B4-BE49-F238E27FC236}">
                  <a16:creationId xmlns:a16="http://schemas.microsoft.com/office/drawing/2014/main" id="{CA4C1159-EE9C-1287-19B3-FAC0115362AD}"/>
                </a:ext>
              </a:extLst>
            </p:cNvPr>
            <p:cNvSpPr txBox="1">
              <a:spLocks/>
            </p:cNvSpPr>
            <p:nvPr/>
          </p:nvSpPr>
          <p:spPr bwMode="auto">
            <a:xfrm>
              <a:off x="3285523" y="757770"/>
              <a:ext cx="1282227"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2169" name="Text Box 9" descr="TextBox 15">
              <a:extLst>
                <a:ext uri="{FF2B5EF4-FFF2-40B4-BE49-F238E27FC236}">
                  <a16:creationId xmlns:a16="http://schemas.microsoft.com/office/drawing/2014/main" id="{A510876A-7C9F-0454-C7FF-084A0A550C51}"/>
                </a:ext>
              </a:extLst>
            </p:cNvPr>
            <p:cNvSpPr txBox="1">
              <a:spLocks/>
            </p:cNvSpPr>
            <p:nvPr/>
          </p:nvSpPr>
          <p:spPr bwMode="auto">
            <a:xfrm>
              <a:off x="4783465" y="744200"/>
              <a:ext cx="1282674"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graphicFrame>
        <p:nvGraphicFramePr>
          <p:cNvPr id="92170" name="Group 10">
            <a:extLst>
              <a:ext uri="{FF2B5EF4-FFF2-40B4-BE49-F238E27FC236}">
                <a16:creationId xmlns:a16="http://schemas.microsoft.com/office/drawing/2014/main" id="{81B638C1-5118-8708-1A48-B7A64B76E8AA}"/>
              </a:ext>
            </a:extLst>
          </p:cNvPr>
          <p:cNvGraphicFramePr>
            <a:graphicFrameLocks noGrp="1"/>
          </p:cNvGraphicFramePr>
          <p:nvPr/>
        </p:nvGraphicFramePr>
        <p:xfrm>
          <a:off x="6461125" y="1073150"/>
          <a:ext cx="2143125" cy="819150"/>
        </p:xfrm>
        <a:graphic>
          <a:graphicData uri="http://schemas.openxmlformats.org/drawingml/2006/table">
            <a:tbl>
              <a:tblPr/>
              <a:tblGrid>
                <a:gridCol w="1071563">
                  <a:extLst>
                    <a:ext uri="{9D8B030D-6E8A-4147-A177-3AD203B41FA5}">
                      <a16:colId xmlns:a16="http://schemas.microsoft.com/office/drawing/2014/main" val="2195928705"/>
                    </a:ext>
                  </a:extLst>
                </a:gridCol>
                <a:gridCol w="1071562">
                  <a:extLst>
                    <a:ext uri="{9D8B030D-6E8A-4147-A177-3AD203B41FA5}">
                      <a16:colId xmlns:a16="http://schemas.microsoft.com/office/drawing/2014/main" val="2628636501"/>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59988485"/>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45924437"/>
                  </a:ext>
                </a:extLst>
              </a:tr>
            </a:tbl>
          </a:graphicData>
        </a:graphic>
      </p:graphicFrame>
      <p:graphicFrame>
        <p:nvGraphicFramePr>
          <p:cNvPr id="92187" name="Group 27">
            <a:extLst>
              <a:ext uri="{FF2B5EF4-FFF2-40B4-BE49-F238E27FC236}">
                <a16:creationId xmlns:a16="http://schemas.microsoft.com/office/drawing/2014/main" id="{6F135951-15E2-2D9C-AE8B-F395F9052D5A}"/>
              </a:ext>
            </a:extLst>
          </p:cNvPr>
          <p:cNvGraphicFramePr>
            <a:graphicFrameLocks noGrp="1"/>
          </p:cNvGraphicFramePr>
          <p:nvPr/>
        </p:nvGraphicFramePr>
        <p:xfrm>
          <a:off x="6877050" y="2465388"/>
          <a:ext cx="2201863" cy="819150"/>
        </p:xfrm>
        <a:graphic>
          <a:graphicData uri="http://schemas.openxmlformats.org/drawingml/2006/table">
            <a:tbl>
              <a:tblPr/>
              <a:tblGrid>
                <a:gridCol w="1244600">
                  <a:extLst>
                    <a:ext uri="{9D8B030D-6E8A-4147-A177-3AD203B41FA5}">
                      <a16:colId xmlns:a16="http://schemas.microsoft.com/office/drawing/2014/main" val="2203337886"/>
                    </a:ext>
                  </a:extLst>
                </a:gridCol>
                <a:gridCol w="957263">
                  <a:extLst>
                    <a:ext uri="{9D8B030D-6E8A-4147-A177-3AD203B41FA5}">
                      <a16:colId xmlns:a16="http://schemas.microsoft.com/office/drawing/2014/main" val="3104134876"/>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20934813"/>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3241891597"/>
                  </a:ext>
                </a:extLst>
              </a:tr>
            </a:tbl>
          </a:graphicData>
        </a:graphic>
      </p:graphicFrame>
      <p:sp>
        <p:nvSpPr>
          <p:cNvPr id="92204" name="Text Box 44" descr="TextBox 43">
            <a:extLst>
              <a:ext uri="{FF2B5EF4-FFF2-40B4-BE49-F238E27FC236}">
                <a16:creationId xmlns:a16="http://schemas.microsoft.com/office/drawing/2014/main" id="{1896665B-8D30-1E3B-73E8-FD216AC17FC0}"/>
              </a:ext>
            </a:extLst>
          </p:cNvPr>
          <p:cNvSpPr txBox="1">
            <a:spLocks/>
          </p:cNvSpPr>
          <p:nvPr/>
        </p:nvSpPr>
        <p:spPr bwMode="auto">
          <a:xfrm>
            <a:off x="6478588" y="692150"/>
            <a:ext cx="238442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2205" name="Text Box 45" descr="TextBox 38">
            <a:extLst>
              <a:ext uri="{FF2B5EF4-FFF2-40B4-BE49-F238E27FC236}">
                <a16:creationId xmlns:a16="http://schemas.microsoft.com/office/drawing/2014/main" id="{EF33024C-9CAD-7DD8-059B-FADECCEAA79D}"/>
              </a:ext>
            </a:extLst>
          </p:cNvPr>
          <p:cNvSpPr txBox="1">
            <a:spLocks/>
          </p:cNvSpPr>
          <p:nvPr/>
        </p:nvSpPr>
        <p:spPr bwMode="auto">
          <a:xfrm>
            <a:off x="577850" y="1136650"/>
            <a:ext cx="3141663" cy="444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b="1"/>
              <a:t>Serial schedule T</a:t>
            </a:r>
            <a:r>
              <a:rPr lang="en-US" altLang="en-US" sz="2000" b="1" baseline="-25000"/>
              <a:t>1</a:t>
            </a:r>
            <a:r>
              <a:rPr lang="en-US" altLang="en-US" sz="2000" b="1"/>
              <a:t>,T</a:t>
            </a:r>
            <a:r>
              <a:rPr lang="en-US" altLang="en-US" sz="2000" b="1" baseline="-25000"/>
              <a:t>2</a:t>
            </a:r>
            <a:r>
              <a:rPr lang="en-US" altLang="en-US" sz="2000" b="1"/>
              <a:t>:</a:t>
            </a:r>
          </a:p>
        </p:txBody>
      </p:sp>
      <p:sp>
        <p:nvSpPr>
          <p:cNvPr id="92206" name="Text Box 46" descr="TextBox 35">
            <a:extLst>
              <a:ext uri="{FF2B5EF4-FFF2-40B4-BE49-F238E27FC236}">
                <a16:creationId xmlns:a16="http://schemas.microsoft.com/office/drawing/2014/main" id="{9B14C37C-EE06-1790-A95F-CCAFD87A15AB}"/>
              </a:ext>
            </a:extLst>
          </p:cNvPr>
          <p:cNvSpPr txBox="1">
            <a:spLocks/>
          </p:cNvSpPr>
          <p:nvPr/>
        </p:nvSpPr>
        <p:spPr bwMode="auto">
          <a:xfrm>
            <a:off x="406400" y="3405188"/>
            <a:ext cx="66675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i="1"/>
              <a:t>Time</a:t>
            </a:r>
          </a:p>
        </p:txBody>
      </p:sp>
      <p:grpSp>
        <p:nvGrpSpPr>
          <p:cNvPr id="92207" name="Group 47">
            <a:extLst>
              <a:ext uri="{FF2B5EF4-FFF2-40B4-BE49-F238E27FC236}">
                <a16:creationId xmlns:a16="http://schemas.microsoft.com/office/drawing/2014/main" id="{3ADF0E7A-F7D3-0D62-95ED-7725B92CADA6}"/>
              </a:ext>
            </a:extLst>
          </p:cNvPr>
          <p:cNvGrpSpPr>
            <a:grpSpLocks/>
          </p:cNvGrpSpPr>
          <p:nvPr/>
        </p:nvGrpSpPr>
        <p:grpSpPr bwMode="auto">
          <a:xfrm>
            <a:off x="80963" y="5029200"/>
            <a:ext cx="6524625" cy="1406525"/>
            <a:chOff x="0" y="-1"/>
            <a:chExt cx="6525414" cy="1405102"/>
          </a:xfrm>
        </p:grpSpPr>
        <p:sp>
          <p:nvSpPr>
            <p:cNvPr id="92208" name="Line 48" descr="Straight Arrow Connector 41">
              <a:extLst>
                <a:ext uri="{FF2B5EF4-FFF2-40B4-BE49-F238E27FC236}">
                  <a16:creationId xmlns:a16="http://schemas.microsoft.com/office/drawing/2014/main" id="{5B88D417-FBC4-C0F3-634C-85CBA61B4D28}"/>
                </a:ext>
              </a:extLst>
            </p:cNvPr>
            <p:cNvSpPr>
              <a:spLocks noChangeShapeType="1"/>
            </p:cNvSpPr>
            <p:nvPr/>
          </p:nvSpPr>
          <p:spPr bwMode="auto">
            <a:xfrm>
              <a:off x="271021" y="1395090"/>
              <a:ext cx="6254393" cy="10011"/>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2209" name="Text Box 49" descr="TextBox 44">
              <a:extLst>
                <a:ext uri="{FF2B5EF4-FFF2-40B4-BE49-F238E27FC236}">
                  <a16:creationId xmlns:a16="http://schemas.microsoft.com/office/drawing/2014/main" id="{4D31D129-4A39-6C6C-8315-887326A43D5B}"/>
                </a:ext>
              </a:extLst>
            </p:cNvPr>
            <p:cNvSpPr txBox="1">
              <a:spLocks/>
            </p:cNvSpPr>
            <p:nvPr/>
          </p:nvSpPr>
          <p:spPr bwMode="auto">
            <a:xfrm>
              <a:off x="0" y="16115"/>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2210" name="Text Box 50" descr="TextBox 45">
              <a:extLst>
                <a:ext uri="{FF2B5EF4-FFF2-40B4-BE49-F238E27FC236}">
                  <a16:creationId xmlns:a16="http://schemas.microsoft.com/office/drawing/2014/main" id="{48274682-8EB0-35C1-1B81-76E6C495B4E5}"/>
                </a:ext>
              </a:extLst>
            </p:cNvPr>
            <p:cNvSpPr txBox="1">
              <a:spLocks/>
            </p:cNvSpPr>
            <p:nvPr/>
          </p:nvSpPr>
          <p:spPr bwMode="auto">
            <a:xfrm>
              <a:off x="0" y="735383"/>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2211" name="Text Box 51" descr="TextBox 48">
              <a:extLst>
                <a:ext uri="{FF2B5EF4-FFF2-40B4-BE49-F238E27FC236}">
                  <a16:creationId xmlns:a16="http://schemas.microsoft.com/office/drawing/2014/main" id="{063E4C6E-0621-9A8F-EBB2-57C579206D6A}"/>
                </a:ext>
              </a:extLst>
            </p:cNvPr>
            <p:cNvSpPr txBox="1">
              <a:spLocks/>
            </p:cNvSpPr>
            <p:nvPr/>
          </p:nvSpPr>
          <p:spPr bwMode="auto">
            <a:xfrm>
              <a:off x="3626688" y="16115"/>
              <a:ext cx="1240816"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2212" name="Text Box 52" descr="TextBox 49">
              <a:extLst>
                <a:ext uri="{FF2B5EF4-FFF2-40B4-BE49-F238E27FC236}">
                  <a16:creationId xmlns:a16="http://schemas.microsoft.com/office/drawing/2014/main" id="{9FF9FD86-6C29-3C48-1206-62808D374A50}"/>
                </a:ext>
              </a:extLst>
            </p:cNvPr>
            <p:cNvSpPr txBox="1">
              <a:spLocks/>
            </p:cNvSpPr>
            <p:nvPr/>
          </p:nvSpPr>
          <p:spPr bwMode="auto">
            <a:xfrm>
              <a:off x="5066848" y="0"/>
              <a:ext cx="129614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B -= 100</a:t>
              </a:r>
            </a:p>
          </p:txBody>
        </p:sp>
        <p:sp>
          <p:nvSpPr>
            <p:cNvPr id="92213" name="Text Box 53" descr="TextBox 50">
              <a:extLst>
                <a:ext uri="{FF2B5EF4-FFF2-40B4-BE49-F238E27FC236}">
                  <a16:creationId xmlns:a16="http://schemas.microsoft.com/office/drawing/2014/main" id="{8EF2AFC2-E8B5-8C54-799E-7A9B5678E420}"/>
                </a:ext>
              </a:extLst>
            </p:cNvPr>
            <p:cNvSpPr txBox="1">
              <a:spLocks/>
            </p:cNvSpPr>
            <p:nvPr/>
          </p:nvSpPr>
          <p:spPr bwMode="auto">
            <a:xfrm>
              <a:off x="835003" y="886626"/>
              <a:ext cx="1282228"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2214" name="Text Box 54" descr="TextBox 51">
              <a:extLst>
                <a:ext uri="{FF2B5EF4-FFF2-40B4-BE49-F238E27FC236}">
                  <a16:creationId xmlns:a16="http://schemas.microsoft.com/office/drawing/2014/main" id="{93AD22BD-4D3B-D30A-02A2-F7F3EEC0A54E}"/>
                </a:ext>
              </a:extLst>
            </p:cNvPr>
            <p:cNvSpPr txBox="1">
              <a:spLocks/>
            </p:cNvSpPr>
            <p:nvPr/>
          </p:nvSpPr>
          <p:spPr bwMode="auto">
            <a:xfrm>
              <a:off x="2258536" y="886626"/>
              <a:ext cx="1282674"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graphicFrame>
        <p:nvGraphicFramePr>
          <p:cNvPr id="92215" name="Group 55">
            <a:extLst>
              <a:ext uri="{FF2B5EF4-FFF2-40B4-BE49-F238E27FC236}">
                <a16:creationId xmlns:a16="http://schemas.microsoft.com/office/drawing/2014/main" id="{3A0D562E-8B31-9325-FD96-B06D9E49B1C9}"/>
              </a:ext>
            </a:extLst>
          </p:cNvPr>
          <p:cNvGraphicFramePr>
            <a:graphicFrameLocks noGrp="1"/>
          </p:cNvGraphicFramePr>
          <p:nvPr/>
        </p:nvGraphicFramePr>
        <p:xfrm>
          <a:off x="6892925" y="4005263"/>
          <a:ext cx="2143125" cy="819150"/>
        </p:xfrm>
        <a:graphic>
          <a:graphicData uri="http://schemas.openxmlformats.org/drawingml/2006/table">
            <a:tbl>
              <a:tblPr/>
              <a:tblGrid>
                <a:gridCol w="1071563">
                  <a:extLst>
                    <a:ext uri="{9D8B030D-6E8A-4147-A177-3AD203B41FA5}">
                      <a16:colId xmlns:a16="http://schemas.microsoft.com/office/drawing/2014/main" val="772603674"/>
                    </a:ext>
                  </a:extLst>
                </a:gridCol>
                <a:gridCol w="1071562">
                  <a:extLst>
                    <a:ext uri="{9D8B030D-6E8A-4147-A177-3AD203B41FA5}">
                      <a16:colId xmlns:a16="http://schemas.microsoft.com/office/drawing/2014/main" val="1719590189"/>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80431659"/>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29037577"/>
                  </a:ext>
                </a:extLst>
              </a:tr>
            </a:tbl>
          </a:graphicData>
        </a:graphic>
      </p:graphicFrame>
      <p:graphicFrame>
        <p:nvGraphicFramePr>
          <p:cNvPr id="92232" name="Group 72">
            <a:extLst>
              <a:ext uri="{FF2B5EF4-FFF2-40B4-BE49-F238E27FC236}">
                <a16:creationId xmlns:a16="http://schemas.microsoft.com/office/drawing/2014/main" id="{BA22E231-DA59-0C61-EF49-513822E75469}"/>
              </a:ext>
            </a:extLst>
          </p:cNvPr>
          <p:cNvGraphicFramePr>
            <a:graphicFrameLocks noGrp="1"/>
          </p:cNvGraphicFramePr>
          <p:nvPr/>
        </p:nvGraphicFramePr>
        <p:xfrm>
          <a:off x="6877050" y="5468938"/>
          <a:ext cx="2201863" cy="819150"/>
        </p:xfrm>
        <a:graphic>
          <a:graphicData uri="http://schemas.openxmlformats.org/drawingml/2006/table">
            <a:tbl>
              <a:tblPr/>
              <a:tblGrid>
                <a:gridCol w="1008063">
                  <a:extLst>
                    <a:ext uri="{9D8B030D-6E8A-4147-A177-3AD203B41FA5}">
                      <a16:colId xmlns:a16="http://schemas.microsoft.com/office/drawing/2014/main" val="2170565278"/>
                    </a:ext>
                  </a:extLst>
                </a:gridCol>
                <a:gridCol w="1193800">
                  <a:extLst>
                    <a:ext uri="{9D8B030D-6E8A-4147-A177-3AD203B41FA5}">
                      <a16:colId xmlns:a16="http://schemas.microsoft.com/office/drawing/2014/main" val="1281744245"/>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97907531"/>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9900"/>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Rs.112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3728320563"/>
                  </a:ext>
                </a:extLst>
              </a:tr>
            </a:tbl>
          </a:graphicData>
        </a:graphic>
      </p:graphicFrame>
      <p:sp>
        <p:nvSpPr>
          <p:cNvPr id="92249" name="Text Box 89" descr="TextBox 54">
            <a:extLst>
              <a:ext uri="{FF2B5EF4-FFF2-40B4-BE49-F238E27FC236}">
                <a16:creationId xmlns:a16="http://schemas.microsoft.com/office/drawing/2014/main" id="{54FB25D6-4BAF-288B-FD76-A21E1F4D29EE}"/>
              </a:ext>
            </a:extLst>
          </p:cNvPr>
          <p:cNvSpPr txBox="1">
            <a:spLocks/>
          </p:cNvSpPr>
          <p:nvPr/>
        </p:nvSpPr>
        <p:spPr bwMode="auto">
          <a:xfrm>
            <a:off x="7026275" y="3662363"/>
            <a:ext cx="238442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2250" name="Text Box 90" descr="TextBox 55">
            <a:extLst>
              <a:ext uri="{FF2B5EF4-FFF2-40B4-BE49-F238E27FC236}">
                <a16:creationId xmlns:a16="http://schemas.microsoft.com/office/drawing/2014/main" id="{1D4EC010-152B-AD95-5655-A8A6EA38FEA7}"/>
              </a:ext>
            </a:extLst>
          </p:cNvPr>
          <p:cNvSpPr txBox="1">
            <a:spLocks/>
          </p:cNvSpPr>
          <p:nvPr/>
        </p:nvSpPr>
        <p:spPr bwMode="auto">
          <a:xfrm>
            <a:off x="452438" y="4175125"/>
            <a:ext cx="3201987" cy="444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b="1"/>
              <a:t>Serial schedule T</a:t>
            </a:r>
            <a:r>
              <a:rPr lang="en-US" altLang="en-US" sz="2000" b="1" baseline="-25000"/>
              <a:t>2</a:t>
            </a:r>
            <a:r>
              <a:rPr lang="en-US" altLang="en-US" sz="2000" b="1"/>
              <a:t>,T1:</a:t>
            </a:r>
          </a:p>
        </p:txBody>
      </p:sp>
      <p:sp>
        <p:nvSpPr>
          <p:cNvPr id="92251" name="Text Box 91" descr="TextBox 56">
            <a:extLst>
              <a:ext uri="{FF2B5EF4-FFF2-40B4-BE49-F238E27FC236}">
                <a16:creationId xmlns:a16="http://schemas.microsoft.com/office/drawing/2014/main" id="{D8486448-F8B9-1F9C-7B9F-538CF0C41C48}"/>
              </a:ext>
            </a:extLst>
          </p:cNvPr>
          <p:cNvSpPr txBox="1">
            <a:spLocks/>
          </p:cNvSpPr>
          <p:nvPr/>
        </p:nvSpPr>
        <p:spPr bwMode="auto">
          <a:xfrm>
            <a:off x="366713" y="6488113"/>
            <a:ext cx="66675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i="1"/>
              <a:t>Time</a:t>
            </a:r>
          </a:p>
        </p:txBody>
      </p:sp>
      <p:sp>
        <p:nvSpPr>
          <p:cNvPr id="92252" name="Text Box 92" descr="TextBox 7">
            <a:extLst>
              <a:ext uri="{FF2B5EF4-FFF2-40B4-BE49-F238E27FC236}">
                <a16:creationId xmlns:a16="http://schemas.microsoft.com/office/drawing/2014/main" id="{E18EEE84-67EC-4645-0FBF-E4E0FD5F07C3}"/>
              </a:ext>
            </a:extLst>
          </p:cNvPr>
          <p:cNvSpPr txBox="1">
            <a:spLocks/>
          </p:cNvSpPr>
          <p:nvPr/>
        </p:nvSpPr>
        <p:spPr bwMode="auto">
          <a:xfrm>
            <a:off x="6635750" y="2155825"/>
            <a:ext cx="2451100"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Result of Executing T1, T2</a:t>
            </a:r>
          </a:p>
        </p:txBody>
      </p:sp>
      <p:sp>
        <p:nvSpPr>
          <p:cNvPr id="92253" name="Text Box 93" descr="TextBox 57">
            <a:extLst>
              <a:ext uri="{FF2B5EF4-FFF2-40B4-BE49-F238E27FC236}">
                <a16:creationId xmlns:a16="http://schemas.microsoft.com/office/drawing/2014/main" id="{9DDFF7C1-8880-EB11-3C8C-3997E053F5DD}"/>
              </a:ext>
            </a:extLst>
          </p:cNvPr>
          <p:cNvSpPr txBox="1">
            <a:spLocks/>
          </p:cNvSpPr>
          <p:nvPr/>
        </p:nvSpPr>
        <p:spPr bwMode="auto">
          <a:xfrm>
            <a:off x="6705600" y="5105400"/>
            <a:ext cx="2389188"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Result of Executing T2,T1</a:t>
            </a:r>
          </a:p>
        </p:txBody>
      </p:sp>
    </p:spTree>
  </p:cSld>
  <p:clrMapOvr>
    <a:masterClrMapping/>
  </p:clrMapOvr>
  <p:transition spd="med"/>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Rectangle 1" descr="Title 1">
            <a:extLst>
              <a:ext uri="{FF2B5EF4-FFF2-40B4-BE49-F238E27FC236}">
                <a16:creationId xmlns:a16="http://schemas.microsoft.com/office/drawing/2014/main" id="{5360E66A-60F8-8E10-C2FC-D120EB790297}"/>
              </a:ext>
            </a:extLst>
          </p:cNvPr>
          <p:cNvSpPr>
            <a:spLocks noChangeArrowheads="1"/>
          </p:cNvSpPr>
          <p:nvPr>
            <p:ph type="title"/>
          </p:nvPr>
        </p:nvSpPr>
        <p:spPr>
          <a:xfrm>
            <a:off x="360363" y="320675"/>
            <a:ext cx="7886700" cy="604838"/>
          </a:xfrm>
        </p:spPr>
        <p:txBody>
          <a:bodyPr/>
          <a:lstStyle/>
          <a:p>
            <a:r>
              <a:rPr lang="en-US" altLang="en-US" sz="2800"/>
              <a:t>Problem to Solve</a:t>
            </a:r>
          </a:p>
        </p:txBody>
      </p:sp>
      <p:sp>
        <p:nvSpPr>
          <p:cNvPr id="93186" name="Text Box 2" descr="Slide Number Placeholder 3">
            <a:extLst>
              <a:ext uri="{FF2B5EF4-FFF2-40B4-BE49-F238E27FC236}">
                <a16:creationId xmlns:a16="http://schemas.microsoft.com/office/drawing/2014/main" id="{7F78E9E2-7A23-58C6-0C1C-71A98CFA0DB1}"/>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35A8626-D2F1-4DD3-B8F0-F8A49A6510A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93187" name="Group 3">
            <a:extLst>
              <a:ext uri="{FF2B5EF4-FFF2-40B4-BE49-F238E27FC236}">
                <a16:creationId xmlns:a16="http://schemas.microsoft.com/office/drawing/2014/main" id="{8CAB4F45-F721-57E8-8B74-5EEBD36F4F21}"/>
              </a:ext>
            </a:extLst>
          </p:cNvPr>
          <p:cNvGrpSpPr>
            <a:grpSpLocks/>
          </p:cNvGrpSpPr>
          <p:nvPr/>
        </p:nvGrpSpPr>
        <p:grpSpPr bwMode="auto">
          <a:xfrm>
            <a:off x="341313" y="3538538"/>
            <a:ext cx="6015037" cy="1708150"/>
            <a:chOff x="0" y="-1"/>
            <a:chExt cx="6015152" cy="1707739"/>
          </a:xfrm>
        </p:grpSpPr>
        <p:sp>
          <p:nvSpPr>
            <p:cNvPr id="93188" name="Line 4" descr="Straight Arrow Connector 9">
              <a:extLst>
                <a:ext uri="{FF2B5EF4-FFF2-40B4-BE49-F238E27FC236}">
                  <a16:creationId xmlns:a16="http://schemas.microsoft.com/office/drawing/2014/main" id="{F24201EE-E6AE-A3E0-AA5E-4BDA3A538EA6}"/>
                </a:ext>
              </a:extLst>
            </p:cNvPr>
            <p:cNvSpPr>
              <a:spLocks noChangeShapeType="1"/>
            </p:cNvSpPr>
            <p:nvPr/>
          </p:nvSpPr>
          <p:spPr bwMode="auto">
            <a:xfrm>
              <a:off x="290615" y="1695825"/>
              <a:ext cx="5595126" cy="11913"/>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3189" name="Text Box 5" descr="TextBox 10">
              <a:extLst>
                <a:ext uri="{FF2B5EF4-FFF2-40B4-BE49-F238E27FC236}">
                  <a16:creationId xmlns:a16="http://schemas.microsoft.com/office/drawing/2014/main" id="{BC65CEC8-C724-DF2F-10C7-A1159D36A8C0}"/>
                </a:ext>
              </a:extLst>
            </p:cNvPr>
            <p:cNvSpPr txBox="1">
              <a:spLocks/>
            </p:cNvSpPr>
            <p:nvPr/>
          </p:nvSpPr>
          <p:spPr bwMode="auto">
            <a:xfrm>
              <a:off x="0" y="5539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3190" name="Text Box 6" descr="TextBox 11">
              <a:extLst>
                <a:ext uri="{FF2B5EF4-FFF2-40B4-BE49-F238E27FC236}">
                  <a16:creationId xmlns:a16="http://schemas.microsoft.com/office/drawing/2014/main" id="{F7D63A40-6B68-2FE5-52A1-3E618AB38D42}"/>
                </a:ext>
              </a:extLst>
            </p:cNvPr>
            <p:cNvSpPr txBox="1">
              <a:spLocks/>
            </p:cNvSpPr>
            <p:nvPr/>
          </p:nvSpPr>
          <p:spPr bwMode="auto">
            <a:xfrm>
              <a:off x="0" y="911035"/>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3191" name="Text Box 7" descr="TextBox 12">
              <a:extLst>
                <a:ext uri="{FF2B5EF4-FFF2-40B4-BE49-F238E27FC236}">
                  <a16:creationId xmlns:a16="http://schemas.microsoft.com/office/drawing/2014/main" id="{410ED5EE-EE7F-42BE-653A-5EB02D490E24}"/>
                </a:ext>
              </a:extLst>
            </p:cNvPr>
            <p:cNvSpPr txBox="1">
              <a:spLocks/>
            </p:cNvSpPr>
            <p:nvPr/>
          </p:nvSpPr>
          <p:spPr bwMode="auto">
            <a:xfrm>
              <a:off x="582247" y="0"/>
              <a:ext cx="124081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3192" name="Text Box 8" descr="TextBox 13">
              <a:extLst>
                <a:ext uri="{FF2B5EF4-FFF2-40B4-BE49-F238E27FC236}">
                  <a16:creationId xmlns:a16="http://schemas.microsoft.com/office/drawing/2014/main" id="{2BF6F200-19A8-9F12-87EE-78632111E874}"/>
                </a:ext>
              </a:extLst>
            </p:cNvPr>
            <p:cNvSpPr txBox="1">
              <a:spLocks/>
            </p:cNvSpPr>
            <p:nvPr/>
          </p:nvSpPr>
          <p:spPr bwMode="auto">
            <a:xfrm>
              <a:off x="3365460" y="41786"/>
              <a:ext cx="1157993"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100</a:t>
              </a:r>
            </a:p>
          </p:txBody>
        </p:sp>
        <p:sp>
          <p:nvSpPr>
            <p:cNvPr id="93193" name="Text Box 9" descr="TextBox 14">
              <a:extLst>
                <a:ext uri="{FF2B5EF4-FFF2-40B4-BE49-F238E27FC236}">
                  <a16:creationId xmlns:a16="http://schemas.microsoft.com/office/drawing/2014/main" id="{EE5C5EFE-C5EE-C5FB-5D4C-59FC2B808F8E}"/>
                </a:ext>
              </a:extLst>
            </p:cNvPr>
            <p:cNvSpPr txBox="1">
              <a:spLocks/>
            </p:cNvSpPr>
            <p:nvPr/>
          </p:nvSpPr>
          <p:spPr bwMode="auto">
            <a:xfrm>
              <a:off x="1925771" y="877639"/>
              <a:ext cx="1282227"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3194" name="Text Box 10" descr="TextBox 15">
              <a:extLst>
                <a:ext uri="{FF2B5EF4-FFF2-40B4-BE49-F238E27FC236}">
                  <a16:creationId xmlns:a16="http://schemas.microsoft.com/office/drawing/2014/main" id="{BE6D7A54-4124-56D4-21C2-D95FB9AE9A22}"/>
                </a:ext>
              </a:extLst>
            </p:cNvPr>
            <p:cNvSpPr txBox="1">
              <a:spLocks/>
            </p:cNvSpPr>
            <p:nvPr/>
          </p:nvSpPr>
          <p:spPr bwMode="auto">
            <a:xfrm>
              <a:off x="4732478" y="877343"/>
              <a:ext cx="1282674"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sp>
        <p:nvSpPr>
          <p:cNvPr id="93195" name="Text Box 11" descr="TextBox 2">
            <a:extLst>
              <a:ext uri="{FF2B5EF4-FFF2-40B4-BE49-F238E27FC236}">
                <a16:creationId xmlns:a16="http://schemas.microsoft.com/office/drawing/2014/main" id="{A8E71DD9-EA3C-3540-EAAB-8A564DF1F128}"/>
              </a:ext>
            </a:extLst>
          </p:cNvPr>
          <p:cNvSpPr txBox="1">
            <a:spLocks/>
          </p:cNvSpPr>
          <p:nvPr/>
        </p:nvSpPr>
        <p:spPr bwMode="auto">
          <a:xfrm>
            <a:off x="5830888" y="1628775"/>
            <a:ext cx="2497137"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Serial schedule results:</a:t>
            </a:r>
          </a:p>
        </p:txBody>
      </p:sp>
      <p:graphicFrame>
        <p:nvGraphicFramePr>
          <p:cNvPr id="93196" name="Group 12">
            <a:extLst>
              <a:ext uri="{FF2B5EF4-FFF2-40B4-BE49-F238E27FC236}">
                <a16:creationId xmlns:a16="http://schemas.microsoft.com/office/drawing/2014/main" id="{0AE26C94-BA81-A4E0-FF92-274153C2447E}"/>
              </a:ext>
            </a:extLst>
          </p:cNvPr>
          <p:cNvGraphicFramePr>
            <a:graphicFrameLocks noGrp="1"/>
          </p:cNvGraphicFramePr>
          <p:nvPr/>
        </p:nvGraphicFramePr>
        <p:xfrm>
          <a:off x="5364163" y="1912938"/>
          <a:ext cx="3262312" cy="1238251"/>
        </p:xfrm>
        <a:graphic>
          <a:graphicData uri="http://schemas.openxmlformats.org/drawingml/2006/table">
            <a:tbl>
              <a:tblPr/>
              <a:tblGrid>
                <a:gridCol w="987425">
                  <a:extLst>
                    <a:ext uri="{9D8B030D-6E8A-4147-A177-3AD203B41FA5}">
                      <a16:colId xmlns:a16="http://schemas.microsoft.com/office/drawing/2014/main" val="2979436846"/>
                    </a:ext>
                  </a:extLst>
                </a:gridCol>
                <a:gridCol w="936625">
                  <a:extLst>
                    <a:ext uri="{9D8B030D-6E8A-4147-A177-3AD203B41FA5}">
                      <a16:colId xmlns:a16="http://schemas.microsoft.com/office/drawing/2014/main" val="708510336"/>
                    </a:ext>
                  </a:extLst>
                </a:gridCol>
                <a:gridCol w="1338262">
                  <a:extLst>
                    <a:ext uri="{9D8B030D-6E8A-4147-A177-3AD203B41FA5}">
                      <a16:colId xmlns:a16="http://schemas.microsoft.com/office/drawing/2014/main" val="54497613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77552949"/>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41311852"/>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Rs.112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12173290"/>
                  </a:ext>
                </a:extLst>
              </a:tr>
            </a:tbl>
          </a:graphicData>
        </a:graphic>
      </p:graphicFrame>
      <p:graphicFrame>
        <p:nvGraphicFramePr>
          <p:cNvPr id="93230" name="Group 46">
            <a:extLst>
              <a:ext uri="{FF2B5EF4-FFF2-40B4-BE49-F238E27FC236}">
                <a16:creationId xmlns:a16="http://schemas.microsoft.com/office/drawing/2014/main" id="{E7F3D0D7-4129-1DDA-CBE2-E1ED7006738B}"/>
              </a:ext>
            </a:extLst>
          </p:cNvPr>
          <p:cNvGraphicFramePr>
            <a:graphicFrameLocks noGrp="1"/>
          </p:cNvGraphicFramePr>
          <p:nvPr/>
        </p:nvGraphicFramePr>
        <p:xfrm>
          <a:off x="682625" y="2122488"/>
          <a:ext cx="2143125" cy="819150"/>
        </p:xfrm>
        <a:graphic>
          <a:graphicData uri="http://schemas.openxmlformats.org/drawingml/2006/table">
            <a:tbl>
              <a:tblPr/>
              <a:tblGrid>
                <a:gridCol w="1071563">
                  <a:extLst>
                    <a:ext uri="{9D8B030D-6E8A-4147-A177-3AD203B41FA5}">
                      <a16:colId xmlns:a16="http://schemas.microsoft.com/office/drawing/2014/main" val="3600028366"/>
                    </a:ext>
                  </a:extLst>
                </a:gridCol>
                <a:gridCol w="1071562">
                  <a:extLst>
                    <a:ext uri="{9D8B030D-6E8A-4147-A177-3AD203B41FA5}">
                      <a16:colId xmlns:a16="http://schemas.microsoft.com/office/drawing/2014/main" val="2388657789"/>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709031444"/>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45334618"/>
                  </a:ext>
                </a:extLst>
              </a:tr>
            </a:tbl>
          </a:graphicData>
        </a:graphic>
      </p:graphicFrame>
      <p:sp>
        <p:nvSpPr>
          <p:cNvPr id="93247" name="Text Box 63" descr="TextBox 22">
            <a:extLst>
              <a:ext uri="{FF2B5EF4-FFF2-40B4-BE49-F238E27FC236}">
                <a16:creationId xmlns:a16="http://schemas.microsoft.com/office/drawing/2014/main" id="{294A7AB6-C83C-ADA8-5D3C-1198F3E6A49E}"/>
              </a:ext>
            </a:extLst>
          </p:cNvPr>
          <p:cNvSpPr txBox="1">
            <a:spLocks/>
          </p:cNvSpPr>
          <p:nvPr/>
        </p:nvSpPr>
        <p:spPr bwMode="auto">
          <a:xfrm>
            <a:off x="700088" y="1766888"/>
            <a:ext cx="23860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3248" name="Text Box 64" descr="Rectangle 19">
            <a:extLst>
              <a:ext uri="{FF2B5EF4-FFF2-40B4-BE49-F238E27FC236}">
                <a16:creationId xmlns:a16="http://schemas.microsoft.com/office/drawing/2014/main" id="{80B2BA63-0607-4B2C-06F3-5B19B74A9FE1}"/>
              </a:ext>
            </a:extLst>
          </p:cNvPr>
          <p:cNvSpPr txBox="1">
            <a:spLocks/>
          </p:cNvSpPr>
          <p:nvPr/>
        </p:nvSpPr>
        <p:spPr bwMode="auto">
          <a:xfrm>
            <a:off x="608013" y="5661025"/>
            <a:ext cx="6869112" cy="717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nSpc>
                <a:spcPct val="80000"/>
              </a:lnSpc>
            </a:pPr>
            <a:r>
              <a:rPr lang="en-US" altLang="en-US" sz="1600"/>
              <a:t>Note:To check whether given schedule is serializable or not, we should check whether the given interleaved schedule result is equivalent to result of some serial schedule</a:t>
            </a:r>
          </a:p>
        </p:txBody>
      </p:sp>
      <p:sp>
        <p:nvSpPr>
          <p:cNvPr id="93249" name="Text Box 65" descr="TextBox 4">
            <a:extLst>
              <a:ext uri="{FF2B5EF4-FFF2-40B4-BE49-F238E27FC236}">
                <a16:creationId xmlns:a16="http://schemas.microsoft.com/office/drawing/2014/main" id="{D3D36E94-3300-60DF-3596-FF49A12E0ACD}"/>
              </a:ext>
            </a:extLst>
          </p:cNvPr>
          <p:cNvSpPr txBox="1">
            <a:spLocks/>
          </p:cNvSpPr>
          <p:nvPr/>
        </p:nvSpPr>
        <p:spPr bwMode="auto">
          <a:xfrm>
            <a:off x="296863" y="1052513"/>
            <a:ext cx="737235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Check whether the following schedule i.e., (A+=100, A*=1.06,</a:t>
            </a:r>
          </a:p>
          <a:p>
            <a:r>
              <a:rPr lang="en-US" altLang="en-US">
                <a:solidFill>
                  <a:srgbClr val="FF0000"/>
                </a:solidFill>
              </a:rPr>
              <a:t>B-=100, B*=1.06) is Serializable ?</a:t>
            </a:r>
          </a:p>
        </p:txBody>
      </p:sp>
      <p:sp>
        <p:nvSpPr>
          <p:cNvPr id="93250" name="Rectangle 66" descr="Rectangle 5">
            <a:extLst>
              <a:ext uri="{FF2B5EF4-FFF2-40B4-BE49-F238E27FC236}">
                <a16:creationId xmlns:a16="http://schemas.microsoft.com/office/drawing/2014/main" id="{BD4E31C3-3A3B-9083-CE46-1BFC8D67725F}"/>
              </a:ext>
            </a:extLst>
          </p:cNvPr>
          <p:cNvSpPr>
            <a:spLocks/>
          </p:cNvSpPr>
          <p:nvPr/>
        </p:nvSpPr>
        <p:spPr bwMode="auto">
          <a:xfrm>
            <a:off x="250825" y="3365500"/>
            <a:ext cx="6480175" cy="2189163"/>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3251" name="Text Box 67" descr="TextBox 6">
            <a:extLst>
              <a:ext uri="{FF2B5EF4-FFF2-40B4-BE49-F238E27FC236}">
                <a16:creationId xmlns:a16="http://schemas.microsoft.com/office/drawing/2014/main" id="{D7C44F95-AAC6-304B-C322-961885A648ED}"/>
              </a:ext>
            </a:extLst>
          </p:cNvPr>
          <p:cNvSpPr txBox="1">
            <a:spLocks/>
          </p:cNvSpPr>
          <p:nvPr/>
        </p:nvSpPr>
        <p:spPr bwMode="auto">
          <a:xfrm>
            <a:off x="2363788" y="2995613"/>
            <a:ext cx="25336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Transaction Schedule</a:t>
            </a:r>
          </a:p>
        </p:txBody>
      </p:sp>
    </p:spTree>
  </p:cSld>
  <p:clrMapOvr>
    <a:masterClrMapping/>
  </p:clrMapOvr>
  <p:transition spd="med"/>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1" descr="Title 1">
            <a:extLst>
              <a:ext uri="{FF2B5EF4-FFF2-40B4-BE49-F238E27FC236}">
                <a16:creationId xmlns:a16="http://schemas.microsoft.com/office/drawing/2014/main" id="{1A404786-5FA9-3BA2-6A47-F614A498D58B}"/>
              </a:ext>
            </a:extLst>
          </p:cNvPr>
          <p:cNvSpPr>
            <a:spLocks noChangeArrowheads="1"/>
          </p:cNvSpPr>
          <p:nvPr>
            <p:ph type="title"/>
          </p:nvPr>
        </p:nvSpPr>
        <p:spPr>
          <a:xfrm>
            <a:off x="360363" y="320675"/>
            <a:ext cx="7886700" cy="604838"/>
          </a:xfrm>
        </p:spPr>
        <p:txBody>
          <a:bodyPr/>
          <a:lstStyle/>
          <a:p>
            <a:r>
              <a:rPr lang="en-US" altLang="en-US"/>
              <a:t>Serializable, </a:t>
            </a:r>
            <a:r>
              <a:rPr lang="en-US" altLang="en-US" b="1"/>
              <a:t>Yes</a:t>
            </a:r>
            <a:endParaRPr lang="en-US" altLang="en-US"/>
          </a:p>
        </p:txBody>
      </p:sp>
      <p:sp>
        <p:nvSpPr>
          <p:cNvPr id="94210" name="Text Box 2" descr="Slide Number Placeholder 3">
            <a:extLst>
              <a:ext uri="{FF2B5EF4-FFF2-40B4-BE49-F238E27FC236}">
                <a16:creationId xmlns:a16="http://schemas.microsoft.com/office/drawing/2014/main" id="{8CC37584-86AF-9881-327D-278589DE350D}"/>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7BFDF48-0E1F-4269-919D-1ED1DC2512B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94211" name="Group 3">
            <a:extLst>
              <a:ext uri="{FF2B5EF4-FFF2-40B4-BE49-F238E27FC236}">
                <a16:creationId xmlns:a16="http://schemas.microsoft.com/office/drawing/2014/main" id="{4532C281-8A68-8631-6BD3-DDCB57FAB79E}"/>
              </a:ext>
            </a:extLst>
          </p:cNvPr>
          <p:cNvGrpSpPr>
            <a:grpSpLocks/>
          </p:cNvGrpSpPr>
          <p:nvPr/>
        </p:nvGrpSpPr>
        <p:grpSpPr bwMode="auto">
          <a:xfrm>
            <a:off x="80963" y="3160713"/>
            <a:ext cx="5884862" cy="1708150"/>
            <a:chOff x="0" y="-1"/>
            <a:chExt cx="5885741" cy="1707739"/>
          </a:xfrm>
        </p:grpSpPr>
        <p:sp>
          <p:nvSpPr>
            <p:cNvPr id="94212" name="Line 4" descr="Straight Arrow Connector 9">
              <a:extLst>
                <a:ext uri="{FF2B5EF4-FFF2-40B4-BE49-F238E27FC236}">
                  <a16:creationId xmlns:a16="http://schemas.microsoft.com/office/drawing/2014/main" id="{213D0E28-C91D-71A5-614E-DECF7E6EFD77}"/>
                </a:ext>
              </a:extLst>
            </p:cNvPr>
            <p:cNvSpPr>
              <a:spLocks noChangeShapeType="1"/>
            </p:cNvSpPr>
            <p:nvPr/>
          </p:nvSpPr>
          <p:spPr bwMode="auto">
            <a:xfrm>
              <a:off x="290615" y="1695825"/>
              <a:ext cx="5595126" cy="11913"/>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4213" name="Text Box 5" descr="TextBox 10">
              <a:extLst>
                <a:ext uri="{FF2B5EF4-FFF2-40B4-BE49-F238E27FC236}">
                  <a16:creationId xmlns:a16="http://schemas.microsoft.com/office/drawing/2014/main" id="{0128D85E-11FA-AAAC-A438-0B3E0CF402C6}"/>
                </a:ext>
              </a:extLst>
            </p:cNvPr>
            <p:cNvSpPr txBox="1">
              <a:spLocks/>
            </p:cNvSpPr>
            <p:nvPr/>
          </p:nvSpPr>
          <p:spPr bwMode="auto">
            <a:xfrm>
              <a:off x="0" y="5539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4214" name="Text Box 6" descr="TextBox 11">
              <a:extLst>
                <a:ext uri="{FF2B5EF4-FFF2-40B4-BE49-F238E27FC236}">
                  <a16:creationId xmlns:a16="http://schemas.microsoft.com/office/drawing/2014/main" id="{4679D3A1-F63A-DAAC-5D08-953E25EEE0BC}"/>
                </a:ext>
              </a:extLst>
            </p:cNvPr>
            <p:cNvSpPr txBox="1">
              <a:spLocks/>
            </p:cNvSpPr>
            <p:nvPr/>
          </p:nvSpPr>
          <p:spPr bwMode="auto">
            <a:xfrm>
              <a:off x="0" y="911035"/>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4215" name="Text Box 7" descr="TextBox 12">
              <a:extLst>
                <a:ext uri="{FF2B5EF4-FFF2-40B4-BE49-F238E27FC236}">
                  <a16:creationId xmlns:a16="http://schemas.microsoft.com/office/drawing/2014/main" id="{0FF61192-C5CD-6767-7D8C-B1507DE5023B}"/>
                </a:ext>
              </a:extLst>
            </p:cNvPr>
            <p:cNvSpPr txBox="1">
              <a:spLocks/>
            </p:cNvSpPr>
            <p:nvPr/>
          </p:nvSpPr>
          <p:spPr bwMode="auto">
            <a:xfrm>
              <a:off x="582247" y="0"/>
              <a:ext cx="124081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4216" name="Text Box 8" descr="TextBox 13">
              <a:extLst>
                <a:ext uri="{FF2B5EF4-FFF2-40B4-BE49-F238E27FC236}">
                  <a16:creationId xmlns:a16="http://schemas.microsoft.com/office/drawing/2014/main" id="{F361D307-27F7-6B7C-CA55-D9934482A603}"/>
                </a:ext>
              </a:extLst>
            </p:cNvPr>
            <p:cNvSpPr txBox="1">
              <a:spLocks/>
            </p:cNvSpPr>
            <p:nvPr/>
          </p:nvSpPr>
          <p:spPr bwMode="auto">
            <a:xfrm>
              <a:off x="3248135" y="41786"/>
              <a:ext cx="1157993"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100</a:t>
              </a:r>
            </a:p>
          </p:txBody>
        </p:sp>
        <p:sp>
          <p:nvSpPr>
            <p:cNvPr id="94217" name="Text Box 9" descr="TextBox 14">
              <a:extLst>
                <a:ext uri="{FF2B5EF4-FFF2-40B4-BE49-F238E27FC236}">
                  <a16:creationId xmlns:a16="http://schemas.microsoft.com/office/drawing/2014/main" id="{19656517-8970-F176-C5D9-32F145770B3A}"/>
                </a:ext>
              </a:extLst>
            </p:cNvPr>
            <p:cNvSpPr txBox="1">
              <a:spLocks/>
            </p:cNvSpPr>
            <p:nvPr/>
          </p:nvSpPr>
          <p:spPr bwMode="auto">
            <a:xfrm>
              <a:off x="1745655" y="877639"/>
              <a:ext cx="1282227"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4218" name="Text Box 10" descr="TextBox 15">
              <a:extLst>
                <a:ext uri="{FF2B5EF4-FFF2-40B4-BE49-F238E27FC236}">
                  <a16:creationId xmlns:a16="http://schemas.microsoft.com/office/drawing/2014/main" id="{A8C75A07-395D-FA72-6C64-42408B0F16EE}"/>
                </a:ext>
              </a:extLst>
            </p:cNvPr>
            <p:cNvSpPr txBox="1">
              <a:spLocks/>
            </p:cNvSpPr>
            <p:nvPr/>
          </p:nvSpPr>
          <p:spPr bwMode="auto">
            <a:xfrm>
              <a:off x="4562792" y="877343"/>
              <a:ext cx="1282673"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sp>
        <p:nvSpPr>
          <p:cNvPr id="94219" name="Text Box 11" descr="TextBox 46">
            <a:extLst>
              <a:ext uri="{FF2B5EF4-FFF2-40B4-BE49-F238E27FC236}">
                <a16:creationId xmlns:a16="http://schemas.microsoft.com/office/drawing/2014/main" id="{9B45C45B-D071-69FD-4572-FED1FDCA6002}"/>
              </a:ext>
            </a:extLst>
          </p:cNvPr>
          <p:cNvSpPr txBox="1">
            <a:spLocks/>
          </p:cNvSpPr>
          <p:nvPr/>
        </p:nvSpPr>
        <p:spPr bwMode="auto">
          <a:xfrm>
            <a:off x="6454775" y="4795838"/>
            <a:ext cx="2525713" cy="1209675"/>
          </a:xfrm>
          <a:prstGeom prst="rect">
            <a:avLst/>
          </a:prstGeom>
          <a:solidFill>
            <a:srgbClr val="FFBEBE"/>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a:t>Same as a serial schedule </a:t>
            </a:r>
            <a:r>
              <a:rPr lang="en-US" altLang="en-US" b="1" i="1"/>
              <a:t>for all possible values of A, B = </a:t>
            </a:r>
            <a:r>
              <a:rPr lang="en-US" altLang="en-US" b="1" u="sng"/>
              <a:t>serializable</a:t>
            </a:r>
            <a:endParaRPr lang="en-US" altLang="en-US"/>
          </a:p>
        </p:txBody>
      </p:sp>
      <p:sp>
        <p:nvSpPr>
          <p:cNvPr id="94220" name="Text Box 12" descr="TextBox 2">
            <a:extLst>
              <a:ext uri="{FF2B5EF4-FFF2-40B4-BE49-F238E27FC236}">
                <a16:creationId xmlns:a16="http://schemas.microsoft.com/office/drawing/2014/main" id="{CBBD474B-76A4-170A-96BA-29B5F83EDD78}"/>
              </a:ext>
            </a:extLst>
          </p:cNvPr>
          <p:cNvSpPr txBox="1">
            <a:spLocks/>
          </p:cNvSpPr>
          <p:nvPr/>
        </p:nvSpPr>
        <p:spPr bwMode="auto">
          <a:xfrm>
            <a:off x="5611813" y="1011238"/>
            <a:ext cx="2284412"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Serial schedules:</a:t>
            </a:r>
          </a:p>
        </p:txBody>
      </p:sp>
      <p:graphicFrame>
        <p:nvGraphicFramePr>
          <p:cNvPr id="94221" name="Group 13">
            <a:extLst>
              <a:ext uri="{FF2B5EF4-FFF2-40B4-BE49-F238E27FC236}">
                <a16:creationId xmlns:a16="http://schemas.microsoft.com/office/drawing/2014/main" id="{6E6CED53-6FE0-FBAA-72EF-212A7D855A60}"/>
              </a:ext>
            </a:extLst>
          </p:cNvPr>
          <p:cNvGraphicFramePr>
            <a:graphicFrameLocks noGrp="1"/>
          </p:cNvGraphicFramePr>
          <p:nvPr/>
        </p:nvGraphicFramePr>
        <p:xfrm>
          <a:off x="5435600" y="1368425"/>
          <a:ext cx="3262313" cy="1238251"/>
        </p:xfrm>
        <a:graphic>
          <a:graphicData uri="http://schemas.openxmlformats.org/drawingml/2006/table">
            <a:tbl>
              <a:tblPr/>
              <a:tblGrid>
                <a:gridCol w="987425">
                  <a:extLst>
                    <a:ext uri="{9D8B030D-6E8A-4147-A177-3AD203B41FA5}">
                      <a16:colId xmlns:a16="http://schemas.microsoft.com/office/drawing/2014/main" val="586730073"/>
                    </a:ext>
                  </a:extLst>
                </a:gridCol>
                <a:gridCol w="936625">
                  <a:extLst>
                    <a:ext uri="{9D8B030D-6E8A-4147-A177-3AD203B41FA5}">
                      <a16:colId xmlns:a16="http://schemas.microsoft.com/office/drawing/2014/main" val="3699306127"/>
                    </a:ext>
                  </a:extLst>
                </a:gridCol>
                <a:gridCol w="1338263">
                  <a:extLst>
                    <a:ext uri="{9D8B030D-6E8A-4147-A177-3AD203B41FA5}">
                      <a16:colId xmlns:a16="http://schemas.microsoft.com/office/drawing/2014/main" val="96066098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71962561"/>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87299507"/>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Rs.112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31510490"/>
                  </a:ext>
                </a:extLst>
              </a:tr>
            </a:tbl>
          </a:graphicData>
        </a:graphic>
      </p:graphicFrame>
      <p:graphicFrame>
        <p:nvGraphicFramePr>
          <p:cNvPr id="94255" name="Group 47">
            <a:extLst>
              <a:ext uri="{FF2B5EF4-FFF2-40B4-BE49-F238E27FC236}">
                <a16:creationId xmlns:a16="http://schemas.microsoft.com/office/drawing/2014/main" id="{0891060D-52A6-370B-876B-31517BD27A50}"/>
              </a:ext>
            </a:extLst>
          </p:cNvPr>
          <p:cNvGraphicFramePr>
            <a:graphicFrameLocks noGrp="1"/>
          </p:cNvGraphicFramePr>
          <p:nvPr/>
        </p:nvGraphicFramePr>
        <p:xfrm>
          <a:off x="6575425" y="3857625"/>
          <a:ext cx="2127250" cy="768350"/>
        </p:xfrm>
        <a:graphic>
          <a:graphicData uri="http://schemas.openxmlformats.org/drawingml/2006/table">
            <a:tbl>
              <a:tblPr/>
              <a:tblGrid>
                <a:gridCol w="1052513">
                  <a:extLst>
                    <a:ext uri="{9D8B030D-6E8A-4147-A177-3AD203B41FA5}">
                      <a16:colId xmlns:a16="http://schemas.microsoft.com/office/drawing/2014/main" val="3786630633"/>
                    </a:ext>
                  </a:extLst>
                </a:gridCol>
                <a:gridCol w="1074737">
                  <a:extLst>
                    <a:ext uri="{9D8B030D-6E8A-4147-A177-3AD203B41FA5}">
                      <a16:colId xmlns:a16="http://schemas.microsoft.com/office/drawing/2014/main" val="298367176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659165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57381972"/>
                  </a:ext>
                </a:extLst>
              </a:tr>
            </a:tbl>
          </a:graphicData>
        </a:graphic>
      </p:graphicFrame>
      <p:sp>
        <p:nvSpPr>
          <p:cNvPr id="94272" name="AutoShape 64" descr="Rounded Rectangle 16">
            <a:extLst>
              <a:ext uri="{FF2B5EF4-FFF2-40B4-BE49-F238E27FC236}">
                <a16:creationId xmlns:a16="http://schemas.microsoft.com/office/drawing/2014/main" id="{79CADFC2-EA94-2BB3-7EE3-5E4288F462BB}"/>
              </a:ext>
            </a:extLst>
          </p:cNvPr>
          <p:cNvSpPr>
            <a:spLocks/>
          </p:cNvSpPr>
          <p:nvPr/>
        </p:nvSpPr>
        <p:spPr bwMode="auto">
          <a:xfrm>
            <a:off x="5435600" y="1700213"/>
            <a:ext cx="3311525" cy="423862"/>
          </a:xfrm>
          <a:prstGeom prst="roundRect">
            <a:avLst>
              <a:gd name="adj" fmla="val 16667"/>
            </a:avLst>
          </a:prstGeom>
          <a:noFill/>
          <a:ln w="25400" cap="flat" cmpd="sng">
            <a:solidFill>
              <a:srgbClr val="00B05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algn="ctr"/>
            <a:endParaRPr lang="en-US" altLang="en-US">
              <a:solidFill>
                <a:srgbClr val="FFFFFF"/>
              </a:solidFill>
            </a:endParaRPr>
          </a:p>
        </p:txBody>
      </p:sp>
      <p:graphicFrame>
        <p:nvGraphicFramePr>
          <p:cNvPr id="94273" name="Group 65">
            <a:extLst>
              <a:ext uri="{FF2B5EF4-FFF2-40B4-BE49-F238E27FC236}">
                <a16:creationId xmlns:a16="http://schemas.microsoft.com/office/drawing/2014/main" id="{257B8206-2D95-C1D1-480C-7A7B02CBF017}"/>
              </a:ext>
            </a:extLst>
          </p:cNvPr>
          <p:cNvGraphicFramePr>
            <a:graphicFrameLocks noGrp="1"/>
          </p:cNvGraphicFramePr>
          <p:nvPr/>
        </p:nvGraphicFramePr>
        <p:xfrm>
          <a:off x="682625" y="1433513"/>
          <a:ext cx="2143125" cy="819150"/>
        </p:xfrm>
        <a:graphic>
          <a:graphicData uri="http://schemas.openxmlformats.org/drawingml/2006/table">
            <a:tbl>
              <a:tblPr/>
              <a:tblGrid>
                <a:gridCol w="1071563">
                  <a:extLst>
                    <a:ext uri="{9D8B030D-6E8A-4147-A177-3AD203B41FA5}">
                      <a16:colId xmlns:a16="http://schemas.microsoft.com/office/drawing/2014/main" val="947953792"/>
                    </a:ext>
                  </a:extLst>
                </a:gridCol>
                <a:gridCol w="1071562">
                  <a:extLst>
                    <a:ext uri="{9D8B030D-6E8A-4147-A177-3AD203B41FA5}">
                      <a16:colId xmlns:a16="http://schemas.microsoft.com/office/drawing/2014/main" val="2924934453"/>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93484984"/>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6056389"/>
                  </a:ext>
                </a:extLst>
              </a:tr>
            </a:tbl>
          </a:graphicData>
        </a:graphic>
      </p:graphicFrame>
      <p:sp>
        <p:nvSpPr>
          <p:cNvPr id="94290" name="Text Box 82" descr="TextBox 22">
            <a:extLst>
              <a:ext uri="{FF2B5EF4-FFF2-40B4-BE49-F238E27FC236}">
                <a16:creationId xmlns:a16="http://schemas.microsoft.com/office/drawing/2014/main" id="{8B28677A-66CE-39E8-0C86-488771FDDA85}"/>
              </a:ext>
            </a:extLst>
          </p:cNvPr>
          <p:cNvSpPr txBox="1">
            <a:spLocks/>
          </p:cNvSpPr>
          <p:nvPr/>
        </p:nvSpPr>
        <p:spPr bwMode="auto">
          <a:xfrm>
            <a:off x="700088" y="1052513"/>
            <a:ext cx="2386012"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4291" name="AutoShape 83" descr="Rounded Rectangle 23">
            <a:extLst>
              <a:ext uri="{FF2B5EF4-FFF2-40B4-BE49-F238E27FC236}">
                <a16:creationId xmlns:a16="http://schemas.microsoft.com/office/drawing/2014/main" id="{86D4DCEB-3174-964A-767B-F74C7E4A19B7}"/>
              </a:ext>
            </a:extLst>
          </p:cNvPr>
          <p:cNvSpPr>
            <a:spLocks/>
          </p:cNvSpPr>
          <p:nvPr/>
        </p:nvSpPr>
        <p:spPr bwMode="auto">
          <a:xfrm>
            <a:off x="6507163" y="4222750"/>
            <a:ext cx="2312987" cy="371475"/>
          </a:xfrm>
          <a:prstGeom prst="roundRect">
            <a:avLst>
              <a:gd name="adj" fmla="val 16667"/>
            </a:avLst>
          </a:prstGeom>
          <a:noFill/>
          <a:ln w="25400" cap="flat" cmpd="sng">
            <a:solidFill>
              <a:srgbClr val="00B05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algn="ctr"/>
            <a:endParaRPr lang="en-US" altLang="en-US">
              <a:solidFill>
                <a:srgbClr val="FFFFFF"/>
              </a:solidFill>
            </a:endParaRPr>
          </a:p>
        </p:txBody>
      </p:sp>
      <p:sp>
        <p:nvSpPr>
          <p:cNvPr id="94292" name="Rectangle 84" descr="Rectangle 19">
            <a:extLst>
              <a:ext uri="{FF2B5EF4-FFF2-40B4-BE49-F238E27FC236}">
                <a16:creationId xmlns:a16="http://schemas.microsoft.com/office/drawing/2014/main" id="{EC25C3FF-DFD3-BE0B-90A2-55280DC87860}"/>
              </a:ext>
            </a:extLst>
          </p:cNvPr>
          <p:cNvSpPr>
            <a:spLocks/>
          </p:cNvSpPr>
          <p:nvPr/>
        </p:nvSpPr>
        <p:spPr bwMode="auto">
          <a:xfrm>
            <a:off x="106363" y="2933700"/>
            <a:ext cx="6121400" cy="2189163"/>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4293" name="Text Box 85" descr="TextBox 20">
            <a:extLst>
              <a:ext uri="{FF2B5EF4-FFF2-40B4-BE49-F238E27FC236}">
                <a16:creationId xmlns:a16="http://schemas.microsoft.com/office/drawing/2014/main" id="{A1C5BD13-D616-BE7B-DEEA-9E2E1CD368DF}"/>
              </a:ext>
            </a:extLst>
          </p:cNvPr>
          <p:cNvSpPr txBox="1">
            <a:spLocks/>
          </p:cNvSpPr>
          <p:nvPr/>
        </p:nvSpPr>
        <p:spPr bwMode="auto">
          <a:xfrm>
            <a:off x="2220913" y="2563813"/>
            <a:ext cx="253206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Transaction Schedule</a:t>
            </a:r>
          </a:p>
        </p:txBody>
      </p:sp>
    </p:spTree>
  </p:cSld>
  <p:clrMapOvr>
    <a:masterClrMapping/>
  </p:clrMapOvr>
  <p:transition spd="med"/>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1" descr="Title 1">
            <a:extLst>
              <a:ext uri="{FF2B5EF4-FFF2-40B4-BE49-F238E27FC236}">
                <a16:creationId xmlns:a16="http://schemas.microsoft.com/office/drawing/2014/main" id="{31824A16-A586-5405-7749-05DB903328A6}"/>
              </a:ext>
            </a:extLst>
          </p:cNvPr>
          <p:cNvSpPr>
            <a:spLocks noChangeArrowheads="1"/>
          </p:cNvSpPr>
          <p:nvPr>
            <p:ph type="title"/>
          </p:nvPr>
        </p:nvSpPr>
        <p:spPr>
          <a:xfrm>
            <a:off x="360363" y="320675"/>
            <a:ext cx="7886700" cy="604838"/>
          </a:xfrm>
        </p:spPr>
        <p:txBody>
          <a:bodyPr/>
          <a:lstStyle/>
          <a:p>
            <a:r>
              <a:rPr lang="en-US" altLang="en-US" sz="2800"/>
              <a:t>Problem to Solve</a:t>
            </a:r>
          </a:p>
        </p:txBody>
      </p:sp>
      <p:sp>
        <p:nvSpPr>
          <p:cNvPr id="95234" name="Text Box 2" descr="Slide Number Placeholder 3">
            <a:extLst>
              <a:ext uri="{FF2B5EF4-FFF2-40B4-BE49-F238E27FC236}">
                <a16:creationId xmlns:a16="http://schemas.microsoft.com/office/drawing/2014/main" id="{49CF2337-B632-7A8E-1685-9BD6102F536C}"/>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FD70206-0520-42E0-A74A-E1E171F927D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89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95235" name="Group 3">
            <a:extLst>
              <a:ext uri="{FF2B5EF4-FFF2-40B4-BE49-F238E27FC236}">
                <a16:creationId xmlns:a16="http://schemas.microsoft.com/office/drawing/2014/main" id="{6E0E3EBB-B238-01B9-A63D-FF7FE4B727EE}"/>
              </a:ext>
            </a:extLst>
          </p:cNvPr>
          <p:cNvGrpSpPr>
            <a:grpSpLocks/>
          </p:cNvGrpSpPr>
          <p:nvPr/>
        </p:nvGrpSpPr>
        <p:grpSpPr bwMode="auto">
          <a:xfrm>
            <a:off x="341313" y="3538538"/>
            <a:ext cx="6046787" cy="1708150"/>
            <a:chOff x="0" y="-1"/>
            <a:chExt cx="6046330" cy="1707739"/>
          </a:xfrm>
        </p:grpSpPr>
        <p:sp>
          <p:nvSpPr>
            <p:cNvPr id="95236" name="Line 4" descr="Straight Arrow Connector 9">
              <a:extLst>
                <a:ext uri="{FF2B5EF4-FFF2-40B4-BE49-F238E27FC236}">
                  <a16:creationId xmlns:a16="http://schemas.microsoft.com/office/drawing/2014/main" id="{1CE2E1D7-1C28-8938-DFF1-307AF4B1FB28}"/>
                </a:ext>
              </a:extLst>
            </p:cNvPr>
            <p:cNvSpPr>
              <a:spLocks noChangeShapeType="1"/>
            </p:cNvSpPr>
            <p:nvPr/>
          </p:nvSpPr>
          <p:spPr bwMode="auto">
            <a:xfrm>
              <a:off x="290615" y="1695825"/>
              <a:ext cx="5595126" cy="11913"/>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5237" name="Text Box 5" descr="TextBox 10">
              <a:extLst>
                <a:ext uri="{FF2B5EF4-FFF2-40B4-BE49-F238E27FC236}">
                  <a16:creationId xmlns:a16="http://schemas.microsoft.com/office/drawing/2014/main" id="{912CBC15-398A-D40B-149B-F4AF76CECFF4}"/>
                </a:ext>
              </a:extLst>
            </p:cNvPr>
            <p:cNvSpPr txBox="1">
              <a:spLocks/>
            </p:cNvSpPr>
            <p:nvPr/>
          </p:nvSpPr>
          <p:spPr bwMode="auto">
            <a:xfrm>
              <a:off x="0" y="5539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5238" name="Text Box 6" descr="TextBox 11">
              <a:extLst>
                <a:ext uri="{FF2B5EF4-FFF2-40B4-BE49-F238E27FC236}">
                  <a16:creationId xmlns:a16="http://schemas.microsoft.com/office/drawing/2014/main" id="{C3763B1A-91CA-F8A0-6DC5-CC668057E14E}"/>
                </a:ext>
              </a:extLst>
            </p:cNvPr>
            <p:cNvSpPr txBox="1">
              <a:spLocks/>
            </p:cNvSpPr>
            <p:nvPr/>
          </p:nvSpPr>
          <p:spPr bwMode="auto">
            <a:xfrm>
              <a:off x="0" y="911035"/>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5239" name="Text Box 7" descr="TextBox 12">
              <a:extLst>
                <a:ext uri="{FF2B5EF4-FFF2-40B4-BE49-F238E27FC236}">
                  <a16:creationId xmlns:a16="http://schemas.microsoft.com/office/drawing/2014/main" id="{D4092841-0A00-FE1F-D4A2-99B5CC6F0B29}"/>
                </a:ext>
              </a:extLst>
            </p:cNvPr>
            <p:cNvSpPr txBox="1">
              <a:spLocks/>
            </p:cNvSpPr>
            <p:nvPr/>
          </p:nvSpPr>
          <p:spPr bwMode="auto">
            <a:xfrm>
              <a:off x="582247" y="0"/>
              <a:ext cx="1240815"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5240" name="Text Box 8" descr="TextBox 13">
              <a:extLst>
                <a:ext uri="{FF2B5EF4-FFF2-40B4-BE49-F238E27FC236}">
                  <a16:creationId xmlns:a16="http://schemas.microsoft.com/office/drawing/2014/main" id="{3EAC9E11-4E6F-B41F-0704-CB75A26E4DE2}"/>
                </a:ext>
              </a:extLst>
            </p:cNvPr>
            <p:cNvSpPr txBox="1">
              <a:spLocks/>
            </p:cNvSpPr>
            <p:nvPr/>
          </p:nvSpPr>
          <p:spPr bwMode="auto">
            <a:xfrm>
              <a:off x="4888338" y="41786"/>
              <a:ext cx="1157993"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100</a:t>
              </a:r>
            </a:p>
          </p:txBody>
        </p:sp>
        <p:sp>
          <p:nvSpPr>
            <p:cNvPr id="95241" name="Text Box 9" descr="TextBox 14">
              <a:extLst>
                <a:ext uri="{FF2B5EF4-FFF2-40B4-BE49-F238E27FC236}">
                  <a16:creationId xmlns:a16="http://schemas.microsoft.com/office/drawing/2014/main" id="{430FCBD8-76DC-852F-B389-242ABE6FD476}"/>
                </a:ext>
              </a:extLst>
            </p:cNvPr>
            <p:cNvSpPr txBox="1">
              <a:spLocks/>
            </p:cNvSpPr>
            <p:nvPr/>
          </p:nvSpPr>
          <p:spPr bwMode="auto">
            <a:xfrm>
              <a:off x="1925771" y="877639"/>
              <a:ext cx="1282227"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5242" name="Text Box 10" descr="TextBox 15">
              <a:extLst>
                <a:ext uri="{FF2B5EF4-FFF2-40B4-BE49-F238E27FC236}">
                  <a16:creationId xmlns:a16="http://schemas.microsoft.com/office/drawing/2014/main" id="{2FD2E621-B0C2-EBDB-CB01-DC26EB581A5B}"/>
                </a:ext>
              </a:extLst>
            </p:cNvPr>
            <p:cNvSpPr txBox="1">
              <a:spLocks/>
            </p:cNvSpPr>
            <p:nvPr/>
          </p:nvSpPr>
          <p:spPr bwMode="auto">
            <a:xfrm>
              <a:off x="3436334" y="877343"/>
              <a:ext cx="1282674"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sp>
        <p:nvSpPr>
          <p:cNvPr id="95243" name="Text Box 11" descr="TextBox 2">
            <a:extLst>
              <a:ext uri="{FF2B5EF4-FFF2-40B4-BE49-F238E27FC236}">
                <a16:creationId xmlns:a16="http://schemas.microsoft.com/office/drawing/2014/main" id="{D123E9D2-95FD-BE59-9576-F8F1EA822F97}"/>
              </a:ext>
            </a:extLst>
          </p:cNvPr>
          <p:cNvSpPr txBox="1">
            <a:spLocks/>
          </p:cNvSpPr>
          <p:nvPr/>
        </p:nvSpPr>
        <p:spPr bwMode="auto">
          <a:xfrm>
            <a:off x="5830888" y="1628775"/>
            <a:ext cx="2497137"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Serial schedule results:</a:t>
            </a:r>
          </a:p>
        </p:txBody>
      </p:sp>
      <p:graphicFrame>
        <p:nvGraphicFramePr>
          <p:cNvPr id="95244" name="Group 12">
            <a:extLst>
              <a:ext uri="{FF2B5EF4-FFF2-40B4-BE49-F238E27FC236}">
                <a16:creationId xmlns:a16="http://schemas.microsoft.com/office/drawing/2014/main" id="{5287A431-C78E-3EDA-40E8-E174367FEA6C}"/>
              </a:ext>
            </a:extLst>
          </p:cNvPr>
          <p:cNvGraphicFramePr>
            <a:graphicFrameLocks noGrp="1"/>
          </p:cNvGraphicFramePr>
          <p:nvPr/>
        </p:nvGraphicFramePr>
        <p:xfrm>
          <a:off x="5364163" y="1912938"/>
          <a:ext cx="3262312" cy="1238251"/>
        </p:xfrm>
        <a:graphic>
          <a:graphicData uri="http://schemas.openxmlformats.org/drawingml/2006/table">
            <a:tbl>
              <a:tblPr/>
              <a:tblGrid>
                <a:gridCol w="987425">
                  <a:extLst>
                    <a:ext uri="{9D8B030D-6E8A-4147-A177-3AD203B41FA5}">
                      <a16:colId xmlns:a16="http://schemas.microsoft.com/office/drawing/2014/main" val="1371663968"/>
                    </a:ext>
                  </a:extLst>
                </a:gridCol>
                <a:gridCol w="936625">
                  <a:extLst>
                    <a:ext uri="{9D8B030D-6E8A-4147-A177-3AD203B41FA5}">
                      <a16:colId xmlns:a16="http://schemas.microsoft.com/office/drawing/2014/main" val="1360611663"/>
                    </a:ext>
                  </a:extLst>
                </a:gridCol>
                <a:gridCol w="1338262">
                  <a:extLst>
                    <a:ext uri="{9D8B030D-6E8A-4147-A177-3AD203B41FA5}">
                      <a16:colId xmlns:a16="http://schemas.microsoft.com/office/drawing/2014/main" val="231324025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26126839"/>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61456559"/>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Rs.112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51653338"/>
                  </a:ext>
                </a:extLst>
              </a:tr>
            </a:tbl>
          </a:graphicData>
        </a:graphic>
      </p:graphicFrame>
      <p:graphicFrame>
        <p:nvGraphicFramePr>
          <p:cNvPr id="95278" name="Group 46">
            <a:extLst>
              <a:ext uri="{FF2B5EF4-FFF2-40B4-BE49-F238E27FC236}">
                <a16:creationId xmlns:a16="http://schemas.microsoft.com/office/drawing/2014/main" id="{0F4AE80D-A523-8225-316D-CAEC3DA4DBD9}"/>
              </a:ext>
            </a:extLst>
          </p:cNvPr>
          <p:cNvGraphicFramePr>
            <a:graphicFrameLocks noGrp="1"/>
          </p:cNvGraphicFramePr>
          <p:nvPr/>
        </p:nvGraphicFramePr>
        <p:xfrm>
          <a:off x="682625" y="2122488"/>
          <a:ext cx="2143125" cy="819150"/>
        </p:xfrm>
        <a:graphic>
          <a:graphicData uri="http://schemas.openxmlformats.org/drawingml/2006/table">
            <a:tbl>
              <a:tblPr/>
              <a:tblGrid>
                <a:gridCol w="1071563">
                  <a:extLst>
                    <a:ext uri="{9D8B030D-6E8A-4147-A177-3AD203B41FA5}">
                      <a16:colId xmlns:a16="http://schemas.microsoft.com/office/drawing/2014/main" val="2636964684"/>
                    </a:ext>
                  </a:extLst>
                </a:gridCol>
                <a:gridCol w="1071562">
                  <a:extLst>
                    <a:ext uri="{9D8B030D-6E8A-4147-A177-3AD203B41FA5}">
                      <a16:colId xmlns:a16="http://schemas.microsoft.com/office/drawing/2014/main" val="1220434611"/>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4488978"/>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7236203"/>
                  </a:ext>
                </a:extLst>
              </a:tr>
            </a:tbl>
          </a:graphicData>
        </a:graphic>
      </p:graphicFrame>
      <p:sp>
        <p:nvSpPr>
          <p:cNvPr id="95295" name="Text Box 63" descr="TextBox 22">
            <a:extLst>
              <a:ext uri="{FF2B5EF4-FFF2-40B4-BE49-F238E27FC236}">
                <a16:creationId xmlns:a16="http://schemas.microsoft.com/office/drawing/2014/main" id="{55BC789B-2EB1-1813-415A-6C2613C518F7}"/>
              </a:ext>
            </a:extLst>
          </p:cNvPr>
          <p:cNvSpPr txBox="1">
            <a:spLocks/>
          </p:cNvSpPr>
          <p:nvPr/>
        </p:nvSpPr>
        <p:spPr bwMode="auto">
          <a:xfrm>
            <a:off x="700088" y="1766888"/>
            <a:ext cx="23860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5296" name="Text Box 64" descr="Rectangle 19">
            <a:extLst>
              <a:ext uri="{FF2B5EF4-FFF2-40B4-BE49-F238E27FC236}">
                <a16:creationId xmlns:a16="http://schemas.microsoft.com/office/drawing/2014/main" id="{0C0CDD03-89DA-39CF-0057-F6A7BCED66B9}"/>
              </a:ext>
            </a:extLst>
          </p:cNvPr>
          <p:cNvSpPr txBox="1">
            <a:spLocks/>
          </p:cNvSpPr>
          <p:nvPr/>
        </p:nvSpPr>
        <p:spPr bwMode="auto">
          <a:xfrm>
            <a:off x="608013" y="5661025"/>
            <a:ext cx="6869112" cy="717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nSpc>
                <a:spcPct val="80000"/>
              </a:lnSpc>
            </a:pPr>
            <a:r>
              <a:rPr lang="en-US" altLang="en-US" sz="1600"/>
              <a:t>Note:To check whether given schedule is serializable or not, we should check whether the given interleaved schedule result is equivalent to result of some serial schedule</a:t>
            </a:r>
          </a:p>
        </p:txBody>
      </p:sp>
      <p:sp>
        <p:nvSpPr>
          <p:cNvPr id="95297" name="Text Box 65" descr="TextBox 4">
            <a:extLst>
              <a:ext uri="{FF2B5EF4-FFF2-40B4-BE49-F238E27FC236}">
                <a16:creationId xmlns:a16="http://schemas.microsoft.com/office/drawing/2014/main" id="{DF24B8CA-6F87-5CD3-11C1-1B120A03F82D}"/>
              </a:ext>
            </a:extLst>
          </p:cNvPr>
          <p:cNvSpPr txBox="1">
            <a:spLocks/>
          </p:cNvSpPr>
          <p:nvPr/>
        </p:nvSpPr>
        <p:spPr bwMode="auto">
          <a:xfrm>
            <a:off x="296863" y="1052513"/>
            <a:ext cx="737235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Check whether the following schedule i.e., (A+=100, A*=1.06,</a:t>
            </a:r>
          </a:p>
          <a:p>
            <a:r>
              <a:rPr lang="en-US" altLang="en-US">
                <a:solidFill>
                  <a:srgbClr val="FF0000"/>
                </a:solidFill>
              </a:rPr>
              <a:t>B-=100, B*=1.06) is Serializable ?</a:t>
            </a:r>
          </a:p>
        </p:txBody>
      </p:sp>
      <p:sp>
        <p:nvSpPr>
          <p:cNvPr id="95298" name="Rectangle 66" descr="Rectangle 5">
            <a:extLst>
              <a:ext uri="{FF2B5EF4-FFF2-40B4-BE49-F238E27FC236}">
                <a16:creationId xmlns:a16="http://schemas.microsoft.com/office/drawing/2014/main" id="{A32C5861-910D-2769-57EE-B6E95D01C1FE}"/>
              </a:ext>
            </a:extLst>
          </p:cNvPr>
          <p:cNvSpPr>
            <a:spLocks/>
          </p:cNvSpPr>
          <p:nvPr/>
        </p:nvSpPr>
        <p:spPr bwMode="auto">
          <a:xfrm>
            <a:off x="250825" y="3365500"/>
            <a:ext cx="6480175" cy="2189163"/>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5299" name="Text Box 67" descr="TextBox 6">
            <a:extLst>
              <a:ext uri="{FF2B5EF4-FFF2-40B4-BE49-F238E27FC236}">
                <a16:creationId xmlns:a16="http://schemas.microsoft.com/office/drawing/2014/main" id="{1D203A9C-DA6B-A0C3-A64F-C1CAF570E894}"/>
              </a:ext>
            </a:extLst>
          </p:cNvPr>
          <p:cNvSpPr txBox="1">
            <a:spLocks/>
          </p:cNvSpPr>
          <p:nvPr/>
        </p:nvSpPr>
        <p:spPr bwMode="auto">
          <a:xfrm>
            <a:off x="2363788" y="2995613"/>
            <a:ext cx="25336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Transaction Schedule</a:t>
            </a:r>
          </a:p>
        </p:txBody>
      </p:sp>
    </p:spTree>
  </p:cSld>
  <p:clrMapOvr>
    <a:masterClrMapping/>
  </p:clrMapOvr>
  <p:transition spd="med"/>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Rectangle 1" descr="Title 1">
            <a:extLst>
              <a:ext uri="{FF2B5EF4-FFF2-40B4-BE49-F238E27FC236}">
                <a16:creationId xmlns:a16="http://schemas.microsoft.com/office/drawing/2014/main" id="{3DEC4A3C-BADE-4D2F-6B6D-4C5570C49AD1}"/>
              </a:ext>
            </a:extLst>
          </p:cNvPr>
          <p:cNvSpPr>
            <a:spLocks noChangeArrowheads="1"/>
          </p:cNvSpPr>
          <p:nvPr>
            <p:ph type="title"/>
          </p:nvPr>
        </p:nvSpPr>
        <p:spPr>
          <a:xfrm>
            <a:off x="360363" y="320675"/>
            <a:ext cx="7886700" cy="604838"/>
          </a:xfrm>
        </p:spPr>
        <p:txBody>
          <a:bodyPr/>
          <a:lstStyle/>
          <a:p>
            <a:r>
              <a:rPr lang="en-US" altLang="en-US"/>
              <a:t>Serializable, </a:t>
            </a:r>
            <a:r>
              <a:rPr lang="en-US" altLang="en-US" b="1"/>
              <a:t>No</a:t>
            </a:r>
            <a:endParaRPr lang="en-US" altLang="en-US"/>
          </a:p>
        </p:txBody>
      </p:sp>
      <p:sp>
        <p:nvSpPr>
          <p:cNvPr id="96258" name="Text Box 2" descr="Slide Number Placeholder 3">
            <a:extLst>
              <a:ext uri="{FF2B5EF4-FFF2-40B4-BE49-F238E27FC236}">
                <a16:creationId xmlns:a16="http://schemas.microsoft.com/office/drawing/2014/main" id="{D2047AEB-34A8-49D4-519B-1FCC1821C12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1D09B06-DBA2-4713-949F-685BB3011B3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96259" name="Group 3">
            <a:extLst>
              <a:ext uri="{FF2B5EF4-FFF2-40B4-BE49-F238E27FC236}">
                <a16:creationId xmlns:a16="http://schemas.microsoft.com/office/drawing/2014/main" id="{A4C73247-442D-36E8-3F45-3CE49B8B39B4}"/>
              </a:ext>
            </a:extLst>
          </p:cNvPr>
          <p:cNvGrpSpPr>
            <a:grpSpLocks/>
          </p:cNvGrpSpPr>
          <p:nvPr/>
        </p:nvGrpSpPr>
        <p:grpSpPr bwMode="auto">
          <a:xfrm>
            <a:off x="80963" y="3160713"/>
            <a:ext cx="6062662" cy="1708150"/>
            <a:chOff x="0" y="-1"/>
            <a:chExt cx="6062762" cy="1707739"/>
          </a:xfrm>
        </p:grpSpPr>
        <p:sp>
          <p:nvSpPr>
            <p:cNvPr id="96260" name="Line 4" descr="Straight Arrow Connector 9">
              <a:extLst>
                <a:ext uri="{FF2B5EF4-FFF2-40B4-BE49-F238E27FC236}">
                  <a16:creationId xmlns:a16="http://schemas.microsoft.com/office/drawing/2014/main" id="{E6CED936-5096-8718-7EEF-C61F08686A1D}"/>
                </a:ext>
              </a:extLst>
            </p:cNvPr>
            <p:cNvSpPr>
              <a:spLocks noChangeShapeType="1"/>
            </p:cNvSpPr>
            <p:nvPr/>
          </p:nvSpPr>
          <p:spPr bwMode="auto">
            <a:xfrm>
              <a:off x="290615" y="1695825"/>
              <a:ext cx="5595126" cy="11913"/>
            </a:xfrm>
            <a:prstGeom prst="line">
              <a:avLst/>
            </a:prstGeom>
            <a:noFill/>
            <a:ln w="38100" cap="flat" cmpd="sng">
              <a:solidFill>
                <a:srgbClr val="80808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6261" name="Text Box 5" descr="TextBox 10">
              <a:extLst>
                <a:ext uri="{FF2B5EF4-FFF2-40B4-BE49-F238E27FC236}">
                  <a16:creationId xmlns:a16="http://schemas.microsoft.com/office/drawing/2014/main" id="{75FE0F43-7C9E-09A3-66F5-132C8F6D2D6A}"/>
                </a:ext>
              </a:extLst>
            </p:cNvPr>
            <p:cNvSpPr txBox="1">
              <a:spLocks/>
            </p:cNvSpPr>
            <p:nvPr/>
          </p:nvSpPr>
          <p:spPr bwMode="auto">
            <a:xfrm>
              <a:off x="0" y="55390"/>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C00000"/>
                  </a:solidFill>
                </a:rPr>
                <a:t>T</a:t>
              </a:r>
              <a:r>
                <a:rPr lang="en-US" altLang="en-US" sz="2800" b="1" baseline="-25000">
                  <a:solidFill>
                    <a:srgbClr val="C00000"/>
                  </a:solidFill>
                </a:rPr>
                <a:t>1</a:t>
              </a:r>
              <a:endParaRPr lang="en-US" altLang="en-US" sz="2800" b="1">
                <a:solidFill>
                  <a:srgbClr val="C00000"/>
                </a:solidFill>
              </a:endParaRPr>
            </a:p>
          </p:txBody>
        </p:sp>
        <p:sp>
          <p:nvSpPr>
            <p:cNvPr id="96262" name="Text Box 6" descr="TextBox 11">
              <a:extLst>
                <a:ext uri="{FF2B5EF4-FFF2-40B4-BE49-F238E27FC236}">
                  <a16:creationId xmlns:a16="http://schemas.microsoft.com/office/drawing/2014/main" id="{288C1A62-1C8F-F07D-742C-AF394E0A9EE4}"/>
                </a:ext>
              </a:extLst>
            </p:cNvPr>
            <p:cNvSpPr txBox="1">
              <a:spLocks/>
            </p:cNvSpPr>
            <p:nvPr/>
          </p:nvSpPr>
          <p:spPr bwMode="auto">
            <a:xfrm>
              <a:off x="0" y="911035"/>
              <a:ext cx="515071" cy="5908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800" b="1">
                  <a:solidFill>
                    <a:srgbClr val="0070C0"/>
                  </a:solidFill>
                </a:rPr>
                <a:t>T</a:t>
              </a:r>
              <a:r>
                <a:rPr lang="en-US" altLang="en-US" sz="2800" b="1" baseline="-25000">
                  <a:solidFill>
                    <a:srgbClr val="0070C0"/>
                  </a:solidFill>
                </a:rPr>
                <a:t>2</a:t>
              </a:r>
              <a:endParaRPr lang="en-US" altLang="en-US" sz="2800" b="1">
                <a:solidFill>
                  <a:srgbClr val="0070C0"/>
                </a:solidFill>
              </a:endParaRPr>
            </a:p>
          </p:txBody>
        </p:sp>
        <p:sp>
          <p:nvSpPr>
            <p:cNvPr id="96263" name="Text Box 7" descr="TextBox 12">
              <a:extLst>
                <a:ext uri="{FF2B5EF4-FFF2-40B4-BE49-F238E27FC236}">
                  <a16:creationId xmlns:a16="http://schemas.microsoft.com/office/drawing/2014/main" id="{99F79FA3-9289-49A2-9570-C088F3ADFED7}"/>
                </a:ext>
              </a:extLst>
            </p:cNvPr>
            <p:cNvSpPr txBox="1">
              <a:spLocks/>
            </p:cNvSpPr>
            <p:nvPr/>
          </p:nvSpPr>
          <p:spPr bwMode="auto">
            <a:xfrm>
              <a:off x="486623" y="0"/>
              <a:ext cx="1240816" cy="380365"/>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100</a:t>
              </a:r>
            </a:p>
          </p:txBody>
        </p:sp>
        <p:sp>
          <p:nvSpPr>
            <p:cNvPr id="96264" name="Text Box 8" descr="TextBox 13">
              <a:extLst>
                <a:ext uri="{FF2B5EF4-FFF2-40B4-BE49-F238E27FC236}">
                  <a16:creationId xmlns:a16="http://schemas.microsoft.com/office/drawing/2014/main" id="{EB26AEC1-881F-C14F-0C44-8B0444B2538E}"/>
                </a:ext>
              </a:extLst>
            </p:cNvPr>
            <p:cNvSpPr txBox="1">
              <a:spLocks/>
            </p:cNvSpPr>
            <p:nvPr/>
          </p:nvSpPr>
          <p:spPr bwMode="auto">
            <a:xfrm>
              <a:off x="4904769" y="55390"/>
              <a:ext cx="1157993" cy="380366"/>
            </a:xfrm>
            <a:prstGeom prst="rect">
              <a:avLst/>
            </a:prstGeom>
            <a:solidFill>
              <a:srgbClr val="C00000">
                <a:alpha val="20000"/>
              </a:srgbClr>
            </a:solidFill>
            <a:ln w="9525" cap="flat" cmpd="sng">
              <a:solidFill>
                <a:srgbClr val="C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100</a:t>
              </a:r>
            </a:p>
          </p:txBody>
        </p:sp>
        <p:sp>
          <p:nvSpPr>
            <p:cNvPr id="96265" name="Text Box 9" descr="TextBox 14">
              <a:extLst>
                <a:ext uri="{FF2B5EF4-FFF2-40B4-BE49-F238E27FC236}">
                  <a16:creationId xmlns:a16="http://schemas.microsoft.com/office/drawing/2014/main" id="{27352B87-29CF-FD2A-C4B0-607E969692E4}"/>
                </a:ext>
              </a:extLst>
            </p:cNvPr>
            <p:cNvSpPr txBox="1">
              <a:spLocks/>
            </p:cNvSpPr>
            <p:nvPr/>
          </p:nvSpPr>
          <p:spPr bwMode="auto">
            <a:xfrm>
              <a:off x="1902635" y="877639"/>
              <a:ext cx="1282228"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 *= 1.06</a:t>
              </a:r>
            </a:p>
          </p:txBody>
        </p:sp>
        <p:sp>
          <p:nvSpPr>
            <p:cNvPr id="96266" name="Text Box 10" descr="TextBox 15">
              <a:extLst>
                <a:ext uri="{FF2B5EF4-FFF2-40B4-BE49-F238E27FC236}">
                  <a16:creationId xmlns:a16="http://schemas.microsoft.com/office/drawing/2014/main" id="{D02C207E-E15A-B691-FC57-A19064197C80}"/>
                </a:ext>
              </a:extLst>
            </p:cNvPr>
            <p:cNvSpPr txBox="1">
              <a:spLocks/>
            </p:cNvSpPr>
            <p:nvPr/>
          </p:nvSpPr>
          <p:spPr bwMode="auto">
            <a:xfrm>
              <a:off x="3468091" y="867624"/>
              <a:ext cx="1282673" cy="380366"/>
            </a:xfrm>
            <a:prstGeom prst="rect">
              <a:avLst/>
            </a:prstGeom>
            <a:solidFill>
              <a:srgbClr val="0070C0">
                <a:alpha val="20000"/>
              </a:srgbClr>
            </a:solidFill>
            <a:ln w="9525" cap="flat" cmpd="sng">
              <a:solidFill>
                <a:srgbClr val="0070C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B *= 1.06</a:t>
              </a:r>
            </a:p>
          </p:txBody>
        </p:sp>
      </p:grpSp>
      <p:sp>
        <p:nvSpPr>
          <p:cNvPr id="96267" name="Text Box 11" descr="TextBox 46">
            <a:extLst>
              <a:ext uri="{FF2B5EF4-FFF2-40B4-BE49-F238E27FC236}">
                <a16:creationId xmlns:a16="http://schemas.microsoft.com/office/drawing/2014/main" id="{9CA12B3E-2C11-B0EB-63D8-44F09C6C92C9}"/>
              </a:ext>
            </a:extLst>
          </p:cNvPr>
          <p:cNvSpPr txBox="1">
            <a:spLocks/>
          </p:cNvSpPr>
          <p:nvPr/>
        </p:nvSpPr>
        <p:spPr bwMode="auto">
          <a:xfrm>
            <a:off x="6659563" y="4795838"/>
            <a:ext cx="2238375" cy="1209675"/>
          </a:xfrm>
          <a:prstGeom prst="rect">
            <a:avLst/>
          </a:prstGeom>
          <a:solidFill>
            <a:srgbClr val="FFBEBE"/>
          </a:solidFill>
          <a:ln>
            <a:noFill/>
          </a:ln>
          <a:effectLst>
            <a:outerShdw blurRad="50800" dist="12700" dir="2700000" algn="ctr" rotWithShape="0">
              <a:srgbClr val="000000">
                <a:alpha val="39999"/>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r>
              <a:rPr lang="en-US" altLang="en-US"/>
              <a:t>Not </a:t>
            </a:r>
            <a:r>
              <a:rPr lang="en-US" altLang="en-US" i="1"/>
              <a:t>equivalent</a:t>
            </a:r>
            <a:r>
              <a:rPr lang="en-US" altLang="en-US"/>
              <a:t> to any serial schedule</a:t>
            </a:r>
            <a:r>
              <a:rPr lang="en-US" altLang="en-US" b="1" i="1"/>
              <a:t> = not </a:t>
            </a:r>
            <a:r>
              <a:rPr lang="en-US" altLang="en-US" b="1" u="sng"/>
              <a:t>serializable</a:t>
            </a:r>
            <a:endParaRPr lang="en-US" altLang="en-US"/>
          </a:p>
        </p:txBody>
      </p:sp>
      <p:sp>
        <p:nvSpPr>
          <p:cNvPr id="96268" name="Text Box 12" descr="TextBox 2">
            <a:extLst>
              <a:ext uri="{FF2B5EF4-FFF2-40B4-BE49-F238E27FC236}">
                <a16:creationId xmlns:a16="http://schemas.microsoft.com/office/drawing/2014/main" id="{E7DD2609-AADE-3FB4-9ABE-DE6DF7062ADF}"/>
              </a:ext>
            </a:extLst>
          </p:cNvPr>
          <p:cNvSpPr txBox="1">
            <a:spLocks/>
          </p:cNvSpPr>
          <p:nvPr/>
        </p:nvSpPr>
        <p:spPr bwMode="auto">
          <a:xfrm>
            <a:off x="5611813" y="1011238"/>
            <a:ext cx="2284412"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Serial schedules:</a:t>
            </a:r>
          </a:p>
        </p:txBody>
      </p:sp>
      <p:graphicFrame>
        <p:nvGraphicFramePr>
          <p:cNvPr id="96269" name="Group 13">
            <a:extLst>
              <a:ext uri="{FF2B5EF4-FFF2-40B4-BE49-F238E27FC236}">
                <a16:creationId xmlns:a16="http://schemas.microsoft.com/office/drawing/2014/main" id="{A51DE268-0AF0-1AC7-EE15-0DBD40AEF46F}"/>
              </a:ext>
            </a:extLst>
          </p:cNvPr>
          <p:cNvGraphicFramePr>
            <a:graphicFrameLocks noGrp="1"/>
          </p:cNvGraphicFramePr>
          <p:nvPr/>
        </p:nvGraphicFramePr>
        <p:xfrm>
          <a:off x="5435600" y="1368425"/>
          <a:ext cx="3262313" cy="1238251"/>
        </p:xfrm>
        <a:graphic>
          <a:graphicData uri="http://schemas.openxmlformats.org/drawingml/2006/table">
            <a:tbl>
              <a:tblPr/>
              <a:tblGrid>
                <a:gridCol w="987425">
                  <a:extLst>
                    <a:ext uri="{9D8B030D-6E8A-4147-A177-3AD203B41FA5}">
                      <a16:colId xmlns:a16="http://schemas.microsoft.com/office/drawing/2014/main" val="459132348"/>
                    </a:ext>
                  </a:extLst>
                </a:gridCol>
                <a:gridCol w="936625">
                  <a:extLst>
                    <a:ext uri="{9D8B030D-6E8A-4147-A177-3AD203B41FA5}">
                      <a16:colId xmlns:a16="http://schemas.microsoft.com/office/drawing/2014/main" val="430582675"/>
                    </a:ext>
                  </a:extLst>
                </a:gridCol>
                <a:gridCol w="1338263">
                  <a:extLst>
                    <a:ext uri="{9D8B030D-6E8A-4147-A177-3AD203B41FA5}">
                      <a16:colId xmlns:a16="http://schemas.microsoft.com/office/drawing/2014/main" val="252415091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43033938"/>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Rs.106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51400783"/>
                  </a:ext>
                </a:extLst>
              </a:tr>
              <a:tr h="42703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a:t>
                      </a:r>
                      <a:r>
                        <a:rPr kumimoji="0" lang="en-US" altLang="en-US" sz="1800" b="0" i="0" u="none" strike="noStrike" cap="none" normalizeH="0" baseline="-2500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Rs.112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99406862"/>
                  </a:ext>
                </a:extLst>
              </a:tr>
            </a:tbl>
          </a:graphicData>
        </a:graphic>
      </p:graphicFrame>
      <p:graphicFrame>
        <p:nvGraphicFramePr>
          <p:cNvPr id="96303" name="Group 47">
            <a:extLst>
              <a:ext uri="{FF2B5EF4-FFF2-40B4-BE49-F238E27FC236}">
                <a16:creationId xmlns:a16="http://schemas.microsoft.com/office/drawing/2014/main" id="{2B6E02C7-8703-B48F-C1C7-9A18855FDE9C}"/>
              </a:ext>
            </a:extLst>
          </p:cNvPr>
          <p:cNvGraphicFramePr>
            <a:graphicFrameLocks noGrp="1"/>
          </p:cNvGraphicFramePr>
          <p:nvPr/>
        </p:nvGraphicFramePr>
        <p:xfrm>
          <a:off x="6575425" y="3857625"/>
          <a:ext cx="2127250" cy="768350"/>
        </p:xfrm>
        <a:graphic>
          <a:graphicData uri="http://schemas.openxmlformats.org/drawingml/2006/table">
            <a:tbl>
              <a:tblPr/>
              <a:tblGrid>
                <a:gridCol w="1052513">
                  <a:extLst>
                    <a:ext uri="{9D8B030D-6E8A-4147-A177-3AD203B41FA5}">
                      <a16:colId xmlns:a16="http://schemas.microsoft.com/office/drawing/2014/main" val="3857618544"/>
                    </a:ext>
                  </a:extLst>
                </a:gridCol>
                <a:gridCol w="1074737">
                  <a:extLst>
                    <a:ext uri="{9D8B030D-6E8A-4147-A177-3AD203B41FA5}">
                      <a16:colId xmlns:a16="http://schemas.microsoft.com/office/drawing/2014/main" val="397704975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070181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Rs.159</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Rs.112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07076599"/>
                  </a:ext>
                </a:extLst>
              </a:tr>
            </a:tbl>
          </a:graphicData>
        </a:graphic>
      </p:graphicFrame>
      <p:graphicFrame>
        <p:nvGraphicFramePr>
          <p:cNvPr id="96320" name="Group 64">
            <a:extLst>
              <a:ext uri="{FF2B5EF4-FFF2-40B4-BE49-F238E27FC236}">
                <a16:creationId xmlns:a16="http://schemas.microsoft.com/office/drawing/2014/main" id="{4329E937-0363-A5D2-A122-55212D9FC97C}"/>
              </a:ext>
            </a:extLst>
          </p:cNvPr>
          <p:cNvGraphicFramePr>
            <a:graphicFrameLocks noGrp="1"/>
          </p:cNvGraphicFramePr>
          <p:nvPr/>
        </p:nvGraphicFramePr>
        <p:xfrm>
          <a:off x="682625" y="1433513"/>
          <a:ext cx="2143125" cy="819150"/>
        </p:xfrm>
        <a:graphic>
          <a:graphicData uri="http://schemas.openxmlformats.org/drawingml/2006/table">
            <a:tbl>
              <a:tblPr/>
              <a:tblGrid>
                <a:gridCol w="1071563">
                  <a:extLst>
                    <a:ext uri="{9D8B030D-6E8A-4147-A177-3AD203B41FA5}">
                      <a16:colId xmlns:a16="http://schemas.microsoft.com/office/drawing/2014/main" val="4013173949"/>
                    </a:ext>
                  </a:extLst>
                </a:gridCol>
                <a:gridCol w="1071562">
                  <a:extLst>
                    <a:ext uri="{9D8B030D-6E8A-4147-A177-3AD203B41FA5}">
                      <a16:colId xmlns:a16="http://schemas.microsoft.com/office/drawing/2014/main" val="1927221763"/>
                    </a:ext>
                  </a:extLst>
                </a:gridCol>
              </a:tblGrid>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16265934"/>
                  </a:ext>
                </a:extLst>
              </a:tr>
              <a:tr h="409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Rs.200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94290000"/>
                  </a:ext>
                </a:extLst>
              </a:tr>
            </a:tbl>
          </a:graphicData>
        </a:graphic>
      </p:graphicFrame>
      <p:sp>
        <p:nvSpPr>
          <p:cNvPr id="96337" name="Text Box 81" descr="TextBox 22">
            <a:extLst>
              <a:ext uri="{FF2B5EF4-FFF2-40B4-BE49-F238E27FC236}">
                <a16:creationId xmlns:a16="http://schemas.microsoft.com/office/drawing/2014/main" id="{F68D7234-8B5A-BA7A-DBB4-9D96693EB28B}"/>
              </a:ext>
            </a:extLst>
          </p:cNvPr>
          <p:cNvSpPr txBox="1">
            <a:spLocks/>
          </p:cNvSpPr>
          <p:nvPr/>
        </p:nvSpPr>
        <p:spPr bwMode="auto">
          <a:xfrm>
            <a:off x="700088" y="1052513"/>
            <a:ext cx="2386012"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i="1"/>
              <a:t>Starting Balance</a:t>
            </a:r>
          </a:p>
        </p:txBody>
      </p:sp>
      <p:sp>
        <p:nvSpPr>
          <p:cNvPr id="96338" name="Rectangle 82" descr="Rectangle 19">
            <a:extLst>
              <a:ext uri="{FF2B5EF4-FFF2-40B4-BE49-F238E27FC236}">
                <a16:creationId xmlns:a16="http://schemas.microsoft.com/office/drawing/2014/main" id="{AA1B7604-4B45-490A-84DA-7D33FFBF090E}"/>
              </a:ext>
            </a:extLst>
          </p:cNvPr>
          <p:cNvSpPr>
            <a:spLocks/>
          </p:cNvSpPr>
          <p:nvPr/>
        </p:nvSpPr>
        <p:spPr bwMode="auto">
          <a:xfrm>
            <a:off x="106363" y="2933700"/>
            <a:ext cx="6348412" cy="2189163"/>
          </a:xfrm>
          <a:prstGeom prst="rect">
            <a:avLst/>
          </a:prstGeom>
          <a:noFill/>
          <a:ln w="28575"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96339" name="Text Box 83" descr="TextBox 20">
            <a:extLst>
              <a:ext uri="{FF2B5EF4-FFF2-40B4-BE49-F238E27FC236}">
                <a16:creationId xmlns:a16="http://schemas.microsoft.com/office/drawing/2014/main" id="{C943BC59-5C07-7427-7E3B-50519A3D9AA4}"/>
              </a:ext>
            </a:extLst>
          </p:cNvPr>
          <p:cNvSpPr txBox="1">
            <a:spLocks/>
          </p:cNvSpPr>
          <p:nvPr/>
        </p:nvSpPr>
        <p:spPr bwMode="auto">
          <a:xfrm>
            <a:off x="2220913" y="2563813"/>
            <a:ext cx="253206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Transaction Schedule</a:t>
            </a:r>
          </a:p>
        </p:txBody>
      </p:sp>
    </p:spTree>
  </p:cSld>
  <p:clrMapOvr>
    <a:masterClrMapping/>
  </p:clrMapOvr>
  <p:transition spd="med"/>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descr="Title 1">
            <a:extLst>
              <a:ext uri="{FF2B5EF4-FFF2-40B4-BE49-F238E27FC236}">
                <a16:creationId xmlns:a16="http://schemas.microsoft.com/office/drawing/2014/main" id="{99ED9B0F-2010-1E6A-3725-9FEA473E5068}"/>
              </a:ext>
            </a:extLst>
          </p:cNvPr>
          <p:cNvSpPr>
            <a:spLocks noChangeArrowheads="1"/>
          </p:cNvSpPr>
          <p:nvPr>
            <p:ph type="title"/>
          </p:nvPr>
        </p:nvSpPr>
        <p:spPr/>
        <p:txBody>
          <a:bodyPr/>
          <a:lstStyle/>
          <a:p>
            <a:r>
              <a:rPr lang="en-US" altLang="en-US"/>
              <a:t>Complete Schedule</a:t>
            </a:r>
          </a:p>
        </p:txBody>
      </p:sp>
      <p:sp>
        <p:nvSpPr>
          <p:cNvPr id="97283" name="Rectangle 3" descr="Content Placeholder 2">
            <a:extLst>
              <a:ext uri="{FF2B5EF4-FFF2-40B4-BE49-F238E27FC236}">
                <a16:creationId xmlns:a16="http://schemas.microsoft.com/office/drawing/2014/main" id="{37AAC76F-FFDF-DC9F-95BF-8615903FFE3C}"/>
              </a:ext>
            </a:extLst>
          </p:cNvPr>
          <p:cNvSpPr>
            <a:spLocks noChangeArrowheads="1"/>
          </p:cNvSpPr>
          <p:nvPr>
            <p:ph type="body" idx="1"/>
          </p:nvPr>
        </p:nvSpPr>
        <p:spPr/>
        <p:txBody>
          <a:bodyPr/>
          <a:lstStyle/>
          <a:p>
            <a:pPr>
              <a:spcBef>
                <a:spcPts val="500"/>
              </a:spcBef>
            </a:pPr>
            <a:r>
              <a:rPr lang="en-US" altLang="en-US" sz="2400"/>
              <a:t>Complete Schedule: A schedule that </a:t>
            </a:r>
            <a:r>
              <a:rPr lang="en-US" altLang="en-US" sz="2400" b="1"/>
              <a:t>contains either a commit or an abort </a:t>
            </a:r>
            <a:r>
              <a:rPr lang="en-US" altLang="en-US" sz="2400"/>
              <a:t>action for EACH transaction</a:t>
            </a:r>
          </a:p>
        </p:txBody>
      </p:sp>
      <p:sp>
        <p:nvSpPr>
          <p:cNvPr id="97284" name="Text Box 4" descr="Date Placeholder 3">
            <a:extLst>
              <a:ext uri="{FF2B5EF4-FFF2-40B4-BE49-F238E27FC236}">
                <a16:creationId xmlns:a16="http://schemas.microsoft.com/office/drawing/2014/main" id="{B8CB0050-FCF4-CE18-FAE0-7EBECE4530B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97285" name="Text Box 5" descr="Slide Number Placeholder 5">
            <a:extLst>
              <a:ext uri="{FF2B5EF4-FFF2-40B4-BE49-F238E27FC236}">
                <a16:creationId xmlns:a16="http://schemas.microsoft.com/office/drawing/2014/main" id="{D1EA1CBA-0148-E082-84C1-FCBB6FF61593}"/>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C5DBCB7-E6EA-4EC4-95CA-83CAB8CEF16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97286" name="Text Box 6" descr="TextBox 6">
            <a:extLst>
              <a:ext uri="{FF2B5EF4-FFF2-40B4-BE49-F238E27FC236}">
                <a16:creationId xmlns:a16="http://schemas.microsoft.com/office/drawing/2014/main" id="{7C336500-4463-A1AF-D755-D70BA4C55EE6}"/>
              </a:ext>
            </a:extLst>
          </p:cNvPr>
          <p:cNvSpPr txBox="1">
            <a:spLocks/>
          </p:cNvSpPr>
          <p:nvPr/>
        </p:nvSpPr>
        <p:spPr bwMode="auto">
          <a:xfrm>
            <a:off x="517525" y="5233988"/>
            <a:ext cx="7993063"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Note: consequently, a complete schedule will not contain any active </a:t>
            </a:r>
          </a:p>
          <a:p>
            <a:r>
              <a:rPr lang="en-US" altLang="en-US"/>
              <a:t>transactions at the end of the schedule</a:t>
            </a:r>
          </a:p>
        </p:txBody>
      </p:sp>
      <p:pic>
        <p:nvPicPr>
          <p:cNvPr id="97287" name="Picture 7" descr="Picture 2">
            <a:extLst>
              <a:ext uri="{FF2B5EF4-FFF2-40B4-BE49-F238E27FC236}">
                <a16:creationId xmlns:a16="http://schemas.microsoft.com/office/drawing/2014/main" id="{2F0B1DB0-1290-A728-5704-E1855DAE6E4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42988" y="2809875"/>
            <a:ext cx="6843712" cy="1914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descr="Title 1">
            <a:extLst>
              <a:ext uri="{FF2B5EF4-FFF2-40B4-BE49-F238E27FC236}">
                <a16:creationId xmlns:a16="http://schemas.microsoft.com/office/drawing/2014/main" id="{BEA363AB-EF98-6447-D275-5531B7FAD768}"/>
              </a:ext>
            </a:extLst>
          </p:cNvPr>
          <p:cNvSpPr>
            <a:spLocks noChangeArrowheads="1"/>
          </p:cNvSpPr>
          <p:nvPr>
            <p:ph type="title"/>
          </p:nvPr>
        </p:nvSpPr>
        <p:spPr/>
        <p:txBody>
          <a:bodyPr/>
          <a:lstStyle/>
          <a:p>
            <a:r>
              <a:rPr lang="en-US" altLang="en-US"/>
              <a:t>Properties of Transactions</a:t>
            </a:r>
          </a:p>
        </p:txBody>
      </p:sp>
      <p:sp>
        <p:nvSpPr>
          <p:cNvPr id="98307" name="Rectangle 3" descr="Content Placeholder 2">
            <a:extLst>
              <a:ext uri="{FF2B5EF4-FFF2-40B4-BE49-F238E27FC236}">
                <a16:creationId xmlns:a16="http://schemas.microsoft.com/office/drawing/2014/main" id="{998B67FF-008E-AB37-BDD8-ADAFC85DEE20}"/>
              </a:ext>
            </a:extLst>
          </p:cNvPr>
          <p:cNvSpPr>
            <a:spLocks noChangeArrowheads="1"/>
          </p:cNvSpPr>
          <p:nvPr>
            <p:ph type="body" idx="1"/>
          </p:nvPr>
        </p:nvSpPr>
        <p:spPr/>
        <p:txBody>
          <a:bodyPr/>
          <a:lstStyle/>
          <a:p>
            <a:pPr marL="0" indent="0">
              <a:spcBef>
                <a:spcPts val="600"/>
              </a:spcBef>
              <a:buSzTx/>
              <a:buFont typeface="Wingdings" panose="05000000000000000000" pitchFamily="2" charset="2"/>
              <a:buNone/>
            </a:pPr>
            <a:r>
              <a:rPr lang="en-US" altLang="en-US" sz="2800"/>
              <a:t>ACID Properties</a:t>
            </a:r>
          </a:p>
          <a:p>
            <a:pPr marL="0" indent="0">
              <a:spcBef>
                <a:spcPts val="600"/>
              </a:spcBef>
              <a:buSzTx/>
              <a:buFont typeface="Wingdings" panose="05000000000000000000" pitchFamily="2" charset="2"/>
              <a:buNone/>
            </a:pPr>
            <a:r>
              <a:rPr lang="en-US" altLang="en-US" sz="2800"/>
              <a:t>1. </a:t>
            </a:r>
            <a:r>
              <a:rPr lang="en-US" altLang="en-US" sz="2800" b="1"/>
              <a:t>A</a:t>
            </a:r>
            <a:r>
              <a:rPr lang="en-US" altLang="en-US" sz="2800"/>
              <a:t>tomicity</a:t>
            </a:r>
          </a:p>
          <a:p>
            <a:pPr marL="0" indent="0">
              <a:spcBef>
                <a:spcPts val="600"/>
              </a:spcBef>
              <a:buSzTx/>
              <a:buFont typeface="Wingdings" panose="05000000000000000000" pitchFamily="2" charset="2"/>
              <a:buNone/>
            </a:pPr>
            <a:r>
              <a:rPr lang="en-US" altLang="en-US" sz="2800"/>
              <a:t>2. </a:t>
            </a:r>
            <a:r>
              <a:rPr lang="en-US" altLang="en-US" sz="2800" b="1"/>
              <a:t>C</a:t>
            </a:r>
            <a:r>
              <a:rPr lang="en-US" altLang="en-US" sz="2800"/>
              <a:t>onsistency preservation</a:t>
            </a:r>
          </a:p>
          <a:p>
            <a:pPr marL="0" indent="0">
              <a:spcBef>
                <a:spcPts val="600"/>
              </a:spcBef>
              <a:buSzTx/>
              <a:buFont typeface="Wingdings" panose="05000000000000000000" pitchFamily="2" charset="2"/>
              <a:buNone/>
            </a:pPr>
            <a:r>
              <a:rPr lang="en-US" altLang="en-US" sz="2800"/>
              <a:t>3. </a:t>
            </a:r>
            <a:r>
              <a:rPr lang="en-US" altLang="en-US" sz="2800" b="1"/>
              <a:t>I</a:t>
            </a:r>
            <a:r>
              <a:rPr lang="en-US" altLang="en-US" sz="2800"/>
              <a:t>solation</a:t>
            </a:r>
          </a:p>
          <a:p>
            <a:pPr marL="0" indent="0">
              <a:spcBef>
                <a:spcPts val="600"/>
              </a:spcBef>
              <a:buSzTx/>
              <a:buFont typeface="Wingdings" panose="05000000000000000000" pitchFamily="2" charset="2"/>
              <a:buNone/>
            </a:pPr>
            <a:r>
              <a:rPr lang="en-US" altLang="en-US" sz="2800"/>
              <a:t>4. </a:t>
            </a:r>
            <a:r>
              <a:rPr lang="en-US" altLang="en-US" sz="2800" b="1"/>
              <a:t>D</a:t>
            </a:r>
            <a:r>
              <a:rPr lang="en-US" altLang="en-US" sz="2800"/>
              <a:t>urability or permanency</a:t>
            </a:r>
          </a:p>
        </p:txBody>
      </p:sp>
      <p:sp>
        <p:nvSpPr>
          <p:cNvPr id="98308" name="Text Box 4" descr="Date Placeholder 3">
            <a:extLst>
              <a:ext uri="{FF2B5EF4-FFF2-40B4-BE49-F238E27FC236}">
                <a16:creationId xmlns:a16="http://schemas.microsoft.com/office/drawing/2014/main" id="{241DD669-D63E-6E33-A6D9-8858F3646A4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98309" name="Text Box 5" descr="Slide Number Placeholder 5">
            <a:extLst>
              <a:ext uri="{FF2B5EF4-FFF2-40B4-BE49-F238E27FC236}">
                <a16:creationId xmlns:a16="http://schemas.microsoft.com/office/drawing/2014/main" id="{FE2ECD28-0599-AC92-1273-FED1D30C5755}"/>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10D15D5-3456-4D3E-85DE-476DA3516B3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2" descr="Title 1">
            <a:extLst>
              <a:ext uri="{FF2B5EF4-FFF2-40B4-BE49-F238E27FC236}">
                <a16:creationId xmlns:a16="http://schemas.microsoft.com/office/drawing/2014/main" id="{1EACD88B-54AD-3307-DFBD-C63B8BFB9414}"/>
              </a:ext>
            </a:extLst>
          </p:cNvPr>
          <p:cNvSpPr>
            <a:spLocks noChangeArrowheads="1"/>
          </p:cNvSpPr>
          <p:nvPr>
            <p:ph type="title"/>
          </p:nvPr>
        </p:nvSpPr>
        <p:spPr/>
        <p:txBody>
          <a:bodyPr/>
          <a:lstStyle/>
          <a:p>
            <a:r>
              <a:rPr lang="en-US" altLang="en-US"/>
              <a:t>Properties of Transactions</a:t>
            </a:r>
          </a:p>
        </p:txBody>
      </p:sp>
      <p:sp>
        <p:nvSpPr>
          <p:cNvPr id="99331" name="Rectangle 3" descr="Content Placeholder 2">
            <a:extLst>
              <a:ext uri="{FF2B5EF4-FFF2-40B4-BE49-F238E27FC236}">
                <a16:creationId xmlns:a16="http://schemas.microsoft.com/office/drawing/2014/main" id="{EFC2D46E-EAFC-984E-6A9A-CECC323B4582}"/>
              </a:ext>
            </a:extLst>
          </p:cNvPr>
          <p:cNvSpPr>
            <a:spLocks noChangeArrowheads="1"/>
          </p:cNvSpPr>
          <p:nvPr>
            <p:ph type="body" idx="1"/>
          </p:nvPr>
        </p:nvSpPr>
        <p:spPr/>
        <p:txBody>
          <a:bodyPr/>
          <a:lstStyle/>
          <a:p>
            <a:pPr marL="234950" indent="-234950">
              <a:spcBef>
                <a:spcPts val="400"/>
              </a:spcBef>
              <a:buSzTx/>
              <a:buFont typeface="Wingdings" panose="05000000000000000000" pitchFamily="2" charset="2"/>
              <a:buNone/>
            </a:pPr>
            <a:r>
              <a:rPr lang="en-US" altLang="en-US" sz="1800"/>
              <a:t>1.Atomicity</a:t>
            </a:r>
          </a:p>
          <a:p>
            <a:pPr marL="234950" indent="-234950">
              <a:spcBef>
                <a:spcPts val="400"/>
              </a:spcBef>
            </a:pPr>
            <a:r>
              <a:rPr lang="en-US" altLang="en-US" sz="1800"/>
              <a:t>Either all operations of a transaction occurs or none</a:t>
            </a:r>
          </a:p>
          <a:p>
            <a:pPr marL="234950" indent="-234950">
              <a:spcBef>
                <a:spcPts val="400"/>
              </a:spcBef>
            </a:pPr>
            <a:r>
              <a:rPr lang="en-US" altLang="en-US" sz="1800"/>
              <a:t>Their should not be the case where half of the operations</a:t>
            </a:r>
          </a:p>
          <a:p>
            <a:pPr marL="234950" indent="-234950">
              <a:spcBef>
                <a:spcPts val="400"/>
              </a:spcBef>
              <a:buSzTx/>
              <a:buFont typeface="Wingdings" panose="05000000000000000000" pitchFamily="2" charset="2"/>
              <a:buNone/>
            </a:pPr>
            <a:r>
              <a:rPr lang="en-US" altLang="en-US" sz="1800"/>
              <a:t>of transaction has been executed and other remaining half of the operations has not been executed.</a:t>
            </a:r>
          </a:p>
        </p:txBody>
      </p:sp>
      <p:sp>
        <p:nvSpPr>
          <p:cNvPr id="99332" name="Text Box 4" descr="Date Placeholder 3">
            <a:extLst>
              <a:ext uri="{FF2B5EF4-FFF2-40B4-BE49-F238E27FC236}">
                <a16:creationId xmlns:a16="http://schemas.microsoft.com/office/drawing/2014/main" id="{FA242D83-CE70-62F4-2451-6F0B163D188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99333" name="Text Box 5" descr="Slide Number Placeholder 5">
            <a:extLst>
              <a:ext uri="{FF2B5EF4-FFF2-40B4-BE49-F238E27FC236}">
                <a16:creationId xmlns:a16="http://schemas.microsoft.com/office/drawing/2014/main" id="{9C9C99C4-7A26-3E2C-C42C-643E31CC3054}"/>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4528778-FF4D-4BDD-8F17-4E7C607BF77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descr="Title 1">
            <a:extLst>
              <a:ext uri="{FF2B5EF4-FFF2-40B4-BE49-F238E27FC236}">
                <a16:creationId xmlns:a16="http://schemas.microsoft.com/office/drawing/2014/main" id="{FFC6AFFD-BC06-F705-594A-E41D1FCA55BC}"/>
              </a:ext>
            </a:extLst>
          </p:cNvPr>
          <p:cNvSpPr>
            <a:spLocks noChangeArrowheads="1"/>
          </p:cNvSpPr>
          <p:nvPr>
            <p:ph type="title"/>
          </p:nvPr>
        </p:nvSpPr>
        <p:spPr/>
        <p:txBody>
          <a:bodyPr/>
          <a:lstStyle/>
          <a:p>
            <a:r>
              <a:rPr lang="en-US" altLang="en-US"/>
              <a:t>Properties of Transactions</a:t>
            </a:r>
          </a:p>
        </p:txBody>
      </p:sp>
      <p:sp>
        <p:nvSpPr>
          <p:cNvPr id="100355" name="Rectangle 3" descr="Content Placeholder 2">
            <a:extLst>
              <a:ext uri="{FF2B5EF4-FFF2-40B4-BE49-F238E27FC236}">
                <a16:creationId xmlns:a16="http://schemas.microsoft.com/office/drawing/2014/main" id="{E16199A2-E52B-934F-78A8-63B45F0BEB2B}"/>
              </a:ext>
            </a:extLst>
          </p:cNvPr>
          <p:cNvSpPr>
            <a:spLocks noChangeArrowheads="1"/>
          </p:cNvSpPr>
          <p:nvPr>
            <p:ph type="body" idx="1"/>
          </p:nvPr>
        </p:nvSpPr>
        <p:spPr/>
        <p:txBody>
          <a:bodyPr/>
          <a:lstStyle/>
          <a:p>
            <a:pPr marL="84138" indent="-84138">
              <a:spcBef>
                <a:spcPts val="400"/>
              </a:spcBef>
              <a:buSzTx/>
              <a:buFont typeface="Wingdings" panose="05000000000000000000" pitchFamily="2" charset="2"/>
              <a:buNone/>
            </a:pPr>
            <a:r>
              <a:rPr lang="en-US" altLang="en-US" sz="1800"/>
              <a:t>1.Atomicity</a:t>
            </a:r>
          </a:p>
          <a:p>
            <a:pPr marL="84138" indent="-84138">
              <a:spcBef>
                <a:spcPts val="400"/>
              </a:spcBef>
            </a:pPr>
            <a:r>
              <a:rPr lang="en-US" altLang="en-US" sz="1800"/>
              <a:t>Either all operations of a transaction occurs or none</a:t>
            </a:r>
          </a:p>
          <a:p>
            <a:pPr marL="84138" indent="-84138">
              <a:spcBef>
                <a:spcPts val="400"/>
              </a:spcBef>
            </a:pPr>
            <a:r>
              <a:rPr lang="en-US" altLang="en-US" sz="1800"/>
              <a:t>Their should not be the case where half of the operations</a:t>
            </a:r>
          </a:p>
          <a:p>
            <a:pPr marL="84138" indent="-84138">
              <a:spcBef>
                <a:spcPts val="400"/>
              </a:spcBef>
              <a:buSzTx/>
              <a:buFont typeface="Wingdings" panose="05000000000000000000" pitchFamily="2" charset="2"/>
              <a:buNone/>
            </a:pPr>
            <a:r>
              <a:rPr lang="en-US" altLang="en-US" sz="1800"/>
              <a:t>of transaction has been executed and other remaining half of the operations has not been executed.</a:t>
            </a:r>
          </a:p>
          <a:p>
            <a:pPr marL="84138" indent="-84138">
              <a:spcBef>
                <a:spcPts val="400"/>
              </a:spcBef>
              <a:buSzTx/>
              <a:buFont typeface="Wingdings" panose="05000000000000000000" pitchFamily="2" charset="2"/>
              <a:buNone/>
            </a:pPr>
            <a:r>
              <a:rPr lang="en-US" altLang="en-US" sz="1800"/>
              <a:t>Example of Transaction: </a:t>
            </a:r>
          </a:p>
          <a:p>
            <a:pPr marL="84138" indent="-84138">
              <a:spcBef>
                <a:spcPts val="400"/>
              </a:spcBef>
              <a:buSzTx/>
              <a:buFont typeface="Wingdings" panose="05000000000000000000" pitchFamily="2" charset="2"/>
              <a:buNone/>
            </a:pPr>
            <a:r>
              <a:rPr lang="en-US" altLang="en-US" sz="1800"/>
              <a:t>Increasing salary of an employee by 10%.</a:t>
            </a:r>
          </a:p>
          <a:p>
            <a:pPr marL="84138" indent="-84138">
              <a:buSzTx/>
              <a:buFont typeface="Wingdings" panose="05000000000000000000" pitchFamily="2" charset="2"/>
              <a:buNone/>
            </a:pPr>
            <a:endParaRPr lang="en-US" altLang="en-US" sz="1800"/>
          </a:p>
          <a:p>
            <a:pPr marL="84138" indent="-84138">
              <a:spcBef>
                <a:spcPts val="400"/>
              </a:spcBef>
              <a:buSzTx/>
              <a:buFont typeface="Wingdings" panose="05000000000000000000" pitchFamily="2" charset="2"/>
              <a:buNone/>
            </a:pPr>
            <a:r>
              <a:rPr lang="en-US" altLang="en-US" sz="1800"/>
              <a:t>The three operations of this transactions are: </a:t>
            </a:r>
          </a:p>
          <a:p>
            <a:pPr marL="84138" indent="-84138">
              <a:spcBef>
                <a:spcPts val="400"/>
              </a:spcBef>
              <a:buSzTx/>
              <a:buFont typeface="Wingdings" panose="05000000000000000000" pitchFamily="2" charset="2"/>
              <a:buNone/>
            </a:pPr>
            <a:r>
              <a:rPr lang="en-US" altLang="en-US" sz="1800"/>
              <a:t>read(salary),salary=salary+salary*0.10,write(salary)</a:t>
            </a:r>
          </a:p>
          <a:p>
            <a:pPr marL="84138" indent="-84138">
              <a:buSzTx/>
              <a:buFont typeface="Wingdings" panose="05000000000000000000" pitchFamily="2" charset="2"/>
              <a:buNone/>
            </a:pPr>
            <a:endParaRPr lang="en-US" altLang="en-US" sz="1800"/>
          </a:p>
          <a:p>
            <a:pPr marL="84138" indent="-84138">
              <a:spcBef>
                <a:spcPts val="400"/>
              </a:spcBef>
              <a:buSzTx/>
              <a:buFont typeface="Wingdings" panose="05000000000000000000" pitchFamily="2" charset="2"/>
              <a:buNone/>
            </a:pPr>
            <a:r>
              <a:rPr lang="en-US" altLang="en-US" sz="1800"/>
              <a:t>All this three operations should be executed for the transaction to be successful</a:t>
            </a:r>
          </a:p>
        </p:txBody>
      </p:sp>
      <p:sp>
        <p:nvSpPr>
          <p:cNvPr id="100356" name="Text Box 4" descr="Date Placeholder 3">
            <a:extLst>
              <a:ext uri="{FF2B5EF4-FFF2-40B4-BE49-F238E27FC236}">
                <a16:creationId xmlns:a16="http://schemas.microsoft.com/office/drawing/2014/main" id="{6B09EDA5-1CE9-ED59-6DBB-19F10CECE5B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0357" name="Text Box 5" descr="Slide Number Placeholder 5">
            <a:extLst>
              <a:ext uri="{FF2B5EF4-FFF2-40B4-BE49-F238E27FC236}">
                <a16:creationId xmlns:a16="http://schemas.microsoft.com/office/drawing/2014/main" id="{7DCED857-98A5-DA43-1193-578E5498D02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35F323C-4ACA-4145-A69C-D32642261B7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descr="Title 1">
            <a:extLst>
              <a:ext uri="{FF2B5EF4-FFF2-40B4-BE49-F238E27FC236}">
                <a16:creationId xmlns:a16="http://schemas.microsoft.com/office/drawing/2014/main" id="{A4A59C41-D52A-0038-32D3-7BE00B34B540}"/>
              </a:ext>
            </a:extLst>
          </p:cNvPr>
          <p:cNvSpPr>
            <a:spLocks noChangeArrowheads="1"/>
          </p:cNvSpPr>
          <p:nvPr>
            <p:ph type="title"/>
          </p:nvPr>
        </p:nvSpPr>
        <p:spPr/>
        <p:txBody>
          <a:bodyPr/>
          <a:lstStyle/>
          <a:p>
            <a:r>
              <a:rPr lang="en-US" altLang="en-US"/>
              <a:t>Properties of Transactions</a:t>
            </a:r>
          </a:p>
        </p:txBody>
      </p:sp>
      <p:sp>
        <p:nvSpPr>
          <p:cNvPr id="101379" name="Rectangle 3" descr="Content Placeholder 2">
            <a:extLst>
              <a:ext uri="{FF2B5EF4-FFF2-40B4-BE49-F238E27FC236}">
                <a16:creationId xmlns:a16="http://schemas.microsoft.com/office/drawing/2014/main" id="{AED5E6D3-990C-51FA-950B-8B0885D53518}"/>
              </a:ext>
            </a:extLst>
          </p:cNvPr>
          <p:cNvSpPr>
            <a:spLocks noChangeArrowheads="1"/>
          </p:cNvSpPr>
          <p:nvPr>
            <p:ph type="body" idx="1"/>
          </p:nvPr>
        </p:nvSpPr>
        <p:spPr/>
        <p:txBody>
          <a:bodyPr/>
          <a:lstStyle/>
          <a:p>
            <a:pPr marL="0" indent="0" algn="just">
              <a:spcBef>
                <a:spcPts val="400"/>
              </a:spcBef>
              <a:buSzTx/>
              <a:buFont typeface="Wingdings" panose="05000000000000000000" pitchFamily="2" charset="2"/>
              <a:buNone/>
            </a:pPr>
            <a:r>
              <a:rPr lang="en-US" altLang="en-US" sz="2000"/>
              <a:t>2. </a:t>
            </a:r>
            <a:r>
              <a:rPr lang="en-US" altLang="en-US" sz="2000" b="1"/>
              <a:t>C</a:t>
            </a:r>
            <a:r>
              <a:rPr lang="en-US" altLang="en-US" sz="2000"/>
              <a:t>onsistency preservation (or Correctness)</a:t>
            </a:r>
            <a:endParaRPr lang="en-US" altLang="en-US" sz="2800"/>
          </a:p>
          <a:p>
            <a:pPr marL="0" indent="0" algn="just">
              <a:spcBef>
                <a:spcPts val="400"/>
              </a:spcBef>
              <a:buSzTx/>
              <a:buFont typeface="Wingdings" panose="05000000000000000000" pitchFamily="2" charset="2"/>
              <a:buNone/>
            </a:pPr>
            <a:r>
              <a:rPr lang="en-US" altLang="en-US" sz="2000"/>
              <a:t>A transaction should lead database from one consistent state to another consistent state.</a:t>
            </a:r>
          </a:p>
        </p:txBody>
      </p:sp>
      <p:sp>
        <p:nvSpPr>
          <p:cNvPr id="101380" name="Text Box 4" descr="Date Placeholder 3">
            <a:extLst>
              <a:ext uri="{FF2B5EF4-FFF2-40B4-BE49-F238E27FC236}">
                <a16:creationId xmlns:a16="http://schemas.microsoft.com/office/drawing/2014/main" id="{43FB0AA7-4F81-58A4-4076-1C0B51DBC91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1381" name="Text Box 5" descr="Slide Number Placeholder 5">
            <a:extLst>
              <a:ext uri="{FF2B5EF4-FFF2-40B4-BE49-F238E27FC236}">
                <a16:creationId xmlns:a16="http://schemas.microsoft.com/office/drawing/2014/main" id="{FD3EADCD-D10E-7DE1-6632-C0B508B09A94}"/>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C83EC18-EBBB-4264-89E6-892794174E0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descr="Title 1">
            <a:extLst>
              <a:ext uri="{FF2B5EF4-FFF2-40B4-BE49-F238E27FC236}">
                <a16:creationId xmlns:a16="http://schemas.microsoft.com/office/drawing/2014/main" id="{2DB6DD79-B3A6-C8AF-836D-4B8A10BCD48E}"/>
              </a:ext>
            </a:extLst>
          </p:cNvPr>
          <p:cNvSpPr>
            <a:spLocks noChangeArrowheads="1"/>
          </p:cNvSpPr>
          <p:nvPr>
            <p:ph type="title"/>
          </p:nvPr>
        </p:nvSpPr>
        <p:spPr/>
        <p:txBody>
          <a:bodyPr/>
          <a:lstStyle/>
          <a:p>
            <a:r>
              <a:rPr lang="en-US" altLang="en-US"/>
              <a:t>Properties of Transactions</a:t>
            </a:r>
          </a:p>
        </p:txBody>
      </p:sp>
      <p:sp>
        <p:nvSpPr>
          <p:cNvPr id="102403" name="Rectangle 3" descr="Content Placeholder 2">
            <a:extLst>
              <a:ext uri="{FF2B5EF4-FFF2-40B4-BE49-F238E27FC236}">
                <a16:creationId xmlns:a16="http://schemas.microsoft.com/office/drawing/2014/main" id="{700AB105-7374-AEFA-1A19-609A59C05D01}"/>
              </a:ext>
            </a:extLst>
          </p:cNvPr>
          <p:cNvSpPr>
            <a:spLocks noChangeArrowheads="1"/>
          </p:cNvSpPr>
          <p:nvPr>
            <p:ph type="body" idx="1"/>
          </p:nvPr>
        </p:nvSpPr>
        <p:spPr/>
        <p:txBody>
          <a:bodyPr/>
          <a:lstStyle/>
          <a:p>
            <a:pPr marL="0" indent="0" algn="just">
              <a:spcBef>
                <a:spcPts val="400"/>
              </a:spcBef>
              <a:buSzTx/>
              <a:buFont typeface="Wingdings" panose="05000000000000000000" pitchFamily="2" charset="2"/>
              <a:buNone/>
            </a:pPr>
            <a:r>
              <a:rPr lang="en-US" altLang="en-US" sz="2000"/>
              <a:t>2. </a:t>
            </a:r>
            <a:r>
              <a:rPr lang="en-US" altLang="en-US" sz="2000" b="1"/>
              <a:t>C</a:t>
            </a:r>
            <a:r>
              <a:rPr lang="en-US" altLang="en-US" sz="2000"/>
              <a:t>onsistency preservation (or Correctness)</a:t>
            </a:r>
            <a:endParaRPr lang="en-US" altLang="en-US" sz="2800"/>
          </a:p>
          <a:p>
            <a:pPr marL="0" indent="0" algn="just">
              <a:spcBef>
                <a:spcPts val="400"/>
              </a:spcBef>
              <a:buSzTx/>
              <a:buFont typeface="Wingdings" panose="05000000000000000000" pitchFamily="2" charset="2"/>
              <a:buNone/>
            </a:pPr>
            <a:r>
              <a:rPr lang="en-US" altLang="en-US" sz="2000"/>
              <a:t>A transaction should lead database from one consistent state to another consistent state.</a:t>
            </a:r>
          </a:p>
          <a:p>
            <a:pPr marL="0" indent="0" algn="just">
              <a:buSzTx/>
              <a:buFont typeface="Wingdings" panose="05000000000000000000" pitchFamily="2" charset="2"/>
              <a:buNone/>
            </a:pPr>
            <a:endParaRPr lang="en-US" altLang="en-US" sz="2000"/>
          </a:p>
          <a:p>
            <a:pPr marL="0" indent="0" algn="just">
              <a:spcBef>
                <a:spcPts val="400"/>
              </a:spcBef>
              <a:buSzTx/>
              <a:buFont typeface="Wingdings" panose="05000000000000000000" pitchFamily="2" charset="2"/>
              <a:buNone/>
            </a:pPr>
            <a:r>
              <a:rPr lang="en-US" altLang="en-US" sz="2000"/>
              <a:t>Example: Say in a database table if both Date of Birth (</a:t>
            </a:r>
            <a:r>
              <a:rPr lang="en-US" altLang="en-US" sz="2000" b="1"/>
              <a:t>DOB</a:t>
            </a:r>
            <a:r>
              <a:rPr lang="en-US" altLang="en-US" sz="2000"/>
              <a:t>) and </a:t>
            </a:r>
            <a:r>
              <a:rPr lang="en-US" altLang="en-US" sz="2000" b="1"/>
              <a:t>Age</a:t>
            </a:r>
            <a:r>
              <a:rPr lang="en-US" altLang="en-US" sz="2000"/>
              <a:t>  values are stored. </a:t>
            </a:r>
          </a:p>
          <a:p>
            <a:pPr marL="0" indent="0" algn="just">
              <a:buSzTx/>
              <a:buFont typeface="Wingdings" panose="05000000000000000000" pitchFamily="2" charset="2"/>
              <a:buNone/>
            </a:pPr>
            <a:endParaRPr lang="en-US" altLang="en-US" sz="2000"/>
          </a:p>
          <a:p>
            <a:pPr marL="0" indent="0" algn="just">
              <a:spcBef>
                <a:spcPts val="400"/>
              </a:spcBef>
              <a:buSzTx/>
              <a:buFont typeface="Wingdings" panose="05000000000000000000" pitchFamily="2" charset="2"/>
              <a:buNone/>
            </a:pPr>
            <a:r>
              <a:rPr lang="en-US" altLang="en-US" sz="2000"/>
              <a:t>If any transaction changes DOB then appropriately the change in age value should reflected in database table. When DOB is changed but Age value has not been changed then table data will not be in consistent state.</a:t>
            </a:r>
          </a:p>
        </p:txBody>
      </p:sp>
      <p:sp>
        <p:nvSpPr>
          <p:cNvPr id="102404" name="Text Box 4" descr="Date Placeholder 3">
            <a:extLst>
              <a:ext uri="{FF2B5EF4-FFF2-40B4-BE49-F238E27FC236}">
                <a16:creationId xmlns:a16="http://schemas.microsoft.com/office/drawing/2014/main" id="{BBAF7487-6FAC-4E07-D478-DD7B2FBF1F8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2405" name="Text Box 5" descr="Slide Number Placeholder 5">
            <a:extLst>
              <a:ext uri="{FF2B5EF4-FFF2-40B4-BE49-F238E27FC236}">
                <a16:creationId xmlns:a16="http://schemas.microsoft.com/office/drawing/2014/main" id="{00632135-272A-0418-F0B5-BE1E8814EB20}"/>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3412F87-49DD-4F45-852D-F9ABCD7CB98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descr="Title 1">
            <a:extLst>
              <a:ext uri="{FF2B5EF4-FFF2-40B4-BE49-F238E27FC236}">
                <a16:creationId xmlns:a16="http://schemas.microsoft.com/office/drawing/2014/main" id="{778AB66E-9783-2EAE-2051-146F998A35B6}"/>
              </a:ext>
            </a:extLst>
          </p:cNvPr>
          <p:cNvSpPr>
            <a:spLocks noChangeArrowheads="1"/>
          </p:cNvSpPr>
          <p:nvPr>
            <p:ph type="title"/>
          </p:nvPr>
        </p:nvSpPr>
        <p:spPr/>
        <p:txBody>
          <a:bodyPr/>
          <a:lstStyle/>
          <a:p>
            <a:r>
              <a:rPr lang="en-US" altLang="en-US"/>
              <a:t>Properties of Transactions</a:t>
            </a:r>
          </a:p>
        </p:txBody>
      </p:sp>
      <p:sp>
        <p:nvSpPr>
          <p:cNvPr id="103427" name="Rectangle 3" descr="Content Placeholder 2">
            <a:extLst>
              <a:ext uri="{FF2B5EF4-FFF2-40B4-BE49-F238E27FC236}">
                <a16:creationId xmlns:a16="http://schemas.microsoft.com/office/drawing/2014/main" id="{E7AE2F88-20D0-E54B-4361-B195150DAC3A}"/>
              </a:ext>
            </a:extLst>
          </p:cNvPr>
          <p:cNvSpPr>
            <a:spLocks noChangeArrowheads="1"/>
          </p:cNvSpPr>
          <p:nvPr>
            <p:ph type="body" idx="1"/>
          </p:nvPr>
        </p:nvSpPr>
        <p:spPr/>
        <p:txBody>
          <a:bodyPr/>
          <a:lstStyle/>
          <a:p>
            <a:pPr marL="0" indent="0" algn="just">
              <a:spcBef>
                <a:spcPts val="400"/>
              </a:spcBef>
              <a:buSzTx/>
              <a:buFont typeface="Wingdings" panose="05000000000000000000" pitchFamily="2" charset="2"/>
              <a:buNone/>
            </a:pPr>
            <a:r>
              <a:rPr lang="en-US" altLang="en-US" sz="2000"/>
              <a:t>3. </a:t>
            </a:r>
            <a:r>
              <a:rPr lang="en-US" altLang="en-US" sz="2000" b="1"/>
              <a:t>I</a:t>
            </a:r>
            <a:r>
              <a:rPr lang="en-US" altLang="en-US" sz="2000"/>
              <a:t>solation</a:t>
            </a:r>
          </a:p>
          <a:p>
            <a:pPr marL="0" indent="0" algn="just">
              <a:spcBef>
                <a:spcPts val="400"/>
              </a:spcBef>
              <a:buSzTx/>
              <a:buFont typeface="Wingdings" panose="05000000000000000000" pitchFamily="2" charset="2"/>
              <a:buNone/>
            </a:pPr>
            <a:r>
              <a:rPr lang="en-US" altLang="en-US" sz="2000"/>
              <a:t>Ensures that concurrent execution results in a system state that would be obtained if transaction would be executed serially.</a:t>
            </a:r>
          </a:p>
        </p:txBody>
      </p:sp>
      <p:sp>
        <p:nvSpPr>
          <p:cNvPr id="103428" name="Text Box 4" descr="Date Placeholder 3">
            <a:extLst>
              <a:ext uri="{FF2B5EF4-FFF2-40B4-BE49-F238E27FC236}">
                <a16:creationId xmlns:a16="http://schemas.microsoft.com/office/drawing/2014/main" id="{05C35716-B880-0E7E-CCC6-AB915F98440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3429" name="Text Box 5" descr="Slide Number Placeholder 5">
            <a:extLst>
              <a:ext uri="{FF2B5EF4-FFF2-40B4-BE49-F238E27FC236}">
                <a16:creationId xmlns:a16="http://schemas.microsoft.com/office/drawing/2014/main" id="{EA93AF52-B40B-88F4-9B82-7DE9B86AC1CB}"/>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D3DCADE-80AC-47E9-98D4-59C9D32BFF1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descr="Title 1">
            <a:extLst>
              <a:ext uri="{FF2B5EF4-FFF2-40B4-BE49-F238E27FC236}">
                <a16:creationId xmlns:a16="http://schemas.microsoft.com/office/drawing/2014/main" id="{8A59A05B-47EA-46DC-8BC6-D4E8BDD24AC4}"/>
              </a:ext>
            </a:extLst>
          </p:cNvPr>
          <p:cNvSpPr>
            <a:spLocks noChangeArrowheads="1"/>
          </p:cNvSpPr>
          <p:nvPr>
            <p:ph type="title"/>
          </p:nvPr>
        </p:nvSpPr>
        <p:spPr/>
        <p:txBody>
          <a:bodyPr/>
          <a:lstStyle/>
          <a:p>
            <a:r>
              <a:rPr lang="en-US" altLang="en-US"/>
              <a:t>Properties of Transactions</a:t>
            </a:r>
          </a:p>
        </p:txBody>
      </p:sp>
      <p:sp>
        <p:nvSpPr>
          <p:cNvPr id="104451" name="Rectangle 3" descr="Content Placeholder 2">
            <a:extLst>
              <a:ext uri="{FF2B5EF4-FFF2-40B4-BE49-F238E27FC236}">
                <a16:creationId xmlns:a16="http://schemas.microsoft.com/office/drawing/2014/main" id="{05D30446-ADF5-9F8D-7B23-2CB2F1294993}"/>
              </a:ext>
            </a:extLst>
          </p:cNvPr>
          <p:cNvSpPr>
            <a:spLocks noChangeArrowheads="1"/>
          </p:cNvSpPr>
          <p:nvPr>
            <p:ph type="body" idx="1"/>
          </p:nvPr>
        </p:nvSpPr>
        <p:spPr/>
        <p:txBody>
          <a:bodyPr/>
          <a:lstStyle/>
          <a:p>
            <a:pPr marL="0" indent="0" algn="just">
              <a:spcBef>
                <a:spcPts val="400"/>
              </a:spcBef>
              <a:buSzTx/>
              <a:buFont typeface="Wingdings" panose="05000000000000000000" pitchFamily="2" charset="2"/>
              <a:buNone/>
            </a:pPr>
            <a:r>
              <a:rPr lang="en-US" altLang="en-US" sz="2000"/>
              <a:t>3. </a:t>
            </a:r>
            <a:r>
              <a:rPr lang="en-US" altLang="en-US" sz="2000" b="1"/>
              <a:t>I</a:t>
            </a:r>
            <a:r>
              <a:rPr lang="en-US" altLang="en-US" sz="2000"/>
              <a:t>solation</a:t>
            </a:r>
          </a:p>
          <a:p>
            <a:pPr marL="0" indent="0" algn="just">
              <a:spcBef>
                <a:spcPts val="400"/>
              </a:spcBef>
              <a:buSzTx/>
              <a:buFont typeface="Wingdings" panose="05000000000000000000" pitchFamily="2" charset="2"/>
              <a:buNone/>
            </a:pPr>
            <a:r>
              <a:rPr lang="en-US" altLang="en-US" sz="2000"/>
              <a:t>Ensures that concurrent execution results in a system state that would be obtained if transaction would be executed serially.</a:t>
            </a:r>
          </a:p>
        </p:txBody>
      </p:sp>
      <p:sp>
        <p:nvSpPr>
          <p:cNvPr id="104452" name="Text Box 4" descr="Date Placeholder 3">
            <a:extLst>
              <a:ext uri="{FF2B5EF4-FFF2-40B4-BE49-F238E27FC236}">
                <a16:creationId xmlns:a16="http://schemas.microsoft.com/office/drawing/2014/main" id="{71400C69-0644-88BD-14ED-CA1045A6215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4453" name="Text Box 5" descr="Slide Number Placeholder 5">
            <a:extLst>
              <a:ext uri="{FF2B5EF4-FFF2-40B4-BE49-F238E27FC236}">
                <a16:creationId xmlns:a16="http://schemas.microsoft.com/office/drawing/2014/main" id="{B13E27A2-5E8B-1476-5633-FF0F82C62047}"/>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BA64AFD-B045-4357-BBD5-4B65A3D300B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04454" name="Picture 6" descr="Picture 3">
            <a:extLst>
              <a:ext uri="{FF2B5EF4-FFF2-40B4-BE49-F238E27FC236}">
                <a16:creationId xmlns:a16="http://schemas.microsoft.com/office/drawing/2014/main" id="{BA36194A-6918-B60C-B7CA-106C3D01377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42988" y="2563813"/>
            <a:ext cx="6911975" cy="3717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descr="Title 1">
            <a:extLst>
              <a:ext uri="{FF2B5EF4-FFF2-40B4-BE49-F238E27FC236}">
                <a16:creationId xmlns:a16="http://schemas.microsoft.com/office/drawing/2014/main" id="{B297DB7F-E0DF-7FEA-F1D5-B3C2FE608A15}"/>
              </a:ext>
            </a:extLst>
          </p:cNvPr>
          <p:cNvSpPr>
            <a:spLocks noChangeArrowheads="1"/>
          </p:cNvSpPr>
          <p:nvPr>
            <p:ph type="title"/>
          </p:nvPr>
        </p:nvSpPr>
        <p:spPr/>
        <p:txBody>
          <a:bodyPr/>
          <a:lstStyle/>
          <a:p>
            <a:r>
              <a:rPr lang="en-US" altLang="en-US"/>
              <a:t>Properties of Transactions</a:t>
            </a:r>
          </a:p>
        </p:txBody>
      </p:sp>
      <p:sp>
        <p:nvSpPr>
          <p:cNvPr id="105475" name="Rectangle 3" descr="Content Placeholder 2">
            <a:extLst>
              <a:ext uri="{FF2B5EF4-FFF2-40B4-BE49-F238E27FC236}">
                <a16:creationId xmlns:a16="http://schemas.microsoft.com/office/drawing/2014/main" id="{A5A36E84-0BF8-2556-67A4-6D255C4B0877}"/>
              </a:ext>
            </a:extLst>
          </p:cNvPr>
          <p:cNvSpPr>
            <a:spLocks noChangeArrowheads="1"/>
          </p:cNvSpPr>
          <p:nvPr>
            <p:ph type="body" idx="1"/>
          </p:nvPr>
        </p:nvSpPr>
        <p:spPr/>
        <p:txBody>
          <a:bodyPr/>
          <a:lstStyle/>
          <a:p>
            <a:pPr marL="0" indent="0" algn="just">
              <a:spcBef>
                <a:spcPts val="600"/>
              </a:spcBef>
              <a:buSzTx/>
              <a:buFont typeface="Wingdings" panose="05000000000000000000" pitchFamily="2" charset="2"/>
              <a:buNone/>
            </a:pPr>
            <a:r>
              <a:rPr lang="en-US" altLang="en-US" sz="2800"/>
              <a:t>4. </a:t>
            </a:r>
            <a:r>
              <a:rPr lang="en-US" altLang="en-US" sz="2800" b="1"/>
              <a:t>D</a:t>
            </a:r>
            <a:r>
              <a:rPr lang="en-US" altLang="en-US" sz="2800"/>
              <a:t>urability or permanency</a:t>
            </a:r>
          </a:p>
          <a:p>
            <a:pPr marL="0" indent="0" algn="just">
              <a:spcBef>
                <a:spcPts val="600"/>
              </a:spcBef>
              <a:buSzTx/>
              <a:buFont typeface="Wingdings" panose="05000000000000000000" pitchFamily="2" charset="2"/>
              <a:buNone/>
            </a:pPr>
            <a:r>
              <a:rPr lang="en-US" altLang="en-US" sz="2800"/>
              <a:t>Changes should be permanent. The changes must NOT be lost due to some database failure.</a:t>
            </a:r>
          </a:p>
        </p:txBody>
      </p:sp>
      <p:sp>
        <p:nvSpPr>
          <p:cNvPr id="105476" name="Text Box 4" descr="Date Placeholder 3">
            <a:extLst>
              <a:ext uri="{FF2B5EF4-FFF2-40B4-BE49-F238E27FC236}">
                <a16:creationId xmlns:a16="http://schemas.microsoft.com/office/drawing/2014/main" id="{D63A1D77-E086-F4C5-D67C-E6C362F401B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5477" name="Text Box 5" descr="Slide Number Placeholder 5">
            <a:extLst>
              <a:ext uri="{FF2B5EF4-FFF2-40B4-BE49-F238E27FC236}">
                <a16:creationId xmlns:a16="http://schemas.microsoft.com/office/drawing/2014/main" id="{FBF7EA7B-FAD5-5CA9-53D2-C3E61F8342F4}"/>
              </a:ext>
            </a:extLst>
          </p:cNvPr>
          <p:cNvSpPr txBox="1">
            <a:spLocks/>
          </p:cNvSpPr>
          <p:nvPr/>
        </p:nvSpPr>
        <p:spPr bwMode="auto">
          <a:xfrm>
            <a:off x="8259763" y="6400800"/>
            <a:ext cx="273050"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CA9A39C-EEEA-427F-86BE-BA3074BBAD7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99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2" descr="Title 1">
            <a:extLst>
              <a:ext uri="{FF2B5EF4-FFF2-40B4-BE49-F238E27FC236}">
                <a16:creationId xmlns:a16="http://schemas.microsoft.com/office/drawing/2014/main" id="{7F4F93EB-306E-5B23-1F56-EA58CD4B374B}"/>
              </a:ext>
            </a:extLst>
          </p:cNvPr>
          <p:cNvSpPr>
            <a:spLocks noChangeArrowheads="1"/>
          </p:cNvSpPr>
          <p:nvPr>
            <p:ph type="title"/>
          </p:nvPr>
        </p:nvSpPr>
        <p:spPr/>
        <p:txBody>
          <a:bodyPr/>
          <a:lstStyle/>
          <a:p>
            <a:r>
              <a:rPr lang="en-US" altLang="en-US" sz="2800"/>
              <a:t>Summarizing Properties of Transactions</a:t>
            </a:r>
          </a:p>
        </p:txBody>
      </p:sp>
      <p:sp>
        <p:nvSpPr>
          <p:cNvPr id="106499" name="Rectangle 3" descr="Content Placeholder 2">
            <a:extLst>
              <a:ext uri="{FF2B5EF4-FFF2-40B4-BE49-F238E27FC236}">
                <a16:creationId xmlns:a16="http://schemas.microsoft.com/office/drawing/2014/main" id="{9B5D8F9E-341F-DFE8-99D4-B336C6EC0652}"/>
              </a:ext>
            </a:extLst>
          </p:cNvPr>
          <p:cNvSpPr>
            <a:spLocks noChangeArrowheads="1"/>
          </p:cNvSpPr>
          <p:nvPr>
            <p:ph type="body" idx="1"/>
          </p:nvPr>
        </p:nvSpPr>
        <p:spPr/>
        <p:txBody>
          <a:bodyPr/>
          <a:lstStyle/>
          <a:p>
            <a:pPr marL="0" indent="0">
              <a:spcBef>
                <a:spcPts val="600"/>
              </a:spcBef>
              <a:buSzTx/>
              <a:buFont typeface="Wingdings" panose="05000000000000000000" pitchFamily="2" charset="2"/>
              <a:buNone/>
            </a:pPr>
            <a:r>
              <a:rPr lang="en-US" altLang="en-US" sz="2800"/>
              <a:t>ACID Properties</a:t>
            </a:r>
          </a:p>
          <a:p>
            <a:pPr marL="0" indent="0">
              <a:spcBef>
                <a:spcPts val="600"/>
              </a:spcBef>
              <a:buSzTx/>
              <a:buFont typeface="Wingdings" panose="05000000000000000000" pitchFamily="2" charset="2"/>
              <a:buNone/>
            </a:pPr>
            <a:r>
              <a:rPr lang="en-US" altLang="en-US" sz="2800"/>
              <a:t>1. </a:t>
            </a:r>
            <a:r>
              <a:rPr lang="en-US" altLang="en-US" sz="2800" b="1"/>
              <a:t>A</a:t>
            </a:r>
            <a:r>
              <a:rPr lang="en-US" altLang="en-US" sz="2800"/>
              <a:t>tomicity</a:t>
            </a:r>
          </a:p>
          <a:p>
            <a:pPr marL="0" indent="0">
              <a:spcBef>
                <a:spcPts val="600"/>
              </a:spcBef>
              <a:buSzTx/>
              <a:buFont typeface="Wingdings" panose="05000000000000000000" pitchFamily="2" charset="2"/>
              <a:buNone/>
            </a:pPr>
            <a:r>
              <a:rPr lang="en-US" altLang="en-US" sz="2800"/>
              <a:t>2. </a:t>
            </a:r>
            <a:r>
              <a:rPr lang="en-US" altLang="en-US" sz="2800" b="1"/>
              <a:t>C</a:t>
            </a:r>
            <a:r>
              <a:rPr lang="en-US" altLang="en-US" sz="2800"/>
              <a:t>onsistency preservation</a:t>
            </a:r>
          </a:p>
          <a:p>
            <a:pPr marL="0" indent="0">
              <a:spcBef>
                <a:spcPts val="600"/>
              </a:spcBef>
              <a:buSzTx/>
              <a:buFont typeface="Wingdings" panose="05000000000000000000" pitchFamily="2" charset="2"/>
              <a:buNone/>
            </a:pPr>
            <a:r>
              <a:rPr lang="en-US" altLang="en-US" sz="2800"/>
              <a:t>3. </a:t>
            </a:r>
            <a:r>
              <a:rPr lang="en-US" altLang="en-US" sz="2800" b="1"/>
              <a:t>I</a:t>
            </a:r>
            <a:r>
              <a:rPr lang="en-US" altLang="en-US" sz="2800"/>
              <a:t>solation</a:t>
            </a:r>
          </a:p>
          <a:p>
            <a:pPr marL="0" indent="0">
              <a:spcBef>
                <a:spcPts val="600"/>
              </a:spcBef>
              <a:buSzTx/>
              <a:buFont typeface="Wingdings" panose="05000000000000000000" pitchFamily="2" charset="2"/>
              <a:buNone/>
            </a:pPr>
            <a:r>
              <a:rPr lang="en-US" altLang="en-US" sz="2800"/>
              <a:t>4. </a:t>
            </a:r>
            <a:r>
              <a:rPr lang="en-US" altLang="en-US" sz="2800" b="1"/>
              <a:t>D</a:t>
            </a:r>
            <a:r>
              <a:rPr lang="en-US" altLang="en-US" sz="2800"/>
              <a:t>urability or permanency</a:t>
            </a:r>
          </a:p>
        </p:txBody>
      </p:sp>
      <p:sp>
        <p:nvSpPr>
          <p:cNvPr id="106500" name="Text Box 4" descr="Date Placeholder 3">
            <a:extLst>
              <a:ext uri="{FF2B5EF4-FFF2-40B4-BE49-F238E27FC236}">
                <a16:creationId xmlns:a16="http://schemas.microsoft.com/office/drawing/2014/main" id="{3AABF1CA-A66A-C60F-7C32-60C06A7EEAC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6501" name="Text Box 5" descr="Slide Number Placeholder 5">
            <a:extLst>
              <a:ext uri="{FF2B5EF4-FFF2-40B4-BE49-F238E27FC236}">
                <a16:creationId xmlns:a16="http://schemas.microsoft.com/office/drawing/2014/main" id="{FADE5AF6-9C38-B03C-6BB2-B71B5E320CF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2E5EFC3-EE07-494A-BACF-E585828CCCC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 descr="Title 1">
            <a:extLst>
              <a:ext uri="{FF2B5EF4-FFF2-40B4-BE49-F238E27FC236}">
                <a16:creationId xmlns:a16="http://schemas.microsoft.com/office/drawing/2014/main" id="{57F57950-6F9F-D9B0-007F-389C4D719A5F}"/>
              </a:ext>
            </a:extLst>
          </p:cNvPr>
          <p:cNvSpPr>
            <a:spLocks noChangeArrowheads="1"/>
          </p:cNvSpPr>
          <p:nvPr>
            <p:ph type="title"/>
          </p:nvPr>
        </p:nvSpPr>
        <p:spPr/>
        <p:txBody>
          <a:bodyPr/>
          <a:lstStyle/>
          <a:p>
            <a:r>
              <a:rPr lang="en-US" altLang="en-US"/>
              <a:t>Transaction</a:t>
            </a:r>
          </a:p>
        </p:txBody>
      </p:sp>
      <p:sp>
        <p:nvSpPr>
          <p:cNvPr id="107523" name="Rectangle 3" descr="Content Placeholder 2">
            <a:extLst>
              <a:ext uri="{FF2B5EF4-FFF2-40B4-BE49-F238E27FC236}">
                <a16:creationId xmlns:a16="http://schemas.microsoft.com/office/drawing/2014/main" id="{B630E3EB-85E7-C2DA-90A5-CEECE9E8EC7D}"/>
              </a:ext>
            </a:extLst>
          </p:cNvPr>
          <p:cNvSpPr>
            <a:spLocks noChangeArrowheads="1"/>
          </p:cNvSpPr>
          <p:nvPr>
            <p:ph type="body" idx="1"/>
          </p:nvPr>
        </p:nvSpPr>
        <p:spPr/>
        <p:txBody>
          <a:bodyPr/>
          <a:lstStyle/>
          <a:p>
            <a:pPr algn="just">
              <a:lnSpc>
                <a:spcPct val="80000"/>
              </a:lnSpc>
              <a:spcBef>
                <a:spcPts val="500"/>
              </a:spcBef>
            </a:pPr>
            <a:r>
              <a:rPr lang="en-US" altLang="en-US" sz="2400"/>
              <a:t>A transaction is an atomic unit of work that is either completed in its entirety or not done at all. </a:t>
            </a:r>
          </a:p>
          <a:p>
            <a:pPr marL="908050" lvl="1" indent="-438150" algn="just">
              <a:lnSpc>
                <a:spcPct val="80000"/>
              </a:lnSpc>
              <a:spcBef>
                <a:spcPts val="400"/>
              </a:spcBef>
            </a:pPr>
            <a:r>
              <a:rPr lang="en-US" altLang="en-US" sz="2000"/>
              <a:t>For </a:t>
            </a:r>
            <a:r>
              <a:rPr lang="en-US" altLang="en-US" sz="2000" b="1"/>
              <a:t>recovery purposes</a:t>
            </a:r>
            <a:r>
              <a:rPr lang="en-US" altLang="en-US" sz="2000"/>
              <a:t>, the system needs to keep track of when the transaction starts, terminates, and commits or aborts.</a:t>
            </a:r>
            <a:endParaRPr lang="en-US" altLang="en-US" sz="2600"/>
          </a:p>
          <a:p>
            <a:pPr algn="just">
              <a:lnSpc>
                <a:spcPct val="80000"/>
              </a:lnSpc>
              <a:spcBef>
                <a:spcPts val="500"/>
              </a:spcBef>
            </a:pPr>
            <a:r>
              <a:rPr lang="en-US" altLang="en-US" sz="2400" b="1"/>
              <a:t>Transaction</a:t>
            </a:r>
            <a:r>
              <a:rPr lang="en-US" altLang="en-US" sz="2400"/>
              <a:t> </a:t>
            </a:r>
            <a:r>
              <a:rPr lang="en-US" altLang="en-US" sz="2400" b="1"/>
              <a:t>states</a:t>
            </a:r>
            <a:r>
              <a:rPr lang="en-US" altLang="en-US" sz="2400"/>
              <a:t>:</a:t>
            </a:r>
          </a:p>
          <a:p>
            <a:pPr marL="908050" lvl="1" indent="-438150" algn="just">
              <a:lnSpc>
                <a:spcPct val="80000"/>
              </a:lnSpc>
              <a:spcBef>
                <a:spcPts val="400"/>
              </a:spcBef>
            </a:pPr>
            <a:r>
              <a:rPr lang="en-US" altLang="en-US" sz="2000"/>
              <a:t>Active state</a:t>
            </a:r>
            <a:endParaRPr lang="en-US" altLang="en-US" sz="2600"/>
          </a:p>
          <a:p>
            <a:pPr marL="908050" lvl="1" indent="-438150" algn="just">
              <a:lnSpc>
                <a:spcPct val="80000"/>
              </a:lnSpc>
              <a:spcBef>
                <a:spcPts val="400"/>
              </a:spcBef>
            </a:pPr>
            <a:r>
              <a:rPr lang="en-US" altLang="en-US" sz="2000"/>
              <a:t>Partially committed state</a:t>
            </a:r>
            <a:endParaRPr lang="en-US" altLang="en-US" sz="2600"/>
          </a:p>
          <a:p>
            <a:pPr marL="908050" lvl="1" indent="-438150" algn="just">
              <a:lnSpc>
                <a:spcPct val="80000"/>
              </a:lnSpc>
              <a:spcBef>
                <a:spcPts val="400"/>
              </a:spcBef>
            </a:pPr>
            <a:r>
              <a:rPr lang="en-US" altLang="en-US" sz="2000"/>
              <a:t>Committed state</a:t>
            </a:r>
            <a:endParaRPr lang="en-US" altLang="en-US" sz="2600"/>
          </a:p>
          <a:p>
            <a:pPr marL="908050" lvl="1" indent="-438150" algn="just">
              <a:lnSpc>
                <a:spcPct val="80000"/>
              </a:lnSpc>
              <a:spcBef>
                <a:spcPts val="400"/>
              </a:spcBef>
            </a:pPr>
            <a:r>
              <a:rPr lang="en-US" altLang="en-US" sz="2000"/>
              <a:t>Failed state</a:t>
            </a:r>
            <a:endParaRPr lang="en-US" altLang="en-US" sz="2600"/>
          </a:p>
          <a:p>
            <a:pPr marL="908050" lvl="1" indent="-438150" algn="just">
              <a:lnSpc>
                <a:spcPct val="80000"/>
              </a:lnSpc>
              <a:spcBef>
                <a:spcPts val="400"/>
              </a:spcBef>
            </a:pPr>
            <a:r>
              <a:rPr lang="en-US" altLang="en-US" sz="2000"/>
              <a:t>Terminated State</a:t>
            </a:r>
          </a:p>
        </p:txBody>
      </p:sp>
      <p:sp>
        <p:nvSpPr>
          <p:cNvPr id="107524" name="Text Box 4" descr="Date Placeholder 3">
            <a:extLst>
              <a:ext uri="{FF2B5EF4-FFF2-40B4-BE49-F238E27FC236}">
                <a16:creationId xmlns:a16="http://schemas.microsoft.com/office/drawing/2014/main" id="{06836A42-50B9-231E-DFFF-00EE3A3FC37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7525" name="Text Box 5" descr="Slide Number Placeholder 5">
            <a:extLst>
              <a:ext uri="{FF2B5EF4-FFF2-40B4-BE49-F238E27FC236}">
                <a16:creationId xmlns:a16="http://schemas.microsoft.com/office/drawing/2014/main" id="{C339E110-259C-2A7A-4768-52C3EA0EC9D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B0DF9F4-28AA-4425-A0B6-101F7D8F78B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2" descr="Title 1">
            <a:extLst>
              <a:ext uri="{FF2B5EF4-FFF2-40B4-BE49-F238E27FC236}">
                <a16:creationId xmlns:a16="http://schemas.microsoft.com/office/drawing/2014/main" id="{20E74B4A-517D-918F-F7EB-22B3EE2A4709}"/>
              </a:ext>
            </a:extLst>
          </p:cNvPr>
          <p:cNvSpPr>
            <a:spLocks noChangeArrowheads="1"/>
          </p:cNvSpPr>
          <p:nvPr>
            <p:ph type="title"/>
          </p:nvPr>
        </p:nvSpPr>
        <p:spPr/>
        <p:txBody>
          <a:bodyPr/>
          <a:lstStyle/>
          <a:p>
            <a:r>
              <a:rPr lang="en-US" altLang="en-US" sz="2000"/>
              <a:t>State transition diagram illustrating the states for transaction execution</a:t>
            </a:r>
          </a:p>
        </p:txBody>
      </p:sp>
      <p:sp>
        <p:nvSpPr>
          <p:cNvPr id="108547" name="Text Box 3" descr="Date Placeholder 3">
            <a:extLst>
              <a:ext uri="{FF2B5EF4-FFF2-40B4-BE49-F238E27FC236}">
                <a16:creationId xmlns:a16="http://schemas.microsoft.com/office/drawing/2014/main" id="{529EFAE6-6F9C-5BA9-6E8F-2ADE61D5D8A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08548" name="Text Box 4" descr="Slide Number Placeholder 5">
            <a:extLst>
              <a:ext uri="{FF2B5EF4-FFF2-40B4-BE49-F238E27FC236}">
                <a16:creationId xmlns:a16="http://schemas.microsoft.com/office/drawing/2014/main" id="{BE2628C7-7AC8-02D8-3654-103A3366AAA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CF1B12B-671F-4B17-AA74-ADB019B837A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08549" name="Picture 5" descr="Picture 2">
            <a:extLst>
              <a:ext uri="{FF2B5EF4-FFF2-40B4-BE49-F238E27FC236}">
                <a16:creationId xmlns:a16="http://schemas.microsoft.com/office/drawing/2014/main" id="{E29D8354-022F-F716-EB3E-53138829144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0050" y="1195388"/>
            <a:ext cx="8324850" cy="2257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8550" name="Text Box 6" descr="TextBox 2">
            <a:extLst>
              <a:ext uri="{FF2B5EF4-FFF2-40B4-BE49-F238E27FC236}">
                <a16:creationId xmlns:a16="http://schemas.microsoft.com/office/drawing/2014/main" id="{8EEFD753-BA31-8674-FB65-8109E941DF4F}"/>
              </a:ext>
            </a:extLst>
          </p:cNvPr>
          <p:cNvSpPr txBox="1">
            <a:spLocks/>
          </p:cNvSpPr>
          <p:nvPr/>
        </p:nvSpPr>
        <p:spPr bwMode="auto">
          <a:xfrm>
            <a:off x="1089025" y="3508375"/>
            <a:ext cx="7373938" cy="2744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t>Active</a:t>
            </a:r>
            <a:r>
              <a:rPr lang="en-US" altLang="en-US" sz="1600"/>
              <a:t>, the initial state; the transaction stays in this state while it is executing</a:t>
            </a:r>
          </a:p>
          <a:p>
            <a:r>
              <a:rPr lang="en-US" altLang="en-US" sz="1600" b="1"/>
              <a:t>Partially committed</a:t>
            </a:r>
            <a:r>
              <a:rPr lang="en-US" altLang="en-US" sz="1600"/>
              <a:t>, after the final statement has been executed.</a:t>
            </a:r>
          </a:p>
          <a:p>
            <a:r>
              <a:rPr lang="en-US" altLang="en-US" sz="1600" b="1"/>
              <a:t>Failed</a:t>
            </a:r>
            <a:r>
              <a:rPr lang="en-US" altLang="en-US" sz="1600"/>
              <a:t>, after the discovery that normal execution can no longer proceed.</a:t>
            </a:r>
          </a:p>
          <a:p>
            <a:r>
              <a:rPr lang="en-US" altLang="en-US" sz="1600" b="1"/>
              <a:t>Aborted</a:t>
            </a:r>
            <a:r>
              <a:rPr lang="en-US" altLang="en-US" sz="1600"/>
              <a:t>, after the transaction has been rolled back and the database restored to its state prior to the start of the transaction. Two options after it has been aborted:</a:t>
            </a:r>
          </a:p>
          <a:p>
            <a:r>
              <a:rPr lang="en-US" altLang="en-US" sz="1600"/>
              <a:t>              restart the transaction – only if no internal logical error</a:t>
            </a:r>
          </a:p>
          <a:p>
            <a:r>
              <a:rPr lang="en-US" altLang="en-US" sz="1600"/>
              <a:t>              kill the transaction</a:t>
            </a:r>
          </a:p>
          <a:p>
            <a:r>
              <a:rPr lang="en-US" altLang="en-US" sz="1600" b="1"/>
              <a:t>Committed</a:t>
            </a:r>
            <a:r>
              <a:rPr lang="en-US" altLang="en-US" sz="1600"/>
              <a:t>, after successful completion</a:t>
            </a:r>
            <a:endParaRPr lang="en-US" altLang="en-US" sz="1600" b="1"/>
          </a:p>
        </p:txBody>
      </p:sp>
    </p:spTree>
  </p:cSld>
  <p:clrMapOvr>
    <a:masterClrMapping/>
  </p:clrMapOvr>
  <p:transition spd="med"/>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2" descr="Title 1">
            <a:extLst>
              <a:ext uri="{FF2B5EF4-FFF2-40B4-BE49-F238E27FC236}">
                <a16:creationId xmlns:a16="http://schemas.microsoft.com/office/drawing/2014/main" id="{79221D6D-8259-1A18-C67C-A1B99FF40EA3}"/>
              </a:ext>
            </a:extLst>
          </p:cNvPr>
          <p:cNvSpPr>
            <a:spLocks noChangeArrowheads="1"/>
          </p:cNvSpPr>
          <p:nvPr>
            <p:ph type="title"/>
          </p:nvPr>
        </p:nvSpPr>
        <p:spPr/>
        <p:txBody>
          <a:bodyPr/>
          <a:lstStyle/>
          <a:p>
            <a:r>
              <a:rPr lang="en-US" altLang="en-US" sz="2000"/>
              <a:t>State transition diagram illustrating the states for transaction execution</a:t>
            </a:r>
          </a:p>
        </p:txBody>
      </p:sp>
      <p:sp>
        <p:nvSpPr>
          <p:cNvPr id="110595" name="Rectangle 3" descr="Content Placeholder 2">
            <a:extLst>
              <a:ext uri="{FF2B5EF4-FFF2-40B4-BE49-F238E27FC236}">
                <a16:creationId xmlns:a16="http://schemas.microsoft.com/office/drawing/2014/main" id="{723EE34D-51F5-DFD4-62CD-20CDA8A17EF6}"/>
              </a:ext>
            </a:extLst>
          </p:cNvPr>
          <p:cNvSpPr>
            <a:spLocks noChangeArrowheads="1"/>
          </p:cNvSpPr>
          <p:nvPr>
            <p:ph type="body" idx="1"/>
          </p:nvPr>
        </p:nvSpPr>
        <p:spPr/>
        <p:txBody>
          <a:bodyPr/>
          <a:lstStyle/>
          <a:p>
            <a:pPr marL="465138" indent="-465138" defTabSz="904875">
              <a:spcBef>
                <a:spcPts val="200"/>
              </a:spcBef>
            </a:pPr>
            <a:r>
              <a:rPr lang="en-US" altLang="en-US" sz="1100" b="1"/>
              <a:t>Active State –</a:t>
            </a:r>
            <a:r>
              <a:rPr lang="en-US" altLang="en-US" sz="1100"/>
              <a:t> </a:t>
            </a:r>
            <a:br>
              <a:rPr lang="en-US" altLang="en-US" sz="1100"/>
            </a:br>
            <a:r>
              <a:rPr lang="en-US" altLang="en-US" sz="1100"/>
              <a:t>When the instructions of the transaction are running then the transaction is in active state. If all the ‘read and write’ operations are performed without any error then it goes to the “partially committed state”; if any instruction fails, it goes to the “failed state”. </a:t>
            </a:r>
            <a:br>
              <a:rPr lang="en-US" altLang="en-US" sz="1100"/>
            </a:br>
            <a:r>
              <a:rPr lang="en-US" altLang="en-US" sz="1100"/>
              <a:t> </a:t>
            </a:r>
            <a:endParaRPr lang="en-US" altLang="en-US" sz="1100" b="1"/>
          </a:p>
          <a:p>
            <a:pPr marL="465138" indent="-465138" defTabSz="904875">
              <a:spcBef>
                <a:spcPts val="200"/>
              </a:spcBef>
            </a:pPr>
            <a:r>
              <a:rPr lang="en-US" altLang="en-US" sz="1100" b="1"/>
              <a:t>Partially Committed –</a:t>
            </a:r>
            <a:r>
              <a:rPr lang="en-US" altLang="en-US" sz="1100"/>
              <a:t> </a:t>
            </a:r>
            <a:br>
              <a:rPr lang="en-US" altLang="en-US" sz="1100"/>
            </a:br>
            <a:r>
              <a:rPr lang="en-US" altLang="en-US" sz="1100"/>
              <a:t>After completion of all the read and write operation the changes are made in main memory or local buffer. If the changes are made permanent on the DataBase then the state will change to “committed state” and in case of failure it will go to the “failed state”. </a:t>
            </a:r>
            <a:br>
              <a:rPr lang="en-US" altLang="en-US" sz="1100"/>
            </a:br>
            <a:r>
              <a:rPr lang="en-US" altLang="en-US" sz="1100"/>
              <a:t> </a:t>
            </a:r>
          </a:p>
          <a:p>
            <a:pPr marL="465138" indent="-465138" defTabSz="904875">
              <a:spcBef>
                <a:spcPts val="200"/>
              </a:spcBef>
            </a:pPr>
            <a:r>
              <a:rPr lang="en-US" altLang="en-US" sz="1100" b="1"/>
              <a:t>Failed State –</a:t>
            </a:r>
            <a:r>
              <a:rPr lang="en-US" altLang="en-US" sz="1100"/>
              <a:t> </a:t>
            </a:r>
            <a:br>
              <a:rPr lang="en-US" altLang="en-US" sz="1100"/>
            </a:br>
            <a:r>
              <a:rPr lang="en-US" altLang="en-US" sz="1100"/>
              <a:t>When any instruction of the transaction fails, it goes to the “failed state” or if failure occurs in making a permanent change of data on Data Base. </a:t>
            </a:r>
            <a:br>
              <a:rPr lang="en-US" altLang="en-US" sz="1100"/>
            </a:br>
            <a:r>
              <a:rPr lang="en-US" altLang="en-US" sz="1100"/>
              <a:t> </a:t>
            </a:r>
          </a:p>
          <a:p>
            <a:pPr marL="465138" indent="-465138" defTabSz="904875">
              <a:spcBef>
                <a:spcPts val="200"/>
              </a:spcBef>
            </a:pPr>
            <a:r>
              <a:rPr lang="en-US" altLang="en-US" sz="1100" b="1"/>
              <a:t>Aborted State –</a:t>
            </a:r>
            <a:r>
              <a:rPr lang="en-US" altLang="en-US" sz="1100"/>
              <a:t> </a:t>
            </a:r>
            <a:br>
              <a:rPr lang="en-US" altLang="en-US" sz="1100"/>
            </a:br>
            <a:r>
              <a:rPr lang="en-US" altLang="en-US" sz="1100"/>
              <a:t>After having any type of failure the transaction goes from “failed state” to “aborted state” and since in previous states, the changes are only made to local buffer or main memory and hence these changes are deleted or rolled-back. </a:t>
            </a:r>
            <a:br>
              <a:rPr lang="en-US" altLang="en-US" sz="1100"/>
            </a:br>
            <a:r>
              <a:rPr lang="en-US" altLang="en-US" sz="1100"/>
              <a:t> </a:t>
            </a:r>
          </a:p>
          <a:p>
            <a:pPr marL="465138" indent="-465138" defTabSz="904875">
              <a:spcBef>
                <a:spcPts val="200"/>
              </a:spcBef>
            </a:pPr>
            <a:r>
              <a:rPr lang="en-US" altLang="en-US" sz="1100" b="1"/>
              <a:t>Committed State –</a:t>
            </a:r>
            <a:r>
              <a:rPr lang="en-US" altLang="en-US" sz="1100"/>
              <a:t> </a:t>
            </a:r>
            <a:br>
              <a:rPr lang="en-US" altLang="en-US" sz="1100"/>
            </a:br>
            <a:r>
              <a:rPr lang="en-US" altLang="en-US" sz="1100"/>
              <a:t>It is the state when the changes are made permanent on the Data Base and the transaction is complete and therefore terminated in the “terminated state”. </a:t>
            </a:r>
            <a:br>
              <a:rPr lang="en-US" altLang="en-US" sz="1100"/>
            </a:br>
            <a:r>
              <a:rPr lang="en-US" altLang="en-US" sz="1100"/>
              <a:t> </a:t>
            </a:r>
          </a:p>
          <a:p>
            <a:pPr marL="465138" indent="-465138" defTabSz="904875">
              <a:spcBef>
                <a:spcPts val="200"/>
              </a:spcBef>
            </a:pPr>
            <a:r>
              <a:rPr lang="en-US" altLang="en-US" sz="1100" b="1"/>
              <a:t>Terminated State –</a:t>
            </a:r>
            <a:r>
              <a:rPr lang="en-US" altLang="en-US" sz="1100"/>
              <a:t> </a:t>
            </a:r>
            <a:br>
              <a:rPr lang="en-US" altLang="en-US" sz="1100"/>
            </a:br>
            <a:r>
              <a:rPr lang="en-US" altLang="en-US" sz="1100"/>
              <a:t>If there isn’t any roll-back or the transaction comes from the “committed state”, then the system is consistent and ready for new transaction and the old transaction is terminated. </a:t>
            </a:r>
            <a:endParaRPr lang="en-US" altLang="en-US" sz="1100" b="1"/>
          </a:p>
        </p:txBody>
      </p:sp>
      <p:sp>
        <p:nvSpPr>
          <p:cNvPr id="110596" name="Text Box 4" descr="Date Placeholder 3">
            <a:extLst>
              <a:ext uri="{FF2B5EF4-FFF2-40B4-BE49-F238E27FC236}">
                <a16:creationId xmlns:a16="http://schemas.microsoft.com/office/drawing/2014/main" id="{1EB6C790-9F73-E50D-EF58-92C43345450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0597" name="Text Box 5" descr="Slide Number Placeholder 5">
            <a:extLst>
              <a:ext uri="{FF2B5EF4-FFF2-40B4-BE49-F238E27FC236}">
                <a16:creationId xmlns:a16="http://schemas.microsoft.com/office/drawing/2014/main" id="{DF21B6DA-2C91-7DAE-DF1A-037C347C4DC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F78FE1C-9F41-43C9-A433-41BEDB02464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2" descr="Rectangle 2">
            <a:extLst>
              <a:ext uri="{FF2B5EF4-FFF2-40B4-BE49-F238E27FC236}">
                <a16:creationId xmlns:a16="http://schemas.microsoft.com/office/drawing/2014/main" id="{8A830675-CA97-190D-FDF3-509155AFA7BD}"/>
              </a:ext>
            </a:extLst>
          </p:cNvPr>
          <p:cNvSpPr>
            <a:spLocks noChangeArrowheads="1"/>
          </p:cNvSpPr>
          <p:nvPr>
            <p:ph type="title"/>
          </p:nvPr>
        </p:nvSpPr>
        <p:spPr/>
        <p:txBody>
          <a:bodyPr/>
          <a:lstStyle/>
          <a:p>
            <a:r>
              <a:rPr lang="en-US" altLang="en-US" sz="2800"/>
              <a:t>Next we will Understand</a:t>
            </a:r>
          </a:p>
        </p:txBody>
      </p:sp>
      <p:sp>
        <p:nvSpPr>
          <p:cNvPr id="111619" name="Rectangle 3" descr="Rectangle 3">
            <a:extLst>
              <a:ext uri="{FF2B5EF4-FFF2-40B4-BE49-F238E27FC236}">
                <a16:creationId xmlns:a16="http://schemas.microsoft.com/office/drawing/2014/main" id="{326DB8FB-E4A9-AFE9-B52E-964B1DD097A1}"/>
              </a:ext>
            </a:extLst>
          </p:cNvPr>
          <p:cNvSpPr>
            <a:spLocks noChangeArrowheads="1"/>
          </p:cNvSpPr>
          <p:nvPr>
            <p:ph type="body" sz="half" idx="1"/>
          </p:nvPr>
        </p:nvSpPr>
        <p:spPr>
          <a:xfrm>
            <a:off x="457200" y="3200400"/>
            <a:ext cx="8382000" cy="1600200"/>
          </a:xfrm>
        </p:spPr>
        <p:txBody>
          <a:bodyPr/>
          <a:lstStyle/>
          <a:p>
            <a:pPr marL="0" indent="0">
              <a:lnSpc>
                <a:spcPct val="80000"/>
              </a:lnSpc>
              <a:spcBef>
                <a:spcPts val="400"/>
              </a:spcBef>
              <a:buClrTx/>
              <a:buSzTx/>
              <a:buFontTx/>
              <a:buNone/>
            </a:pPr>
            <a:r>
              <a:rPr lang="en-US" altLang="en-US" sz="2000"/>
              <a:t>Conflicting operations in Schedules</a:t>
            </a:r>
          </a:p>
        </p:txBody>
      </p:sp>
      <p:sp>
        <p:nvSpPr>
          <p:cNvPr id="111620" name="Text Box 4" descr="Date Placeholder 1">
            <a:extLst>
              <a:ext uri="{FF2B5EF4-FFF2-40B4-BE49-F238E27FC236}">
                <a16:creationId xmlns:a16="http://schemas.microsoft.com/office/drawing/2014/main" id="{B4A7D4DB-EDFE-4300-9DFB-F4835D27E429}"/>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1621" name="Text Box 5" descr="Slide Number Placeholder 2">
            <a:extLst>
              <a:ext uri="{FF2B5EF4-FFF2-40B4-BE49-F238E27FC236}">
                <a16:creationId xmlns:a16="http://schemas.microsoft.com/office/drawing/2014/main" id="{59FC1490-ECA1-3E54-CEC1-EDC7E78CE990}"/>
              </a:ext>
            </a:extLst>
          </p:cNvPr>
          <p:cNvSpPr txBox="1">
            <a:spLocks/>
          </p:cNvSpPr>
          <p:nvPr/>
        </p:nvSpPr>
        <p:spPr bwMode="auto">
          <a:xfrm>
            <a:off x="8099425" y="6248400"/>
            <a:ext cx="35877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6240126-8CCA-4D29-A90B-3B5C1F453A6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descr="Title 1">
            <a:extLst>
              <a:ext uri="{FF2B5EF4-FFF2-40B4-BE49-F238E27FC236}">
                <a16:creationId xmlns:a16="http://schemas.microsoft.com/office/drawing/2014/main" id="{D3581B19-DF9C-618A-BBB0-CC046AEC0A0E}"/>
              </a:ext>
            </a:extLst>
          </p:cNvPr>
          <p:cNvSpPr>
            <a:spLocks noChangeArrowheads="1"/>
          </p:cNvSpPr>
          <p:nvPr>
            <p:ph type="title"/>
          </p:nvPr>
        </p:nvSpPr>
        <p:spPr/>
        <p:txBody>
          <a:bodyPr/>
          <a:lstStyle/>
          <a:p>
            <a:r>
              <a:rPr lang="en-US" altLang="en-US"/>
              <a:t>Conflicting Operations in Schedules</a:t>
            </a:r>
          </a:p>
        </p:txBody>
      </p:sp>
      <p:sp>
        <p:nvSpPr>
          <p:cNvPr id="112643" name="Rectangle 3" descr="Content Placeholder 2">
            <a:extLst>
              <a:ext uri="{FF2B5EF4-FFF2-40B4-BE49-F238E27FC236}">
                <a16:creationId xmlns:a16="http://schemas.microsoft.com/office/drawing/2014/main" id="{CB16083B-B5AC-75B7-DD1F-23FFC51753AF}"/>
              </a:ext>
            </a:extLst>
          </p:cNvPr>
          <p:cNvSpPr>
            <a:spLocks noChangeArrowheads="1"/>
          </p:cNvSpPr>
          <p:nvPr>
            <p:ph type="body" idx="1"/>
          </p:nvPr>
        </p:nvSpPr>
        <p:spPr/>
        <p:txBody>
          <a:bodyPr/>
          <a:lstStyle/>
          <a:p>
            <a:pPr marL="352425" indent="-352425">
              <a:spcBef>
                <a:spcPts val="400"/>
              </a:spcBef>
              <a:buSzTx/>
              <a:buFont typeface="Wingdings" panose="05000000000000000000" pitchFamily="2" charset="2"/>
              <a:buNone/>
            </a:pPr>
            <a:r>
              <a:rPr lang="en-US" altLang="en-US" sz="2000"/>
              <a:t>Two operations in schedule are said to CONFLICT if they satisfy </a:t>
            </a:r>
            <a:r>
              <a:rPr lang="en-US" altLang="en-US" sz="2000" b="1"/>
              <a:t>all three </a:t>
            </a:r>
            <a:r>
              <a:rPr lang="en-US" altLang="en-US" sz="2000"/>
              <a:t>of the following </a:t>
            </a:r>
            <a:r>
              <a:rPr lang="en-US" altLang="en-US" sz="2000" b="1"/>
              <a:t>conditions</a:t>
            </a:r>
          </a:p>
          <a:p>
            <a:pPr marL="352425" indent="-352425">
              <a:spcBef>
                <a:spcPts val="400"/>
              </a:spcBef>
              <a:buFontTx/>
              <a:buAutoNum type="arabicPeriod"/>
            </a:pPr>
            <a:r>
              <a:rPr lang="en-US" altLang="en-US" sz="2000"/>
              <a:t>If two operations belong to different transactions</a:t>
            </a:r>
          </a:p>
          <a:p>
            <a:pPr marL="352425" indent="-352425">
              <a:spcBef>
                <a:spcPts val="400"/>
              </a:spcBef>
              <a:buFontTx/>
              <a:buAutoNum type="arabicPeriod"/>
            </a:pPr>
            <a:r>
              <a:rPr lang="en-US" altLang="en-US" sz="2000"/>
              <a:t>If two operations access same data item</a:t>
            </a:r>
          </a:p>
          <a:p>
            <a:pPr marL="352425" indent="-352425">
              <a:spcBef>
                <a:spcPts val="400"/>
              </a:spcBef>
              <a:buFontTx/>
              <a:buAutoNum type="arabicPeriod"/>
            </a:pPr>
            <a:r>
              <a:rPr lang="en-US" altLang="en-US" sz="2000"/>
              <a:t>Among two operations at least one operation is write</a:t>
            </a:r>
          </a:p>
        </p:txBody>
      </p:sp>
      <p:sp>
        <p:nvSpPr>
          <p:cNvPr id="112644" name="Text Box 4" descr="Date Placeholder 3">
            <a:extLst>
              <a:ext uri="{FF2B5EF4-FFF2-40B4-BE49-F238E27FC236}">
                <a16:creationId xmlns:a16="http://schemas.microsoft.com/office/drawing/2014/main" id="{9B5616EC-FF7A-BEA7-C61E-9DAB1E9005D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2645" name="Text Box 5" descr="Slide Number Placeholder 5">
            <a:extLst>
              <a:ext uri="{FF2B5EF4-FFF2-40B4-BE49-F238E27FC236}">
                <a16:creationId xmlns:a16="http://schemas.microsoft.com/office/drawing/2014/main" id="{83E6916B-320F-BC69-F801-55B2BA3E471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C382244-A935-4A43-B6E7-F5F2703BB07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descr="Title 1">
            <a:extLst>
              <a:ext uri="{FF2B5EF4-FFF2-40B4-BE49-F238E27FC236}">
                <a16:creationId xmlns:a16="http://schemas.microsoft.com/office/drawing/2014/main" id="{5D39FFA3-FE53-119A-35F9-646AAD1A39BF}"/>
              </a:ext>
            </a:extLst>
          </p:cNvPr>
          <p:cNvSpPr>
            <a:spLocks noChangeArrowheads="1"/>
          </p:cNvSpPr>
          <p:nvPr>
            <p:ph type="title"/>
          </p:nvPr>
        </p:nvSpPr>
        <p:spPr/>
        <p:txBody>
          <a:bodyPr/>
          <a:lstStyle/>
          <a:p>
            <a:r>
              <a:rPr lang="en-US" altLang="en-US"/>
              <a:t>Conflicting Operations in Schedules</a:t>
            </a:r>
          </a:p>
        </p:txBody>
      </p:sp>
      <p:sp>
        <p:nvSpPr>
          <p:cNvPr id="113667" name="Rectangle 3" descr="Content Placeholder 2">
            <a:extLst>
              <a:ext uri="{FF2B5EF4-FFF2-40B4-BE49-F238E27FC236}">
                <a16:creationId xmlns:a16="http://schemas.microsoft.com/office/drawing/2014/main" id="{718FFC57-2D96-9B23-9EAC-3A4977D926BD}"/>
              </a:ext>
            </a:extLst>
          </p:cNvPr>
          <p:cNvSpPr>
            <a:spLocks noChangeArrowheads="1"/>
          </p:cNvSpPr>
          <p:nvPr>
            <p:ph type="body" idx="1"/>
          </p:nvPr>
        </p:nvSpPr>
        <p:spPr/>
        <p:txBody>
          <a:bodyPr/>
          <a:lstStyle/>
          <a:p>
            <a:pPr marL="176213" indent="-176213">
              <a:spcBef>
                <a:spcPts val="400"/>
              </a:spcBef>
              <a:buSzTx/>
              <a:buFont typeface="Wingdings" panose="05000000000000000000" pitchFamily="2" charset="2"/>
              <a:buNone/>
            </a:pPr>
            <a:r>
              <a:rPr lang="en-US" altLang="en-US" sz="2000"/>
              <a:t>Two operations in schedule are said to CONFLICT if they satisfy all three of the following conditions</a:t>
            </a:r>
          </a:p>
          <a:p>
            <a:pPr marL="176213" indent="-176213">
              <a:spcBef>
                <a:spcPts val="400"/>
              </a:spcBef>
              <a:buFontTx/>
              <a:buAutoNum type="arabicPeriod"/>
            </a:pPr>
            <a:r>
              <a:rPr lang="en-US" altLang="en-US" sz="2000">
                <a:solidFill>
                  <a:srgbClr val="0000FF"/>
                </a:solidFill>
              </a:rPr>
              <a:t>If two operations belong to </a:t>
            </a:r>
            <a:r>
              <a:rPr lang="en-US" altLang="en-US" sz="2000" b="1">
                <a:solidFill>
                  <a:srgbClr val="0000FF"/>
                </a:solidFill>
              </a:rPr>
              <a:t>different transactions</a:t>
            </a:r>
          </a:p>
          <a:p>
            <a:pPr marL="176213" indent="-176213">
              <a:spcBef>
                <a:spcPts val="400"/>
              </a:spcBef>
              <a:buFontTx/>
              <a:buAutoNum type="arabicPeriod"/>
            </a:pPr>
            <a:r>
              <a:rPr lang="en-US" altLang="en-US" sz="2000"/>
              <a:t>If two operations access same data item</a:t>
            </a:r>
          </a:p>
          <a:p>
            <a:pPr marL="176213" indent="-176213">
              <a:spcBef>
                <a:spcPts val="400"/>
              </a:spcBef>
              <a:buFontTx/>
              <a:buAutoNum type="arabicPeriod"/>
            </a:pPr>
            <a:r>
              <a:rPr lang="en-US" altLang="en-US" sz="2000"/>
              <a:t>Among two operations at least one operation is write</a:t>
            </a:r>
          </a:p>
          <a:p>
            <a:pPr marL="176213" indent="-176213">
              <a:spcBef>
                <a:spcPts val="400"/>
              </a:spcBef>
              <a:buSzTx/>
              <a:buFont typeface="Wingdings" panose="05000000000000000000" pitchFamily="2" charset="2"/>
              <a:buNone/>
            </a:pPr>
            <a:r>
              <a:rPr lang="en-US" altLang="en-US" sz="2000"/>
              <a:t>Example: Consider two transactions </a:t>
            </a:r>
          </a:p>
          <a:p>
            <a:pPr marL="176213" indent="-176213">
              <a:spcBef>
                <a:spcPts val="400"/>
              </a:spcBef>
              <a:buSzTx/>
              <a:buFont typeface="Wingdings" panose="05000000000000000000" pitchFamily="2" charset="2"/>
              <a:buNone/>
            </a:pPr>
            <a:r>
              <a:rPr lang="en-US" altLang="en-US" sz="2000"/>
              <a:t>T1 with operations R1(X) and R1(Y)</a:t>
            </a:r>
          </a:p>
          <a:p>
            <a:pPr marL="176213" indent="-176213">
              <a:spcBef>
                <a:spcPts val="400"/>
              </a:spcBef>
              <a:buSzTx/>
              <a:buFont typeface="Wingdings" panose="05000000000000000000" pitchFamily="2" charset="2"/>
              <a:buNone/>
            </a:pPr>
            <a:r>
              <a:rPr lang="en-US" altLang="en-US" sz="2000"/>
              <a:t>T2 with operations W2(X) and R2(Z)</a:t>
            </a:r>
          </a:p>
          <a:p>
            <a:pPr marL="176213" indent="-176213">
              <a:spcBef>
                <a:spcPts val="400"/>
              </a:spcBef>
              <a:buSzTx/>
              <a:buFont typeface="Wingdings" panose="05000000000000000000" pitchFamily="2" charset="2"/>
              <a:buNone/>
            </a:pPr>
            <a:r>
              <a:rPr lang="en-US" altLang="en-US" sz="2000"/>
              <a:t>Consider the schedule as:   R1(X),  W2(X),  R1(Y),  R2(Z)</a:t>
            </a:r>
          </a:p>
        </p:txBody>
      </p:sp>
      <p:sp>
        <p:nvSpPr>
          <p:cNvPr id="113668" name="Text Box 4" descr="Date Placeholder 3">
            <a:extLst>
              <a:ext uri="{FF2B5EF4-FFF2-40B4-BE49-F238E27FC236}">
                <a16:creationId xmlns:a16="http://schemas.microsoft.com/office/drawing/2014/main" id="{7DFA08A4-C66B-B40D-211F-03E452A733A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3669" name="Text Box 5" descr="Slide Number Placeholder 5">
            <a:extLst>
              <a:ext uri="{FF2B5EF4-FFF2-40B4-BE49-F238E27FC236}">
                <a16:creationId xmlns:a16="http://schemas.microsoft.com/office/drawing/2014/main" id="{C148D381-03B5-65C7-4798-7426D851210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67FA6F1-EBCF-4185-AE7A-B78419E8A5C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descr="Title 1">
            <a:extLst>
              <a:ext uri="{FF2B5EF4-FFF2-40B4-BE49-F238E27FC236}">
                <a16:creationId xmlns:a16="http://schemas.microsoft.com/office/drawing/2014/main" id="{5A55C91E-897E-189F-81B7-E0A48CA0B6E8}"/>
              </a:ext>
            </a:extLst>
          </p:cNvPr>
          <p:cNvSpPr>
            <a:spLocks noChangeArrowheads="1"/>
          </p:cNvSpPr>
          <p:nvPr>
            <p:ph type="title"/>
          </p:nvPr>
        </p:nvSpPr>
        <p:spPr/>
        <p:txBody>
          <a:bodyPr/>
          <a:lstStyle/>
          <a:p>
            <a:r>
              <a:rPr lang="en-US" altLang="en-US"/>
              <a:t>Conflicting Operations in Schedules</a:t>
            </a:r>
          </a:p>
        </p:txBody>
      </p:sp>
      <p:sp>
        <p:nvSpPr>
          <p:cNvPr id="114691" name="Rectangle 3" descr="Content Placeholder 2">
            <a:extLst>
              <a:ext uri="{FF2B5EF4-FFF2-40B4-BE49-F238E27FC236}">
                <a16:creationId xmlns:a16="http://schemas.microsoft.com/office/drawing/2014/main" id="{14E0F696-2968-E76C-62E0-8F94E16830E0}"/>
              </a:ext>
            </a:extLst>
          </p:cNvPr>
          <p:cNvSpPr>
            <a:spLocks noChangeArrowheads="1"/>
          </p:cNvSpPr>
          <p:nvPr>
            <p:ph type="body" idx="1"/>
          </p:nvPr>
        </p:nvSpPr>
        <p:spPr/>
        <p:txBody>
          <a:bodyPr/>
          <a:lstStyle/>
          <a:p>
            <a:pPr marL="176213" indent="-176213">
              <a:spcBef>
                <a:spcPts val="300"/>
              </a:spcBef>
              <a:buSzTx/>
              <a:buFont typeface="Wingdings" panose="05000000000000000000" pitchFamily="2" charset="2"/>
              <a:buNone/>
            </a:pPr>
            <a:r>
              <a:rPr lang="en-US" altLang="en-US" sz="1600"/>
              <a:t>Two operations in schedule are said to CONFLICT if they satisfy all three of the following conditions</a:t>
            </a:r>
          </a:p>
          <a:p>
            <a:pPr marL="176213" indent="-176213">
              <a:spcBef>
                <a:spcPts val="400"/>
              </a:spcBef>
              <a:buFontTx/>
              <a:buAutoNum type="arabicPeriod"/>
            </a:pPr>
            <a:r>
              <a:rPr lang="en-US" altLang="en-US" sz="2000">
                <a:solidFill>
                  <a:srgbClr val="0000FF"/>
                </a:solidFill>
              </a:rPr>
              <a:t>If two operations belong to </a:t>
            </a:r>
            <a:r>
              <a:rPr lang="en-US" altLang="en-US" sz="2000" b="1">
                <a:solidFill>
                  <a:srgbClr val="0000FF"/>
                </a:solidFill>
              </a:rPr>
              <a:t>different transactions</a:t>
            </a:r>
          </a:p>
          <a:p>
            <a:pPr marL="176213" indent="-176213">
              <a:spcBef>
                <a:spcPts val="300"/>
              </a:spcBef>
              <a:buFontTx/>
              <a:buAutoNum type="arabicPeriod"/>
            </a:pPr>
            <a:r>
              <a:rPr lang="en-US" altLang="en-US" sz="1600"/>
              <a:t>If two operations access same data item</a:t>
            </a:r>
          </a:p>
          <a:p>
            <a:pPr marL="176213" indent="-176213">
              <a:spcBef>
                <a:spcPts val="300"/>
              </a:spcBef>
              <a:buFontTx/>
              <a:buAutoNum type="arabicPeriod"/>
            </a:pPr>
            <a:r>
              <a:rPr lang="en-US" altLang="en-US" sz="1600"/>
              <a:t>Among two operations at least one operation is write</a:t>
            </a:r>
          </a:p>
          <a:p>
            <a:pPr marL="176213" indent="-176213">
              <a:spcBef>
                <a:spcPts val="300"/>
              </a:spcBef>
              <a:buSzTx/>
              <a:buFont typeface="Wingdings" panose="05000000000000000000" pitchFamily="2" charset="2"/>
              <a:buNone/>
            </a:pPr>
            <a:r>
              <a:rPr lang="en-US" altLang="en-US" sz="1600"/>
              <a:t>Example: Consider two transactions </a:t>
            </a:r>
          </a:p>
          <a:p>
            <a:pPr marL="176213" indent="-176213">
              <a:spcBef>
                <a:spcPts val="300"/>
              </a:spcBef>
              <a:buSzTx/>
              <a:buFont typeface="Wingdings" panose="05000000000000000000" pitchFamily="2" charset="2"/>
              <a:buNone/>
            </a:pPr>
            <a:r>
              <a:rPr lang="en-US" altLang="en-US" sz="1600"/>
              <a:t>T1 with operations R1(X) and R1(Y)</a:t>
            </a:r>
          </a:p>
          <a:p>
            <a:pPr marL="176213" indent="-176213">
              <a:spcBef>
                <a:spcPts val="300"/>
              </a:spcBef>
              <a:buSzTx/>
              <a:buFont typeface="Wingdings" panose="05000000000000000000" pitchFamily="2" charset="2"/>
              <a:buNone/>
            </a:pPr>
            <a:r>
              <a:rPr lang="en-US" altLang="en-US" sz="1600"/>
              <a:t>T2 with operations W2(X) and R2(Z)</a:t>
            </a:r>
          </a:p>
          <a:p>
            <a:pPr marL="176213" indent="-176213">
              <a:spcBef>
                <a:spcPts val="300"/>
              </a:spcBef>
              <a:buSzTx/>
              <a:buFont typeface="Wingdings" panose="05000000000000000000" pitchFamily="2" charset="2"/>
              <a:buNone/>
            </a:pPr>
            <a:r>
              <a:rPr lang="en-US" altLang="en-US" sz="1600"/>
              <a:t>Consider the schedule as:   R1(X),  W2(X),  R1(Y),  R2(Z)</a:t>
            </a:r>
          </a:p>
        </p:txBody>
      </p:sp>
      <p:sp>
        <p:nvSpPr>
          <p:cNvPr id="114692" name="Text Box 4" descr="Date Placeholder 3">
            <a:extLst>
              <a:ext uri="{FF2B5EF4-FFF2-40B4-BE49-F238E27FC236}">
                <a16:creationId xmlns:a16="http://schemas.microsoft.com/office/drawing/2014/main" id="{B1B4AE43-5227-36A4-05D4-C9CAF4DD5A1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4693" name="Text Box 5" descr="Slide Number Placeholder 5">
            <a:extLst>
              <a:ext uri="{FF2B5EF4-FFF2-40B4-BE49-F238E27FC236}">
                <a16:creationId xmlns:a16="http://schemas.microsoft.com/office/drawing/2014/main" id="{D57E7D51-B363-1A97-C784-B06608EAFA9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D763B34-4CB7-4D3D-9BD6-90B2B81BDB7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14694" name="Group 6">
            <a:extLst>
              <a:ext uri="{FF2B5EF4-FFF2-40B4-BE49-F238E27FC236}">
                <a16:creationId xmlns:a16="http://schemas.microsoft.com/office/drawing/2014/main" id="{60CF346D-2825-D6F8-DAC3-29BFDB79A6B6}"/>
              </a:ext>
            </a:extLst>
          </p:cNvPr>
          <p:cNvGraphicFramePr>
            <a:graphicFrameLocks noGrp="1"/>
          </p:cNvGraphicFramePr>
          <p:nvPr/>
        </p:nvGraphicFramePr>
        <p:xfrm>
          <a:off x="1258888" y="4437063"/>
          <a:ext cx="6096000" cy="384175"/>
        </p:xfrm>
        <a:graphic>
          <a:graphicData uri="http://schemas.openxmlformats.org/drawingml/2006/table">
            <a:tbl>
              <a:tblPr/>
              <a:tblGrid>
                <a:gridCol w="1524000">
                  <a:extLst>
                    <a:ext uri="{9D8B030D-6E8A-4147-A177-3AD203B41FA5}">
                      <a16:colId xmlns:a16="http://schemas.microsoft.com/office/drawing/2014/main" val="600920739"/>
                    </a:ext>
                  </a:extLst>
                </a:gridCol>
                <a:gridCol w="1524000">
                  <a:extLst>
                    <a:ext uri="{9D8B030D-6E8A-4147-A177-3AD203B41FA5}">
                      <a16:colId xmlns:a16="http://schemas.microsoft.com/office/drawing/2014/main" val="4160277936"/>
                    </a:ext>
                  </a:extLst>
                </a:gridCol>
                <a:gridCol w="1524000">
                  <a:extLst>
                    <a:ext uri="{9D8B030D-6E8A-4147-A177-3AD203B41FA5}">
                      <a16:colId xmlns:a16="http://schemas.microsoft.com/office/drawing/2014/main" val="3191934118"/>
                    </a:ext>
                  </a:extLst>
                </a:gridCol>
                <a:gridCol w="1524000">
                  <a:extLst>
                    <a:ext uri="{9D8B030D-6E8A-4147-A177-3AD203B41FA5}">
                      <a16:colId xmlns:a16="http://schemas.microsoft.com/office/drawing/2014/main" val="200584931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R2(Z)</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08130426"/>
                  </a:ext>
                </a:extLst>
              </a:tr>
            </a:tbl>
          </a:graphicData>
        </a:graphic>
      </p:graphicFrame>
      <p:sp>
        <p:nvSpPr>
          <p:cNvPr id="114712" name="AutoShape 24" descr="Freeform 32">
            <a:extLst>
              <a:ext uri="{FF2B5EF4-FFF2-40B4-BE49-F238E27FC236}">
                <a16:creationId xmlns:a16="http://schemas.microsoft.com/office/drawing/2014/main" id="{50B522D4-E7E4-660E-D825-DCB904059D72}"/>
              </a:ext>
            </a:extLst>
          </p:cNvPr>
          <p:cNvSpPr>
            <a:spLocks/>
          </p:cNvSpPr>
          <p:nvPr/>
        </p:nvSpPr>
        <p:spPr bwMode="auto">
          <a:xfrm>
            <a:off x="1733550" y="4719638"/>
            <a:ext cx="1720850" cy="365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descr="Title 1">
            <a:extLst>
              <a:ext uri="{FF2B5EF4-FFF2-40B4-BE49-F238E27FC236}">
                <a16:creationId xmlns:a16="http://schemas.microsoft.com/office/drawing/2014/main" id="{400CDD99-E8DD-D8AB-4C6E-6411C91E3C9F}"/>
              </a:ext>
            </a:extLst>
          </p:cNvPr>
          <p:cNvSpPr>
            <a:spLocks noChangeArrowheads="1"/>
          </p:cNvSpPr>
          <p:nvPr>
            <p:ph type="title"/>
          </p:nvPr>
        </p:nvSpPr>
        <p:spPr/>
        <p:txBody>
          <a:bodyPr/>
          <a:lstStyle/>
          <a:p>
            <a:r>
              <a:rPr lang="en-US" altLang="en-US"/>
              <a:t>Conflicting Operations in Schedules</a:t>
            </a:r>
          </a:p>
        </p:txBody>
      </p:sp>
      <p:sp>
        <p:nvSpPr>
          <p:cNvPr id="115715" name="Rectangle 3" descr="Content Placeholder 2">
            <a:extLst>
              <a:ext uri="{FF2B5EF4-FFF2-40B4-BE49-F238E27FC236}">
                <a16:creationId xmlns:a16="http://schemas.microsoft.com/office/drawing/2014/main" id="{F40E4F52-D8F2-A650-B0D4-40C34DD096DE}"/>
              </a:ext>
            </a:extLst>
          </p:cNvPr>
          <p:cNvSpPr>
            <a:spLocks noChangeArrowheads="1"/>
          </p:cNvSpPr>
          <p:nvPr>
            <p:ph type="body" idx="1"/>
          </p:nvPr>
        </p:nvSpPr>
        <p:spPr/>
        <p:txBody>
          <a:bodyPr/>
          <a:lstStyle/>
          <a:p>
            <a:pPr marL="176213" indent="-176213">
              <a:spcBef>
                <a:spcPts val="300"/>
              </a:spcBef>
              <a:buSzTx/>
              <a:buFont typeface="Wingdings" panose="05000000000000000000" pitchFamily="2" charset="2"/>
              <a:buNone/>
            </a:pPr>
            <a:r>
              <a:rPr lang="en-US" altLang="en-US" sz="1600"/>
              <a:t>Two operations in schedule are said to CONFLICT if they satisfy all three of the following conditions</a:t>
            </a:r>
          </a:p>
          <a:p>
            <a:pPr marL="176213" indent="-176213">
              <a:spcBef>
                <a:spcPts val="300"/>
              </a:spcBef>
              <a:buFontTx/>
              <a:buAutoNum type="arabicPeriod"/>
            </a:pPr>
            <a:r>
              <a:rPr lang="en-US" altLang="en-US" sz="1600">
                <a:solidFill>
                  <a:srgbClr val="0000FF"/>
                </a:solidFill>
              </a:rPr>
              <a:t>If two operations belong to </a:t>
            </a:r>
            <a:r>
              <a:rPr lang="en-US" altLang="en-US" sz="1600" b="1">
                <a:solidFill>
                  <a:srgbClr val="0000FF"/>
                </a:solidFill>
              </a:rPr>
              <a:t>different transactions</a:t>
            </a:r>
          </a:p>
          <a:p>
            <a:pPr marL="176213" indent="-176213">
              <a:spcBef>
                <a:spcPts val="300"/>
              </a:spcBef>
              <a:buFontTx/>
              <a:buAutoNum type="arabicPeriod"/>
            </a:pPr>
            <a:r>
              <a:rPr lang="en-US" altLang="en-US" sz="1600"/>
              <a:t>If two operations access same data item</a:t>
            </a:r>
          </a:p>
          <a:p>
            <a:pPr marL="176213" indent="-176213">
              <a:spcBef>
                <a:spcPts val="300"/>
              </a:spcBef>
              <a:buFontTx/>
              <a:buAutoNum type="arabicPeriod"/>
            </a:pPr>
            <a:r>
              <a:rPr lang="en-US" altLang="en-US" sz="1600"/>
              <a:t>Among two operations at least one operation is write</a:t>
            </a:r>
          </a:p>
          <a:p>
            <a:pPr marL="176213" indent="-176213">
              <a:spcBef>
                <a:spcPts val="300"/>
              </a:spcBef>
              <a:buSzTx/>
              <a:buFont typeface="Wingdings" panose="05000000000000000000" pitchFamily="2" charset="2"/>
              <a:buNone/>
            </a:pPr>
            <a:r>
              <a:rPr lang="en-US" altLang="en-US" sz="1600"/>
              <a:t>Example: Consider two transactions </a:t>
            </a:r>
          </a:p>
          <a:p>
            <a:pPr marL="176213" indent="-176213">
              <a:spcBef>
                <a:spcPts val="300"/>
              </a:spcBef>
              <a:buSzTx/>
              <a:buFont typeface="Wingdings" panose="05000000000000000000" pitchFamily="2" charset="2"/>
              <a:buNone/>
            </a:pPr>
            <a:r>
              <a:rPr lang="en-US" altLang="en-US" sz="1600"/>
              <a:t>T1 with operations R1(X) and R1(Y)</a:t>
            </a:r>
          </a:p>
          <a:p>
            <a:pPr marL="176213" indent="-176213">
              <a:spcBef>
                <a:spcPts val="300"/>
              </a:spcBef>
              <a:buSzTx/>
              <a:buFont typeface="Wingdings" panose="05000000000000000000" pitchFamily="2" charset="2"/>
              <a:buNone/>
            </a:pPr>
            <a:r>
              <a:rPr lang="en-US" altLang="en-US" sz="1600"/>
              <a:t>T2 with operations W2(X) and R2(Z)</a:t>
            </a:r>
          </a:p>
          <a:p>
            <a:pPr marL="176213" indent="-176213">
              <a:spcBef>
                <a:spcPts val="300"/>
              </a:spcBef>
              <a:buSzTx/>
              <a:buFont typeface="Wingdings" panose="05000000000000000000" pitchFamily="2" charset="2"/>
              <a:buNone/>
            </a:pPr>
            <a:r>
              <a:rPr lang="en-US" altLang="en-US" sz="1600"/>
              <a:t>Consider the schedule as:   R1(X),  W2(X),  R1(Y),  R2(Z)</a:t>
            </a:r>
          </a:p>
        </p:txBody>
      </p:sp>
      <p:sp>
        <p:nvSpPr>
          <p:cNvPr id="115716" name="Text Box 4" descr="Date Placeholder 3">
            <a:extLst>
              <a:ext uri="{FF2B5EF4-FFF2-40B4-BE49-F238E27FC236}">
                <a16:creationId xmlns:a16="http://schemas.microsoft.com/office/drawing/2014/main" id="{FAEEEEBA-3E3E-FC11-E781-3552B90E758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5717" name="Text Box 5" descr="Slide Number Placeholder 5">
            <a:extLst>
              <a:ext uri="{FF2B5EF4-FFF2-40B4-BE49-F238E27FC236}">
                <a16:creationId xmlns:a16="http://schemas.microsoft.com/office/drawing/2014/main" id="{1CBE4815-A1EA-0294-C407-D0E49C8B7DD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83EC398-1640-49F9-89E8-0CA1577B819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15718" name="Group 6">
            <a:extLst>
              <a:ext uri="{FF2B5EF4-FFF2-40B4-BE49-F238E27FC236}">
                <a16:creationId xmlns:a16="http://schemas.microsoft.com/office/drawing/2014/main" id="{DACFC8FF-D820-2625-00EF-45B577DD3D85}"/>
              </a:ext>
            </a:extLst>
          </p:cNvPr>
          <p:cNvGraphicFramePr>
            <a:graphicFrameLocks noGrp="1"/>
          </p:cNvGraphicFramePr>
          <p:nvPr/>
        </p:nvGraphicFramePr>
        <p:xfrm>
          <a:off x="1258888" y="4437063"/>
          <a:ext cx="6096000" cy="384175"/>
        </p:xfrm>
        <a:graphic>
          <a:graphicData uri="http://schemas.openxmlformats.org/drawingml/2006/table">
            <a:tbl>
              <a:tblPr/>
              <a:tblGrid>
                <a:gridCol w="1524000">
                  <a:extLst>
                    <a:ext uri="{9D8B030D-6E8A-4147-A177-3AD203B41FA5}">
                      <a16:colId xmlns:a16="http://schemas.microsoft.com/office/drawing/2014/main" val="1455033979"/>
                    </a:ext>
                  </a:extLst>
                </a:gridCol>
                <a:gridCol w="1524000">
                  <a:extLst>
                    <a:ext uri="{9D8B030D-6E8A-4147-A177-3AD203B41FA5}">
                      <a16:colId xmlns:a16="http://schemas.microsoft.com/office/drawing/2014/main" val="3791976001"/>
                    </a:ext>
                  </a:extLst>
                </a:gridCol>
                <a:gridCol w="1524000">
                  <a:extLst>
                    <a:ext uri="{9D8B030D-6E8A-4147-A177-3AD203B41FA5}">
                      <a16:colId xmlns:a16="http://schemas.microsoft.com/office/drawing/2014/main" val="2401694684"/>
                    </a:ext>
                  </a:extLst>
                </a:gridCol>
                <a:gridCol w="1524000">
                  <a:extLst>
                    <a:ext uri="{9D8B030D-6E8A-4147-A177-3AD203B41FA5}">
                      <a16:colId xmlns:a16="http://schemas.microsoft.com/office/drawing/2014/main" val="284647184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R2(Z)</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73548571"/>
                  </a:ext>
                </a:extLst>
              </a:tr>
            </a:tbl>
          </a:graphicData>
        </a:graphic>
      </p:graphicFrame>
      <p:sp>
        <p:nvSpPr>
          <p:cNvPr id="115736" name="AutoShape 24" descr="Freeform 32">
            <a:extLst>
              <a:ext uri="{FF2B5EF4-FFF2-40B4-BE49-F238E27FC236}">
                <a16:creationId xmlns:a16="http://schemas.microsoft.com/office/drawing/2014/main" id="{877A3368-592C-F1D4-B763-5A45A2DCF5E2}"/>
              </a:ext>
            </a:extLst>
          </p:cNvPr>
          <p:cNvSpPr>
            <a:spLocks/>
          </p:cNvSpPr>
          <p:nvPr/>
        </p:nvSpPr>
        <p:spPr bwMode="auto">
          <a:xfrm>
            <a:off x="1733550" y="4719638"/>
            <a:ext cx="1720850" cy="365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15737" name="AutoShape 25" descr="Freeform 34">
            <a:extLst>
              <a:ext uri="{FF2B5EF4-FFF2-40B4-BE49-F238E27FC236}">
                <a16:creationId xmlns:a16="http://schemas.microsoft.com/office/drawing/2014/main" id="{91FA8F4B-E9D4-CECF-88D4-6EEAE5FF68E7}"/>
              </a:ext>
            </a:extLst>
          </p:cNvPr>
          <p:cNvSpPr>
            <a:spLocks/>
          </p:cNvSpPr>
          <p:nvPr/>
        </p:nvSpPr>
        <p:spPr bwMode="auto">
          <a:xfrm>
            <a:off x="3454400" y="4746625"/>
            <a:ext cx="1722438" cy="363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15738" name="AutoShape 26" descr="Freeform 36">
            <a:extLst>
              <a:ext uri="{FF2B5EF4-FFF2-40B4-BE49-F238E27FC236}">
                <a16:creationId xmlns:a16="http://schemas.microsoft.com/office/drawing/2014/main" id="{6D0826CB-022B-DD54-DBC7-A1E0E49B355D}"/>
              </a:ext>
            </a:extLst>
          </p:cNvPr>
          <p:cNvSpPr>
            <a:spLocks/>
          </p:cNvSpPr>
          <p:nvPr/>
        </p:nvSpPr>
        <p:spPr bwMode="auto">
          <a:xfrm>
            <a:off x="5176838" y="4791075"/>
            <a:ext cx="1720850" cy="365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2" descr="Title 1">
            <a:extLst>
              <a:ext uri="{FF2B5EF4-FFF2-40B4-BE49-F238E27FC236}">
                <a16:creationId xmlns:a16="http://schemas.microsoft.com/office/drawing/2014/main" id="{C40AAF6F-584A-FE6B-6977-ACBDE7018A0D}"/>
              </a:ext>
            </a:extLst>
          </p:cNvPr>
          <p:cNvSpPr>
            <a:spLocks noChangeArrowheads="1"/>
          </p:cNvSpPr>
          <p:nvPr>
            <p:ph type="title"/>
          </p:nvPr>
        </p:nvSpPr>
        <p:spPr/>
        <p:txBody>
          <a:bodyPr/>
          <a:lstStyle/>
          <a:p>
            <a:r>
              <a:rPr lang="en-US" altLang="en-US"/>
              <a:t>Conflicting Operations in Schedules</a:t>
            </a:r>
          </a:p>
        </p:txBody>
      </p:sp>
      <p:sp>
        <p:nvSpPr>
          <p:cNvPr id="116739" name="Rectangle 3" descr="Content Placeholder 2">
            <a:extLst>
              <a:ext uri="{FF2B5EF4-FFF2-40B4-BE49-F238E27FC236}">
                <a16:creationId xmlns:a16="http://schemas.microsoft.com/office/drawing/2014/main" id="{2B89F8AD-52B6-9DE3-4E84-6C2D8DEAC702}"/>
              </a:ext>
            </a:extLst>
          </p:cNvPr>
          <p:cNvSpPr>
            <a:spLocks noChangeArrowheads="1"/>
          </p:cNvSpPr>
          <p:nvPr>
            <p:ph type="body" idx="1"/>
          </p:nvPr>
        </p:nvSpPr>
        <p:spPr/>
        <p:txBody>
          <a:bodyPr/>
          <a:lstStyle/>
          <a:p>
            <a:pPr marL="176213" indent="-176213">
              <a:spcBef>
                <a:spcPts val="300"/>
              </a:spcBef>
              <a:buSzTx/>
              <a:buFont typeface="Wingdings" panose="05000000000000000000" pitchFamily="2" charset="2"/>
              <a:buNone/>
            </a:pPr>
            <a:r>
              <a:rPr lang="en-US" altLang="en-US" sz="1600"/>
              <a:t>Two operations in schedule are said to CONFLICT if they satisfy all three of the following conditions</a:t>
            </a:r>
          </a:p>
          <a:p>
            <a:pPr marL="176213" indent="-176213">
              <a:spcBef>
                <a:spcPts val="300"/>
              </a:spcBef>
              <a:buFontTx/>
              <a:buAutoNum type="arabicPeriod"/>
            </a:pPr>
            <a:r>
              <a:rPr lang="en-US" altLang="en-US" sz="1600">
                <a:solidFill>
                  <a:srgbClr val="0000FF"/>
                </a:solidFill>
              </a:rPr>
              <a:t>If two operations belong to </a:t>
            </a:r>
            <a:r>
              <a:rPr lang="en-US" altLang="en-US" sz="1600" b="1">
                <a:solidFill>
                  <a:srgbClr val="0000FF"/>
                </a:solidFill>
              </a:rPr>
              <a:t>different transactions</a:t>
            </a:r>
          </a:p>
          <a:p>
            <a:pPr marL="176213" indent="-176213">
              <a:spcBef>
                <a:spcPts val="300"/>
              </a:spcBef>
              <a:buFontTx/>
              <a:buAutoNum type="arabicPeriod"/>
            </a:pPr>
            <a:r>
              <a:rPr lang="en-US" altLang="en-US" sz="1600"/>
              <a:t>If two operations access same data item</a:t>
            </a:r>
          </a:p>
          <a:p>
            <a:pPr marL="176213" indent="-176213">
              <a:spcBef>
                <a:spcPts val="300"/>
              </a:spcBef>
              <a:buFontTx/>
              <a:buAutoNum type="arabicPeriod"/>
            </a:pPr>
            <a:r>
              <a:rPr lang="en-US" altLang="en-US" sz="1600"/>
              <a:t>Among two operations at least one operation is write</a:t>
            </a:r>
          </a:p>
          <a:p>
            <a:pPr marL="176213" indent="-176213">
              <a:spcBef>
                <a:spcPts val="300"/>
              </a:spcBef>
              <a:buSzTx/>
              <a:buFont typeface="Wingdings" panose="05000000000000000000" pitchFamily="2" charset="2"/>
              <a:buNone/>
            </a:pPr>
            <a:r>
              <a:rPr lang="en-US" altLang="en-US" sz="1600"/>
              <a:t>Example: Consider two transactions </a:t>
            </a:r>
          </a:p>
          <a:p>
            <a:pPr marL="176213" indent="-176213">
              <a:spcBef>
                <a:spcPts val="300"/>
              </a:spcBef>
              <a:buSzTx/>
              <a:buFont typeface="Wingdings" panose="05000000000000000000" pitchFamily="2" charset="2"/>
              <a:buNone/>
            </a:pPr>
            <a:r>
              <a:rPr lang="en-US" altLang="en-US" sz="1600"/>
              <a:t>T1 with operations R1(X) and R1(Y)</a:t>
            </a:r>
          </a:p>
          <a:p>
            <a:pPr marL="176213" indent="-176213">
              <a:spcBef>
                <a:spcPts val="300"/>
              </a:spcBef>
              <a:buSzTx/>
              <a:buFont typeface="Wingdings" panose="05000000000000000000" pitchFamily="2" charset="2"/>
              <a:buNone/>
            </a:pPr>
            <a:r>
              <a:rPr lang="en-US" altLang="en-US" sz="1600"/>
              <a:t>T2 with operations W2(X) and R2(Z)</a:t>
            </a:r>
          </a:p>
          <a:p>
            <a:pPr marL="176213" indent="-176213">
              <a:spcBef>
                <a:spcPts val="300"/>
              </a:spcBef>
              <a:buSzTx/>
              <a:buFont typeface="Wingdings" panose="05000000000000000000" pitchFamily="2" charset="2"/>
              <a:buNone/>
            </a:pPr>
            <a:r>
              <a:rPr lang="en-US" altLang="en-US" sz="1600"/>
              <a:t>Consider the schedule as:   R1(X),  W2(X),  R1(Y),  R2(Z)</a:t>
            </a:r>
          </a:p>
        </p:txBody>
      </p:sp>
      <p:sp>
        <p:nvSpPr>
          <p:cNvPr id="116740" name="Text Box 4" descr="Date Placeholder 3">
            <a:extLst>
              <a:ext uri="{FF2B5EF4-FFF2-40B4-BE49-F238E27FC236}">
                <a16:creationId xmlns:a16="http://schemas.microsoft.com/office/drawing/2014/main" id="{8F31D005-369D-CB24-4257-6852FCC126B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6741" name="Text Box 5" descr="Slide Number Placeholder 5">
            <a:extLst>
              <a:ext uri="{FF2B5EF4-FFF2-40B4-BE49-F238E27FC236}">
                <a16:creationId xmlns:a16="http://schemas.microsoft.com/office/drawing/2014/main" id="{0B950311-0D36-90B8-6DDC-0744CC8C47B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F9A60B6-FB8F-4141-A143-565A16E750E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109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16742" name="Group 6">
            <a:extLst>
              <a:ext uri="{FF2B5EF4-FFF2-40B4-BE49-F238E27FC236}">
                <a16:creationId xmlns:a16="http://schemas.microsoft.com/office/drawing/2014/main" id="{A2D49FBC-9513-3B25-E9E5-6BB7775B34DA}"/>
              </a:ext>
            </a:extLst>
          </p:cNvPr>
          <p:cNvGraphicFramePr>
            <a:graphicFrameLocks noGrp="1"/>
          </p:cNvGraphicFramePr>
          <p:nvPr/>
        </p:nvGraphicFramePr>
        <p:xfrm>
          <a:off x="1258888" y="4437063"/>
          <a:ext cx="6096000" cy="384175"/>
        </p:xfrm>
        <a:graphic>
          <a:graphicData uri="http://schemas.openxmlformats.org/drawingml/2006/table">
            <a:tbl>
              <a:tblPr/>
              <a:tblGrid>
                <a:gridCol w="1524000">
                  <a:extLst>
                    <a:ext uri="{9D8B030D-6E8A-4147-A177-3AD203B41FA5}">
                      <a16:colId xmlns:a16="http://schemas.microsoft.com/office/drawing/2014/main" val="1272216042"/>
                    </a:ext>
                  </a:extLst>
                </a:gridCol>
                <a:gridCol w="1524000">
                  <a:extLst>
                    <a:ext uri="{9D8B030D-6E8A-4147-A177-3AD203B41FA5}">
                      <a16:colId xmlns:a16="http://schemas.microsoft.com/office/drawing/2014/main" val="1062176522"/>
                    </a:ext>
                  </a:extLst>
                </a:gridCol>
                <a:gridCol w="1524000">
                  <a:extLst>
                    <a:ext uri="{9D8B030D-6E8A-4147-A177-3AD203B41FA5}">
                      <a16:colId xmlns:a16="http://schemas.microsoft.com/office/drawing/2014/main" val="1886995759"/>
                    </a:ext>
                  </a:extLst>
                </a:gridCol>
                <a:gridCol w="1524000">
                  <a:extLst>
                    <a:ext uri="{9D8B030D-6E8A-4147-A177-3AD203B41FA5}">
                      <a16:colId xmlns:a16="http://schemas.microsoft.com/office/drawing/2014/main" val="383286149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R2(Z)</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39734787"/>
                  </a:ext>
                </a:extLst>
              </a:tr>
            </a:tbl>
          </a:graphicData>
        </a:graphic>
      </p:graphicFrame>
      <p:sp>
        <p:nvSpPr>
          <p:cNvPr id="116760" name="AutoShape 24" descr="Freeform 32">
            <a:extLst>
              <a:ext uri="{FF2B5EF4-FFF2-40B4-BE49-F238E27FC236}">
                <a16:creationId xmlns:a16="http://schemas.microsoft.com/office/drawing/2014/main" id="{D8936E44-0BBC-0DB7-57FF-2AD6B31D50B6}"/>
              </a:ext>
            </a:extLst>
          </p:cNvPr>
          <p:cNvSpPr>
            <a:spLocks/>
          </p:cNvSpPr>
          <p:nvPr/>
        </p:nvSpPr>
        <p:spPr bwMode="auto">
          <a:xfrm>
            <a:off x="1733550" y="4719638"/>
            <a:ext cx="1720850" cy="365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16761" name="AutoShape 25" descr="Freeform 34">
            <a:extLst>
              <a:ext uri="{FF2B5EF4-FFF2-40B4-BE49-F238E27FC236}">
                <a16:creationId xmlns:a16="http://schemas.microsoft.com/office/drawing/2014/main" id="{1A1572DC-5392-437A-3E72-E1BAA6643990}"/>
              </a:ext>
            </a:extLst>
          </p:cNvPr>
          <p:cNvSpPr>
            <a:spLocks/>
          </p:cNvSpPr>
          <p:nvPr/>
        </p:nvSpPr>
        <p:spPr bwMode="auto">
          <a:xfrm>
            <a:off x="3454400" y="4746625"/>
            <a:ext cx="1722438" cy="363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16762" name="AutoShape 26" descr="Freeform 36">
            <a:extLst>
              <a:ext uri="{FF2B5EF4-FFF2-40B4-BE49-F238E27FC236}">
                <a16:creationId xmlns:a16="http://schemas.microsoft.com/office/drawing/2014/main" id="{2886E8CD-1E7F-F0BA-3EC6-60095DD580D6}"/>
              </a:ext>
            </a:extLst>
          </p:cNvPr>
          <p:cNvSpPr>
            <a:spLocks/>
          </p:cNvSpPr>
          <p:nvPr/>
        </p:nvSpPr>
        <p:spPr bwMode="auto">
          <a:xfrm>
            <a:off x="5176838" y="4791075"/>
            <a:ext cx="1720850" cy="365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16763" name="AutoShape 27" descr="Freeform 38">
            <a:extLst>
              <a:ext uri="{FF2B5EF4-FFF2-40B4-BE49-F238E27FC236}">
                <a16:creationId xmlns:a16="http://schemas.microsoft.com/office/drawing/2014/main" id="{F81112DF-B814-9EE3-83FD-B7AB3130AA4B}"/>
              </a:ext>
            </a:extLst>
          </p:cNvPr>
          <p:cNvSpPr>
            <a:spLocks/>
          </p:cNvSpPr>
          <p:nvPr/>
        </p:nvSpPr>
        <p:spPr bwMode="auto">
          <a:xfrm>
            <a:off x="1546225" y="4791075"/>
            <a:ext cx="5689600" cy="1058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descr="Title 1">
            <a:extLst>
              <a:ext uri="{FF2B5EF4-FFF2-40B4-BE49-F238E27FC236}">
                <a16:creationId xmlns:a16="http://schemas.microsoft.com/office/drawing/2014/main" id="{DD970C7D-0AA0-967F-BFD9-B0A99C070885}"/>
              </a:ext>
            </a:extLst>
          </p:cNvPr>
          <p:cNvSpPr>
            <a:spLocks noChangeArrowheads="1"/>
          </p:cNvSpPr>
          <p:nvPr>
            <p:ph type="title"/>
          </p:nvPr>
        </p:nvSpPr>
        <p:spPr/>
        <p:txBody>
          <a:bodyPr/>
          <a:lstStyle/>
          <a:p>
            <a:r>
              <a:rPr lang="en-US" altLang="en-US"/>
              <a:t>Conflicting Operations in Schedules</a:t>
            </a:r>
          </a:p>
        </p:txBody>
      </p:sp>
      <p:sp>
        <p:nvSpPr>
          <p:cNvPr id="117763" name="Rectangle 3" descr="Content Placeholder 2">
            <a:extLst>
              <a:ext uri="{FF2B5EF4-FFF2-40B4-BE49-F238E27FC236}">
                <a16:creationId xmlns:a16="http://schemas.microsoft.com/office/drawing/2014/main" id="{8352A1D9-1F49-42A2-8515-EB92E9DA7DF0}"/>
              </a:ext>
            </a:extLst>
          </p:cNvPr>
          <p:cNvSpPr>
            <a:spLocks noChangeArrowheads="1"/>
          </p:cNvSpPr>
          <p:nvPr>
            <p:ph type="body" idx="1"/>
          </p:nvPr>
        </p:nvSpPr>
        <p:spPr/>
        <p:txBody>
          <a:bodyPr/>
          <a:lstStyle/>
          <a:p>
            <a:pPr marL="176213" indent="-176213">
              <a:spcBef>
                <a:spcPts val="300"/>
              </a:spcBef>
              <a:buSzTx/>
              <a:buFont typeface="Wingdings" panose="05000000000000000000" pitchFamily="2" charset="2"/>
              <a:buNone/>
            </a:pPr>
            <a:r>
              <a:rPr lang="en-US" altLang="en-US" sz="1600"/>
              <a:t>Two operations in schedule are said to CONFLICT if they satisfy all three of the following conditions</a:t>
            </a:r>
          </a:p>
          <a:p>
            <a:pPr marL="176213" indent="-176213">
              <a:spcBef>
                <a:spcPts val="300"/>
              </a:spcBef>
              <a:buFontTx/>
              <a:buAutoNum type="arabicPeriod"/>
            </a:pPr>
            <a:r>
              <a:rPr lang="en-US" altLang="en-US" sz="1600"/>
              <a:t>If two operations belong to different transactions</a:t>
            </a:r>
          </a:p>
          <a:p>
            <a:pPr marL="176213" indent="-176213">
              <a:spcBef>
                <a:spcPts val="400"/>
              </a:spcBef>
              <a:buFontTx/>
              <a:buAutoNum type="arabicPeriod"/>
            </a:pPr>
            <a:r>
              <a:rPr lang="en-US" altLang="en-US" sz="2000">
                <a:solidFill>
                  <a:srgbClr val="0000FF"/>
                </a:solidFill>
              </a:rPr>
              <a:t>If two operations </a:t>
            </a:r>
            <a:r>
              <a:rPr lang="en-US" altLang="en-US" sz="2000" b="1">
                <a:solidFill>
                  <a:srgbClr val="0000FF"/>
                </a:solidFill>
              </a:rPr>
              <a:t>access same data item</a:t>
            </a:r>
          </a:p>
          <a:p>
            <a:pPr marL="176213" indent="-176213">
              <a:spcBef>
                <a:spcPts val="300"/>
              </a:spcBef>
              <a:buFontTx/>
              <a:buAutoNum type="arabicPeriod"/>
            </a:pPr>
            <a:r>
              <a:rPr lang="en-US" altLang="en-US" sz="1600"/>
              <a:t>Among two operations at least one operation is write</a:t>
            </a:r>
          </a:p>
          <a:p>
            <a:pPr marL="176213" indent="-176213">
              <a:spcBef>
                <a:spcPts val="300"/>
              </a:spcBef>
              <a:buSzTx/>
              <a:buFont typeface="Wingdings" panose="05000000000000000000" pitchFamily="2" charset="2"/>
              <a:buNone/>
            </a:pPr>
            <a:r>
              <a:rPr lang="en-US" altLang="en-US" sz="1600"/>
              <a:t>Example: Consider two transactions </a:t>
            </a:r>
          </a:p>
          <a:p>
            <a:pPr marL="176213" indent="-176213">
              <a:spcBef>
                <a:spcPts val="300"/>
              </a:spcBef>
              <a:buSzTx/>
              <a:buFont typeface="Wingdings" panose="05000000000000000000" pitchFamily="2" charset="2"/>
              <a:buNone/>
            </a:pPr>
            <a:r>
              <a:rPr lang="en-US" altLang="en-US" sz="1600"/>
              <a:t>T1 with operations R1(X) and R1(Y)</a:t>
            </a:r>
          </a:p>
          <a:p>
            <a:pPr marL="176213" indent="-176213">
              <a:spcBef>
                <a:spcPts val="300"/>
              </a:spcBef>
              <a:buSzTx/>
              <a:buFont typeface="Wingdings" panose="05000000000000000000" pitchFamily="2" charset="2"/>
              <a:buNone/>
            </a:pPr>
            <a:r>
              <a:rPr lang="en-US" altLang="en-US" sz="1600"/>
              <a:t>T2 with operations W2(X) and R2(Z)</a:t>
            </a:r>
          </a:p>
          <a:p>
            <a:pPr marL="176213" indent="-176213">
              <a:spcBef>
                <a:spcPts val="300"/>
              </a:spcBef>
              <a:buSzTx/>
              <a:buFont typeface="Wingdings" panose="05000000000000000000" pitchFamily="2" charset="2"/>
              <a:buNone/>
            </a:pPr>
            <a:r>
              <a:rPr lang="en-US" altLang="en-US" sz="1600"/>
              <a:t>Consider the schedule as:   R1(X),  W2(X),  R1(Y),  R2(Z)</a:t>
            </a:r>
          </a:p>
        </p:txBody>
      </p:sp>
      <p:sp>
        <p:nvSpPr>
          <p:cNvPr id="117764" name="Text Box 4" descr="Date Placeholder 3">
            <a:extLst>
              <a:ext uri="{FF2B5EF4-FFF2-40B4-BE49-F238E27FC236}">
                <a16:creationId xmlns:a16="http://schemas.microsoft.com/office/drawing/2014/main" id="{CDADB578-9043-0989-DFDE-98218DF22FC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7765" name="Text Box 5" descr="Slide Number Placeholder 5">
            <a:extLst>
              <a:ext uri="{FF2B5EF4-FFF2-40B4-BE49-F238E27FC236}">
                <a16:creationId xmlns:a16="http://schemas.microsoft.com/office/drawing/2014/main" id="{1F429049-31E2-2376-1DAA-3347D725270E}"/>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5DB4E40-3A9B-4ED8-B3FF-4E7EF9AB7A0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17766" name="Group 6">
            <a:extLst>
              <a:ext uri="{FF2B5EF4-FFF2-40B4-BE49-F238E27FC236}">
                <a16:creationId xmlns:a16="http://schemas.microsoft.com/office/drawing/2014/main" id="{4A514D8E-F038-BE17-0144-B35DD9500CB1}"/>
              </a:ext>
            </a:extLst>
          </p:cNvPr>
          <p:cNvGraphicFramePr>
            <a:graphicFrameLocks noGrp="1"/>
          </p:cNvGraphicFramePr>
          <p:nvPr/>
        </p:nvGraphicFramePr>
        <p:xfrm>
          <a:off x="1284288" y="4581525"/>
          <a:ext cx="6096000" cy="384175"/>
        </p:xfrm>
        <a:graphic>
          <a:graphicData uri="http://schemas.openxmlformats.org/drawingml/2006/table">
            <a:tbl>
              <a:tblPr/>
              <a:tblGrid>
                <a:gridCol w="1524000">
                  <a:extLst>
                    <a:ext uri="{9D8B030D-6E8A-4147-A177-3AD203B41FA5}">
                      <a16:colId xmlns:a16="http://schemas.microsoft.com/office/drawing/2014/main" val="3442877255"/>
                    </a:ext>
                  </a:extLst>
                </a:gridCol>
                <a:gridCol w="1524000">
                  <a:extLst>
                    <a:ext uri="{9D8B030D-6E8A-4147-A177-3AD203B41FA5}">
                      <a16:colId xmlns:a16="http://schemas.microsoft.com/office/drawing/2014/main" val="679945662"/>
                    </a:ext>
                  </a:extLst>
                </a:gridCol>
                <a:gridCol w="1524000">
                  <a:extLst>
                    <a:ext uri="{9D8B030D-6E8A-4147-A177-3AD203B41FA5}">
                      <a16:colId xmlns:a16="http://schemas.microsoft.com/office/drawing/2014/main" val="3184135002"/>
                    </a:ext>
                  </a:extLst>
                </a:gridCol>
                <a:gridCol w="1524000">
                  <a:extLst>
                    <a:ext uri="{9D8B030D-6E8A-4147-A177-3AD203B41FA5}">
                      <a16:colId xmlns:a16="http://schemas.microsoft.com/office/drawing/2014/main" val="265202405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R2(Z)</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62417213"/>
                  </a:ext>
                </a:extLst>
              </a:tr>
            </a:tbl>
          </a:graphicData>
        </a:graphic>
      </p:graphicFrame>
      <p:sp>
        <p:nvSpPr>
          <p:cNvPr id="117784" name="AutoShape 24" descr="Freeform 32">
            <a:extLst>
              <a:ext uri="{FF2B5EF4-FFF2-40B4-BE49-F238E27FC236}">
                <a16:creationId xmlns:a16="http://schemas.microsoft.com/office/drawing/2014/main" id="{70F94021-0335-244E-D5D5-3A6DF717895B}"/>
              </a:ext>
            </a:extLst>
          </p:cNvPr>
          <p:cNvSpPr>
            <a:spLocks/>
          </p:cNvSpPr>
          <p:nvPr/>
        </p:nvSpPr>
        <p:spPr bwMode="auto">
          <a:xfrm>
            <a:off x="1758950" y="4864100"/>
            <a:ext cx="1720850" cy="363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descr="Title 1">
            <a:extLst>
              <a:ext uri="{FF2B5EF4-FFF2-40B4-BE49-F238E27FC236}">
                <a16:creationId xmlns:a16="http://schemas.microsoft.com/office/drawing/2014/main" id="{58D9885A-D816-86F2-C64C-3BF20AA280EA}"/>
              </a:ext>
            </a:extLst>
          </p:cNvPr>
          <p:cNvSpPr>
            <a:spLocks noChangeArrowheads="1"/>
          </p:cNvSpPr>
          <p:nvPr>
            <p:ph type="title"/>
          </p:nvPr>
        </p:nvSpPr>
        <p:spPr/>
        <p:txBody>
          <a:bodyPr/>
          <a:lstStyle/>
          <a:p>
            <a:r>
              <a:rPr lang="en-US" altLang="en-US"/>
              <a:t>Conflicting Operations in Schedules</a:t>
            </a:r>
          </a:p>
        </p:txBody>
      </p:sp>
      <p:sp>
        <p:nvSpPr>
          <p:cNvPr id="118787" name="Rectangle 3" descr="Content Placeholder 2">
            <a:extLst>
              <a:ext uri="{FF2B5EF4-FFF2-40B4-BE49-F238E27FC236}">
                <a16:creationId xmlns:a16="http://schemas.microsoft.com/office/drawing/2014/main" id="{BBC201C5-3BC5-D5C1-516A-B408F7C5A811}"/>
              </a:ext>
            </a:extLst>
          </p:cNvPr>
          <p:cNvSpPr>
            <a:spLocks noChangeArrowheads="1"/>
          </p:cNvSpPr>
          <p:nvPr>
            <p:ph type="body" idx="1"/>
          </p:nvPr>
        </p:nvSpPr>
        <p:spPr/>
        <p:txBody>
          <a:bodyPr/>
          <a:lstStyle/>
          <a:p>
            <a:pPr marL="176213" indent="-176213">
              <a:spcBef>
                <a:spcPts val="300"/>
              </a:spcBef>
              <a:buSzTx/>
              <a:buFont typeface="Wingdings" panose="05000000000000000000" pitchFamily="2" charset="2"/>
              <a:buNone/>
            </a:pPr>
            <a:r>
              <a:rPr lang="en-US" altLang="en-US" sz="1600"/>
              <a:t>Two operations in schedule are said to CONFLICT if they satisfy all three of the following conditions</a:t>
            </a:r>
          </a:p>
          <a:p>
            <a:pPr marL="176213" indent="-176213">
              <a:spcBef>
                <a:spcPts val="300"/>
              </a:spcBef>
              <a:buFontTx/>
              <a:buAutoNum type="arabicPeriod"/>
            </a:pPr>
            <a:r>
              <a:rPr lang="en-US" altLang="en-US" sz="1600"/>
              <a:t>If two operations belong to different transactions</a:t>
            </a:r>
          </a:p>
          <a:p>
            <a:pPr marL="176213" indent="-176213">
              <a:spcBef>
                <a:spcPts val="300"/>
              </a:spcBef>
              <a:buFontTx/>
              <a:buAutoNum type="arabicPeriod"/>
            </a:pPr>
            <a:r>
              <a:rPr lang="en-US" altLang="en-US" sz="1600"/>
              <a:t>If two operations access same data item</a:t>
            </a:r>
          </a:p>
          <a:p>
            <a:pPr marL="176213" indent="-176213">
              <a:spcBef>
                <a:spcPts val="400"/>
              </a:spcBef>
              <a:buFontTx/>
              <a:buAutoNum type="arabicPeriod"/>
            </a:pPr>
            <a:r>
              <a:rPr lang="en-US" altLang="en-US" sz="1800">
                <a:solidFill>
                  <a:srgbClr val="0000FF"/>
                </a:solidFill>
              </a:rPr>
              <a:t>Among two operations </a:t>
            </a:r>
            <a:r>
              <a:rPr lang="en-US" altLang="en-US" sz="1800" b="1">
                <a:solidFill>
                  <a:srgbClr val="0000FF"/>
                </a:solidFill>
              </a:rPr>
              <a:t>at least one operation is write</a:t>
            </a:r>
            <a:endParaRPr lang="en-US" altLang="en-US" sz="1600" b="1">
              <a:solidFill>
                <a:srgbClr val="0000FF"/>
              </a:solidFill>
            </a:endParaRPr>
          </a:p>
          <a:p>
            <a:pPr marL="176213" indent="-176213">
              <a:spcBef>
                <a:spcPts val="300"/>
              </a:spcBef>
              <a:buSzTx/>
              <a:buFont typeface="Wingdings" panose="05000000000000000000" pitchFamily="2" charset="2"/>
              <a:buNone/>
            </a:pPr>
            <a:r>
              <a:rPr lang="en-US" altLang="en-US" sz="1600"/>
              <a:t>Example: Consider two transactions </a:t>
            </a:r>
          </a:p>
          <a:p>
            <a:pPr marL="176213" indent="-176213">
              <a:spcBef>
                <a:spcPts val="300"/>
              </a:spcBef>
              <a:buSzTx/>
              <a:buFont typeface="Wingdings" panose="05000000000000000000" pitchFamily="2" charset="2"/>
              <a:buNone/>
            </a:pPr>
            <a:r>
              <a:rPr lang="en-US" altLang="en-US" sz="1600"/>
              <a:t>T1 with operations R1(X) and R1(Y)</a:t>
            </a:r>
          </a:p>
          <a:p>
            <a:pPr marL="176213" indent="-176213">
              <a:spcBef>
                <a:spcPts val="300"/>
              </a:spcBef>
              <a:buSzTx/>
              <a:buFont typeface="Wingdings" panose="05000000000000000000" pitchFamily="2" charset="2"/>
              <a:buNone/>
            </a:pPr>
            <a:r>
              <a:rPr lang="en-US" altLang="en-US" sz="1600"/>
              <a:t>T2 with operations W2(X) and R2(Z)</a:t>
            </a:r>
          </a:p>
          <a:p>
            <a:pPr marL="176213" indent="-176213">
              <a:spcBef>
                <a:spcPts val="300"/>
              </a:spcBef>
              <a:buSzTx/>
              <a:buFont typeface="Wingdings" panose="05000000000000000000" pitchFamily="2" charset="2"/>
              <a:buNone/>
            </a:pPr>
            <a:r>
              <a:rPr lang="en-US" altLang="en-US" sz="1600"/>
              <a:t>Consider the schedule as:   R1(X),  W2(X),  R1(Y),  R2(Z)</a:t>
            </a:r>
          </a:p>
        </p:txBody>
      </p:sp>
      <p:sp>
        <p:nvSpPr>
          <p:cNvPr id="118788" name="Text Box 4" descr="Date Placeholder 3">
            <a:extLst>
              <a:ext uri="{FF2B5EF4-FFF2-40B4-BE49-F238E27FC236}">
                <a16:creationId xmlns:a16="http://schemas.microsoft.com/office/drawing/2014/main" id="{134149D0-6F4D-C232-2813-7CE9D4A9460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8789" name="Text Box 5" descr="Slide Number Placeholder 5">
            <a:extLst>
              <a:ext uri="{FF2B5EF4-FFF2-40B4-BE49-F238E27FC236}">
                <a16:creationId xmlns:a16="http://schemas.microsoft.com/office/drawing/2014/main" id="{4562DF34-B2F2-F675-577A-2BF7ED8919EF}"/>
              </a:ext>
            </a:extLst>
          </p:cNvPr>
          <p:cNvSpPr txBox="1">
            <a:spLocks/>
          </p:cNvSpPr>
          <p:nvPr/>
        </p:nvSpPr>
        <p:spPr bwMode="auto">
          <a:xfrm>
            <a:off x="8197850" y="6400800"/>
            <a:ext cx="33496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5CF105D-E1AF-4747-B868-BC7C7CF3AD7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18790" name="Group 6">
            <a:extLst>
              <a:ext uri="{FF2B5EF4-FFF2-40B4-BE49-F238E27FC236}">
                <a16:creationId xmlns:a16="http://schemas.microsoft.com/office/drawing/2014/main" id="{3D180B26-CDC3-21A3-3B4A-26B71E23DA93}"/>
              </a:ext>
            </a:extLst>
          </p:cNvPr>
          <p:cNvGraphicFramePr>
            <a:graphicFrameLocks noGrp="1"/>
          </p:cNvGraphicFramePr>
          <p:nvPr/>
        </p:nvGraphicFramePr>
        <p:xfrm>
          <a:off x="1284288" y="4581525"/>
          <a:ext cx="6096000" cy="384175"/>
        </p:xfrm>
        <a:graphic>
          <a:graphicData uri="http://schemas.openxmlformats.org/drawingml/2006/table">
            <a:tbl>
              <a:tblPr/>
              <a:tblGrid>
                <a:gridCol w="1524000">
                  <a:extLst>
                    <a:ext uri="{9D8B030D-6E8A-4147-A177-3AD203B41FA5}">
                      <a16:colId xmlns:a16="http://schemas.microsoft.com/office/drawing/2014/main" val="1992853086"/>
                    </a:ext>
                  </a:extLst>
                </a:gridCol>
                <a:gridCol w="1524000">
                  <a:extLst>
                    <a:ext uri="{9D8B030D-6E8A-4147-A177-3AD203B41FA5}">
                      <a16:colId xmlns:a16="http://schemas.microsoft.com/office/drawing/2014/main" val="2908075287"/>
                    </a:ext>
                  </a:extLst>
                </a:gridCol>
                <a:gridCol w="1524000">
                  <a:extLst>
                    <a:ext uri="{9D8B030D-6E8A-4147-A177-3AD203B41FA5}">
                      <a16:colId xmlns:a16="http://schemas.microsoft.com/office/drawing/2014/main" val="895558694"/>
                    </a:ext>
                  </a:extLst>
                </a:gridCol>
                <a:gridCol w="1524000">
                  <a:extLst>
                    <a:ext uri="{9D8B030D-6E8A-4147-A177-3AD203B41FA5}">
                      <a16:colId xmlns:a16="http://schemas.microsoft.com/office/drawing/2014/main" val="380560010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R2(Z)</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54593371"/>
                  </a:ext>
                </a:extLst>
              </a:tr>
            </a:tbl>
          </a:graphicData>
        </a:graphic>
      </p:graphicFrame>
      <p:sp>
        <p:nvSpPr>
          <p:cNvPr id="118808" name="AutoShape 24" descr="Freeform 32">
            <a:extLst>
              <a:ext uri="{FF2B5EF4-FFF2-40B4-BE49-F238E27FC236}">
                <a16:creationId xmlns:a16="http://schemas.microsoft.com/office/drawing/2014/main" id="{7B40D280-43CD-0480-EFB5-745E7D0474F2}"/>
              </a:ext>
            </a:extLst>
          </p:cNvPr>
          <p:cNvSpPr>
            <a:spLocks/>
          </p:cNvSpPr>
          <p:nvPr/>
        </p:nvSpPr>
        <p:spPr bwMode="auto">
          <a:xfrm>
            <a:off x="1758950" y="4864100"/>
            <a:ext cx="1720850" cy="363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descr="Title 1">
            <a:extLst>
              <a:ext uri="{FF2B5EF4-FFF2-40B4-BE49-F238E27FC236}">
                <a16:creationId xmlns:a16="http://schemas.microsoft.com/office/drawing/2014/main" id="{7A889867-A2D3-2294-DCAD-DDDA1F0FB9A2}"/>
              </a:ext>
            </a:extLst>
          </p:cNvPr>
          <p:cNvSpPr>
            <a:spLocks noChangeArrowheads="1"/>
          </p:cNvSpPr>
          <p:nvPr>
            <p:ph type="title"/>
          </p:nvPr>
        </p:nvSpPr>
        <p:spPr/>
        <p:txBody>
          <a:bodyPr/>
          <a:lstStyle/>
          <a:p>
            <a:r>
              <a:rPr lang="en-US" altLang="en-US"/>
              <a:t>Conflicting Operations in Schedules</a:t>
            </a:r>
          </a:p>
        </p:txBody>
      </p:sp>
      <p:sp>
        <p:nvSpPr>
          <p:cNvPr id="119811" name="Rectangle 3" descr="Content Placeholder 2">
            <a:extLst>
              <a:ext uri="{FF2B5EF4-FFF2-40B4-BE49-F238E27FC236}">
                <a16:creationId xmlns:a16="http://schemas.microsoft.com/office/drawing/2014/main" id="{4CB8C850-D9F4-FA06-E51A-652ACA11BE6F}"/>
              </a:ext>
            </a:extLst>
          </p:cNvPr>
          <p:cNvSpPr>
            <a:spLocks noChangeArrowheads="1"/>
          </p:cNvSpPr>
          <p:nvPr>
            <p:ph type="body" idx="1"/>
          </p:nvPr>
        </p:nvSpPr>
        <p:spPr/>
        <p:txBody>
          <a:bodyPr/>
          <a:lstStyle/>
          <a:p>
            <a:pPr marL="139700" indent="-139700">
              <a:spcBef>
                <a:spcPts val="400"/>
              </a:spcBef>
              <a:buSzTx/>
              <a:buFont typeface="Wingdings" panose="05000000000000000000" pitchFamily="2" charset="2"/>
              <a:buNone/>
            </a:pPr>
            <a:r>
              <a:rPr lang="en-US" altLang="en-US" sz="1600"/>
              <a:t>Two operations in schedule are said to CONFLICT if they satisfy </a:t>
            </a:r>
            <a:r>
              <a:rPr lang="en-US" altLang="en-US" sz="2000" b="1">
                <a:solidFill>
                  <a:srgbClr val="FF0000"/>
                </a:solidFill>
              </a:rPr>
              <a:t>all three of the following conditions</a:t>
            </a:r>
          </a:p>
          <a:p>
            <a:pPr marL="139700" indent="-139700">
              <a:spcBef>
                <a:spcPts val="300"/>
              </a:spcBef>
              <a:buFontTx/>
              <a:buAutoNum type="arabicPeriod"/>
            </a:pPr>
            <a:r>
              <a:rPr lang="en-US" altLang="en-US" sz="1600"/>
              <a:t>If two operations belong to different transactions</a:t>
            </a:r>
          </a:p>
          <a:p>
            <a:pPr marL="139700" indent="-139700">
              <a:spcBef>
                <a:spcPts val="300"/>
              </a:spcBef>
              <a:buFontTx/>
              <a:buAutoNum type="arabicPeriod"/>
            </a:pPr>
            <a:r>
              <a:rPr lang="en-US" altLang="en-US" sz="1600"/>
              <a:t>If two operations access same data item</a:t>
            </a:r>
          </a:p>
          <a:p>
            <a:pPr marL="139700" indent="-139700">
              <a:spcBef>
                <a:spcPts val="300"/>
              </a:spcBef>
              <a:buFontTx/>
              <a:buAutoNum type="arabicPeriod"/>
            </a:pPr>
            <a:r>
              <a:rPr lang="en-US" altLang="en-US" sz="1600"/>
              <a:t>Among two operations at least one operation is write</a:t>
            </a:r>
          </a:p>
          <a:p>
            <a:pPr marL="139700" indent="-139700">
              <a:spcBef>
                <a:spcPts val="300"/>
              </a:spcBef>
              <a:buSzTx/>
              <a:buFont typeface="Wingdings" panose="05000000000000000000" pitchFamily="2" charset="2"/>
              <a:buNone/>
            </a:pPr>
            <a:r>
              <a:rPr lang="en-US" altLang="en-US" sz="1600"/>
              <a:t>Example: Consider two transactions </a:t>
            </a:r>
          </a:p>
          <a:p>
            <a:pPr marL="139700" indent="-139700">
              <a:spcBef>
                <a:spcPts val="300"/>
              </a:spcBef>
              <a:buSzTx/>
              <a:buFont typeface="Wingdings" panose="05000000000000000000" pitchFamily="2" charset="2"/>
              <a:buNone/>
            </a:pPr>
            <a:r>
              <a:rPr lang="en-US" altLang="en-US" sz="1600"/>
              <a:t>T1 with operations R1(X) and R1(Y)</a:t>
            </a:r>
          </a:p>
          <a:p>
            <a:pPr marL="139700" indent="-139700">
              <a:spcBef>
                <a:spcPts val="300"/>
              </a:spcBef>
              <a:buSzTx/>
              <a:buFont typeface="Wingdings" panose="05000000000000000000" pitchFamily="2" charset="2"/>
              <a:buNone/>
            </a:pPr>
            <a:r>
              <a:rPr lang="en-US" altLang="en-US" sz="1600"/>
              <a:t>T2 with operations W2(X) and R2(Z)</a:t>
            </a:r>
          </a:p>
          <a:p>
            <a:pPr marL="139700" indent="-139700">
              <a:spcBef>
                <a:spcPts val="400"/>
              </a:spcBef>
              <a:buSzTx/>
              <a:buFont typeface="Wingdings" panose="05000000000000000000" pitchFamily="2" charset="2"/>
              <a:buNone/>
            </a:pPr>
            <a:r>
              <a:rPr lang="en-US" altLang="en-US" sz="1600"/>
              <a:t>Consider the schedule as:   </a:t>
            </a:r>
            <a:r>
              <a:rPr lang="en-US" altLang="en-US" sz="2000"/>
              <a:t>R1(X),  W2(X),  R1(Y),  R2(Z)</a:t>
            </a:r>
          </a:p>
          <a:p>
            <a:pPr marL="139700" indent="-139700">
              <a:buSzTx/>
              <a:buFont typeface="Wingdings" panose="05000000000000000000" pitchFamily="2" charset="2"/>
              <a:buNone/>
            </a:pPr>
            <a:endParaRPr lang="en-US" altLang="en-US" sz="1600"/>
          </a:p>
          <a:p>
            <a:pPr marL="139700" indent="-139700">
              <a:spcBef>
                <a:spcPts val="400"/>
              </a:spcBef>
              <a:buSzTx/>
              <a:buFont typeface="Wingdings" panose="05000000000000000000" pitchFamily="2" charset="2"/>
              <a:buNone/>
            </a:pPr>
            <a:r>
              <a:rPr lang="en-US" altLang="en-US" sz="2000"/>
              <a:t>Now only </a:t>
            </a:r>
            <a:r>
              <a:rPr lang="en-US" altLang="en-US" sz="2000" b="1">
                <a:solidFill>
                  <a:srgbClr val="FF0000"/>
                </a:solidFill>
              </a:rPr>
              <a:t>CONFLICTing</a:t>
            </a:r>
            <a:r>
              <a:rPr lang="en-US" altLang="en-US" sz="2000" b="1"/>
              <a:t> </a:t>
            </a:r>
            <a:r>
              <a:rPr lang="en-US" altLang="en-US" sz="2000"/>
              <a:t>operation in the given schedule which satisfy all three conditions is </a:t>
            </a:r>
            <a:r>
              <a:rPr lang="en-US" altLang="en-US" sz="2000" b="1"/>
              <a:t>(R1(X), W2(X))</a:t>
            </a:r>
            <a:endParaRPr lang="en-US" altLang="en-US" sz="2000"/>
          </a:p>
        </p:txBody>
      </p:sp>
      <p:sp>
        <p:nvSpPr>
          <p:cNvPr id="119812" name="Text Box 4" descr="Date Placeholder 3">
            <a:extLst>
              <a:ext uri="{FF2B5EF4-FFF2-40B4-BE49-F238E27FC236}">
                <a16:creationId xmlns:a16="http://schemas.microsoft.com/office/drawing/2014/main" id="{8C09C8B8-4DFB-18F6-830C-9A3A94D86B2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19813" name="Text Box 5" descr="Slide Number Placeholder 5">
            <a:extLst>
              <a:ext uri="{FF2B5EF4-FFF2-40B4-BE49-F238E27FC236}">
                <a16:creationId xmlns:a16="http://schemas.microsoft.com/office/drawing/2014/main" id="{892491E8-B00E-DA6A-0915-AB1EEC0A0494}"/>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E0FAF7B-33AF-47CD-AEDA-866F5E10E66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19814" name="Group 6">
            <a:extLst>
              <a:ext uri="{FF2B5EF4-FFF2-40B4-BE49-F238E27FC236}">
                <a16:creationId xmlns:a16="http://schemas.microsoft.com/office/drawing/2014/main" id="{D37165E1-CE0B-E23D-02D7-BB0D210730C1}"/>
              </a:ext>
            </a:extLst>
          </p:cNvPr>
          <p:cNvGraphicFramePr>
            <a:graphicFrameLocks noGrp="1"/>
          </p:cNvGraphicFramePr>
          <p:nvPr/>
        </p:nvGraphicFramePr>
        <p:xfrm>
          <a:off x="1284288" y="5130800"/>
          <a:ext cx="6096000" cy="384175"/>
        </p:xfrm>
        <a:graphic>
          <a:graphicData uri="http://schemas.openxmlformats.org/drawingml/2006/table">
            <a:tbl>
              <a:tblPr/>
              <a:tblGrid>
                <a:gridCol w="1524000">
                  <a:extLst>
                    <a:ext uri="{9D8B030D-6E8A-4147-A177-3AD203B41FA5}">
                      <a16:colId xmlns:a16="http://schemas.microsoft.com/office/drawing/2014/main" val="636378755"/>
                    </a:ext>
                  </a:extLst>
                </a:gridCol>
                <a:gridCol w="1524000">
                  <a:extLst>
                    <a:ext uri="{9D8B030D-6E8A-4147-A177-3AD203B41FA5}">
                      <a16:colId xmlns:a16="http://schemas.microsoft.com/office/drawing/2014/main" val="2364179249"/>
                    </a:ext>
                  </a:extLst>
                </a:gridCol>
                <a:gridCol w="1524000">
                  <a:extLst>
                    <a:ext uri="{9D8B030D-6E8A-4147-A177-3AD203B41FA5}">
                      <a16:colId xmlns:a16="http://schemas.microsoft.com/office/drawing/2014/main" val="1960025657"/>
                    </a:ext>
                  </a:extLst>
                </a:gridCol>
                <a:gridCol w="1524000">
                  <a:extLst>
                    <a:ext uri="{9D8B030D-6E8A-4147-A177-3AD203B41FA5}">
                      <a16:colId xmlns:a16="http://schemas.microsoft.com/office/drawing/2014/main" val="3907654131"/>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R2(Z)</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21290383"/>
                  </a:ext>
                </a:extLst>
              </a:tr>
            </a:tbl>
          </a:graphicData>
        </a:graphic>
      </p:graphicFrame>
      <p:sp>
        <p:nvSpPr>
          <p:cNvPr id="119832" name="AutoShape 24" descr="Freeform 32">
            <a:extLst>
              <a:ext uri="{FF2B5EF4-FFF2-40B4-BE49-F238E27FC236}">
                <a16:creationId xmlns:a16="http://schemas.microsoft.com/office/drawing/2014/main" id="{80EFDD56-A2FC-CD07-D189-E5AED2F0E9C2}"/>
              </a:ext>
            </a:extLst>
          </p:cNvPr>
          <p:cNvSpPr>
            <a:spLocks/>
          </p:cNvSpPr>
          <p:nvPr/>
        </p:nvSpPr>
        <p:spPr bwMode="auto">
          <a:xfrm>
            <a:off x="1758950" y="5414963"/>
            <a:ext cx="1720850" cy="3635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3431" y="10800"/>
                  <a:pt x="6863" y="21600"/>
                  <a:pt x="10462" y="21600"/>
                </a:cubicBezTo>
                <a:cubicBezTo>
                  <a:pt x="14062" y="21600"/>
                  <a:pt x="21600" y="0"/>
                  <a:pt x="21600" y="0"/>
                </a:cubicBezTo>
              </a:path>
            </a:pathLst>
          </a:custGeom>
          <a:noFill/>
          <a:ln w="28575" cap="flat" cmpd="sng">
            <a:solidFill>
              <a:srgbClr val="0000FF"/>
            </a:solidFill>
            <a:prstDash val="dash"/>
            <a:round/>
            <a:headEnd type="triangl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19833" name="Text Box 25" descr="TextBox 33">
            <a:extLst>
              <a:ext uri="{FF2B5EF4-FFF2-40B4-BE49-F238E27FC236}">
                <a16:creationId xmlns:a16="http://schemas.microsoft.com/office/drawing/2014/main" id="{30C3B220-9ACF-C520-EA51-2426AE5FE78F}"/>
              </a:ext>
            </a:extLst>
          </p:cNvPr>
          <p:cNvSpPr txBox="1">
            <a:spLocks/>
          </p:cNvSpPr>
          <p:nvPr/>
        </p:nvSpPr>
        <p:spPr bwMode="auto">
          <a:xfrm>
            <a:off x="2497138" y="5681663"/>
            <a:ext cx="8667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Conflict</a:t>
            </a:r>
          </a:p>
        </p:txBody>
      </p:sp>
    </p:spTree>
  </p:cSld>
  <p:clrMapOvr>
    <a:masterClrMapping/>
  </p:clrMapOvr>
  <p:transition spd="med"/>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2" descr="Title 1">
            <a:extLst>
              <a:ext uri="{FF2B5EF4-FFF2-40B4-BE49-F238E27FC236}">
                <a16:creationId xmlns:a16="http://schemas.microsoft.com/office/drawing/2014/main" id="{50E6EA64-B3AE-2752-E53F-788051B06C42}"/>
              </a:ext>
            </a:extLst>
          </p:cNvPr>
          <p:cNvSpPr>
            <a:spLocks noChangeArrowheads="1"/>
          </p:cNvSpPr>
          <p:nvPr>
            <p:ph type="title"/>
          </p:nvPr>
        </p:nvSpPr>
        <p:spPr/>
        <p:txBody>
          <a:bodyPr/>
          <a:lstStyle/>
          <a:p>
            <a:r>
              <a:rPr lang="en-US" altLang="en-US"/>
              <a:t>Conflicting Operations in Schedules</a:t>
            </a:r>
          </a:p>
        </p:txBody>
      </p:sp>
      <p:sp>
        <p:nvSpPr>
          <p:cNvPr id="120835" name="Rectangle 3" descr="Content Placeholder 2">
            <a:extLst>
              <a:ext uri="{FF2B5EF4-FFF2-40B4-BE49-F238E27FC236}">
                <a16:creationId xmlns:a16="http://schemas.microsoft.com/office/drawing/2014/main" id="{C5746646-E930-ADB3-675F-F91CE6A0996C}"/>
              </a:ext>
            </a:extLst>
          </p:cNvPr>
          <p:cNvSpPr>
            <a:spLocks noChangeArrowheads="1"/>
          </p:cNvSpPr>
          <p:nvPr>
            <p:ph type="body" idx="1"/>
          </p:nvPr>
        </p:nvSpPr>
        <p:spPr/>
        <p:txBody>
          <a:bodyPr/>
          <a:lstStyle/>
          <a:p>
            <a:pPr marL="352425" indent="-352425">
              <a:spcBef>
                <a:spcPts val="400"/>
              </a:spcBef>
              <a:buSzTx/>
              <a:buFont typeface="Wingdings" panose="05000000000000000000" pitchFamily="2" charset="2"/>
              <a:buNone/>
            </a:pPr>
            <a:r>
              <a:rPr lang="en-US" altLang="en-US" sz="2000"/>
              <a:t>Two operations in schedule are said to CONFLICT if they satisfy all three of the following conditions</a:t>
            </a:r>
          </a:p>
          <a:p>
            <a:pPr marL="352425" indent="-352425">
              <a:spcBef>
                <a:spcPts val="400"/>
              </a:spcBef>
              <a:buFontTx/>
              <a:buAutoNum type="arabicPeriod"/>
            </a:pPr>
            <a:r>
              <a:rPr lang="en-US" altLang="en-US" sz="2000"/>
              <a:t>If two operations belong to different transactions</a:t>
            </a:r>
          </a:p>
          <a:p>
            <a:pPr marL="352425" indent="-352425">
              <a:spcBef>
                <a:spcPts val="400"/>
              </a:spcBef>
              <a:buFontTx/>
              <a:buAutoNum type="arabicPeriod"/>
            </a:pPr>
            <a:r>
              <a:rPr lang="en-US" altLang="en-US" sz="2000"/>
              <a:t>If two operations access same data item</a:t>
            </a:r>
          </a:p>
          <a:p>
            <a:pPr marL="352425" indent="-352425">
              <a:spcBef>
                <a:spcPts val="400"/>
              </a:spcBef>
              <a:buFontTx/>
              <a:buAutoNum type="arabicPeriod"/>
            </a:pPr>
            <a:r>
              <a:rPr lang="en-US" altLang="en-US" sz="2000"/>
              <a:t>Among two operations at least one operation is write</a:t>
            </a:r>
          </a:p>
        </p:txBody>
      </p:sp>
      <p:sp>
        <p:nvSpPr>
          <p:cNvPr id="120836" name="Text Box 4" descr="Date Placeholder 3">
            <a:extLst>
              <a:ext uri="{FF2B5EF4-FFF2-40B4-BE49-F238E27FC236}">
                <a16:creationId xmlns:a16="http://schemas.microsoft.com/office/drawing/2014/main" id="{0D1CF919-CBD5-F39D-6271-DFB61FFCEA9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0837" name="Text Box 5" descr="Slide Number Placeholder 5">
            <a:extLst>
              <a:ext uri="{FF2B5EF4-FFF2-40B4-BE49-F238E27FC236}">
                <a16:creationId xmlns:a16="http://schemas.microsoft.com/office/drawing/2014/main" id="{00F24B2D-2AF9-5F86-1352-8CCA1959C287}"/>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A62ECF1-5743-495A-B404-3CF51C394AE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20838" name="Group 6">
            <a:extLst>
              <a:ext uri="{FF2B5EF4-FFF2-40B4-BE49-F238E27FC236}">
                <a16:creationId xmlns:a16="http://schemas.microsoft.com/office/drawing/2014/main" id="{20E726E4-13C0-FF32-97F5-EA9E651EB3DA}"/>
              </a:ext>
            </a:extLst>
          </p:cNvPr>
          <p:cNvGraphicFramePr>
            <a:graphicFrameLocks noGrp="1"/>
          </p:cNvGraphicFramePr>
          <p:nvPr/>
        </p:nvGraphicFramePr>
        <p:xfrm>
          <a:off x="539750" y="4005263"/>
          <a:ext cx="8424863" cy="1152525"/>
        </p:xfrm>
        <a:graphic>
          <a:graphicData uri="http://schemas.openxmlformats.org/drawingml/2006/table">
            <a:tbl>
              <a:tblPr/>
              <a:tblGrid>
                <a:gridCol w="1728788">
                  <a:extLst>
                    <a:ext uri="{9D8B030D-6E8A-4147-A177-3AD203B41FA5}">
                      <a16:colId xmlns:a16="http://schemas.microsoft.com/office/drawing/2014/main" val="2336085434"/>
                    </a:ext>
                  </a:extLst>
                </a:gridCol>
                <a:gridCol w="2808287">
                  <a:extLst>
                    <a:ext uri="{9D8B030D-6E8A-4147-A177-3AD203B41FA5}">
                      <a16:colId xmlns:a16="http://schemas.microsoft.com/office/drawing/2014/main" val="1110570616"/>
                    </a:ext>
                  </a:extLst>
                </a:gridCol>
                <a:gridCol w="3887788">
                  <a:extLst>
                    <a:ext uri="{9D8B030D-6E8A-4147-A177-3AD203B41FA5}">
                      <a16:colId xmlns:a16="http://schemas.microsoft.com/office/drawing/2014/main" val="354234640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 W2(X), W3(X)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475043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 R2(X), R3(X)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296136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 W2(Y), R3(X)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21558211"/>
                  </a:ext>
                </a:extLst>
              </a:tr>
            </a:tbl>
          </a:graphicData>
        </a:graphic>
      </p:graphicFrame>
      <p:sp>
        <p:nvSpPr>
          <p:cNvPr id="120872" name="Text Box 40" descr="TextBox 7">
            <a:extLst>
              <a:ext uri="{FF2B5EF4-FFF2-40B4-BE49-F238E27FC236}">
                <a16:creationId xmlns:a16="http://schemas.microsoft.com/office/drawing/2014/main" id="{11C50513-F47A-90BE-1AD1-03DDF8F135C9}"/>
              </a:ext>
            </a:extLst>
          </p:cNvPr>
          <p:cNvSpPr txBox="1">
            <a:spLocks/>
          </p:cNvSpPr>
          <p:nvPr/>
        </p:nvSpPr>
        <p:spPr bwMode="auto">
          <a:xfrm>
            <a:off x="368300" y="3287713"/>
            <a:ext cx="8462963"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 </a:t>
            </a:r>
          </a:p>
          <a:p>
            <a:r>
              <a:rPr lang="en-US" altLang="en-US">
                <a:solidFill>
                  <a:srgbClr val="FF0000"/>
                </a:solidFill>
              </a:rPr>
              <a:t>Check which of the following schedules are having Conflicting operations</a:t>
            </a:r>
          </a:p>
        </p:txBody>
      </p:sp>
    </p:spTree>
  </p:cSld>
  <p:clrMapOvr>
    <a:masterClrMapping/>
  </p:clrMapOvr>
  <p:transition spd="med"/>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2" descr="Title 1">
            <a:extLst>
              <a:ext uri="{FF2B5EF4-FFF2-40B4-BE49-F238E27FC236}">
                <a16:creationId xmlns:a16="http://schemas.microsoft.com/office/drawing/2014/main" id="{7F9ED9AF-5128-8FC6-9CC5-C5A8B105CCBF}"/>
              </a:ext>
            </a:extLst>
          </p:cNvPr>
          <p:cNvSpPr>
            <a:spLocks noChangeArrowheads="1"/>
          </p:cNvSpPr>
          <p:nvPr>
            <p:ph type="title"/>
          </p:nvPr>
        </p:nvSpPr>
        <p:spPr/>
        <p:txBody>
          <a:bodyPr/>
          <a:lstStyle/>
          <a:p>
            <a:r>
              <a:rPr lang="en-US" altLang="en-US"/>
              <a:t>Conflicting Operations in Schedules</a:t>
            </a:r>
          </a:p>
        </p:txBody>
      </p:sp>
      <p:sp>
        <p:nvSpPr>
          <p:cNvPr id="121859" name="Rectangle 3" descr="Content Placeholder 2">
            <a:extLst>
              <a:ext uri="{FF2B5EF4-FFF2-40B4-BE49-F238E27FC236}">
                <a16:creationId xmlns:a16="http://schemas.microsoft.com/office/drawing/2014/main" id="{104E24D5-A50E-CD55-0F5E-0B7D4562DDE6}"/>
              </a:ext>
            </a:extLst>
          </p:cNvPr>
          <p:cNvSpPr>
            <a:spLocks noChangeArrowheads="1"/>
          </p:cNvSpPr>
          <p:nvPr>
            <p:ph type="body" idx="1"/>
          </p:nvPr>
        </p:nvSpPr>
        <p:spPr/>
        <p:txBody>
          <a:bodyPr/>
          <a:lstStyle/>
          <a:p>
            <a:pPr marL="352425" indent="-352425">
              <a:spcBef>
                <a:spcPts val="400"/>
              </a:spcBef>
              <a:buSzTx/>
              <a:buFont typeface="Wingdings" panose="05000000000000000000" pitchFamily="2" charset="2"/>
              <a:buNone/>
            </a:pPr>
            <a:r>
              <a:rPr lang="en-US" altLang="en-US" sz="2000"/>
              <a:t>Two operations in schedule are said to CONFLICT if they satisfy all three of the following conditions</a:t>
            </a:r>
          </a:p>
          <a:p>
            <a:pPr marL="352425" indent="-352425">
              <a:spcBef>
                <a:spcPts val="400"/>
              </a:spcBef>
              <a:buFontTx/>
              <a:buAutoNum type="arabicPeriod"/>
            </a:pPr>
            <a:r>
              <a:rPr lang="en-US" altLang="en-US" sz="2000"/>
              <a:t>If two operations belong to different transactions</a:t>
            </a:r>
          </a:p>
          <a:p>
            <a:pPr marL="352425" indent="-352425">
              <a:spcBef>
                <a:spcPts val="400"/>
              </a:spcBef>
              <a:buFontTx/>
              <a:buAutoNum type="arabicPeriod"/>
            </a:pPr>
            <a:r>
              <a:rPr lang="en-US" altLang="en-US" sz="2000"/>
              <a:t>If two operations access same data item</a:t>
            </a:r>
          </a:p>
          <a:p>
            <a:pPr marL="352425" indent="-352425">
              <a:spcBef>
                <a:spcPts val="400"/>
              </a:spcBef>
              <a:buFontTx/>
              <a:buAutoNum type="arabicPeriod"/>
            </a:pPr>
            <a:r>
              <a:rPr lang="en-US" altLang="en-US" sz="2000"/>
              <a:t>Among two operations at least one operation is write</a:t>
            </a:r>
          </a:p>
        </p:txBody>
      </p:sp>
      <p:sp>
        <p:nvSpPr>
          <p:cNvPr id="121860" name="Text Box 4" descr="Date Placeholder 3">
            <a:extLst>
              <a:ext uri="{FF2B5EF4-FFF2-40B4-BE49-F238E27FC236}">
                <a16:creationId xmlns:a16="http://schemas.microsoft.com/office/drawing/2014/main" id="{14A2B729-DCD0-07B7-3B70-0F80CAAC64B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1861" name="Text Box 5" descr="Slide Number Placeholder 5">
            <a:extLst>
              <a:ext uri="{FF2B5EF4-FFF2-40B4-BE49-F238E27FC236}">
                <a16:creationId xmlns:a16="http://schemas.microsoft.com/office/drawing/2014/main" id="{E42635EB-3D07-7726-21F4-854813D06925}"/>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C931CFC-C1ED-4E1D-84AF-4EC97E4C70D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21862" name="Group 6">
            <a:extLst>
              <a:ext uri="{FF2B5EF4-FFF2-40B4-BE49-F238E27FC236}">
                <a16:creationId xmlns:a16="http://schemas.microsoft.com/office/drawing/2014/main" id="{879D2F0D-6704-6476-D301-1780104D3429}"/>
              </a:ext>
            </a:extLst>
          </p:cNvPr>
          <p:cNvGraphicFramePr>
            <a:graphicFrameLocks noGrp="1"/>
          </p:cNvGraphicFramePr>
          <p:nvPr/>
        </p:nvGraphicFramePr>
        <p:xfrm>
          <a:off x="539750" y="4005263"/>
          <a:ext cx="8424863" cy="1152525"/>
        </p:xfrm>
        <a:graphic>
          <a:graphicData uri="http://schemas.openxmlformats.org/drawingml/2006/table">
            <a:tbl>
              <a:tblPr/>
              <a:tblGrid>
                <a:gridCol w="1728788">
                  <a:extLst>
                    <a:ext uri="{9D8B030D-6E8A-4147-A177-3AD203B41FA5}">
                      <a16:colId xmlns:a16="http://schemas.microsoft.com/office/drawing/2014/main" val="3685398687"/>
                    </a:ext>
                  </a:extLst>
                </a:gridCol>
                <a:gridCol w="2808287">
                  <a:extLst>
                    <a:ext uri="{9D8B030D-6E8A-4147-A177-3AD203B41FA5}">
                      <a16:colId xmlns:a16="http://schemas.microsoft.com/office/drawing/2014/main" val="3066494145"/>
                    </a:ext>
                  </a:extLst>
                </a:gridCol>
                <a:gridCol w="3887788">
                  <a:extLst>
                    <a:ext uri="{9D8B030D-6E8A-4147-A177-3AD203B41FA5}">
                      <a16:colId xmlns:a16="http://schemas.microsoft.com/office/drawing/2014/main" val="112765671"/>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 W2(X), W3(X)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YES, because (R1(X), 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3294119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 R2(X), R3(X)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022079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 W2(Y), R3(X)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24825006"/>
                  </a:ext>
                </a:extLst>
              </a:tr>
            </a:tbl>
          </a:graphicData>
        </a:graphic>
      </p:graphicFrame>
      <p:sp>
        <p:nvSpPr>
          <p:cNvPr id="121896" name="Text Box 40" descr="TextBox 7">
            <a:extLst>
              <a:ext uri="{FF2B5EF4-FFF2-40B4-BE49-F238E27FC236}">
                <a16:creationId xmlns:a16="http://schemas.microsoft.com/office/drawing/2014/main" id="{D5A82D69-01C8-3273-B874-23FB7F42365F}"/>
              </a:ext>
            </a:extLst>
          </p:cNvPr>
          <p:cNvSpPr txBox="1">
            <a:spLocks/>
          </p:cNvSpPr>
          <p:nvPr/>
        </p:nvSpPr>
        <p:spPr bwMode="auto">
          <a:xfrm>
            <a:off x="368300" y="3287713"/>
            <a:ext cx="8462963"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 </a:t>
            </a:r>
          </a:p>
          <a:p>
            <a:r>
              <a:rPr lang="en-US" altLang="en-US">
                <a:solidFill>
                  <a:srgbClr val="FF0000"/>
                </a:solidFill>
              </a:rPr>
              <a:t>Check which of the following schedules are having Conflicting operations</a:t>
            </a:r>
          </a:p>
        </p:txBody>
      </p:sp>
    </p:spTree>
  </p:cSld>
  <p:clrMapOvr>
    <a:masterClrMapping/>
  </p:clrMapOvr>
  <p:transition spd="med"/>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2" descr="Title 1">
            <a:extLst>
              <a:ext uri="{FF2B5EF4-FFF2-40B4-BE49-F238E27FC236}">
                <a16:creationId xmlns:a16="http://schemas.microsoft.com/office/drawing/2014/main" id="{1AD062D9-5E4F-BF52-7F9A-AED59E6413BB}"/>
              </a:ext>
            </a:extLst>
          </p:cNvPr>
          <p:cNvSpPr>
            <a:spLocks noChangeArrowheads="1"/>
          </p:cNvSpPr>
          <p:nvPr>
            <p:ph type="title"/>
          </p:nvPr>
        </p:nvSpPr>
        <p:spPr/>
        <p:txBody>
          <a:bodyPr/>
          <a:lstStyle/>
          <a:p>
            <a:r>
              <a:rPr lang="en-US" altLang="en-US" sz="2400"/>
              <a:t>Serializibility</a:t>
            </a:r>
          </a:p>
        </p:txBody>
      </p:sp>
      <p:sp>
        <p:nvSpPr>
          <p:cNvPr id="122883" name="Rectangle 3" descr="Content Placeholder 2">
            <a:extLst>
              <a:ext uri="{FF2B5EF4-FFF2-40B4-BE49-F238E27FC236}">
                <a16:creationId xmlns:a16="http://schemas.microsoft.com/office/drawing/2014/main" id="{98361294-29FC-293B-4869-A2801D80FB84}"/>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2000" b="1"/>
              <a:t>What is Serializability  ? </a:t>
            </a:r>
            <a:r>
              <a:rPr lang="en-US" altLang="en-US" sz="2000"/>
              <a:t>– “Correctness Measure” of some Schedule </a:t>
            </a:r>
          </a:p>
          <a:p>
            <a:pPr marL="0" indent="0">
              <a:spcBef>
                <a:spcPts val="400"/>
              </a:spcBef>
              <a:buSzTx/>
              <a:buFont typeface="Wingdings" panose="05000000000000000000" pitchFamily="2" charset="2"/>
              <a:buNone/>
            </a:pPr>
            <a:r>
              <a:rPr lang="en-US" altLang="en-US" sz="2000"/>
              <a:t>– Why is it useful? It answers the question: “Will an interleaved schedule execute correctly”</a:t>
            </a:r>
          </a:p>
          <a:p>
            <a:pPr marL="0" indent="0">
              <a:spcBef>
                <a:spcPts val="400"/>
              </a:spcBef>
              <a:buSzTx/>
              <a:buFont typeface="Wingdings" panose="05000000000000000000" pitchFamily="2" charset="2"/>
              <a:buNone/>
            </a:pPr>
            <a:r>
              <a:rPr lang="en-US" altLang="en-US" sz="2000"/>
              <a:t>– i.e., a Serializable schedule will execute as correctly as serial schedule … but in an interleaved manner! </a:t>
            </a:r>
          </a:p>
        </p:txBody>
      </p:sp>
      <p:sp>
        <p:nvSpPr>
          <p:cNvPr id="122884" name="Text Box 4" descr="Date Placeholder 3">
            <a:extLst>
              <a:ext uri="{FF2B5EF4-FFF2-40B4-BE49-F238E27FC236}">
                <a16:creationId xmlns:a16="http://schemas.microsoft.com/office/drawing/2014/main" id="{DCF0F616-ECFB-204C-4874-D6E287FA5FD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2885" name="Text Box 5" descr="Slide Number Placeholder 5">
            <a:extLst>
              <a:ext uri="{FF2B5EF4-FFF2-40B4-BE49-F238E27FC236}">
                <a16:creationId xmlns:a16="http://schemas.microsoft.com/office/drawing/2014/main" id="{60DA591B-6564-801F-5C0B-36FEB33582EC}"/>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4C97F91-5344-4D03-95C7-F6FD36AAC5E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descr="Title 1">
            <a:extLst>
              <a:ext uri="{FF2B5EF4-FFF2-40B4-BE49-F238E27FC236}">
                <a16:creationId xmlns:a16="http://schemas.microsoft.com/office/drawing/2014/main" id="{1E53541C-2F0E-A62F-3C5B-BF393C893741}"/>
              </a:ext>
            </a:extLst>
          </p:cNvPr>
          <p:cNvSpPr>
            <a:spLocks noChangeArrowheads="1"/>
          </p:cNvSpPr>
          <p:nvPr>
            <p:ph type="title"/>
          </p:nvPr>
        </p:nvSpPr>
        <p:spPr/>
        <p:txBody>
          <a:bodyPr/>
          <a:lstStyle/>
          <a:p>
            <a:r>
              <a:rPr lang="en-US" altLang="en-US" sz="2400"/>
              <a:t>Serializibility</a:t>
            </a:r>
          </a:p>
        </p:txBody>
      </p:sp>
      <p:sp>
        <p:nvSpPr>
          <p:cNvPr id="123907" name="Rectangle 3" descr="Content Placeholder 2">
            <a:extLst>
              <a:ext uri="{FF2B5EF4-FFF2-40B4-BE49-F238E27FC236}">
                <a16:creationId xmlns:a16="http://schemas.microsoft.com/office/drawing/2014/main" id="{A2685970-914F-FE55-55F3-4A7D26BED73C}"/>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b="1"/>
              <a:t>What is Serializability  ? </a:t>
            </a:r>
            <a:r>
              <a:rPr lang="en-US" altLang="en-US" sz="1600"/>
              <a:t>– “Correctness Measure” of some Schedule </a:t>
            </a:r>
          </a:p>
          <a:p>
            <a:pPr marL="0" indent="0">
              <a:spcBef>
                <a:spcPts val="300"/>
              </a:spcBef>
              <a:buSzTx/>
              <a:buFont typeface="Wingdings" panose="05000000000000000000" pitchFamily="2" charset="2"/>
              <a:buNone/>
            </a:pPr>
            <a:r>
              <a:rPr lang="en-US" altLang="en-US" sz="1600"/>
              <a:t>– Why is it useful? It answers the question: “Will an interleaved schedule execute correctly”</a:t>
            </a:r>
          </a:p>
          <a:p>
            <a:pPr marL="0" indent="0">
              <a:spcBef>
                <a:spcPts val="300"/>
              </a:spcBef>
              <a:buSzTx/>
              <a:buFont typeface="Wingdings" panose="05000000000000000000" pitchFamily="2" charset="2"/>
              <a:buNone/>
            </a:pPr>
            <a:r>
              <a:rPr lang="en-US" altLang="en-US" sz="1600"/>
              <a:t>– i.e., a Serializable schedule will execute as correctly as serial schedule … but in an interleaved manner! </a:t>
            </a:r>
          </a:p>
          <a:p>
            <a:pPr marL="0" indent="0">
              <a:spcBef>
                <a:spcPts val="300"/>
              </a:spcBef>
              <a:buSzTx/>
              <a:buFont typeface="Wingdings" panose="05000000000000000000" pitchFamily="2" charset="2"/>
              <a:buNone/>
            </a:pPr>
            <a:r>
              <a:rPr lang="en-US" altLang="en-US" sz="1600"/>
              <a:t>Example: Consider two transactions </a:t>
            </a:r>
          </a:p>
          <a:p>
            <a:pPr marL="0" indent="0">
              <a:spcBef>
                <a:spcPts val="300"/>
              </a:spcBef>
              <a:buSzTx/>
              <a:buFont typeface="Wingdings" panose="05000000000000000000" pitchFamily="2" charset="2"/>
              <a:buNone/>
            </a:pPr>
            <a:r>
              <a:rPr lang="en-US" altLang="en-US" sz="1600" b="1">
                <a:solidFill>
                  <a:srgbClr val="0000FF"/>
                </a:solidFill>
              </a:rPr>
              <a:t>T1 with operations </a:t>
            </a:r>
          </a:p>
          <a:p>
            <a:pPr marL="0" indent="0">
              <a:spcBef>
                <a:spcPts val="300"/>
              </a:spcBef>
              <a:buSzTx/>
              <a:buFont typeface="Wingdings" panose="05000000000000000000" pitchFamily="2" charset="2"/>
              <a:buNone/>
            </a:pPr>
            <a:r>
              <a:rPr lang="en-US" altLang="en-US" sz="1600">
                <a:solidFill>
                  <a:srgbClr val="0000FF"/>
                </a:solidFill>
              </a:rPr>
              <a:t>Read(X)</a:t>
            </a:r>
          </a:p>
          <a:p>
            <a:pPr marL="0" indent="0">
              <a:spcBef>
                <a:spcPts val="300"/>
              </a:spcBef>
              <a:buSzTx/>
              <a:buFont typeface="Wingdings" panose="05000000000000000000" pitchFamily="2" charset="2"/>
              <a:buNone/>
            </a:pPr>
            <a:r>
              <a:rPr lang="en-US" altLang="en-US" sz="1600">
                <a:solidFill>
                  <a:srgbClr val="0000FF"/>
                </a:solidFill>
              </a:rPr>
              <a:t>X=X-5</a:t>
            </a:r>
          </a:p>
          <a:p>
            <a:pPr marL="0" indent="0">
              <a:spcBef>
                <a:spcPts val="300"/>
              </a:spcBef>
              <a:buSzTx/>
              <a:buFont typeface="Wingdings" panose="05000000000000000000" pitchFamily="2" charset="2"/>
              <a:buNone/>
            </a:pPr>
            <a:r>
              <a:rPr lang="en-US" altLang="en-US" sz="1600">
                <a:solidFill>
                  <a:srgbClr val="0000FF"/>
                </a:solidFill>
              </a:rPr>
              <a:t>Write(X)</a:t>
            </a:r>
          </a:p>
          <a:p>
            <a:pPr marL="0" indent="0">
              <a:spcBef>
                <a:spcPts val="300"/>
              </a:spcBef>
              <a:buSzTx/>
              <a:buFont typeface="Wingdings" panose="05000000000000000000" pitchFamily="2" charset="2"/>
              <a:buNone/>
            </a:pPr>
            <a:r>
              <a:rPr lang="en-US" altLang="en-US" sz="1600">
                <a:solidFill>
                  <a:srgbClr val="0000FF"/>
                </a:solidFill>
              </a:rPr>
              <a:t>Read(Y) </a:t>
            </a:r>
          </a:p>
          <a:p>
            <a:pPr marL="0" indent="0">
              <a:spcBef>
                <a:spcPts val="300"/>
              </a:spcBef>
              <a:buSzTx/>
              <a:buFont typeface="Wingdings" panose="05000000000000000000" pitchFamily="2" charset="2"/>
              <a:buNone/>
            </a:pPr>
            <a:r>
              <a:rPr lang="en-US" altLang="en-US" sz="1600">
                <a:solidFill>
                  <a:srgbClr val="0000FF"/>
                </a:solidFill>
              </a:rPr>
              <a:t>Y=Y+5</a:t>
            </a:r>
          </a:p>
          <a:p>
            <a:pPr marL="0" indent="0">
              <a:spcBef>
                <a:spcPts val="300"/>
              </a:spcBef>
              <a:buSzTx/>
              <a:buFont typeface="Wingdings" panose="05000000000000000000" pitchFamily="2" charset="2"/>
              <a:buNone/>
            </a:pPr>
            <a:r>
              <a:rPr lang="en-US" altLang="en-US" sz="1600">
                <a:solidFill>
                  <a:srgbClr val="0000FF"/>
                </a:solidFill>
              </a:rPr>
              <a:t>Write(Y))</a:t>
            </a:r>
          </a:p>
          <a:p>
            <a:pPr marL="0" indent="0">
              <a:spcBef>
                <a:spcPts val="300"/>
              </a:spcBef>
              <a:buSzTx/>
              <a:buFont typeface="Wingdings" panose="05000000000000000000" pitchFamily="2" charset="2"/>
              <a:buNone/>
            </a:pPr>
            <a:r>
              <a:rPr lang="en-US" altLang="en-US" sz="1600" b="1">
                <a:solidFill>
                  <a:srgbClr val="FF00FF"/>
                </a:solidFill>
              </a:rPr>
              <a:t>T2 with operations </a:t>
            </a:r>
          </a:p>
          <a:p>
            <a:pPr marL="0" indent="0">
              <a:spcBef>
                <a:spcPts val="300"/>
              </a:spcBef>
              <a:buSzTx/>
              <a:buFont typeface="Wingdings" panose="05000000000000000000" pitchFamily="2" charset="2"/>
              <a:buNone/>
            </a:pPr>
            <a:r>
              <a:rPr lang="en-US" altLang="en-US" sz="1600">
                <a:solidFill>
                  <a:srgbClr val="FF00FF"/>
                </a:solidFill>
              </a:rPr>
              <a:t>Read(X)</a:t>
            </a:r>
          </a:p>
          <a:p>
            <a:pPr marL="0" indent="0">
              <a:spcBef>
                <a:spcPts val="300"/>
              </a:spcBef>
              <a:buSzTx/>
              <a:buFont typeface="Wingdings" panose="05000000000000000000" pitchFamily="2" charset="2"/>
              <a:buNone/>
            </a:pPr>
            <a:r>
              <a:rPr lang="en-US" altLang="en-US" sz="1600">
                <a:solidFill>
                  <a:srgbClr val="FF00FF"/>
                </a:solidFill>
              </a:rPr>
              <a:t>X=X-4</a:t>
            </a:r>
          </a:p>
          <a:p>
            <a:pPr marL="0" indent="0">
              <a:spcBef>
                <a:spcPts val="300"/>
              </a:spcBef>
              <a:buSzTx/>
              <a:buFont typeface="Wingdings" panose="05000000000000000000" pitchFamily="2" charset="2"/>
              <a:buNone/>
            </a:pPr>
            <a:r>
              <a:rPr lang="en-US" altLang="en-US" sz="1600">
                <a:solidFill>
                  <a:srgbClr val="FF00FF"/>
                </a:solidFill>
              </a:rPr>
              <a:t>Write(X)</a:t>
            </a:r>
          </a:p>
        </p:txBody>
      </p:sp>
      <p:sp>
        <p:nvSpPr>
          <p:cNvPr id="123908" name="Text Box 4" descr="Date Placeholder 3">
            <a:extLst>
              <a:ext uri="{FF2B5EF4-FFF2-40B4-BE49-F238E27FC236}">
                <a16:creationId xmlns:a16="http://schemas.microsoft.com/office/drawing/2014/main" id="{148AF78B-5306-3E47-1724-A87ED3102A5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3909" name="Text Box 5" descr="Slide Number Placeholder 5">
            <a:extLst>
              <a:ext uri="{FF2B5EF4-FFF2-40B4-BE49-F238E27FC236}">
                <a16:creationId xmlns:a16="http://schemas.microsoft.com/office/drawing/2014/main" id="{4C9AF623-179A-5769-5C98-8ECA8C64D6EE}"/>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AB10835-8DFC-4F66-9151-5D414E3D871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2" descr="Title 1">
            <a:extLst>
              <a:ext uri="{FF2B5EF4-FFF2-40B4-BE49-F238E27FC236}">
                <a16:creationId xmlns:a16="http://schemas.microsoft.com/office/drawing/2014/main" id="{B3653F03-F011-B116-558A-8144E7A181BD}"/>
              </a:ext>
            </a:extLst>
          </p:cNvPr>
          <p:cNvSpPr>
            <a:spLocks noChangeArrowheads="1"/>
          </p:cNvSpPr>
          <p:nvPr>
            <p:ph type="title"/>
          </p:nvPr>
        </p:nvSpPr>
        <p:spPr/>
        <p:txBody>
          <a:bodyPr/>
          <a:lstStyle/>
          <a:p>
            <a:r>
              <a:rPr lang="en-US" altLang="en-US" sz="2400"/>
              <a:t>Serializibility</a:t>
            </a:r>
          </a:p>
        </p:txBody>
      </p:sp>
      <p:sp>
        <p:nvSpPr>
          <p:cNvPr id="124931" name="Rectangle 3" descr="Content Placeholder 2">
            <a:extLst>
              <a:ext uri="{FF2B5EF4-FFF2-40B4-BE49-F238E27FC236}">
                <a16:creationId xmlns:a16="http://schemas.microsoft.com/office/drawing/2014/main" id="{2E06DE87-12EF-AD08-C9EA-7FDCB9E0D002}"/>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400" b="1"/>
              <a:t>What is Serializability  ? </a:t>
            </a:r>
            <a:r>
              <a:rPr lang="en-US" altLang="en-US" sz="1400"/>
              <a:t>– “Correctness Measure” of some Schedule </a:t>
            </a:r>
          </a:p>
          <a:p>
            <a:pPr marL="0" indent="0">
              <a:spcBef>
                <a:spcPts val="300"/>
              </a:spcBef>
              <a:buSzTx/>
              <a:buFont typeface="Wingdings" panose="05000000000000000000" pitchFamily="2" charset="2"/>
              <a:buNone/>
            </a:pPr>
            <a:r>
              <a:rPr lang="en-US" altLang="en-US" sz="1400"/>
              <a:t>– Why is it useful? It answers the question: “Will an interleaved schedule execute correctly”</a:t>
            </a:r>
          </a:p>
          <a:p>
            <a:pPr marL="0" indent="0">
              <a:spcBef>
                <a:spcPts val="300"/>
              </a:spcBef>
              <a:buSzTx/>
              <a:buFont typeface="Wingdings" panose="05000000000000000000" pitchFamily="2" charset="2"/>
              <a:buNone/>
            </a:pPr>
            <a:r>
              <a:rPr lang="en-US" altLang="en-US" sz="1400"/>
              <a:t>– i.e., a Serializable schedule will execute as correctly as serial schedule … but in an interleaved manner! </a:t>
            </a:r>
          </a:p>
          <a:p>
            <a:pPr marL="0" indent="0">
              <a:spcBef>
                <a:spcPts val="300"/>
              </a:spcBef>
              <a:buSzTx/>
              <a:buFont typeface="Wingdings" panose="05000000000000000000" pitchFamily="2" charset="2"/>
              <a:buNone/>
            </a:pPr>
            <a:r>
              <a:rPr lang="en-US" altLang="en-US" sz="1400"/>
              <a:t>Example: Consider two transactions </a:t>
            </a:r>
          </a:p>
          <a:p>
            <a:pPr marL="0" indent="0">
              <a:spcBef>
                <a:spcPts val="300"/>
              </a:spcBef>
              <a:buSzTx/>
              <a:buFont typeface="Wingdings" panose="05000000000000000000" pitchFamily="2" charset="2"/>
              <a:buNone/>
            </a:pPr>
            <a:r>
              <a:rPr lang="en-US" altLang="en-US" sz="1400"/>
              <a:t>T1 with operations (Read(X); X=X-5,Write(X); Read(Y); Y=Y+5; Write(Y))</a:t>
            </a:r>
          </a:p>
          <a:p>
            <a:pPr marL="0" indent="0">
              <a:spcBef>
                <a:spcPts val="300"/>
              </a:spcBef>
              <a:buSzTx/>
              <a:buFont typeface="Wingdings" panose="05000000000000000000" pitchFamily="2" charset="2"/>
              <a:buNone/>
            </a:pPr>
            <a:r>
              <a:rPr lang="en-US" altLang="en-US" sz="1400"/>
              <a:t>T2 with operations (Read(X), X=X-4,Write(X));</a:t>
            </a:r>
          </a:p>
          <a:p>
            <a:pPr marL="0" indent="0">
              <a:spcBef>
                <a:spcPts val="300"/>
              </a:spcBef>
              <a:buSzTx/>
              <a:buFont typeface="Wingdings" panose="05000000000000000000" pitchFamily="2" charset="2"/>
              <a:buNone/>
            </a:pPr>
            <a:r>
              <a:rPr lang="en-US" altLang="en-US" sz="1600" b="1"/>
              <a:t>For this two Transactions (T1 &amp; T2) two possible serial schedules are:</a:t>
            </a:r>
          </a:p>
        </p:txBody>
      </p:sp>
      <p:sp>
        <p:nvSpPr>
          <p:cNvPr id="124932" name="Text Box 4" descr="Date Placeholder 3">
            <a:extLst>
              <a:ext uri="{FF2B5EF4-FFF2-40B4-BE49-F238E27FC236}">
                <a16:creationId xmlns:a16="http://schemas.microsoft.com/office/drawing/2014/main" id="{852B0C50-BBCB-649C-84FA-88660264689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4933" name="Text Box 5" descr="Slide Number Placeholder 5">
            <a:extLst>
              <a:ext uri="{FF2B5EF4-FFF2-40B4-BE49-F238E27FC236}">
                <a16:creationId xmlns:a16="http://schemas.microsoft.com/office/drawing/2014/main" id="{0B54F460-ACB1-77A6-44A1-FD295B7F6DD1}"/>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A367B89-E5EC-4075-82F9-023C6FF2321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24934" name="Picture 6" descr="Picture 4">
            <a:extLst>
              <a:ext uri="{FF2B5EF4-FFF2-40B4-BE49-F238E27FC236}">
                <a16:creationId xmlns:a16="http://schemas.microsoft.com/office/drawing/2014/main" id="{8FEB4A8D-B875-8EA9-084D-01C7DDCA3F8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960938" y="4076700"/>
            <a:ext cx="2635250" cy="2324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4935" name="Picture 7" descr="Picture 5">
            <a:extLst>
              <a:ext uri="{FF2B5EF4-FFF2-40B4-BE49-F238E27FC236}">
                <a16:creationId xmlns:a16="http://schemas.microsoft.com/office/drawing/2014/main" id="{E23027B7-5D7A-B7E6-E4A9-1A42DE793BB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835150" y="4095750"/>
            <a:ext cx="2757488" cy="2303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24936" name="Line 8" descr="Straight Arrow Connector 7">
            <a:extLst>
              <a:ext uri="{FF2B5EF4-FFF2-40B4-BE49-F238E27FC236}">
                <a16:creationId xmlns:a16="http://schemas.microsoft.com/office/drawing/2014/main" id="{E358840E-DF85-D856-E3D3-D1FD7A3F13CA}"/>
              </a:ext>
            </a:extLst>
          </p:cNvPr>
          <p:cNvSpPr>
            <a:spLocks noChangeShapeType="1"/>
          </p:cNvSpPr>
          <p:nvPr/>
        </p:nvSpPr>
        <p:spPr bwMode="auto">
          <a:xfrm flipH="1">
            <a:off x="1681163" y="4335463"/>
            <a:ext cx="0" cy="161290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4937" name="Text Box 9" descr="TextBox 8">
            <a:extLst>
              <a:ext uri="{FF2B5EF4-FFF2-40B4-BE49-F238E27FC236}">
                <a16:creationId xmlns:a16="http://schemas.microsoft.com/office/drawing/2014/main" id="{739DEF25-F4F7-A273-E0B6-195F601E9A5D}"/>
              </a:ext>
            </a:extLst>
          </p:cNvPr>
          <p:cNvSpPr txBox="1">
            <a:spLocks/>
          </p:cNvSpPr>
          <p:nvPr/>
        </p:nvSpPr>
        <p:spPr bwMode="auto">
          <a:xfrm>
            <a:off x="330200" y="4535488"/>
            <a:ext cx="1304925" cy="738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4938" name="Text Box 10" descr="TextBox 9">
            <a:extLst>
              <a:ext uri="{FF2B5EF4-FFF2-40B4-BE49-F238E27FC236}">
                <a16:creationId xmlns:a16="http://schemas.microsoft.com/office/drawing/2014/main" id="{202C1F34-0DD3-AF72-F310-98C58E2EDEC4}"/>
              </a:ext>
            </a:extLst>
          </p:cNvPr>
          <p:cNvSpPr txBox="1">
            <a:spLocks/>
          </p:cNvSpPr>
          <p:nvPr/>
        </p:nvSpPr>
        <p:spPr bwMode="auto">
          <a:xfrm>
            <a:off x="1865313" y="3787775"/>
            <a:ext cx="2649537"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Serial schedule </a:t>
            </a:r>
            <a:r>
              <a:rPr lang="en-US" altLang="en-US" sz="1600" b="1">
                <a:solidFill>
                  <a:srgbClr val="C00000"/>
                </a:solidFill>
              </a:rPr>
              <a:t>(T1, T2)</a:t>
            </a:r>
            <a:endParaRPr lang="en-US" altLang="en-US" sz="1600"/>
          </a:p>
        </p:txBody>
      </p:sp>
      <p:sp>
        <p:nvSpPr>
          <p:cNvPr id="124939" name="Text Box 11" descr="TextBox 16">
            <a:extLst>
              <a:ext uri="{FF2B5EF4-FFF2-40B4-BE49-F238E27FC236}">
                <a16:creationId xmlns:a16="http://schemas.microsoft.com/office/drawing/2014/main" id="{78910DA4-7926-F9CF-ED57-D41657B3C904}"/>
              </a:ext>
            </a:extLst>
          </p:cNvPr>
          <p:cNvSpPr txBox="1">
            <a:spLocks/>
          </p:cNvSpPr>
          <p:nvPr/>
        </p:nvSpPr>
        <p:spPr bwMode="auto">
          <a:xfrm>
            <a:off x="5048250" y="3787775"/>
            <a:ext cx="265112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Serial schedule </a:t>
            </a:r>
            <a:r>
              <a:rPr lang="en-US" altLang="en-US" sz="1600" b="1">
                <a:solidFill>
                  <a:srgbClr val="C00000"/>
                </a:solidFill>
              </a:rPr>
              <a:t>(T2, T1)</a:t>
            </a:r>
            <a:endParaRPr lang="en-US" altLang="en-US" sz="1600"/>
          </a:p>
        </p:txBody>
      </p:sp>
      <p:sp>
        <p:nvSpPr>
          <p:cNvPr id="124940" name="Line 12" descr="Straight Arrow Connector 17">
            <a:extLst>
              <a:ext uri="{FF2B5EF4-FFF2-40B4-BE49-F238E27FC236}">
                <a16:creationId xmlns:a16="http://schemas.microsoft.com/office/drawing/2014/main" id="{D28879FE-9D6A-4B51-EE01-DCA5E479F3DF}"/>
              </a:ext>
            </a:extLst>
          </p:cNvPr>
          <p:cNvSpPr>
            <a:spLocks noChangeShapeType="1"/>
          </p:cNvSpPr>
          <p:nvPr/>
        </p:nvSpPr>
        <p:spPr bwMode="auto">
          <a:xfrm>
            <a:off x="7689850" y="4335463"/>
            <a:ext cx="0" cy="1658937"/>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4941" name="Text Box 13" descr="TextBox 18">
            <a:extLst>
              <a:ext uri="{FF2B5EF4-FFF2-40B4-BE49-F238E27FC236}">
                <a16:creationId xmlns:a16="http://schemas.microsoft.com/office/drawing/2014/main" id="{C2BF5405-9A07-9618-518A-3A97F8FDAC7F}"/>
              </a:ext>
            </a:extLst>
          </p:cNvPr>
          <p:cNvSpPr txBox="1">
            <a:spLocks/>
          </p:cNvSpPr>
          <p:nvPr/>
        </p:nvSpPr>
        <p:spPr bwMode="auto">
          <a:xfrm>
            <a:off x="7750175" y="4335463"/>
            <a:ext cx="1304925"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Tree>
  </p:cSld>
  <p:clrMapOvr>
    <a:masterClrMapping/>
  </p:clrMapOvr>
  <p:transition spd="med"/>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descr="Title 1">
            <a:extLst>
              <a:ext uri="{FF2B5EF4-FFF2-40B4-BE49-F238E27FC236}">
                <a16:creationId xmlns:a16="http://schemas.microsoft.com/office/drawing/2014/main" id="{FE840D4E-7BF2-7CAC-3E81-16631404DD0F}"/>
              </a:ext>
            </a:extLst>
          </p:cNvPr>
          <p:cNvSpPr>
            <a:spLocks noChangeArrowheads="1"/>
          </p:cNvSpPr>
          <p:nvPr>
            <p:ph type="title"/>
          </p:nvPr>
        </p:nvSpPr>
        <p:spPr/>
        <p:txBody>
          <a:bodyPr/>
          <a:lstStyle/>
          <a:p>
            <a:r>
              <a:rPr lang="en-US" altLang="en-US" sz="2400"/>
              <a:t>Serializibility</a:t>
            </a:r>
          </a:p>
        </p:txBody>
      </p:sp>
      <p:sp>
        <p:nvSpPr>
          <p:cNvPr id="125955" name="Text Box 3" descr="Date Placeholder 3">
            <a:extLst>
              <a:ext uri="{FF2B5EF4-FFF2-40B4-BE49-F238E27FC236}">
                <a16:creationId xmlns:a16="http://schemas.microsoft.com/office/drawing/2014/main" id="{BF88D68F-D83C-E20E-CFC2-9F3AC9CBE2C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5956" name="Text Box 4" descr="Slide Number Placeholder 5">
            <a:extLst>
              <a:ext uri="{FF2B5EF4-FFF2-40B4-BE49-F238E27FC236}">
                <a16:creationId xmlns:a16="http://schemas.microsoft.com/office/drawing/2014/main" id="{B77A0138-E038-4A80-C640-7EA597CC08F5}"/>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3AD1C4E-BCE7-4F33-AD5A-0B84D337998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25957" name="Picture 5" descr="Picture 2">
            <a:extLst>
              <a:ext uri="{FF2B5EF4-FFF2-40B4-BE49-F238E27FC236}">
                <a16:creationId xmlns:a16="http://schemas.microsoft.com/office/drawing/2014/main" id="{80AD3C53-ED30-E706-7C0D-AD8B4DF17D7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98613" y="4364038"/>
            <a:ext cx="3201987" cy="1954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5958" name="Picture 6" descr="Picture 4">
            <a:extLst>
              <a:ext uri="{FF2B5EF4-FFF2-40B4-BE49-F238E27FC236}">
                <a16:creationId xmlns:a16="http://schemas.microsoft.com/office/drawing/2014/main" id="{C0AEF165-C6C0-1080-1D92-2123A05760B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865688" y="1339850"/>
            <a:ext cx="2517775" cy="2193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5959" name="Picture 7" descr="Picture 5">
            <a:extLst>
              <a:ext uri="{FF2B5EF4-FFF2-40B4-BE49-F238E27FC236}">
                <a16:creationId xmlns:a16="http://schemas.microsoft.com/office/drawing/2014/main" id="{864F9B32-5B2F-FEE0-241D-EB4D790B09CD}"/>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687513" y="1358900"/>
            <a:ext cx="2601912" cy="2174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25960" name="Line 8" descr="Straight Arrow Connector 13">
            <a:extLst>
              <a:ext uri="{FF2B5EF4-FFF2-40B4-BE49-F238E27FC236}">
                <a16:creationId xmlns:a16="http://schemas.microsoft.com/office/drawing/2014/main" id="{7D37BAC0-DCBE-A61B-877D-EFA181F453E2}"/>
              </a:ext>
            </a:extLst>
          </p:cNvPr>
          <p:cNvSpPr>
            <a:spLocks noChangeShapeType="1"/>
          </p:cNvSpPr>
          <p:nvPr/>
        </p:nvSpPr>
        <p:spPr bwMode="auto">
          <a:xfrm flipH="1">
            <a:off x="1471613" y="1600200"/>
            <a:ext cx="0" cy="161131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5961" name="Text Box 9" descr="TextBox 14">
            <a:extLst>
              <a:ext uri="{FF2B5EF4-FFF2-40B4-BE49-F238E27FC236}">
                <a16:creationId xmlns:a16="http://schemas.microsoft.com/office/drawing/2014/main" id="{0B5520CC-3530-5E2C-7C2F-94AE65A409C2}"/>
              </a:ext>
            </a:extLst>
          </p:cNvPr>
          <p:cNvSpPr txBox="1">
            <a:spLocks/>
          </p:cNvSpPr>
          <p:nvPr/>
        </p:nvSpPr>
        <p:spPr bwMode="auto">
          <a:xfrm>
            <a:off x="120650" y="1798638"/>
            <a:ext cx="1304925"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5962" name="Text Box 10" descr="TextBox 15">
            <a:extLst>
              <a:ext uri="{FF2B5EF4-FFF2-40B4-BE49-F238E27FC236}">
                <a16:creationId xmlns:a16="http://schemas.microsoft.com/office/drawing/2014/main" id="{BCE8775F-9C93-4F97-C8BB-33819F7A71F4}"/>
              </a:ext>
            </a:extLst>
          </p:cNvPr>
          <p:cNvSpPr txBox="1">
            <a:spLocks/>
          </p:cNvSpPr>
          <p:nvPr/>
        </p:nvSpPr>
        <p:spPr bwMode="auto">
          <a:xfrm>
            <a:off x="1836738" y="1104900"/>
            <a:ext cx="2417762"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Serial schedule </a:t>
            </a:r>
            <a:r>
              <a:rPr lang="en-US" altLang="en-US" sz="1400"/>
              <a:t>(T1, T2)</a:t>
            </a:r>
            <a:endParaRPr lang="en-US" altLang="en-US" sz="1400" b="1"/>
          </a:p>
        </p:txBody>
      </p:sp>
      <p:sp>
        <p:nvSpPr>
          <p:cNvPr id="125963" name="Text Box 11" descr="TextBox 16">
            <a:extLst>
              <a:ext uri="{FF2B5EF4-FFF2-40B4-BE49-F238E27FC236}">
                <a16:creationId xmlns:a16="http://schemas.microsoft.com/office/drawing/2014/main" id="{50FA08FC-46B1-3597-CB92-877D69FE043E}"/>
              </a:ext>
            </a:extLst>
          </p:cNvPr>
          <p:cNvSpPr txBox="1">
            <a:spLocks/>
          </p:cNvSpPr>
          <p:nvPr/>
        </p:nvSpPr>
        <p:spPr bwMode="auto">
          <a:xfrm>
            <a:off x="4968875" y="1052513"/>
            <a:ext cx="2417763"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Serial schedule </a:t>
            </a:r>
            <a:r>
              <a:rPr lang="en-US" altLang="en-US" sz="1400"/>
              <a:t>(T2, T1)</a:t>
            </a:r>
            <a:endParaRPr lang="en-US" altLang="en-US" sz="1400" b="1"/>
          </a:p>
        </p:txBody>
      </p:sp>
      <p:sp>
        <p:nvSpPr>
          <p:cNvPr id="125964" name="Line 12" descr="Straight Arrow Connector 17">
            <a:extLst>
              <a:ext uri="{FF2B5EF4-FFF2-40B4-BE49-F238E27FC236}">
                <a16:creationId xmlns:a16="http://schemas.microsoft.com/office/drawing/2014/main" id="{070423DA-796F-F2EB-0D74-91E881B7A411}"/>
              </a:ext>
            </a:extLst>
          </p:cNvPr>
          <p:cNvSpPr>
            <a:spLocks noChangeShapeType="1"/>
          </p:cNvSpPr>
          <p:nvPr/>
        </p:nvSpPr>
        <p:spPr bwMode="auto">
          <a:xfrm>
            <a:off x="7480300" y="1600200"/>
            <a:ext cx="0" cy="16573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5965" name="Text Box 13" descr="TextBox 18">
            <a:extLst>
              <a:ext uri="{FF2B5EF4-FFF2-40B4-BE49-F238E27FC236}">
                <a16:creationId xmlns:a16="http://schemas.microsoft.com/office/drawing/2014/main" id="{E2A045F5-5D65-9BED-C40F-AC58799DBA2B}"/>
              </a:ext>
            </a:extLst>
          </p:cNvPr>
          <p:cNvSpPr txBox="1">
            <a:spLocks/>
          </p:cNvSpPr>
          <p:nvPr/>
        </p:nvSpPr>
        <p:spPr bwMode="auto">
          <a:xfrm>
            <a:off x="7540625" y="1600200"/>
            <a:ext cx="1304925" cy="738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5966" name="Line 14" descr="Straight Arrow Connector 19">
            <a:extLst>
              <a:ext uri="{FF2B5EF4-FFF2-40B4-BE49-F238E27FC236}">
                <a16:creationId xmlns:a16="http://schemas.microsoft.com/office/drawing/2014/main" id="{7E10320C-9565-5F4C-726B-84D840C51F39}"/>
              </a:ext>
            </a:extLst>
          </p:cNvPr>
          <p:cNvSpPr>
            <a:spLocks noChangeShapeType="1"/>
          </p:cNvSpPr>
          <p:nvPr/>
        </p:nvSpPr>
        <p:spPr bwMode="auto">
          <a:xfrm flipH="1">
            <a:off x="1431925" y="4597400"/>
            <a:ext cx="0" cy="161290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5967" name="Text Box 15" descr="TextBox 20">
            <a:extLst>
              <a:ext uri="{FF2B5EF4-FFF2-40B4-BE49-F238E27FC236}">
                <a16:creationId xmlns:a16="http://schemas.microsoft.com/office/drawing/2014/main" id="{536C2698-5A71-4D6C-40BF-485239365EC9}"/>
              </a:ext>
            </a:extLst>
          </p:cNvPr>
          <p:cNvSpPr txBox="1">
            <a:spLocks/>
          </p:cNvSpPr>
          <p:nvPr/>
        </p:nvSpPr>
        <p:spPr bwMode="auto">
          <a:xfrm>
            <a:off x="80963" y="4795838"/>
            <a:ext cx="1304925"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5968" name="Text Box 16" descr="TextBox 21">
            <a:extLst>
              <a:ext uri="{FF2B5EF4-FFF2-40B4-BE49-F238E27FC236}">
                <a16:creationId xmlns:a16="http://schemas.microsoft.com/office/drawing/2014/main" id="{9B206548-5776-7499-69FF-524188F624F9}"/>
              </a:ext>
            </a:extLst>
          </p:cNvPr>
          <p:cNvSpPr txBox="1">
            <a:spLocks/>
          </p:cNvSpPr>
          <p:nvPr/>
        </p:nvSpPr>
        <p:spPr bwMode="auto">
          <a:xfrm>
            <a:off x="873125" y="3533775"/>
            <a:ext cx="3856038" cy="814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Non-Serial</a:t>
            </a:r>
            <a:r>
              <a:rPr lang="en-US" altLang="en-US" sz="1600"/>
              <a:t> schedule which </a:t>
            </a:r>
          </a:p>
          <a:p>
            <a:r>
              <a:rPr lang="en-US" altLang="en-US" sz="1600"/>
              <a:t>is </a:t>
            </a:r>
            <a:r>
              <a:rPr lang="en-US" altLang="en-US" sz="1600" b="1"/>
              <a:t>serializable</a:t>
            </a:r>
            <a:r>
              <a:rPr lang="en-US" altLang="en-US" sz="1600"/>
              <a:t> because it is </a:t>
            </a:r>
          </a:p>
          <a:p>
            <a:r>
              <a:rPr lang="en-US" altLang="en-US" sz="1600"/>
              <a:t>equivalent to serial schedule (T1,T2)</a:t>
            </a:r>
          </a:p>
        </p:txBody>
      </p:sp>
    </p:spTree>
  </p:cSld>
  <p:clrMapOvr>
    <a:masterClrMapping/>
  </p:clrMapOvr>
  <p:transition spd="med"/>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2" descr="Title 1">
            <a:extLst>
              <a:ext uri="{FF2B5EF4-FFF2-40B4-BE49-F238E27FC236}">
                <a16:creationId xmlns:a16="http://schemas.microsoft.com/office/drawing/2014/main" id="{8AF580A2-A549-B590-DFA9-6D5D38F9C4ED}"/>
              </a:ext>
            </a:extLst>
          </p:cNvPr>
          <p:cNvSpPr>
            <a:spLocks noChangeArrowheads="1"/>
          </p:cNvSpPr>
          <p:nvPr>
            <p:ph type="title"/>
          </p:nvPr>
        </p:nvSpPr>
        <p:spPr/>
        <p:txBody>
          <a:bodyPr/>
          <a:lstStyle/>
          <a:p>
            <a:r>
              <a:rPr lang="en-US" altLang="en-US" sz="2400"/>
              <a:t>Serializibility</a:t>
            </a:r>
          </a:p>
        </p:txBody>
      </p:sp>
      <p:sp>
        <p:nvSpPr>
          <p:cNvPr id="126979" name="Text Box 3" descr="Date Placeholder 3">
            <a:extLst>
              <a:ext uri="{FF2B5EF4-FFF2-40B4-BE49-F238E27FC236}">
                <a16:creationId xmlns:a16="http://schemas.microsoft.com/office/drawing/2014/main" id="{60063E64-AC74-0BC0-F8E4-C5996C61F34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6980" name="Text Box 4" descr="Slide Number Placeholder 5">
            <a:extLst>
              <a:ext uri="{FF2B5EF4-FFF2-40B4-BE49-F238E27FC236}">
                <a16:creationId xmlns:a16="http://schemas.microsoft.com/office/drawing/2014/main" id="{BC786DE3-98BD-3A22-45BC-B15E2DE3F4C7}"/>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88176E7-432E-4AF1-B7F4-67E4380D2FA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119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26981" name="Picture 5" descr="Picture 2">
            <a:extLst>
              <a:ext uri="{FF2B5EF4-FFF2-40B4-BE49-F238E27FC236}">
                <a16:creationId xmlns:a16="http://schemas.microsoft.com/office/drawing/2014/main" id="{5DABF663-90F0-4AF2-CD94-50AC8844B7D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98613" y="4364038"/>
            <a:ext cx="2346325" cy="220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6982" name="Picture 6" descr="Picture 3">
            <a:extLst>
              <a:ext uri="{FF2B5EF4-FFF2-40B4-BE49-F238E27FC236}">
                <a16:creationId xmlns:a16="http://schemas.microsoft.com/office/drawing/2014/main" id="{1297C05F-D894-A076-24F4-BE61D9FED45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946650" y="4360863"/>
            <a:ext cx="2895600" cy="2208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6983" name="Picture 7" descr="Picture 4">
            <a:extLst>
              <a:ext uri="{FF2B5EF4-FFF2-40B4-BE49-F238E27FC236}">
                <a16:creationId xmlns:a16="http://schemas.microsoft.com/office/drawing/2014/main" id="{D318154F-FC89-EC11-6858-97A1DACA31D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865688" y="1339850"/>
            <a:ext cx="2486025" cy="1997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6984" name="Picture 8" descr="Picture 5">
            <a:extLst>
              <a:ext uri="{FF2B5EF4-FFF2-40B4-BE49-F238E27FC236}">
                <a16:creationId xmlns:a16="http://schemas.microsoft.com/office/drawing/2014/main" id="{474CA171-D555-D962-1305-765D7E6B424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687513" y="1358900"/>
            <a:ext cx="2601912" cy="1997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26985" name="Line 9" descr="Straight Arrow Connector 13">
            <a:extLst>
              <a:ext uri="{FF2B5EF4-FFF2-40B4-BE49-F238E27FC236}">
                <a16:creationId xmlns:a16="http://schemas.microsoft.com/office/drawing/2014/main" id="{68C2EE6A-F8C5-8A8D-C056-BD422D3B502B}"/>
              </a:ext>
            </a:extLst>
          </p:cNvPr>
          <p:cNvSpPr>
            <a:spLocks noChangeShapeType="1"/>
          </p:cNvSpPr>
          <p:nvPr/>
        </p:nvSpPr>
        <p:spPr bwMode="auto">
          <a:xfrm flipH="1">
            <a:off x="1471613" y="1600200"/>
            <a:ext cx="0" cy="161131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6986" name="Text Box 10" descr="TextBox 14">
            <a:extLst>
              <a:ext uri="{FF2B5EF4-FFF2-40B4-BE49-F238E27FC236}">
                <a16:creationId xmlns:a16="http://schemas.microsoft.com/office/drawing/2014/main" id="{9FDCDEA6-29F2-A211-DF01-9306B71A2728}"/>
              </a:ext>
            </a:extLst>
          </p:cNvPr>
          <p:cNvSpPr txBox="1">
            <a:spLocks/>
          </p:cNvSpPr>
          <p:nvPr/>
        </p:nvSpPr>
        <p:spPr bwMode="auto">
          <a:xfrm>
            <a:off x="120650" y="1798638"/>
            <a:ext cx="1304925"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6987" name="Text Box 11" descr="TextBox 15">
            <a:extLst>
              <a:ext uri="{FF2B5EF4-FFF2-40B4-BE49-F238E27FC236}">
                <a16:creationId xmlns:a16="http://schemas.microsoft.com/office/drawing/2014/main" id="{A4803152-BB29-0C37-5F78-28EFDF7669E2}"/>
              </a:ext>
            </a:extLst>
          </p:cNvPr>
          <p:cNvSpPr txBox="1">
            <a:spLocks/>
          </p:cNvSpPr>
          <p:nvPr/>
        </p:nvSpPr>
        <p:spPr bwMode="auto">
          <a:xfrm>
            <a:off x="1836738" y="1104900"/>
            <a:ext cx="2417762"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Serial schedule </a:t>
            </a:r>
            <a:r>
              <a:rPr lang="en-US" altLang="en-US" sz="1400"/>
              <a:t>(T1, T2)</a:t>
            </a:r>
            <a:endParaRPr lang="en-US" altLang="en-US" sz="1400" b="1"/>
          </a:p>
        </p:txBody>
      </p:sp>
      <p:sp>
        <p:nvSpPr>
          <p:cNvPr id="126988" name="Text Box 12" descr="TextBox 16">
            <a:extLst>
              <a:ext uri="{FF2B5EF4-FFF2-40B4-BE49-F238E27FC236}">
                <a16:creationId xmlns:a16="http://schemas.microsoft.com/office/drawing/2014/main" id="{0D827CD0-766D-5E0F-95EE-BC0977578C45}"/>
              </a:ext>
            </a:extLst>
          </p:cNvPr>
          <p:cNvSpPr txBox="1">
            <a:spLocks/>
          </p:cNvSpPr>
          <p:nvPr/>
        </p:nvSpPr>
        <p:spPr bwMode="auto">
          <a:xfrm>
            <a:off x="4968875" y="1052513"/>
            <a:ext cx="2417763"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Serial schedule </a:t>
            </a:r>
            <a:r>
              <a:rPr lang="en-US" altLang="en-US" sz="1400"/>
              <a:t>(T2, T1)</a:t>
            </a:r>
            <a:endParaRPr lang="en-US" altLang="en-US" sz="1400" b="1"/>
          </a:p>
        </p:txBody>
      </p:sp>
      <p:sp>
        <p:nvSpPr>
          <p:cNvPr id="126989" name="Line 13" descr="Straight Arrow Connector 17">
            <a:extLst>
              <a:ext uri="{FF2B5EF4-FFF2-40B4-BE49-F238E27FC236}">
                <a16:creationId xmlns:a16="http://schemas.microsoft.com/office/drawing/2014/main" id="{459A2783-C61F-8FA6-FC99-31EA218620AA}"/>
              </a:ext>
            </a:extLst>
          </p:cNvPr>
          <p:cNvSpPr>
            <a:spLocks noChangeShapeType="1"/>
          </p:cNvSpPr>
          <p:nvPr/>
        </p:nvSpPr>
        <p:spPr bwMode="auto">
          <a:xfrm>
            <a:off x="7480300" y="1600200"/>
            <a:ext cx="0" cy="16573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6990" name="Text Box 14" descr="TextBox 18">
            <a:extLst>
              <a:ext uri="{FF2B5EF4-FFF2-40B4-BE49-F238E27FC236}">
                <a16:creationId xmlns:a16="http://schemas.microsoft.com/office/drawing/2014/main" id="{7E35F44C-7A15-0E4D-2C07-38A88932ABF9}"/>
              </a:ext>
            </a:extLst>
          </p:cNvPr>
          <p:cNvSpPr txBox="1">
            <a:spLocks/>
          </p:cNvSpPr>
          <p:nvPr/>
        </p:nvSpPr>
        <p:spPr bwMode="auto">
          <a:xfrm>
            <a:off x="7540625" y="1600200"/>
            <a:ext cx="1304925" cy="738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6991" name="Line 15" descr="Straight Arrow Connector 19">
            <a:extLst>
              <a:ext uri="{FF2B5EF4-FFF2-40B4-BE49-F238E27FC236}">
                <a16:creationId xmlns:a16="http://schemas.microsoft.com/office/drawing/2014/main" id="{2348A760-5EBB-1D2A-8355-0C68816AF4B4}"/>
              </a:ext>
            </a:extLst>
          </p:cNvPr>
          <p:cNvSpPr>
            <a:spLocks noChangeShapeType="1"/>
          </p:cNvSpPr>
          <p:nvPr/>
        </p:nvSpPr>
        <p:spPr bwMode="auto">
          <a:xfrm flipH="1">
            <a:off x="1431925" y="4597400"/>
            <a:ext cx="0" cy="161290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6992" name="Text Box 16" descr="TextBox 20">
            <a:extLst>
              <a:ext uri="{FF2B5EF4-FFF2-40B4-BE49-F238E27FC236}">
                <a16:creationId xmlns:a16="http://schemas.microsoft.com/office/drawing/2014/main" id="{65E27D40-A5BD-8BC8-EA9F-EF2B08788D54}"/>
              </a:ext>
            </a:extLst>
          </p:cNvPr>
          <p:cNvSpPr txBox="1">
            <a:spLocks/>
          </p:cNvSpPr>
          <p:nvPr/>
        </p:nvSpPr>
        <p:spPr bwMode="auto">
          <a:xfrm>
            <a:off x="80963" y="4795838"/>
            <a:ext cx="1304925"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6993" name="Text Box 17" descr="TextBox 21">
            <a:extLst>
              <a:ext uri="{FF2B5EF4-FFF2-40B4-BE49-F238E27FC236}">
                <a16:creationId xmlns:a16="http://schemas.microsoft.com/office/drawing/2014/main" id="{D8967494-2FED-AB58-B097-8E849D81BA1F}"/>
              </a:ext>
            </a:extLst>
          </p:cNvPr>
          <p:cNvSpPr txBox="1">
            <a:spLocks/>
          </p:cNvSpPr>
          <p:nvPr/>
        </p:nvSpPr>
        <p:spPr bwMode="auto">
          <a:xfrm>
            <a:off x="873125" y="3533775"/>
            <a:ext cx="3856038" cy="814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Non-Serial</a:t>
            </a:r>
            <a:r>
              <a:rPr lang="en-US" altLang="en-US" sz="1600"/>
              <a:t> schedule which </a:t>
            </a:r>
          </a:p>
          <a:p>
            <a:r>
              <a:rPr lang="en-US" altLang="en-US" sz="1600"/>
              <a:t>is </a:t>
            </a:r>
            <a:r>
              <a:rPr lang="en-US" altLang="en-US" sz="1600" b="1"/>
              <a:t>serializable</a:t>
            </a:r>
            <a:r>
              <a:rPr lang="en-US" altLang="en-US" sz="1600"/>
              <a:t> because it is </a:t>
            </a:r>
          </a:p>
          <a:p>
            <a:r>
              <a:rPr lang="en-US" altLang="en-US" sz="1600"/>
              <a:t>equivalent to serial schedule (T1,T2)</a:t>
            </a:r>
          </a:p>
        </p:txBody>
      </p:sp>
      <p:sp>
        <p:nvSpPr>
          <p:cNvPr id="126994" name="Line 18" descr="Straight Arrow Connector 22">
            <a:extLst>
              <a:ext uri="{FF2B5EF4-FFF2-40B4-BE49-F238E27FC236}">
                <a16:creationId xmlns:a16="http://schemas.microsoft.com/office/drawing/2014/main" id="{DC6FDDC8-6950-97DB-511A-7A1BFCA361B3}"/>
              </a:ext>
            </a:extLst>
          </p:cNvPr>
          <p:cNvSpPr>
            <a:spLocks noChangeShapeType="1"/>
          </p:cNvSpPr>
          <p:nvPr/>
        </p:nvSpPr>
        <p:spPr bwMode="auto">
          <a:xfrm>
            <a:off x="7918450" y="4652963"/>
            <a:ext cx="0" cy="1658937"/>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26995" name="Text Box 19" descr="TextBox 23">
            <a:extLst>
              <a:ext uri="{FF2B5EF4-FFF2-40B4-BE49-F238E27FC236}">
                <a16:creationId xmlns:a16="http://schemas.microsoft.com/office/drawing/2014/main" id="{2089E669-1CB2-B215-A22B-C8E02EF21238}"/>
              </a:ext>
            </a:extLst>
          </p:cNvPr>
          <p:cNvSpPr txBox="1">
            <a:spLocks/>
          </p:cNvSpPr>
          <p:nvPr/>
        </p:nvSpPr>
        <p:spPr bwMode="auto">
          <a:xfrm>
            <a:off x="7900988" y="4597400"/>
            <a:ext cx="1304925"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Order of</a:t>
            </a:r>
          </a:p>
          <a:p>
            <a:r>
              <a:rPr lang="en-US" altLang="en-US" sz="1400"/>
              <a:t>Execution</a:t>
            </a:r>
          </a:p>
          <a:p>
            <a:r>
              <a:rPr lang="en-US" altLang="en-US" sz="1400"/>
              <a:t>Of operations</a:t>
            </a:r>
          </a:p>
        </p:txBody>
      </p:sp>
      <p:sp>
        <p:nvSpPr>
          <p:cNvPr id="126996" name="Text Box 20" descr="TextBox 24">
            <a:extLst>
              <a:ext uri="{FF2B5EF4-FFF2-40B4-BE49-F238E27FC236}">
                <a16:creationId xmlns:a16="http://schemas.microsoft.com/office/drawing/2014/main" id="{9C99167A-7370-833A-8346-340A17774968}"/>
              </a:ext>
            </a:extLst>
          </p:cNvPr>
          <p:cNvSpPr txBox="1">
            <a:spLocks/>
          </p:cNvSpPr>
          <p:nvPr/>
        </p:nvSpPr>
        <p:spPr bwMode="auto">
          <a:xfrm>
            <a:off x="5248275" y="3546475"/>
            <a:ext cx="3716338"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Non-Serial</a:t>
            </a:r>
            <a:r>
              <a:rPr lang="en-US" altLang="en-US" sz="1600"/>
              <a:t> schedule, but it is </a:t>
            </a:r>
            <a:r>
              <a:rPr lang="en-US" altLang="en-US" sz="1600" b="1"/>
              <a:t>not </a:t>
            </a:r>
          </a:p>
          <a:p>
            <a:r>
              <a:rPr lang="en-US" altLang="en-US" sz="1600" b="1"/>
              <a:t>serializable</a:t>
            </a:r>
            <a:r>
              <a:rPr lang="en-US" altLang="en-US" sz="1600"/>
              <a:t> because it is not </a:t>
            </a:r>
          </a:p>
          <a:p>
            <a:r>
              <a:rPr lang="en-US" altLang="en-US" sz="1600"/>
              <a:t>equivalent to any serial schedule</a:t>
            </a:r>
          </a:p>
        </p:txBody>
      </p:sp>
    </p:spTree>
  </p:cSld>
  <p:clrMapOvr>
    <a:masterClrMapping/>
  </p:clrMapOvr>
  <p:transition spd="med"/>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2" descr="Title 1">
            <a:extLst>
              <a:ext uri="{FF2B5EF4-FFF2-40B4-BE49-F238E27FC236}">
                <a16:creationId xmlns:a16="http://schemas.microsoft.com/office/drawing/2014/main" id="{FD3F0F56-D02B-26BE-306D-242C986F6E0B}"/>
              </a:ext>
            </a:extLst>
          </p:cNvPr>
          <p:cNvSpPr>
            <a:spLocks noChangeArrowheads="1"/>
          </p:cNvSpPr>
          <p:nvPr>
            <p:ph type="title"/>
          </p:nvPr>
        </p:nvSpPr>
        <p:spPr/>
        <p:txBody>
          <a:bodyPr/>
          <a:lstStyle/>
          <a:p>
            <a:r>
              <a:rPr lang="en-US" altLang="en-US" sz="2400"/>
              <a:t>Characterizing Schedules based on Serializibility</a:t>
            </a:r>
          </a:p>
        </p:txBody>
      </p:sp>
      <p:sp>
        <p:nvSpPr>
          <p:cNvPr id="128003" name="Rectangle 3" descr="Content Placeholder 2">
            <a:extLst>
              <a:ext uri="{FF2B5EF4-FFF2-40B4-BE49-F238E27FC236}">
                <a16:creationId xmlns:a16="http://schemas.microsoft.com/office/drawing/2014/main" id="{653FAB20-03EF-851D-2D8E-12589FFB581C}"/>
              </a:ext>
            </a:extLst>
          </p:cNvPr>
          <p:cNvSpPr>
            <a:spLocks noChangeArrowheads="1"/>
          </p:cNvSpPr>
          <p:nvPr>
            <p:ph type="body" idx="1"/>
          </p:nvPr>
        </p:nvSpPr>
        <p:spPr/>
        <p:txBody>
          <a:bodyPr/>
          <a:lstStyle/>
          <a:p>
            <a:pPr marL="171450" indent="-171450">
              <a:spcBef>
                <a:spcPts val="400"/>
              </a:spcBef>
              <a:buSzTx/>
              <a:buFont typeface="Wingdings" panose="05000000000000000000" pitchFamily="2" charset="2"/>
              <a:buNone/>
            </a:pPr>
            <a:r>
              <a:rPr lang="en-US" altLang="en-US" sz="2000" b="1"/>
              <a:t>Based on Serializability </a:t>
            </a:r>
          </a:p>
          <a:p>
            <a:pPr marL="171450" indent="-171450">
              <a:spcBef>
                <a:spcPts val="400"/>
              </a:spcBef>
              <a:buSzTx/>
              <a:buFont typeface="Wingdings" panose="05000000000000000000" pitchFamily="2" charset="2"/>
              <a:buNone/>
            </a:pPr>
            <a:r>
              <a:rPr lang="en-US" altLang="en-US" sz="2000"/>
              <a:t>Characterize which schedules are correct when concurrent transactions are executing. </a:t>
            </a:r>
          </a:p>
          <a:p>
            <a:pPr marL="171450" indent="-171450">
              <a:spcBef>
                <a:spcPts val="400"/>
              </a:spcBef>
              <a:buFontTx/>
              <a:buAutoNum type="arabicPeriod"/>
            </a:pPr>
            <a:r>
              <a:rPr lang="en-US" altLang="en-US" sz="2000"/>
              <a:t>Conflict Serializable Schedule </a:t>
            </a:r>
          </a:p>
          <a:p>
            <a:pPr marL="171450" indent="-171450">
              <a:spcBef>
                <a:spcPts val="400"/>
              </a:spcBef>
              <a:buFontTx/>
              <a:buAutoNum type="arabicPeriod"/>
            </a:pPr>
            <a:r>
              <a:rPr lang="en-US" altLang="en-US" sz="2000"/>
              <a:t>View Serializable Schedule</a:t>
            </a:r>
          </a:p>
        </p:txBody>
      </p:sp>
      <p:sp>
        <p:nvSpPr>
          <p:cNvPr id="128004" name="Text Box 4" descr="Date Placeholder 3">
            <a:extLst>
              <a:ext uri="{FF2B5EF4-FFF2-40B4-BE49-F238E27FC236}">
                <a16:creationId xmlns:a16="http://schemas.microsoft.com/office/drawing/2014/main" id="{8A43EAB0-06FE-195C-699E-32112C33CFB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8005" name="Text Box 5" descr="Slide Number Placeholder 5">
            <a:extLst>
              <a:ext uri="{FF2B5EF4-FFF2-40B4-BE49-F238E27FC236}">
                <a16:creationId xmlns:a16="http://schemas.microsoft.com/office/drawing/2014/main" id="{5813F386-B017-D8D1-428D-9C06A57025E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5C31714-4483-4E10-ADD9-08A3F5C3286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descr="Title 1">
            <a:extLst>
              <a:ext uri="{FF2B5EF4-FFF2-40B4-BE49-F238E27FC236}">
                <a16:creationId xmlns:a16="http://schemas.microsoft.com/office/drawing/2014/main" id="{7E63F09E-5A7D-5C29-2616-4E1208D0EA7C}"/>
              </a:ext>
            </a:extLst>
          </p:cNvPr>
          <p:cNvSpPr>
            <a:spLocks noChangeArrowheads="1"/>
          </p:cNvSpPr>
          <p:nvPr>
            <p:ph type="title"/>
          </p:nvPr>
        </p:nvSpPr>
        <p:spPr/>
        <p:txBody>
          <a:bodyPr/>
          <a:lstStyle/>
          <a:p>
            <a:r>
              <a:rPr lang="en-US" altLang="en-US"/>
              <a:t>Conflict Serializibility Schedule</a:t>
            </a:r>
          </a:p>
        </p:txBody>
      </p:sp>
      <p:sp>
        <p:nvSpPr>
          <p:cNvPr id="129027" name="Rectangle 3" descr="Content Placeholder 2">
            <a:extLst>
              <a:ext uri="{FF2B5EF4-FFF2-40B4-BE49-F238E27FC236}">
                <a16:creationId xmlns:a16="http://schemas.microsoft.com/office/drawing/2014/main" id="{1D92D0E7-82B8-EEB9-A604-0D0A3C8C5F02}"/>
              </a:ext>
            </a:extLst>
          </p:cNvPr>
          <p:cNvSpPr>
            <a:spLocks noChangeArrowheads="1"/>
          </p:cNvSpPr>
          <p:nvPr>
            <p:ph type="body" idx="1"/>
          </p:nvPr>
        </p:nvSpPr>
        <p:spPr/>
        <p:txBody>
          <a:bodyPr/>
          <a:lstStyle/>
          <a:p>
            <a:pPr marL="352425" lvl="1" indent="-352425">
              <a:spcBef>
                <a:spcPts val="400"/>
              </a:spcBef>
              <a:buFontTx/>
              <a:buChar char="□"/>
            </a:pPr>
            <a:r>
              <a:rPr lang="en-US" altLang="en-US" sz="1800"/>
              <a:t>A schedule </a:t>
            </a:r>
            <a:r>
              <a:rPr lang="en-US" altLang="en-US" sz="1800" b="1"/>
              <a:t>S</a:t>
            </a:r>
            <a:r>
              <a:rPr lang="en-US" altLang="en-US" sz="1800"/>
              <a:t> is said to be conflict serializable if it is </a:t>
            </a:r>
            <a:r>
              <a:rPr lang="en-US" altLang="en-US" sz="1800" b="1"/>
              <a:t>conflict equivalent </a:t>
            </a:r>
            <a:r>
              <a:rPr lang="en-US" altLang="en-US" sz="1800"/>
              <a:t>to some serial schedule </a:t>
            </a:r>
            <a:r>
              <a:rPr lang="en-US" altLang="en-US" sz="1800" b="1"/>
              <a:t>S’</a:t>
            </a:r>
            <a:r>
              <a:rPr lang="en-US" altLang="en-US" sz="1800"/>
              <a:t>.</a:t>
            </a:r>
            <a:endParaRPr lang="en-US" altLang="en-US" sz="2600"/>
          </a:p>
          <a:p>
            <a:pPr marL="352425" lvl="1" indent="-352425">
              <a:spcBef>
                <a:spcPts val="600"/>
              </a:spcBef>
              <a:buFontTx/>
              <a:buChar char="□"/>
            </a:pPr>
            <a:endParaRPr lang="en-US" altLang="en-US" sz="1800"/>
          </a:p>
          <a:p>
            <a:pPr marL="352425" lvl="1" indent="-352425">
              <a:spcBef>
                <a:spcPts val="400"/>
              </a:spcBef>
              <a:buSzTx/>
              <a:buFont typeface="Wingdings" panose="05000000000000000000" pitchFamily="2" charset="2"/>
              <a:buNone/>
            </a:pPr>
            <a:r>
              <a:rPr lang="en-US" altLang="en-US" sz="1800"/>
              <a:t>What is Conflict Equivalent ?</a:t>
            </a:r>
            <a:endParaRPr lang="en-US" altLang="en-US" sz="2600"/>
          </a:p>
          <a:p>
            <a:pPr marL="352425" lvl="1" indent="-352425">
              <a:spcBef>
                <a:spcPts val="400"/>
              </a:spcBef>
              <a:buFontTx/>
              <a:buChar char="□"/>
            </a:pPr>
            <a:r>
              <a:rPr lang="en-US" altLang="en-US" sz="1800"/>
              <a:t>Two schedules are said to be conflict equivalent if the order of any two </a:t>
            </a:r>
            <a:r>
              <a:rPr lang="en-US" altLang="en-US" sz="1800" b="1"/>
              <a:t>conflicting operations </a:t>
            </a:r>
            <a:r>
              <a:rPr lang="en-US" altLang="en-US" sz="1800"/>
              <a:t>is the same in both schedules.</a:t>
            </a:r>
          </a:p>
        </p:txBody>
      </p:sp>
      <p:sp>
        <p:nvSpPr>
          <p:cNvPr id="129028" name="Text Box 4" descr="Date Placeholder 3">
            <a:extLst>
              <a:ext uri="{FF2B5EF4-FFF2-40B4-BE49-F238E27FC236}">
                <a16:creationId xmlns:a16="http://schemas.microsoft.com/office/drawing/2014/main" id="{FD285BAE-68B8-3E64-C108-F91F7FDF8D0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29029" name="Text Box 5" descr="Slide Number Placeholder 5">
            <a:extLst>
              <a:ext uri="{FF2B5EF4-FFF2-40B4-BE49-F238E27FC236}">
                <a16:creationId xmlns:a16="http://schemas.microsoft.com/office/drawing/2014/main" id="{D200A919-DE69-2654-BAC5-211545E146A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21E82E2-16E5-455B-83DC-860E68A8965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2" descr="Title 1">
            <a:extLst>
              <a:ext uri="{FF2B5EF4-FFF2-40B4-BE49-F238E27FC236}">
                <a16:creationId xmlns:a16="http://schemas.microsoft.com/office/drawing/2014/main" id="{A0848C5E-2E29-C70C-2EC9-FA0E04FE9902}"/>
              </a:ext>
            </a:extLst>
          </p:cNvPr>
          <p:cNvSpPr>
            <a:spLocks noChangeArrowheads="1"/>
          </p:cNvSpPr>
          <p:nvPr>
            <p:ph type="title"/>
          </p:nvPr>
        </p:nvSpPr>
        <p:spPr/>
        <p:txBody>
          <a:bodyPr/>
          <a:lstStyle/>
          <a:p>
            <a:r>
              <a:rPr lang="en-US" altLang="en-US" sz="2000">
                <a:solidFill>
                  <a:srgbClr val="FF0000"/>
                </a:solidFill>
              </a:rPr>
              <a:t>Check whether the given Two schedules are conflict equivalent ?</a:t>
            </a:r>
          </a:p>
        </p:txBody>
      </p:sp>
      <p:sp>
        <p:nvSpPr>
          <p:cNvPr id="130051" name="Rectangle 3" descr="Content Placeholder 2">
            <a:extLst>
              <a:ext uri="{FF2B5EF4-FFF2-40B4-BE49-F238E27FC236}">
                <a16:creationId xmlns:a16="http://schemas.microsoft.com/office/drawing/2014/main" id="{322B39F8-9397-98B4-0EB5-995AC0364C62}"/>
              </a:ext>
            </a:extLst>
          </p:cNvPr>
          <p:cNvSpPr>
            <a:spLocks noChangeArrowheads="1"/>
          </p:cNvSpPr>
          <p:nvPr>
            <p:ph type="body" idx="1"/>
          </p:nvPr>
        </p:nvSpPr>
        <p:spPr/>
        <p:txBody>
          <a:bodyPr/>
          <a:lstStyle/>
          <a:p>
            <a:pPr marL="469900" lvl="1" indent="-469900">
              <a:spcBef>
                <a:spcPts val="400"/>
              </a:spcBef>
              <a:buFontTx/>
              <a:buChar char="□"/>
            </a:pPr>
            <a:r>
              <a:rPr lang="en-US" altLang="en-US" sz="1800"/>
              <a:t>Definition: Two schedules are said to be conflict equivalent if the order of any two </a:t>
            </a:r>
            <a:r>
              <a:rPr lang="en-US" altLang="en-US" sz="1800" b="1"/>
              <a:t>conflicting operations </a:t>
            </a:r>
            <a:r>
              <a:rPr lang="en-US" altLang="en-US" sz="1800"/>
              <a:t>is the same in both schedules.</a:t>
            </a:r>
          </a:p>
        </p:txBody>
      </p:sp>
      <p:sp>
        <p:nvSpPr>
          <p:cNvPr id="130052" name="Text Box 4" descr="Date Placeholder 3">
            <a:extLst>
              <a:ext uri="{FF2B5EF4-FFF2-40B4-BE49-F238E27FC236}">
                <a16:creationId xmlns:a16="http://schemas.microsoft.com/office/drawing/2014/main" id="{95AC61B4-C438-E5EB-02DE-4082CF562A4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0053" name="Text Box 5" descr="Slide Number Placeholder 5">
            <a:extLst>
              <a:ext uri="{FF2B5EF4-FFF2-40B4-BE49-F238E27FC236}">
                <a16:creationId xmlns:a16="http://schemas.microsoft.com/office/drawing/2014/main" id="{E9AA26D2-2595-F6B9-439A-61A5998D7C9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F2B8D04-FC15-4D62-B6A0-E56F7FAC48F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30054" name="Group 6">
            <a:extLst>
              <a:ext uri="{FF2B5EF4-FFF2-40B4-BE49-F238E27FC236}">
                <a16:creationId xmlns:a16="http://schemas.microsoft.com/office/drawing/2014/main" id="{CCC7BB88-9CFA-9AAF-064C-0F179D648F6A}"/>
              </a:ext>
            </a:extLst>
          </p:cNvPr>
          <p:cNvGraphicFramePr>
            <a:graphicFrameLocks noGrp="1"/>
          </p:cNvGraphicFramePr>
          <p:nvPr/>
        </p:nvGraphicFramePr>
        <p:xfrm>
          <a:off x="827088" y="2708275"/>
          <a:ext cx="2736850" cy="1920875"/>
        </p:xfrm>
        <a:graphic>
          <a:graphicData uri="http://schemas.openxmlformats.org/drawingml/2006/table">
            <a:tbl>
              <a:tblPr/>
              <a:tblGrid>
                <a:gridCol w="1368425">
                  <a:extLst>
                    <a:ext uri="{9D8B030D-6E8A-4147-A177-3AD203B41FA5}">
                      <a16:colId xmlns:a16="http://schemas.microsoft.com/office/drawing/2014/main" val="3450671984"/>
                    </a:ext>
                  </a:extLst>
                </a:gridCol>
                <a:gridCol w="1368425">
                  <a:extLst>
                    <a:ext uri="{9D8B030D-6E8A-4147-A177-3AD203B41FA5}">
                      <a16:colId xmlns:a16="http://schemas.microsoft.com/office/drawing/2014/main" val="318482798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0528229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6528950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735186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7298513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26688876"/>
                  </a:ext>
                </a:extLst>
              </a:tr>
            </a:tbl>
          </a:graphicData>
        </a:graphic>
      </p:graphicFrame>
      <p:sp>
        <p:nvSpPr>
          <p:cNvPr id="130092" name="Text Box 44" descr="TextBox 7">
            <a:extLst>
              <a:ext uri="{FF2B5EF4-FFF2-40B4-BE49-F238E27FC236}">
                <a16:creationId xmlns:a16="http://schemas.microsoft.com/office/drawing/2014/main" id="{E76C40A1-EAE7-E288-2AB7-547A9C311C96}"/>
              </a:ext>
            </a:extLst>
          </p:cNvPr>
          <p:cNvSpPr txBox="1">
            <a:spLocks/>
          </p:cNvSpPr>
          <p:nvPr/>
        </p:nvSpPr>
        <p:spPr bwMode="auto">
          <a:xfrm>
            <a:off x="944563" y="2338388"/>
            <a:ext cx="152876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
        <p:nvSpPr>
          <p:cNvPr id="130093" name="Text Box 45" descr="TextBox 8">
            <a:extLst>
              <a:ext uri="{FF2B5EF4-FFF2-40B4-BE49-F238E27FC236}">
                <a16:creationId xmlns:a16="http://schemas.microsoft.com/office/drawing/2014/main" id="{43F2E81F-526F-BB3B-3B9B-75BD3F21E5EA}"/>
              </a:ext>
            </a:extLst>
          </p:cNvPr>
          <p:cNvSpPr txBox="1">
            <a:spLocks/>
          </p:cNvSpPr>
          <p:nvPr/>
        </p:nvSpPr>
        <p:spPr bwMode="auto">
          <a:xfrm>
            <a:off x="944563" y="4795838"/>
            <a:ext cx="5010150"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 R1(A), R1(B), W2(A), W2(B)</a:t>
            </a:r>
          </a:p>
          <a:p>
            <a:r>
              <a:rPr lang="en-US" altLang="en-US"/>
              <a:t>Schedule S2: R1(A),W2(A), R1(B),W2(B)</a:t>
            </a:r>
          </a:p>
        </p:txBody>
      </p:sp>
      <p:graphicFrame>
        <p:nvGraphicFramePr>
          <p:cNvPr id="130094" name="Group 46">
            <a:extLst>
              <a:ext uri="{FF2B5EF4-FFF2-40B4-BE49-F238E27FC236}">
                <a16:creationId xmlns:a16="http://schemas.microsoft.com/office/drawing/2014/main" id="{78DABC42-F31A-B6DF-926A-0F03133DA7B5}"/>
              </a:ext>
            </a:extLst>
          </p:cNvPr>
          <p:cNvGraphicFramePr>
            <a:graphicFrameLocks noGrp="1"/>
          </p:cNvGraphicFramePr>
          <p:nvPr/>
        </p:nvGraphicFramePr>
        <p:xfrm>
          <a:off x="4211638" y="2727325"/>
          <a:ext cx="2736850" cy="1920875"/>
        </p:xfrm>
        <a:graphic>
          <a:graphicData uri="http://schemas.openxmlformats.org/drawingml/2006/table">
            <a:tbl>
              <a:tblPr/>
              <a:tblGrid>
                <a:gridCol w="1368425">
                  <a:extLst>
                    <a:ext uri="{9D8B030D-6E8A-4147-A177-3AD203B41FA5}">
                      <a16:colId xmlns:a16="http://schemas.microsoft.com/office/drawing/2014/main" val="2797392734"/>
                    </a:ext>
                  </a:extLst>
                </a:gridCol>
                <a:gridCol w="1368425">
                  <a:extLst>
                    <a:ext uri="{9D8B030D-6E8A-4147-A177-3AD203B41FA5}">
                      <a16:colId xmlns:a16="http://schemas.microsoft.com/office/drawing/2014/main" val="388046144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9947071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031586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696429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61953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80097011"/>
                  </a:ext>
                </a:extLst>
              </a:tr>
            </a:tbl>
          </a:graphicData>
        </a:graphic>
      </p:graphicFrame>
      <p:sp>
        <p:nvSpPr>
          <p:cNvPr id="130132" name="Text Box 84" descr="TextBox 10">
            <a:extLst>
              <a:ext uri="{FF2B5EF4-FFF2-40B4-BE49-F238E27FC236}">
                <a16:creationId xmlns:a16="http://schemas.microsoft.com/office/drawing/2014/main" id="{27019D9C-C40F-0045-AE45-60BC40826ABA}"/>
              </a:ext>
            </a:extLst>
          </p:cNvPr>
          <p:cNvSpPr txBox="1">
            <a:spLocks/>
          </p:cNvSpPr>
          <p:nvPr/>
        </p:nvSpPr>
        <p:spPr bwMode="auto">
          <a:xfrm>
            <a:off x="4329113" y="2357438"/>
            <a:ext cx="15287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S2</a:t>
            </a:r>
          </a:p>
        </p:txBody>
      </p:sp>
    </p:spTree>
  </p:cSld>
  <p:clrMapOvr>
    <a:masterClrMapping/>
  </p:clrMapOvr>
  <p:transition spd="med"/>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descr="Title 1">
            <a:extLst>
              <a:ext uri="{FF2B5EF4-FFF2-40B4-BE49-F238E27FC236}">
                <a16:creationId xmlns:a16="http://schemas.microsoft.com/office/drawing/2014/main" id="{F6C2587A-1774-1AF7-D7A9-2BC65CEE3560}"/>
              </a:ext>
            </a:extLst>
          </p:cNvPr>
          <p:cNvSpPr>
            <a:spLocks noChangeArrowheads="1"/>
          </p:cNvSpPr>
          <p:nvPr>
            <p:ph type="title"/>
          </p:nvPr>
        </p:nvSpPr>
        <p:spPr/>
        <p:txBody>
          <a:bodyPr/>
          <a:lstStyle/>
          <a:p>
            <a:r>
              <a:rPr lang="en-US" altLang="en-US" sz="2000">
                <a:solidFill>
                  <a:srgbClr val="FF0000"/>
                </a:solidFill>
              </a:rPr>
              <a:t>Check whether the given Two schedules are conflict equivalent ?</a:t>
            </a:r>
          </a:p>
        </p:txBody>
      </p:sp>
      <p:sp>
        <p:nvSpPr>
          <p:cNvPr id="131075" name="Text Box 3" descr="Date Placeholder 3">
            <a:extLst>
              <a:ext uri="{FF2B5EF4-FFF2-40B4-BE49-F238E27FC236}">
                <a16:creationId xmlns:a16="http://schemas.microsoft.com/office/drawing/2014/main" id="{81B244D2-3413-9DA8-262B-A5AD4F3FDEB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1076" name="Text Box 4" descr="Slide Number Placeholder 5">
            <a:extLst>
              <a:ext uri="{FF2B5EF4-FFF2-40B4-BE49-F238E27FC236}">
                <a16:creationId xmlns:a16="http://schemas.microsoft.com/office/drawing/2014/main" id="{B3EE629A-9F97-EF35-5E23-27236C01F7D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9606E87-7194-499F-B1B3-66409C24F47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31077" name="Group 5">
            <a:extLst>
              <a:ext uri="{FF2B5EF4-FFF2-40B4-BE49-F238E27FC236}">
                <a16:creationId xmlns:a16="http://schemas.microsoft.com/office/drawing/2014/main" id="{5698BC8C-5092-778E-FD25-1156B02553D2}"/>
              </a:ext>
            </a:extLst>
          </p:cNvPr>
          <p:cNvGraphicFramePr>
            <a:graphicFrameLocks noGrp="1"/>
          </p:cNvGraphicFramePr>
          <p:nvPr/>
        </p:nvGraphicFramePr>
        <p:xfrm>
          <a:off x="827088" y="1566863"/>
          <a:ext cx="2736850" cy="1920875"/>
        </p:xfrm>
        <a:graphic>
          <a:graphicData uri="http://schemas.openxmlformats.org/drawingml/2006/table">
            <a:tbl>
              <a:tblPr/>
              <a:tblGrid>
                <a:gridCol w="1368425">
                  <a:extLst>
                    <a:ext uri="{9D8B030D-6E8A-4147-A177-3AD203B41FA5}">
                      <a16:colId xmlns:a16="http://schemas.microsoft.com/office/drawing/2014/main" val="2588688096"/>
                    </a:ext>
                  </a:extLst>
                </a:gridCol>
                <a:gridCol w="1368425">
                  <a:extLst>
                    <a:ext uri="{9D8B030D-6E8A-4147-A177-3AD203B41FA5}">
                      <a16:colId xmlns:a16="http://schemas.microsoft.com/office/drawing/2014/main" val="229673116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9370546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950277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4956918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4781685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30178646"/>
                  </a:ext>
                </a:extLst>
              </a:tr>
            </a:tbl>
          </a:graphicData>
        </a:graphic>
      </p:graphicFrame>
      <p:sp>
        <p:nvSpPr>
          <p:cNvPr id="131115" name="Text Box 43" descr="TextBox 7">
            <a:extLst>
              <a:ext uri="{FF2B5EF4-FFF2-40B4-BE49-F238E27FC236}">
                <a16:creationId xmlns:a16="http://schemas.microsoft.com/office/drawing/2014/main" id="{98DFD4AC-91D7-3659-9523-D17EF1604DD4}"/>
              </a:ext>
            </a:extLst>
          </p:cNvPr>
          <p:cNvSpPr txBox="1">
            <a:spLocks/>
          </p:cNvSpPr>
          <p:nvPr/>
        </p:nvSpPr>
        <p:spPr bwMode="auto">
          <a:xfrm>
            <a:off x="944563" y="1195388"/>
            <a:ext cx="152876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graphicFrame>
        <p:nvGraphicFramePr>
          <p:cNvPr id="131116" name="Group 44">
            <a:extLst>
              <a:ext uri="{FF2B5EF4-FFF2-40B4-BE49-F238E27FC236}">
                <a16:creationId xmlns:a16="http://schemas.microsoft.com/office/drawing/2014/main" id="{568AC935-1AD3-73F5-C0CC-70942D84E8F7}"/>
              </a:ext>
            </a:extLst>
          </p:cNvPr>
          <p:cNvGraphicFramePr>
            <a:graphicFrameLocks noGrp="1"/>
          </p:cNvGraphicFramePr>
          <p:nvPr/>
        </p:nvGraphicFramePr>
        <p:xfrm>
          <a:off x="4211638" y="1584325"/>
          <a:ext cx="2736850" cy="1920875"/>
        </p:xfrm>
        <a:graphic>
          <a:graphicData uri="http://schemas.openxmlformats.org/drawingml/2006/table">
            <a:tbl>
              <a:tblPr/>
              <a:tblGrid>
                <a:gridCol w="1368425">
                  <a:extLst>
                    <a:ext uri="{9D8B030D-6E8A-4147-A177-3AD203B41FA5}">
                      <a16:colId xmlns:a16="http://schemas.microsoft.com/office/drawing/2014/main" val="3410429832"/>
                    </a:ext>
                  </a:extLst>
                </a:gridCol>
                <a:gridCol w="1368425">
                  <a:extLst>
                    <a:ext uri="{9D8B030D-6E8A-4147-A177-3AD203B41FA5}">
                      <a16:colId xmlns:a16="http://schemas.microsoft.com/office/drawing/2014/main" val="330454498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4981605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0391125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6603794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226131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84286881"/>
                  </a:ext>
                </a:extLst>
              </a:tr>
            </a:tbl>
          </a:graphicData>
        </a:graphic>
      </p:graphicFrame>
      <p:sp>
        <p:nvSpPr>
          <p:cNvPr id="131154" name="Text Box 82" descr="TextBox 10">
            <a:extLst>
              <a:ext uri="{FF2B5EF4-FFF2-40B4-BE49-F238E27FC236}">
                <a16:creationId xmlns:a16="http://schemas.microsoft.com/office/drawing/2014/main" id="{C183A97F-4C91-4694-09A5-2B115960B055}"/>
              </a:ext>
            </a:extLst>
          </p:cNvPr>
          <p:cNvSpPr txBox="1">
            <a:spLocks/>
          </p:cNvSpPr>
          <p:nvPr/>
        </p:nvSpPr>
        <p:spPr bwMode="auto">
          <a:xfrm>
            <a:off x="4329113" y="1214438"/>
            <a:ext cx="15287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S2</a:t>
            </a:r>
          </a:p>
        </p:txBody>
      </p:sp>
      <p:sp>
        <p:nvSpPr>
          <p:cNvPr id="131155" name="Text Box 83" descr="TextBox 11">
            <a:extLst>
              <a:ext uri="{FF2B5EF4-FFF2-40B4-BE49-F238E27FC236}">
                <a16:creationId xmlns:a16="http://schemas.microsoft.com/office/drawing/2014/main" id="{E2E6996D-831A-ECBB-4043-3DBD8AB7A94B}"/>
              </a:ext>
            </a:extLst>
          </p:cNvPr>
          <p:cNvSpPr txBox="1">
            <a:spLocks/>
          </p:cNvSpPr>
          <p:nvPr/>
        </p:nvSpPr>
        <p:spPr bwMode="auto">
          <a:xfrm>
            <a:off x="785813" y="3644900"/>
            <a:ext cx="605790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Answer: Schedule S1 and S2 are conflict equivalent</a:t>
            </a:r>
          </a:p>
        </p:txBody>
      </p:sp>
      <p:graphicFrame>
        <p:nvGraphicFramePr>
          <p:cNvPr id="131156" name="Group 84">
            <a:extLst>
              <a:ext uri="{FF2B5EF4-FFF2-40B4-BE49-F238E27FC236}">
                <a16:creationId xmlns:a16="http://schemas.microsoft.com/office/drawing/2014/main" id="{5CEC0BA6-1F36-1838-5D1B-41BC3F74EAE4}"/>
              </a:ext>
            </a:extLst>
          </p:cNvPr>
          <p:cNvGraphicFramePr>
            <a:graphicFrameLocks noGrp="1"/>
          </p:cNvGraphicFramePr>
          <p:nvPr/>
        </p:nvGraphicFramePr>
        <p:xfrm>
          <a:off x="179388" y="4230688"/>
          <a:ext cx="8956675" cy="1212850"/>
        </p:xfrm>
        <a:graphic>
          <a:graphicData uri="http://schemas.openxmlformats.org/drawingml/2006/table">
            <a:tbl>
              <a:tblPr/>
              <a:tblGrid>
                <a:gridCol w="1400175">
                  <a:extLst>
                    <a:ext uri="{9D8B030D-6E8A-4147-A177-3AD203B41FA5}">
                      <a16:colId xmlns:a16="http://schemas.microsoft.com/office/drawing/2014/main" val="369956148"/>
                    </a:ext>
                  </a:extLst>
                </a:gridCol>
                <a:gridCol w="3078162">
                  <a:extLst>
                    <a:ext uri="{9D8B030D-6E8A-4147-A177-3AD203B41FA5}">
                      <a16:colId xmlns:a16="http://schemas.microsoft.com/office/drawing/2014/main" val="1538571316"/>
                    </a:ext>
                  </a:extLst>
                </a:gridCol>
                <a:gridCol w="2166938">
                  <a:extLst>
                    <a:ext uri="{9D8B030D-6E8A-4147-A177-3AD203B41FA5}">
                      <a16:colId xmlns:a16="http://schemas.microsoft.com/office/drawing/2014/main" val="3934640435"/>
                    </a:ext>
                  </a:extLst>
                </a:gridCol>
                <a:gridCol w="2311400">
                  <a:extLst>
                    <a:ext uri="{9D8B030D-6E8A-4147-A177-3AD203B41FA5}">
                      <a16:colId xmlns:a16="http://schemas.microsoft.com/office/drawing/2014/main" val="3183944081"/>
                    </a:ext>
                  </a:extLst>
                </a:gridCol>
              </a:tblGrid>
              <a:tr h="8286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R1(B), </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,W2(B)</a:t>
                      </a:r>
                      <a:endPar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and </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R1(B) and W2(B)</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442052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IN"/>
                    </a:p>
                  </a:txBody>
                  <a:tcPr/>
                </a:tc>
                <a:extLst>
                  <a:ext uri="{0D108BD9-81ED-4DB2-BD59-A6C34878D82A}">
                    <a16:rowId xmlns:a16="http://schemas.microsoft.com/office/drawing/2014/main" val="1175058420"/>
                  </a:ext>
                </a:extLst>
              </a:tr>
            </a:tbl>
          </a:graphicData>
        </a:graphic>
      </p:graphicFrame>
    </p:spTree>
  </p:cSld>
  <p:clrMapOvr>
    <a:masterClrMapping/>
  </p:clrMapOvr>
  <p:transition spd="med"/>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2" descr="Title 1">
            <a:extLst>
              <a:ext uri="{FF2B5EF4-FFF2-40B4-BE49-F238E27FC236}">
                <a16:creationId xmlns:a16="http://schemas.microsoft.com/office/drawing/2014/main" id="{F253AE26-20CA-54B5-3350-13AB25615893}"/>
              </a:ext>
            </a:extLst>
          </p:cNvPr>
          <p:cNvSpPr>
            <a:spLocks noChangeArrowheads="1"/>
          </p:cNvSpPr>
          <p:nvPr>
            <p:ph type="title"/>
          </p:nvPr>
        </p:nvSpPr>
        <p:spPr/>
        <p:txBody>
          <a:bodyPr/>
          <a:lstStyle/>
          <a:p>
            <a:r>
              <a:rPr lang="en-US" altLang="en-US" sz="2000">
                <a:solidFill>
                  <a:srgbClr val="FF0000"/>
                </a:solidFill>
              </a:rPr>
              <a:t>Check whether the given Two schedules are conflict equivalent ?</a:t>
            </a:r>
          </a:p>
        </p:txBody>
      </p:sp>
      <p:sp>
        <p:nvSpPr>
          <p:cNvPr id="132099" name="Text Box 3" descr="Date Placeholder 3">
            <a:extLst>
              <a:ext uri="{FF2B5EF4-FFF2-40B4-BE49-F238E27FC236}">
                <a16:creationId xmlns:a16="http://schemas.microsoft.com/office/drawing/2014/main" id="{D3DB241F-2717-F4D2-810A-C0D0FBD7B66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2100" name="Text Box 4" descr="Slide Number Placeholder 5">
            <a:extLst>
              <a:ext uri="{FF2B5EF4-FFF2-40B4-BE49-F238E27FC236}">
                <a16:creationId xmlns:a16="http://schemas.microsoft.com/office/drawing/2014/main" id="{95167FEA-140D-8910-B7A7-E13512DB4A0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34808ED-28FB-4F66-BB35-2D2D2D26DD8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32101" name="Group 5">
            <a:extLst>
              <a:ext uri="{FF2B5EF4-FFF2-40B4-BE49-F238E27FC236}">
                <a16:creationId xmlns:a16="http://schemas.microsoft.com/office/drawing/2014/main" id="{44C1D89C-FF9A-A412-36BE-96703CC64EF2}"/>
              </a:ext>
            </a:extLst>
          </p:cNvPr>
          <p:cNvGraphicFramePr>
            <a:graphicFrameLocks noGrp="1"/>
          </p:cNvGraphicFramePr>
          <p:nvPr/>
        </p:nvGraphicFramePr>
        <p:xfrm>
          <a:off x="827088" y="1566863"/>
          <a:ext cx="2736850" cy="1920875"/>
        </p:xfrm>
        <a:graphic>
          <a:graphicData uri="http://schemas.openxmlformats.org/drawingml/2006/table">
            <a:tbl>
              <a:tblPr/>
              <a:tblGrid>
                <a:gridCol w="1368425">
                  <a:extLst>
                    <a:ext uri="{9D8B030D-6E8A-4147-A177-3AD203B41FA5}">
                      <a16:colId xmlns:a16="http://schemas.microsoft.com/office/drawing/2014/main" val="1988888125"/>
                    </a:ext>
                  </a:extLst>
                </a:gridCol>
                <a:gridCol w="1368425">
                  <a:extLst>
                    <a:ext uri="{9D8B030D-6E8A-4147-A177-3AD203B41FA5}">
                      <a16:colId xmlns:a16="http://schemas.microsoft.com/office/drawing/2014/main" val="1090864891"/>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5179076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1454384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049132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4257900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54659378"/>
                  </a:ext>
                </a:extLst>
              </a:tr>
            </a:tbl>
          </a:graphicData>
        </a:graphic>
      </p:graphicFrame>
      <p:sp>
        <p:nvSpPr>
          <p:cNvPr id="132139" name="Text Box 43" descr="TextBox 7">
            <a:extLst>
              <a:ext uri="{FF2B5EF4-FFF2-40B4-BE49-F238E27FC236}">
                <a16:creationId xmlns:a16="http://schemas.microsoft.com/office/drawing/2014/main" id="{1CF36882-7A55-161B-21C0-A43B1D675131}"/>
              </a:ext>
            </a:extLst>
          </p:cNvPr>
          <p:cNvSpPr txBox="1">
            <a:spLocks/>
          </p:cNvSpPr>
          <p:nvPr/>
        </p:nvSpPr>
        <p:spPr bwMode="auto">
          <a:xfrm>
            <a:off x="944563" y="1195388"/>
            <a:ext cx="152876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graphicFrame>
        <p:nvGraphicFramePr>
          <p:cNvPr id="132140" name="Group 44">
            <a:extLst>
              <a:ext uri="{FF2B5EF4-FFF2-40B4-BE49-F238E27FC236}">
                <a16:creationId xmlns:a16="http://schemas.microsoft.com/office/drawing/2014/main" id="{DF09EA1E-6D74-81E7-F4C6-1BFFB0C64BCE}"/>
              </a:ext>
            </a:extLst>
          </p:cNvPr>
          <p:cNvGraphicFramePr>
            <a:graphicFrameLocks noGrp="1"/>
          </p:cNvGraphicFramePr>
          <p:nvPr/>
        </p:nvGraphicFramePr>
        <p:xfrm>
          <a:off x="4211638" y="1584325"/>
          <a:ext cx="2736850" cy="1920875"/>
        </p:xfrm>
        <a:graphic>
          <a:graphicData uri="http://schemas.openxmlformats.org/drawingml/2006/table">
            <a:tbl>
              <a:tblPr/>
              <a:tblGrid>
                <a:gridCol w="1368425">
                  <a:extLst>
                    <a:ext uri="{9D8B030D-6E8A-4147-A177-3AD203B41FA5}">
                      <a16:colId xmlns:a16="http://schemas.microsoft.com/office/drawing/2014/main" val="1069261529"/>
                    </a:ext>
                  </a:extLst>
                </a:gridCol>
                <a:gridCol w="1368425">
                  <a:extLst>
                    <a:ext uri="{9D8B030D-6E8A-4147-A177-3AD203B41FA5}">
                      <a16:colId xmlns:a16="http://schemas.microsoft.com/office/drawing/2014/main" val="174140073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634610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198065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1256511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9079885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5735284"/>
                  </a:ext>
                </a:extLst>
              </a:tr>
            </a:tbl>
          </a:graphicData>
        </a:graphic>
      </p:graphicFrame>
      <p:sp>
        <p:nvSpPr>
          <p:cNvPr id="132178" name="Text Box 82" descr="TextBox 10">
            <a:extLst>
              <a:ext uri="{FF2B5EF4-FFF2-40B4-BE49-F238E27FC236}">
                <a16:creationId xmlns:a16="http://schemas.microsoft.com/office/drawing/2014/main" id="{B98BD448-B507-CB35-0608-1BA59A059290}"/>
              </a:ext>
            </a:extLst>
          </p:cNvPr>
          <p:cNvSpPr txBox="1">
            <a:spLocks/>
          </p:cNvSpPr>
          <p:nvPr/>
        </p:nvSpPr>
        <p:spPr bwMode="auto">
          <a:xfrm>
            <a:off x="4329113" y="1214438"/>
            <a:ext cx="15287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S2</a:t>
            </a:r>
          </a:p>
        </p:txBody>
      </p:sp>
      <p:sp>
        <p:nvSpPr>
          <p:cNvPr id="132179" name="Text Box 83" descr="TextBox 11">
            <a:extLst>
              <a:ext uri="{FF2B5EF4-FFF2-40B4-BE49-F238E27FC236}">
                <a16:creationId xmlns:a16="http://schemas.microsoft.com/office/drawing/2014/main" id="{C8C05954-1B64-4809-D3CC-6A88CBB15B55}"/>
              </a:ext>
            </a:extLst>
          </p:cNvPr>
          <p:cNvSpPr txBox="1">
            <a:spLocks/>
          </p:cNvSpPr>
          <p:nvPr/>
        </p:nvSpPr>
        <p:spPr bwMode="auto">
          <a:xfrm>
            <a:off x="785813" y="3644900"/>
            <a:ext cx="605790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Answer: Schedule S1 and S2 are conflict equivalent</a:t>
            </a:r>
          </a:p>
        </p:txBody>
      </p:sp>
      <p:graphicFrame>
        <p:nvGraphicFramePr>
          <p:cNvPr id="132180" name="Group 84">
            <a:extLst>
              <a:ext uri="{FF2B5EF4-FFF2-40B4-BE49-F238E27FC236}">
                <a16:creationId xmlns:a16="http://schemas.microsoft.com/office/drawing/2014/main" id="{3E810DF0-BC0C-DD1F-ED53-50A56B1360B4}"/>
              </a:ext>
            </a:extLst>
          </p:cNvPr>
          <p:cNvGraphicFramePr>
            <a:graphicFrameLocks noGrp="1"/>
          </p:cNvGraphicFramePr>
          <p:nvPr/>
        </p:nvGraphicFramePr>
        <p:xfrm>
          <a:off x="179388" y="4230688"/>
          <a:ext cx="8956675" cy="1657350"/>
        </p:xfrm>
        <a:graphic>
          <a:graphicData uri="http://schemas.openxmlformats.org/drawingml/2006/table">
            <a:tbl>
              <a:tblPr/>
              <a:tblGrid>
                <a:gridCol w="1400175">
                  <a:extLst>
                    <a:ext uri="{9D8B030D-6E8A-4147-A177-3AD203B41FA5}">
                      <a16:colId xmlns:a16="http://schemas.microsoft.com/office/drawing/2014/main" val="682332036"/>
                    </a:ext>
                  </a:extLst>
                </a:gridCol>
                <a:gridCol w="3078162">
                  <a:extLst>
                    <a:ext uri="{9D8B030D-6E8A-4147-A177-3AD203B41FA5}">
                      <a16:colId xmlns:a16="http://schemas.microsoft.com/office/drawing/2014/main" val="2871494081"/>
                    </a:ext>
                  </a:extLst>
                </a:gridCol>
                <a:gridCol w="2166938">
                  <a:extLst>
                    <a:ext uri="{9D8B030D-6E8A-4147-A177-3AD203B41FA5}">
                      <a16:colId xmlns:a16="http://schemas.microsoft.com/office/drawing/2014/main" val="3066540402"/>
                    </a:ext>
                  </a:extLst>
                </a:gridCol>
                <a:gridCol w="2311400">
                  <a:extLst>
                    <a:ext uri="{9D8B030D-6E8A-4147-A177-3AD203B41FA5}">
                      <a16:colId xmlns:a16="http://schemas.microsoft.com/office/drawing/2014/main" val="645955330"/>
                    </a:ext>
                  </a:extLst>
                </a:gridCol>
              </a:tblGrid>
              <a:tr h="8286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R1(B), </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,W2(B)</a:t>
                      </a:r>
                      <a:endPar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and </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R1(B) and W2(B)</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 and 2 are conflict equivalent because the order of conflict operations are same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85781660"/>
                  </a:ext>
                </a:extLst>
              </a:tr>
              <a:tr h="8286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R1(B),W2(B)</a:t>
                      </a:r>
                      <a:endPar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and </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R1(B) and W2(B)</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IN"/>
                    </a:p>
                  </a:txBody>
                  <a:tcPr/>
                </a:tc>
                <a:extLst>
                  <a:ext uri="{0D108BD9-81ED-4DB2-BD59-A6C34878D82A}">
                    <a16:rowId xmlns:a16="http://schemas.microsoft.com/office/drawing/2014/main" val="40756285"/>
                  </a:ext>
                </a:extLst>
              </a:tr>
            </a:tbl>
          </a:graphicData>
        </a:graphic>
      </p:graphicFrame>
    </p:spTree>
  </p:cSld>
  <p:clrMapOvr>
    <a:masterClrMapping/>
  </p:clrMapOvr>
  <p:transition spd="med"/>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descr="Title 1">
            <a:extLst>
              <a:ext uri="{FF2B5EF4-FFF2-40B4-BE49-F238E27FC236}">
                <a16:creationId xmlns:a16="http://schemas.microsoft.com/office/drawing/2014/main" id="{B8382A6D-8994-06EA-5183-7DDC6CF2584F}"/>
              </a:ext>
            </a:extLst>
          </p:cNvPr>
          <p:cNvSpPr>
            <a:spLocks noChangeArrowheads="1"/>
          </p:cNvSpPr>
          <p:nvPr>
            <p:ph type="title"/>
          </p:nvPr>
        </p:nvSpPr>
        <p:spPr/>
        <p:txBody>
          <a:bodyPr/>
          <a:lstStyle/>
          <a:p>
            <a:r>
              <a:rPr lang="en-US" altLang="en-US" sz="2000">
                <a:solidFill>
                  <a:srgbClr val="FF0000"/>
                </a:solidFill>
              </a:rPr>
              <a:t>Check whether the given Two schedules are conflict equivalent ?</a:t>
            </a:r>
          </a:p>
        </p:txBody>
      </p:sp>
      <p:sp>
        <p:nvSpPr>
          <p:cNvPr id="133123" name="Rectangle 3" descr="Content Placeholder 2">
            <a:extLst>
              <a:ext uri="{FF2B5EF4-FFF2-40B4-BE49-F238E27FC236}">
                <a16:creationId xmlns:a16="http://schemas.microsoft.com/office/drawing/2014/main" id="{271D572C-835F-DEA8-48E8-1C019A58E6AE}"/>
              </a:ext>
            </a:extLst>
          </p:cNvPr>
          <p:cNvSpPr>
            <a:spLocks noChangeArrowheads="1"/>
          </p:cNvSpPr>
          <p:nvPr>
            <p:ph type="body" idx="1"/>
          </p:nvPr>
        </p:nvSpPr>
        <p:spPr/>
        <p:txBody>
          <a:bodyPr/>
          <a:lstStyle/>
          <a:p>
            <a:pPr marL="469900" lvl="1" indent="-469900">
              <a:spcBef>
                <a:spcPts val="400"/>
              </a:spcBef>
              <a:buFontTx/>
              <a:buChar char="□"/>
            </a:pPr>
            <a:r>
              <a:rPr lang="en-US" altLang="en-US" sz="1800"/>
              <a:t>Definition: Two schedules are said to be conflict equivalent if the order of any two </a:t>
            </a:r>
            <a:r>
              <a:rPr lang="en-US" altLang="en-US" sz="1800" b="1"/>
              <a:t>conflicting operations </a:t>
            </a:r>
            <a:r>
              <a:rPr lang="en-US" altLang="en-US" sz="1800"/>
              <a:t>is the same in both schedules.</a:t>
            </a:r>
          </a:p>
        </p:txBody>
      </p:sp>
      <p:sp>
        <p:nvSpPr>
          <p:cNvPr id="133124" name="Text Box 4" descr="Date Placeholder 3">
            <a:extLst>
              <a:ext uri="{FF2B5EF4-FFF2-40B4-BE49-F238E27FC236}">
                <a16:creationId xmlns:a16="http://schemas.microsoft.com/office/drawing/2014/main" id="{EFFAA50D-C217-3A43-A893-1CBDC6FBFA5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3125" name="Text Box 5" descr="Slide Number Placeholder 5">
            <a:extLst>
              <a:ext uri="{FF2B5EF4-FFF2-40B4-BE49-F238E27FC236}">
                <a16:creationId xmlns:a16="http://schemas.microsoft.com/office/drawing/2014/main" id="{EB678D53-37CD-C546-35D4-C346EB7054E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5CE39D6-3484-491D-889E-A0F509BC265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33126" name="Group 6">
            <a:extLst>
              <a:ext uri="{FF2B5EF4-FFF2-40B4-BE49-F238E27FC236}">
                <a16:creationId xmlns:a16="http://schemas.microsoft.com/office/drawing/2014/main" id="{498E5E2B-D289-B2AB-FAC3-35F1860D992A}"/>
              </a:ext>
            </a:extLst>
          </p:cNvPr>
          <p:cNvGraphicFramePr>
            <a:graphicFrameLocks noGrp="1"/>
          </p:cNvGraphicFramePr>
          <p:nvPr/>
        </p:nvGraphicFramePr>
        <p:xfrm>
          <a:off x="827088" y="2708275"/>
          <a:ext cx="2736850" cy="1920875"/>
        </p:xfrm>
        <a:graphic>
          <a:graphicData uri="http://schemas.openxmlformats.org/drawingml/2006/table">
            <a:tbl>
              <a:tblPr/>
              <a:tblGrid>
                <a:gridCol w="1368425">
                  <a:extLst>
                    <a:ext uri="{9D8B030D-6E8A-4147-A177-3AD203B41FA5}">
                      <a16:colId xmlns:a16="http://schemas.microsoft.com/office/drawing/2014/main" val="3449569180"/>
                    </a:ext>
                  </a:extLst>
                </a:gridCol>
                <a:gridCol w="1368425">
                  <a:extLst>
                    <a:ext uri="{9D8B030D-6E8A-4147-A177-3AD203B41FA5}">
                      <a16:colId xmlns:a16="http://schemas.microsoft.com/office/drawing/2014/main" val="282981934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018879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7122322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233185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6700240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79815757"/>
                  </a:ext>
                </a:extLst>
              </a:tr>
            </a:tbl>
          </a:graphicData>
        </a:graphic>
      </p:graphicFrame>
      <p:sp>
        <p:nvSpPr>
          <p:cNvPr id="133164" name="Text Box 44" descr="TextBox 7">
            <a:extLst>
              <a:ext uri="{FF2B5EF4-FFF2-40B4-BE49-F238E27FC236}">
                <a16:creationId xmlns:a16="http://schemas.microsoft.com/office/drawing/2014/main" id="{B652AAE4-8497-78F6-C004-C72D35EDDB37}"/>
              </a:ext>
            </a:extLst>
          </p:cNvPr>
          <p:cNvSpPr txBox="1">
            <a:spLocks/>
          </p:cNvSpPr>
          <p:nvPr/>
        </p:nvSpPr>
        <p:spPr bwMode="auto">
          <a:xfrm>
            <a:off x="944563" y="2338388"/>
            <a:ext cx="152876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
        <p:nvSpPr>
          <p:cNvPr id="133165" name="Text Box 45" descr="TextBox 8">
            <a:extLst>
              <a:ext uri="{FF2B5EF4-FFF2-40B4-BE49-F238E27FC236}">
                <a16:creationId xmlns:a16="http://schemas.microsoft.com/office/drawing/2014/main" id="{D8405053-68E1-5F9B-40CB-D976DCE63ED7}"/>
              </a:ext>
            </a:extLst>
          </p:cNvPr>
          <p:cNvSpPr txBox="1">
            <a:spLocks/>
          </p:cNvSpPr>
          <p:nvPr/>
        </p:nvSpPr>
        <p:spPr bwMode="auto">
          <a:xfrm>
            <a:off x="944563" y="4795838"/>
            <a:ext cx="5091112"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 W2(A), W2(B), R1(A), R1(B) </a:t>
            </a:r>
          </a:p>
          <a:p>
            <a:r>
              <a:rPr lang="en-US" altLang="en-US"/>
              <a:t>Schedule S2: R1(A),W2(A), R1(B),W2(B)</a:t>
            </a:r>
          </a:p>
        </p:txBody>
      </p:sp>
      <p:graphicFrame>
        <p:nvGraphicFramePr>
          <p:cNvPr id="133166" name="Group 46">
            <a:extLst>
              <a:ext uri="{FF2B5EF4-FFF2-40B4-BE49-F238E27FC236}">
                <a16:creationId xmlns:a16="http://schemas.microsoft.com/office/drawing/2014/main" id="{7246B08D-1506-0056-7806-DCA1D62F5BB2}"/>
              </a:ext>
            </a:extLst>
          </p:cNvPr>
          <p:cNvGraphicFramePr>
            <a:graphicFrameLocks noGrp="1"/>
          </p:cNvGraphicFramePr>
          <p:nvPr/>
        </p:nvGraphicFramePr>
        <p:xfrm>
          <a:off x="4211638" y="2727325"/>
          <a:ext cx="2736850" cy="1920875"/>
        </p:xfrm>
        <a:graphic>
          <a:graphicData uri="http://schemas.openxmlformats.org/drawingml/2006/table">
            <a:tbl>
              <a:tblPr/>
              <a:tblGrid>
                <a:gridCol w="1368425">
                  <a:extLst>
                    <a:ext uri="{9D8B030D-6E8A-4147-A177-3AD203B41FA5}">
                      <a16:colId xmlns:a16="http://schemas.microsoft.com/office/drawing/2014/main" val="3422083105"/>
                    </a:ext>
                  </a:extLst>
                </a:gridCol>
                <a:gridCol w="1368425">
                  <a:extLst>
                    <a:ext uri="{9D8B030D-6E8A-4147-A177-3AD203B41FA5}">
                      <a16:colId xmlns:a16="http://schemas.microsoft.com/office/drawing/2014/main" val="100624823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2898762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0022805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4285493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3994535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20121536"/>
                  </a:ext>
                </a:extLst>
              </a:tr>
            </a:tbl>
          </a:graphicData>
        </a:graphic>
      </p:graphicFrame>
      <p:sp>
        <p:nvSpPr>
          <p:cNvPr id="133204" name="Text Box 84" descr="TextBox 10">
            <a:extLst>
              <a:ext uri="{FF2B5EF4-FFF2-40B4-BE49-F238E27FC236}">
                <a16:creationId xmlns:a16="http://schemas.microsoft.com/office/drawing/2014/main" id="{FEE73F57-2CC2-05BD-C792-968CA6A15244}"/>
              </a:ext>
            </a:extLst>
          </p:cNvPr>
          <p:cNvSpPr txBox="1">
            <a:spLocks/>
          </p:cNvSpPr>
          <p:nvPr/>
        </p:nvSpPr>
        <p:spPr bwMode="auto">
          <a:xfrm>
            <a:off x="4329113" y="2357438"/>
            <a:ext cx="15287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S2</a:t>
            </a:r>
          </a:p>
        </p:txBody>
      </p:sp>
    </p:spTree>
  </p:cSld>
  <p:clrMapOvr>
    <a:masterClrMapping/>
  </p:clrMapOvr>
  <p:transition spd="med"/>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descr="Title 1">
            <a:extLst>
              <a:ext uri="{FF2B5EF4-FFF2-40B4-BE49-F238E27FC236}">
                <a16:creationId xmlns:a16="http://schemas.microsoft.com/office/drawing/2014/main" id="{961DCCC8-159E-DB37-8E4E-B8614BF9895F}"/>
              </a:ext>
            </a:extLst>
          </p:cNvPr>
          <p:cNvSpPr>
            <a:spLocks noChangeArrowheads="1"/>
          </p:cNvSpPr>
          <p:nvPr>
            <p:ph type="title"/>
          </p:nvPr>
        </p:nvSpPr>
        <p:spPr/>
        <p:txBody>
          <a:bodyPr/>
          <a:lstStyle/>
          <a:p>
            <a:r>
              <a:rPr lang="en-US" altLang="en-US" sz="2000">
                <a:solidFill>
                  <a:srgbClr val="FF0000"/>
                </a:solidFill>
              </a:rPr>
              <a:t>Check whether the given Two schedules are conflict equivalent ?</a:t>
            </a:r>
          </a:p>
        </p:txBody>
      </p:sp>
      <p:sp>
        <p:nvSpPr>
          <p:cNvPr id="134147" name="Text Box 3" descr="Date Placeholder 3">
            <a:extLst>
              <a:ext uri="{FF2B5EF4-FFF2-40B4-BE49-F238E27FC236}">
                <a16:creationId xmlns:a16="http://schemas.microsoft.com/office/drawing/2014/main" id="{0F53F5AD-F83C-125F-4B7C-8554D17A323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4148" name="Text Box 4" descr="Slide Number Placeholder 5">
            <a:extLst>
              <a:ext uri="{FF2B5EF4-FFF2-40B4-BE49-F238E27FC236}">
                <a16:creationId xmlns:a16="http://schemas.microsoft.com/office/drawing/2014/main" id="{CA564D9D-685C-9A21-2B31-A27BB4A3331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054F2A3-3642-48B0-80A2-D873AB9308C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34149" name="Group 5">
            <a:extLst>
              <a:ext uri="{FF2B5EF4-FFF2-40B4-BE49-F238E27FC236}">
                <a16:creationId xmlns:a16="http://schemas.microsoft.com/office/drawing/2014/main" id="{82163541-052E-82D1-7065-16D42A502183}"/>
              </a:ext>
            </a:extLst>
          </p:cNvPr>
          <p:cNvGraphicFramePr>
            <a:graphicFrameLocks noGrp="1"/>
          </p:cNvGraphicFramePr>
          <p:nvPr/>
        </p:nvGraphicFramePr>
        <p:xfrm>
          <a:off x="4211638" y="1584325"/>
          <a:ext cx="2736850" cy="1920875"/>
        </p:xfrm>
        <a:graphic>
          <a:graphicData uri="http://schemas.openxmlformats.org/drawingml/2006/table">
            <a:tbl>
              <a:tblPr/>
              <a:tblGrid>
                <a:gridCol w="1368425">
                  <a:extLst>
                    <a:ext uri="{9D8B030D-6E8A-4147-A177-3AD203B41FA5}">
                      <a16:colId xmlns:a16="http://schemas.microsoft.com/office/drawing/2014/main" val="3273831284"/>
                    </a:ext>
                  </a:extLst>
                </a:gridCol>
                <a:gridCol w="1368425">
                  <a:extLst>
                    <a:ext uri="{9D8B030D-6E8A-4147-A177-3AD203B41FA5}">
                      <a16:colId xmlns:a16="http://schemas.microsoft.com/office/drawing/2014/main" val="105118383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9976089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498359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5322459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3688625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9914896"/>
                  </a:ext>
                </a:extLst>
              </a:tr>
            </a:tbl>
          </a:graphicData>
        </a:graphic>
      </p:graphicFrame>
      <p:sp>
        <p:nvSpPr>
          <p:cNvPr id="134187" name="Text Box 43" descr="TextBox 10">
            <a:extLst>
              <a:ext uri="{FF2B5EF4-FFF2-40B4-BE49-F238E27FC236}">
                <a16:creationId xmlns:a16="http://schemas.microsoft.com/office/drawing/2014/main" id="{21F0CAD0-4282-896F-F2E0-70710FE52EF9}"/>
              </a:ext>
            </a:extLst>
          </p:cNvPr>
          <p:cNvSpPr txBox="1">
            <a:spLocks/>
          </p:cNvSpPr>
          <p:nvPr/>
        </p:nvSpPr>
        <p:spPr bwMode="auto">
          <a:xfrm>
            <a:off x="4329113" y="1214438"/>
            <a:ext cx="1528762"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S2</a:t>
            </a:r>
          </a:p>
        </p:txBody>
      </p:sp>
      <p:sp>
        <p:nvSpPr>
          <p:cNvPr id="134188" name="Text Box 44" descr="TextBox 11">
            <a:extLst>
              <a:ext uri="{FF2B5EF4-FFF2-40B4-BE49-F238E27FC236}">
                <a16:creationId xmlns:a16="http://schemas.microsoft.com/office/drawing/2014/main" id="{F8FADB83-52E8-BF8D-AF21-4FA0B15E3B37}"/>
              </a:ext>
            </a:extLst>
          </p:cNvPr>
          <p:cNvSpPr txBox="1">
            <a:spLocks/>
          </p:cNvSpPr>
          <p:nvPr/>
        </p:nvSpPr>
        <p:spPr bwMode="auto">
          <a:xfrm>
            <a:off x="785813" y="3644900"/>
            <a:ext cx="660400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Answer: Schedule S1 and S2 </a:t>
            </a:r>
            <a:r>
              <a:rPr lang="en-US" altLang="en-US" b="1"/>
              <a:t>are not </a:t>
            </a:r>
            <a:r>
              <a:rPr lang="en-US" altLang="en-US"/>
              <a:t>conflict equivalent</a:t>
            </a:r>
          </a:p>
        </p:txBody>
      </p:sp>
      <p:graphicFrame>
        <p:nvGraphicFramePr>
          <p:cNvPr id="134189" name="Group 45">
            <a:extLst>
              <a:ext uri="{FF2B5EF4-FFF2-40B4-BE49-F238E27FC236}">
                <a16:creationId xmlns:a16="http://schemas.microsoft.com/office/drawing/2014/main" id="{E9FB5647-248E-3257-C21C-225C027B7F53}"/>
              </a:ext>
            </a:extLst>
          </p:cNvPr>
          <p:cNvGraphicFramePr>
            <a:graphicFrameLocks noGrp="1"/>
          </p:cNvGraphicFramePr>
          <p:nvPr/>
        </p:nvGraphicFramePr>
        <p:xfrm>
          <a:off x="179388" y="4230688"/>
          <a:ext cx="8956675" cy="1798320"/>
        </p:xfrm>
        <a:graphic>
          <a:graphicData uri="http://schemas.openxmlformats.org/drawingml/2006/table">
            <a:tbl>
              <a:tblPr/>
              <a:tblGrid>
                <a:gridCol w="1400175">
                  <a:extLst>
                    <a:ext uri="{9D8B030D-6E8A-4147-A177-3AD203B41FA5}">
                      <a16:colId xmlns:a16="http://schemas.microsoft.com/office/drawing/2014/main" val="1545944227"/>
                    </a:ext>
                  </a:extLst>
                </a:gridCol>
                <a:gridCol w="3078162">
                  <a:extLst>
                    <a:ext uri="{9D8B030D-6E8A-4147-A177-3AD203B41FA5}">
                      <a16:colId xmlns:a16="http://schemas.microsoft.com/office/drawing/2014/main" val="763776948"/>
                    </a:ext>
                  </a:extLst>
                </a:gridCol>
                <a:gridCol w="2166938">
                  <a:extLst>
                    <a:ext uri="{9D8B030D-6E8A-4147-A177-3AD203B41FA5}">
                      <a16:colId xmlns:a16="http://schemas.microsoft.com/office/drawing/2014/main" val="547700062"/>
                    </a:ext>
                  </a:extLst>
                </a:gridCol>
                <a:gridCol w="2311400">
                  <a:extLst>
                    <a:ext uri="{9D8B030D-6E8A-4147-A177-3AD203B41FA5}">
                      <a16:colId xmlns:a16="http://schemas.microsoft.com/office/drawing/2014/main" val="735850266"/>
                    </a:ext>
                  </a:extLst>
                </a:gridCol>
              </a:tblGrid>
              <a:tr h="8286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W2(B), </a:t>
                      </a: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R1(B)</a:t>
                      </a:r>
                      <a:endPar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and </a:t>
                      </a:r>
                      <a:r>
                        <a:rPr kumimoji="0" lang="en-US" altLang="en-US" sz="1600" b="1"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W2(B) and R1(B)</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 and 2 are not conflict equivalent because the order of conflict operations are different in the schedules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88061188"/>
                  </a:ext>
                </a:extLst>
              </a:tr>
              <a:tr h="96520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R1(B),W2(B)</a:t>
                      </a:r>
                      <a:endParaRPr kumimoji="0" lang="en-US" altLang="en-US" sz="1600" b="0"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C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and </a:t>
                      </a: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R1(B) and W2(B)</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IN"/>
                    </a:p>
                  </a:txBody>
                  <a:tcPr/>
                </a:tc>
                <a:extLst>
                  <a:ext uri="{0D108BD9-81ED-4DB2-BD59-A6C34878D82A}">
                    <a16:rowId xmlns:a16="http://schemas.microsoft.com/office/drawing/2014/main" val="3066262656"/>
                  </a:ext>
                </a:extLst>
              </a:tr>
            </a:tbl>
          </a:graphicData>
        </a:graphic>
      </p:graphicFrame>
      <p:graphicFrame>
        <p:nvGraphicFramePr>
          <p:cNvPr id="134217" name="Group 73">
            <a:extLst>
              <a:ext uri="{FF2B5EF4-FFF2-40B4-BE49-F238E27FC236}">
                <a16:creationId xmlns:a16="http://schemas.microsoft.com/office/drawing/2014/main" id="{0F61DA7D-9E71-A351-CE89-987F8BF96D2E}"/>
              </a:ext>
            </a:extLst>
          </p:cNvPr>
          <p:cNvGraphicFramePr>
            <a:graphicFrameLocks noGrp="1"/>
          </p:cNvGraphicFramePr>
          <p:nvPr/>
        </p:nvGraphicFramePr>
        <p:xfrm>
          <a:off x="900113" y="1566863"/>
          <a:ext cx="2736850" cy="1920875"/>
        </p:xfrm>
        <a:graphic>
          <a:graphicData uri="http://schemas.openxmlformats.org/drawingml/2006/table">
            <a:tbl>
              <a:tblPr/>
              <a:tblGrid>
                <a:gridCol w="1368425">
                  <a:extLst>
                    <a:ext uri="{9D8B030D-6E8A-4147-A177-3AD203B41FA5}">
                      <a16:colId xmlns:a16="http://schemas.microsoft.com/office/drawing/2014/main" val="843988417"/>
                    </a:ext>
                  </a:extLst>
                </a:gridCol>
                <a:gridCol w="1368425">
                  <a:extLst>
                    <a:ext uri="{9D8B030D-6E8A-4147-A177-3AD203B41FA5}">
                      <a16:colId xmlns:a16="http://schemas.microsoft.com/office/drawing/2014/main" val="188011669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567681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9908989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745923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593580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9377969"/>
                  </a:ext>
                </a:extLst>
              </a:tr>
            </a:tbl>
          </a:graphicData>
        </a:graphic>
      </p:graphicFrame>
      <p:sp>
        <p:nvSpPr>
          <p:cNvPr id="134255" name="Text Box 111" descr="TextBox 14">
            <a:extLst>
              <a:ext uri="{FF2B5EF4-FFF2-40B4-BE49-F238E27FC236}">
                <a16:creationId xmlns:a16="http://schemas.microsoft.com/office/drawing/2014/main" id="{ED5FD4A5-2409-6C3C-D618-5E956395375F}"/>
              </a:ext>
            </a:extLst>
          </p:cNvPr>
          <p:cNvSpPr txBox="1">
            <a:spLocks/>
          </p:cNvSpPr>
          <p:nvPr/>
        </p:nvSpPr>
        <p:spPr bwMode="auto">
          <a:xfrm>
            <a:off x="1016000" y="1195388"/>
            <a:ext cx="152876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Tree>
  </p:cSld>
  <p:clrMapOvr>
    <a:masterClrMapping/>
  </p:clrMapOvr>
  <p:transition spd="med"/>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2" descr="Title 1">
            <a:extLst>
              <a:ext uri="{FF2B5EF4-FFF2-40B4-BE49-F238E27FC236}">
                <a16:creationId xmlns:a16="http://schemas.microsoft.com/office/drawing/2014/main" id="{88CD3210-CD98-2B22-BE56-B994003BECEA}"/>
              </a:ext>
            </a:extLst>
          </p:cNvPr>
          <p:cNvSpPr>
            <a:spLocks noChangeArrowheads="1"/>
          </p:cNvSpPr>
          <p:nvPr>
            <p:ph type="title"/>
          </p:nvPr>
        </p:nvSpPr>
        <p:spPr/>
        <p:txBody>
          <a:bodyPr/>
          <a:lstStyle/>
          <a:p>
            <a:r>
              <a:rPr lang="en-US" altLang="en-US" sz="2400">
                <a:solidFill>
                  <a:srgbClr val="FF0000"/>
                </a:solidFill>
              </a:rPr>
              <a:t>Problem to Solve </a:t>
            </a:r>
          </a:p>
        </p:txBody>
      </p:sp>
      <p:sp>
        <p:nvSpPr>
          <p:cNvPr id="135171" name="Rectangle 3" descr="Content Placeholder 2">
            <a:extLst>
              <a:ext uri="{FF2B5EF4-FFF2-40B4-BE49-F238E27FC236}">
                <a16:creationId xmlns:a16="http://schemas.microsoft.com/office/drawing/2014/main" id="{D2E460DF-431F-6B8D-F061-26BD8D1FD854}"/>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1800"/>
              <a:t>Check whether the following two schedules are conflict equivalent ?</a:t>
            </a:r>
          </a:p>
        </p:txBody>
      </p:sp>
      <p:sp>
        <p:nvSpPr>
          <p:cNvPr id="135172" name="Text Box 4" descr="Date Placeholder 3">
            <a:extLst>
              <a:ext uri="{FF2B5EF4-FFF2-40B4-BE49-F238E27FC236}">
                <a16:creationId xmlns:a16="http://schemas.microsoft.com/office/drawing/2014/main" id="{60A3F24A-8951-A27D-69D7-8A350122301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5173" name="Text Box 5" descr="Slide Number Placeholder 5">
            <a:extLst>
              <a:ext uri="{FF2B5EF4-FFF2-40B4-BE49-F238E27FC236}">
                <a16:creationId xmlns:a16="http://schemas.microsoft.com/office/drawing/2014/main" id="{B94CB552-69BA-4518-2AD4-F36C052A01A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4928293-A863-42AC-81D3-1CD146AB143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35174" name="Text Box 6" descr="TextBox 6">
            <a:extLst>
              <a:ext uri="{FF2B5EF4-FFF2-40B4-BE49-F238E27FC236}">
                <a16:creationId xmlns:a16="http://schemas.microsoft.com/office/drawing/2014/main" id="{BBFECC0F-55A6-B080-5607-F4B9BCA31A78}"/>
              </a:ext>
            </a:extLst>
          </p:cNvPr>
          <p:cNvSpPr txBox="1">
            <a:spLocks/>
          </p:cNvSpPr>
          <p:nvPr/>
        </p:nvSpPr>
        <p:spPr bwMode="auto">
          <a:xfrm>
            <a:off x="152400" y="5902325"/>
            <a:ext cx="8785225"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sz="1400"/>
              <a:t>Note:Two schedules are said to be conflict equivalent  if the order of any two conflicting operations is the same in both schedules.</a:t>
            </a:r>
          </a:p>
        </p:txBody>
      </p:sp>
      <p:graphicFrame>
        <p:nvGraphicFramePr>
          <p:cNvPr id="135175" name="Group 7">
            <a:extLst>
              <a:ext uri="{FF2B5EF4-FFF2-40B4-BE49-F238E27FC236}">
                <a16:creationId xmlns:a16="http://schemas.microsoft.com/office/drawing/2014/main" id="{B0B1F985-99CF-882E-99EB-CBF9806070EF}"/>
              </a:ext>
            </a:extLst>
          </p:cNvPr>
          <p:cNvGraphicFramePr>
            <a:graphicFrameLocks noGrp="1"/>
          </p:cNvGraphicFramePr>
          <p:nvPr/>
        </p:nvGraphicFramePr>
        <p:xfrm>
          <a:off x="1639888" y="1941513"/>
          <a:ext cx="1728787" cy="1606550"/>
        </p:xfrm>
        <a:graphic>
          <a:graphicData uri="http://schemas.openxmlformats.org/drawingml/2006/table">
            <a:tbl>
              <a:tblPr/>
              <a:tblGrid>
                <a:gridCol w="941387">
                  <a:extLst>
                    <a:ext uri="{9D8B030D-6E8A-4147-A177-3AD203B41FA5}">
                      <a16:colId xmlns:a16="http://schemas.microsoft.com/office/drawing/2014/main" val="1489704747"/>
                    </a:ext>
                  </a:extLst>
                </a:gridCol>
                <a:gridCol w="787400">
                  <a:extLst>
                    <a:ext uri="{9D8B030D-6E8A-4147-A177-3AD203B41FA5}">
                      <a16:colId xmlns:a16="http://schemas.microsoft.com/office/drawing/2014/main" val="354137628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21889714"/>
                  </a:ext>
                </a:extLst>
              </a:tr>
              <a:tr h="1222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
W(A)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23295431"/>
                  </a:ext>
                </a:extLst>
              </a:tr>
            </a:tbl>
          </a:graphicData>
        </a:graphic>
      </p:graphicFrame>
      <p:graphicFrame>
        <p:nvGraphicFramePr>
          <p:cNvPr id="135192" name="Group 24">
            <a:extLst>
              <a:ext uri="{FF2B5EF4-FFF2-40B4-BE49-F238E27FC236}">
                <a16:creationId xmlns:a16="http://schemas.microsoft.com/office/drawing/2014/main" id="{56BDDDA5-5570-1A71-323B-212FED8866ED}"/>
              </a:ext>
            </a:extLst>
          </p:cNvPr>
          <p:cNvGraphicFramePr>
            <a:graphicFrameLocks noGrp="1"/>
          </p:cNvGraphicFramePr>
          <p:nvPr/>
        </p:nvGraphicFramePr>
        <p:xfrm>
          <a:off x="4295775" y="1941513"/>
          <a:ext cx="1728788" cy="1606550"/>
        </p:xfrm>
        <a:graphic>
          <a:graphicData uri="http://schemas.openxmlformats.org/drawingml/2006/table">
            <a:tbl>
              <a:tblPr/>
              <a:tblGrid>
                <a:gridCol w="941388">
                  <a:extLst>
                    <a:ext uri="{9D8B030D-6E8A-4147-A177-3AD203B41FA5}">
                      <a16:colId xmlns:a16="http://schemas.microsoft.com/office/drawing/2014/main" val="401518418"/>
                    </a:ext>
                  </a:extLst>
                </a:gridCol>
                <a:gridCol w="787400">
                  <a:extLst>
                    <a:ext uri="{9D8B030D-6E8A-4147-A177-3AD203B41FA5}">
                      <a16:colId xmlns:a16="http://schemas.microsoft.com/office/drawing/2014/main" val="227405781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36288923"/>
                  </a:ext>
                </a:extLst>
              </a:tr>
              <a:tr h="1222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38484686"/>
                  </a:ext>
                </a:extLst>
              </a:tr>
            </a:tbl>
          </a:graphicData>
        </a:graphic>
      </p:graphicFrame>
      <p:graphicFrame>
        <p:nvGraphicFramePr>
          <p:cNvPr id="135209" name="Group 41">
            <a:extLst>
              <a:ext uri="{FF2B5EF4-FFF2-40B4-BE49-F238E27FC236}">
                <a16:creationId xmlns:a16="http://schemas.microsoft.com/office/drawing/2014/main" id="{D56AD41E-509A-5404-4474-E8FC450CA40E}"/>
              </a:ext>
            </a:extLst>
          </p:cNvPr>
          <p:cNvGraphicFramePr>
            <a:graphicFrameLocks noGrp="1"/>
          </p:cNvGraphicFramePr>
          <p:nvPr/>
        </p:nvGraphicFramePr>
        <p:xfrm>
          <a:off x="152400" y="3743325"/>
          <a:ext cx="8956675" cy="768350"/>
        </p:xfrm>
        <a:graphic>
          <a:graphicData uri="http://schemas.openxmlformats.org/drawingml/2006/table">
            <a:tbl>
              <a:tblPr/>
              <a:tblGrid>
                <a:gridCol w="1400175">
                  <a:extLst>
                    <a:ext uri="{9D8B030D-6E8A-4147-A177-3AD203B41FA5}">
                      <a16:colId xmlns:a16="http://schemas.microsoft.com/office/drawing/2014/main" val="2734640981"/>
                    </a:ext>
                  </a:extLst>
                </a:gridCol>
                <a:gridCol w="3078163">
                  <a:extLst>
                    <a:ext uri="{9D8B030D-6E8A-4147-A177-3AD203B41FA5}">
                      <a16:colId xmlns:a16="http://schemas.microsoft.com/office/drawing/2014/main" val="3978847034"/>
                    </a:ext>
                  </a:extLst>
                </a:gridCol>
                <a:gridCol w="2166937">
                  <a:extLst>
                    <a:ext uri="{9D8B030D-6E8A-4147-A177-3AD203B41FA5}">
                      <a16:colId xmlns:a16="http://schemas.microsoft.com/office/drawing/2014/main" val="4183078307"/>
                    </a:ext>
                  </a:extLst>
                </a:gridCol>
                <a:gridCol w="2311400">
                  <a:extLst>
                    <a:ext uri="{9D8B030D-6E8A-4147-A177-3AD203B41FA5}">
                      <a16:colId xmlns:a16="http://schemas.microsoft.com/office/drawing/2014/main" val="195524001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W1(A), R2(A),W2(A)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5355019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R2(A), W2(A),R1(A), W1(A)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IN"/>
                    </a:p>
                  </a:txBody>
                  <a:tcPr/>
                </a:tc>
                <a:extLst>
                  <a:ext uri="{0D108BD9-81ED-4DB2-BD59-A6C34878D82A}">
                    <a16:rowId xmlns:a16="http://schemas.microsoft.com/office/drawing/2014/main" val="1061411832"/>
                  </a:ext>
                </a:extLst>
              </a:tr>
            </a:tbl>
          </a:graphicData>
        </a:graphic>
      </p:graphicFrame>
      <p:sp>
        <p:nvSpPr>
          <p:cNvPr id="135237" name="Text Box 69" descr="TextBox 12">
            <a:extLst>
              <a:ext uri="{FF2B5EF4-FFF2-40B4-BE49-F238E27FC236}">
                <a16:creationId xmlns:a16="http://schemas.microsoft.com/office/drawing/2014/main" id="{907B2E58-1657-AF10-CA51-FFF75FE7F2B6}"/>
              </a:ext>
            </a:extLst>
          </p:cNvPr>
          <p:cNvSpPr txBox="1">
            <a:spLocks/>
          </p:cNvSpPr>
          <p:nvPr/>
        </p:nvSpPr>
        <p:spPr bwMode="auto">
          <a:xfrm>
            <a:off x="1808163" y="1628775"/>
            <a:ext cx="137318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1</a:t>
            </a:r>
          </a:p>
        </p:txBody>
      </p:sp>
      <p:sp>
        <p:nvSpPr>
          <p:cNvPr id="135238" name="Text Box 70" descr="TextBox 13">
            <a:extLst>
              <a:ext uri="{FF2B5EF4-FFF2-40B4-BE49-F238E27FC236}">
                <a16:creationId xmlns:a16="http://schemas.microsoft.com/office/drawing/2014/main" id="{02EBC27E-3561-937D-3843-437595EEA122}"/>
              </a:ext>
            </a:extLst>
          </p:cNvPr>
          <p:cNvSpPr txBox="1">
            <a:spLocks/>
          </p:cNvSpPr>
          <p:nvPr/>
        </p:nvSpPr>
        <p:spPr bwMode="auto">
          <a:xfrm>
            <a:off x="4473575" y="1595438"/>
            <a:ext cx="137160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2</a:t>
            </a:r>
          </a:p>
        </p:txBody>
      </p:sp>
    </p:spTree>
  </p:cSld>
  <p:clrMapOvr>
    <a:masterClrMapping/>
  </p:clrMapOvr>
  <p:transition spd="med"/>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descr="Title 1">
            <a:extLst>
              <a:ext uri="{FF2B5EF4-FFF2-40B4-BE49-F238E27FC236}">
                <a16:creationId xmlns:a16="http://schemas.microsoft.com/office/drawing/2014/main" id="{5951D2C0-86F2-18F6-3FA1-E0A3A5CEF40A}"/>
              </a:ext>
            </a:extLst>
          </p:cNvPr>
          <p:cNvSpPr>
            <a:spLocks noChangeArrowheads="1"/>
          </p:cNvSpPr>
          <p:nvPr>
            <p:ph type="title"/>
          </p:nvPr>
        </p:nvSpPr>
        <p:spPr/>
        <p:txBody>
          <a:bodyPr/>
          <a:lstStyle/>
          <a:p>
            <a:r>
              <a:rPr lang="en-US" altLang="en-US" sz="2400">
                <a:solidFill>
                  <a:srgbClr val="FF0000"/>
                </a:solidFill>
              </a:rPr>
              <a:t>Problem to Solve </a:t>
            </a:r>
          </a:p>
        </p:txBody>
      </p:sp>
      <p:sp>
        <p:nvSpPr>
          <p:cNvPr id="136195" name="Rectangle 3" descr="Content Placeholder 2">
            <a:extLst>
              <a:ext uri="{FF2B5EF4-FFF2-40B4-BE49-F238E27FC236}">
                <a16:creationId xmlns:a16="http://schemas.microsoft.com/office/drawing/2014/main" id="{30BE1456-BFB4-8D17-72E4-1CC159F7B8A9}"/>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1800"/>
              <a:t>Check whether the following two schedules are conflict equivalent ?</a:t>
            </a:r>
          </a:p>
        </p:txBody>
      </p:sp>
      <p:sp>
        <p:nvSpPr>
          <p:cNvPr id="136196" name="Text Box 4" descr="Date Placeholder 3">
            <a:extLst>
              <a:ext uri="{FF2B5EF4-FFF2-40B4-BE49-F238E27FC236}">
                <a16:creationId xmlns:a16="http://schemas.microsoft.com/office/drawing/2014/main" id="{D53D4122-6201-37C9-1333-89E0385CB3E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6197" name="Text Box 5" descr="Slide Number Placeholder 5">
            <a:extLst>
              <a:ext uri="{FF2B5EF4-FFF2-40B4-BE49-F238E27FC236}">
                <a16:creationId xmlns:a16="http://schemas.microsoft.com/office/drawing/2014/main" id="{E14C702E-B854-3F41-8056-3B168207F0C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93B9A86-ADE1-40A2-8777-46AD1B5E576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36198" name="Text Box 6" descr="TextBox 6">
            <a:extLst>
              <a:ext uri="{FF2B5EF4-FFF2-40B4-BE49-F238E27FC236}">
                <a16:creationId xmlns:a16="http://schemas.microsoft.com/office/drawing/2014/main" id="{F40ADE2F-F675-1A55-0AF7-6F2C4B10AD19}"/>
              </a:ext>
            </a:extLst>
          </p:cNvPr>
          <p:cNvSpPr txBox="1">
            <a:spLocks/>
          </p:cNvSpPr>
          <p:nvPr/>
        </p:nvSpPr>
        <p:spPr bwMode="auto">
          <a:xfrm>
            <a:off x="152400" y="5902325"/>
            <a:ext cx="8785225"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sz="1400"/>
              <a:t>Note:Two schedules are said to be conflict equivalent  if the order of any two conflicting operations is the same in both schedules.</a:t>
            </a:r>
          </a:p>
        </p:txBody>
      </p:sp>
      <p:graphicFrame>
        <p:nvGraphicFramePr>
          <p:cNvPr id="136199" name="Group 7">
            <a:extLst>
              <a:ext uri="{FF2B5EF4-FFF2-40B4-BE49-F238E27FC236}">
                <a16:creationId xmlns:a16="http://schemas.microsoft.com/office/drawing/2014/main" id="{8919574A-3C6C-F0C6-A66F-C5F898790A49}"/>
              </a:ext>
            </a:extLst>
          </p:cNvPr>
          <p:cNvGraphicFramePr>
            <a:graphicFrameLocks noGrp="1"/>
          </p:cNvGraphicFramePr>
          <p:nvPr/>
        </p:nvGraphicFramePr>
        <p:xfrm>
          <a:off x="1639888" y="1941513"/>
          <a:ext cx="1728787" cy="1606550"/>
        </p:xfrm>
        <a:graphic>
          <a:graphicData uri="http://schemas.openxmlformats.org/drawingml/2006/table">
            <a:tbl>
              <a:tblPr/>
              <a:tblGrid>
                <a:gridCol w="941387">
                  <a:extLst>
                    <a:ext uri="{9D8B030D-6E8A-4147-A177-3AD203B41FA5}">
                      <a16:colId xmlns:a16="http://schemas.microsoft.com/office/drawing/2014/main" val="3266371098"/>
                    </a:ext>
                  </a:extLst>
                </a:gridCol>
                <a:gridCol w="787400">
                  <a:extLst>
                    <a:ext uri="{9D8B030D-6E8A-4147-A177-3AD203B41FA5}">
                      <a16:colId xmlns:a16="http://schemas.microsoft.com/office/drawing/2014/main" val="311518371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32731578"/>
                  </a:ext>
                </a:extLst>
              </a:tr>
              <a:tr h="1222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
W(A)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94016611"/>
                  </a:ext>
                </a:extLst>
              </a:tr>
            </a:tbl>
          </a:graphicData>
        </a:graphic>
      </p:graphicFrame>
      <p:graphicFrame>
        <p:nvGraphicFramePr>
          <p:cNvPr id="136216" name="Group 24">
            <a:extLst>
              <a:ext uri="{FF2B5EF4-FFF2-40B4-BE49-F238E27FC236}">
                <a16:creationId xmlns:a16="http://schemas.microsoft.com/office/drawing/2014/main" id="{C80CAE6B-61E8-79D7-C3AC-39E6EF00295F}"/>
              </a:ext>
            </a:extLst>
          </p:cNvPr>
          <p:cNvGraphicFramePr>
            <a:graphicFrameLocks noGrp="1"/>
          </p:cNvGraphicFramePr>
          <p:nvPr/>
        </p:nvGraphicFramePr>
        <p:xfrm>
          <a:off x="4295775" y="1941513"/>
          <a:ext cx="1728788" cy="1606550"/>
        </p:xfrm>
        <a:graphic>
          <a:graphicData uri="http://schemas.openxmlformats.org/drawingml/2006/table">
            <a:tbl>
              <a:tblPr/>
              <a:tblGrid>
                <a:gridCol w="941388">
                  <a:extLst>
                    <a:ext uri="{9D8B030D-6E8A-4147-A177-3AD203B41FA5}">
                      <a16:colId xmlns:a16="http://schemas.microsoft.com/office/drawing/2014/main" val="4140729415"/>
                    </a:ext>
                  </a:extLst>
                </a:gridCol>
                <a:gridCol w="787400">
                  <a:extLst>
                    <a:ext uri="{9D8B030D-6E8A-4147-A177-3AD203B41FA5}">
                      <a16:colId xmlns:a16="http://schemas.microsoft.com/office/drawing/2014/main" val="81006082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56584034"/>
                  </a:ext>
                </a:extLst>
              </a:tr>
              <a:tr h="1222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94205854"/>
                  </a:ext>
                </a:extLst>
              </a:tr>
            </a:tbl>
          </a:graphicData>
        </a:graphic>
      </p:graphicFrame>
      <p:graphicFrame>
        <p:nvGraphicFramePr>
          <p:cNvPr id="136233" name="Group 41">
            <a:extLst>
              <a:ext uri="{FF2B5EF4-FFF2-40B4-BE49-F238E27FC236}">
                <a16:creationId xmlns:a16="http://schemas.microsoft.com/office/drawing/2014/main" id="{F6815E5D-6295-45DB-8231-32EB95EF8B18}"/>
              </a:ext>
            </a:extLst>
          </p:cNvPr>
          <p:cNvGraphicFramePr>
            <a:graphicFrameLocks noGrp="1"/>
          </p:cNvGraphicFramePr>
          <p:nvPr/>
        </p:nvGraphicFramePr>
        <p:xfrm>
          <a:off x="152400" y="3743325"/>
          <a:ext cx="8956675" cy="2139950"/>
        </p:xfrm>
        <a:graphic>
          <a:graphicData uri="http://schemas.openxmlformats.org/drawingml/2006/table">
            <a:tbl>
              <a:tblPr/>
              <a:tblGrid>
                <a:gridCol w="1400175">
                  <a:extLst>
                    <a:ext uri="{9D8B030D-6E8A-4147-A177-3AD203B41FA5}">
                      <a16:colId xmlns:a16="http://schemas.microsoft.com/office/drawing/2014/main" val="4195253613"/>
                    </a:ext>
                  </a:extLst>
                </a:gridCol>
                <a:gridCol w="3078163">
                  <a:extLst>
                    <a:ext uri="{9D8B030D-6E8A-4147-A177-3AD203B41FA5}">
                      <a16:colId xmlns:a16="http://schemas.microsoft.com/office/drawing/2014/main" val="3832701511"/>
                    </a:ext>
                  </a:extLst>
                </a:gridCol>
                <a:gridCol w="2166937">
                  <a:extLst>
                    <a:ext uri="{9D8B030D-6E8A-4147-A177-3AD203B41FA5}">
                      <a16:colId xmlns:a16="http://schemas.microsoft.com/office/drawing/2014/main" val="2584980437"/>
                    </a:ext>
                  </a:extLst>
                </a:gridCol>
                <a:gridCol w="2311400">
                  <a:extLst>
                    <a:ext uri="{9D8B030D-6E8A-4147-A177-3AD203B41FA5}">
                      <a16:colId xmlns:a16="http://schemas.microsoft.com/office/drawing/2014/main" val="3076777430"/>
                    </a:ext>
                  </a:extLst>
                </a:gridCol>
              </a:tblGrid>
              <a:tr h="10699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W1(A), R2(A),W2(A)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and W2(A)</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 and R2(A)</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W1(A) and W2(A)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 and 2 are not conflict equivalent because the order of conflict operations are not same</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74502370"/>
                  </a:ext>
                </a:extLst>
              </a:tr>
              <a:tr h="10699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R2(A), W2(A),R1(A), W1(A)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
W2(A) and R1(A)
R2(A) and W1(A)
W2(A) and W1(A)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IN"/>
                    </a:p>
                  </a:txBody>
                  <a:tcPr/>
                </a:tc>
                <a:extLst>
                  <a:ext uri="{0D108BD9-81ED-4DB2-BD59-A6C34878D82A}">
                    <a16:rowId xmlns:a16="http://schemas.microsoft.com/office/drawing/2014/main" val="2593646670"/>
                  </a:ext>
                </a:extLst>
              </a:tr>
            </a:tbl>
          </a:graphicData>
        </a:graphic>
      </p:graphicFrame>
      <p:sp>
        <p:nvSpPr>
          <p:cNvPr id="136261" name="Text Box 69" descr="TextBox 12">
            <a:extLst>
              <a:ext uri="{FF2B5EF4-FFF2-40B4-BE49-F238E27FC236}">
                <a16:creationId xmlns:a16="http://schemas.microsoft.com/office/drawing/2014/main" id="{E3449CFF-964B-FACC-9FF1-6C98D8F34281}"/>
              </a:ext>
            </a:extLst>
          </p:cNvPr>
          <p:cNvSpPr txBox="1">
            <a:spLocks/>
          </p:cNvSpPr>
          <p:nvPr/>
        </p:nvSpPr>
        <p:spPr bwMode="auto">
          <a:xfrm>
            <a:off x="1808163" y="1628775"/>
            <a:ext cx="137318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1</a:t>
            </a:r>
          </a:p>
        </p:txBody>
      </p:sp>
      <p:sp>
        <p:nvSpPr>
          <p:cNvPr id="136262" name="Text Box 70" descr="TextBox 13">
            <a:extLst>
              <a:ext uri="{FF2B5EF4-FFF2-40B4-BE49-F238E27FC236}">
                <a16:creationId xmlns:a16="http://schemas.microsoft.com/office/drawing/2014/main" id="{ABAB98BC-1CF2-E410-ABD5-85B34860EBD0}"/>
              </a:ext>
            </a:extLst>
          </p:cNvPr>
          <p:cNvSpPr txBox="1">
            <a:spLocks/>
          </p:cNvSpPr>
          <p:nvPr/>
        </p:nvSpPr>
        <p:spPr bwMode="auto">
          <a:xfrm>
            <a:off x="4473575" y="1595438"/>
            <a:ext cx="137160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2</a:t>
            </a:r>
          </a:p>
        </p:txBody>
      </p:sp>
    </p:spTree>
  </p:cSld>
  <p:clrMapOvr>
    <a:masterClrMapping/>
  </p:clrMapOvr>
  <p:transition spd="med"/>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descr="Title 1">
            <a:extLst>
              <a:ext uri="{FF2B5EF4-FFF2-40B4-BE49-F238E27FC236}">
                <a16:creationId xmlns:a16="http://schemas.microsoft.com/office/drawing/2014/main" id="{8E3263D8-33B1-6360-7B39-0B2480BA9387}"/>
              </a:ext>
            </a:extLst>
          </p:cNvPr>
          <p:cNvSpPr>
            <a:spLocks noChangeArrowheads="1"/>
          </p:cNvSpPr>
          <p:nvPr>
            <p:ph type="title"/>
          </p:nvPr>
        </p:nvSpPr>
        <p:spPr/>
        <p:txBody>
          <a:bodyPr/>
          <a:lstStyle/>
          <a:p>
            <a:r>
              <a:rPr lang="en-US" altLang="en-US" sz="2400">
                <a:solidFill>
                  <a:srgbClr val="FF0000"/>
                </a:solidFill>
              </a:rPr>
              <a:t>Problem to Solve </a:t>
            </a:r>
          </a:p>
        </p:txBody>
      </p:sp>
      <p:sp>
        <p:nvSpPr>
          <p:cNvPr id="137219" name="Rectangle 3" descr="Content Placeholder 2">
            <a:extLst>
              <a:ext uri="{FF2B5EF4-FFF2-40B4-BE49-F238E27FC236}">
                <a16:creationId xmlns:a16="http://schemas.microsoft.com/office/drawing/2014/main" id="{7465D601-3FA9-1892-CFC6-E5625F3E3EB5}"/>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1800"/>
              <a:t>Check whether the following two schedules are conflict equivalent ?</a:t>
            </a:r>
          </a:p>
        </p:txBody>
      </p:sp>
      <p:sp>
        <p:nvSpPr>
          <p:cNvPr id="137220" name="Text Box 4" descr="Date Placeholder 3">
            <a:extLst>
              <a:ext uri="{FF2B5EF4-FFF2-40B4-BE49-F238E27FC236}">
                <a16:creationId xmlns:a16="http://schemas.microsoft.com/office/drawing/2014/main" id="{C6E921F7-E771-83A1-6E2A-ACEBC7ABE75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7221" name="Text Box 5" descr="Slide Number Placeholder 5">
            <a:extLst>
              <a:ext uri="{FF2B5EF4-FFF2-40B4-BE49-F238E27FC236}">
                <a16:creationId xmlns:a16="http://schemas.microsoft.com/office/drawing/2014/main" id="{F083FA2F-F908-78C9-E913-92F3BDCED3C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BEA655D-B173-40FD-8835-CFCE63791B6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129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37222" name="Text Box 6" descr="TextBox 6">
            <a:extLst>
              <a:ext uri="{FF2B5EF4-FFF2-40B4-BE49-F238E27FC236}">
                <a16:creationId xmlns:a16="http://schemas.microsoft.com/office/drawing/2014/main" id="{70725236-C3A9-5164-8F67-7CFCB6E7BA4C}"/>
              </a:ext>
            </a:extLst>
          </p:cNvPr>
          <p:cNvSpPr txBox="1">
            <a:spLocks/>
          </p:cNvSpPr>
          <p:nvPr/>
        </p:nvSpPr>
        <p:spPr bwMode="auto">
          <a:xfrm>
            <a:off x="152400" y="5902325"/>
            <a:ext cx="8785225"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sz="1400"/>
              <a:t>Note:Two schedules are said to be conflict equivalent  if the order of any two conflicting operations is the same in both schedules.</a:t>
            </a:r>
          </a:p>
        </p:txBody>
      </p:sp>
      <p:graphicFrame>
        <p:nvGraphicFramePr>
          <p:cNvPr id="137223" name="Group 7">
            <a:extLst>
              <a:ext uri="{FF2B5EF4-FFF2-40B4-BE49-F238E27FC236}">
                <a16:creationId xmlns:a16="http://schemas.microsoft.com/office/drawing/2014/main" id="{8F5638BD-8B09-F80B-D228-19599C3A125F}"/>
              </a:ext>
            </a:extLst>
          </p:cNvPr>
          <p:cNvGraphicFramePr>
            <a:graphicFrameLocks noGrp="1"/>
          </p:cNvGraphicFramePr>
          <p:nvPr/>
        </p:nvGraphicFramePr>
        <p:xfrm>
          <a:off x="1639888" y="1941513"/>
          <a:ext cx="1728787" cy="1606550"/>
        </p:xfrm>
        <a:graphic>
          <a:graphicData uri="http://schemas.openxmlformats.org/drawingml/2006/table">
            <a:tbl>
              <a:tblPr/>
              <a:tblGrid>
                <a:gridCol w="941387">
                  <a:extLst>
                    <a:ext uri="{9D8B030D-6E8A-4147-A177-3AD203B41FA5}">
                      <a16:colId xmlns:a16="http://schemas.microsoft.com/office/drawing/2014/main" val="2244207343"/>
                    </a:ext>
                  </a:extLst>
                </a:gridCol>
                <a:gridCol w="787400">
                  <a:extLst>
                    <a:ext uri="{9D8B030D-6E8A-4147-A177-3AD203B41FA5}">
                      <a16:colId xmlns:a16="http://schemas.microsoft.com/office/drawing/2014/main" val="381549798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27279148"/>
                  </a:ext>
                </a:extLst>
              </a:tr>
              <a:tr h="1222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
W(A)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1892031"/>
                  </a:ext>
                </a:extLst>
              </a:tr>
            </a:tbl>
          </a:graphicData>
        </a:graphic>
      </p:graphicFrame>
      <p:graphicFrame>
        <p:nvGraphicFramePr>
          <p:cNvPr id="137240" name="Group 24">
            <a:extLst>
              <a:ext uri="{FF2B5EF4-FFF2-40B4-BE49-F238E27FC236}">
                <a16:creationId xmlns:a16="http://schemas.microsoft.com/office/drawing/2014/main" id="{92C7B5A3-3454-063A-26C3-FF25B565A164}"/>
              </a:ext>
            </a:extLst>
          </p:cNvPr>
          <p:cNvGraphicFramePr>
            <a:graphicFrameLocks noGrp="1"/>
          </p:cNvGraphicFramePr>
          <p:nvPr/>
        </p:nvGraphicFramePr>
        <p:xfrm>
          <a:off x="4546600" y="1965325"/>
          <a:ext cx="1728788" cy="1606550"/>
        </p:xfrm>
        <a:graphic>
          <a:graphicData uri="http://schemas.openxmlformats.org/drawingml/2006/table">
            <a:tbl>
              <a:tblPr/>
              <a:tblGrid>
                <a:gridCol w="941388">
                  <a:extLst>
                    <a:ext uri="{9D8B030D-6E8A-4147-A177-3AD203B41FA5}">
                      <a16:colId xmlns:a16="http://schemas.microsoft.com/office/drawing/2014/main" val="3420531008"/>
                    </a:ext>
                  </a:extLst>
                </a:gridCol>
                <a:gridCol w="787400">
                  <a:extLst>
                    <a:ext uri="{9D8B030D-6E8A-4147-A177-3AD203B41FA5}">
                      <a16:colId xmlns:a16="http://schemas.microsoft.com/office/drawing/2014/main" val="371622430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43208832"/>
                  </a:ext>
                </a:extLst>
              </a:tr>
              <a:tr h="1222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R(A)</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62492489"/>
                  </a:ext>
                </a:extLst>
              </a:tr>
            </a:tbl>
          </a:graphicData>
        </a:graphic>
      </p:graphicFrame>
      <p:graphicFrame>
        <p:nvGraphicFramePr>
          <p:cNvPr id="137257" name="Group 41">
            <a:extLst>
              <a:ext uri="{FF2B5EF4-FFF2-40B4-BE49-F238E27FC236}">
                <a16:creationId xmlns:a16="http://schemas.microsoft.com/office/drawing/2014/main" id="{05604854-FA88-696B-95D2-414064783AC7}"/>
              </a:ext>
            </a:extLst>
          </p:cNvPr>
          <p:cNvGraphicFramePr>
            <a:graphicFrameLocks noGrp="1"/>
          </p:cNvGraphicFramePr>
          <p:nvPr/>
        </p:nvGraphicFramePr>
        <p:xfrm>
          <a:off x="152400" y="3743325"/>
          <a:ext cx="8956675" cy="1416050"/>
        </p:xfrm>
        <a:graphic>
          <a:graphicData uri="http://schemas.openxmlformats.org/drawingml/2006/table">
            <a:tbl>
              <a:tblPr/>
              <a:tblGrid>
                <a:gridCol w="1400175">
                  <a:extLst>
                    <a:ext uri="{9D8B030D-6E8A-4147-A177-3AD203B41FA5}">
                      <a16:colId xmlns:a16="http://schemas.microsoft.com/office/drawing/2014/main" val="3041712157"/>
                    </a:ext>
                  </a:extLst>
                </a:gridCol>
                <a:gridCol w="3078163">
                  <a:extLst>
                    <a:ext uri="{9D8B030D-6E8A-4147-A177-3AD203B41FA5}">
                      <a16:colId xmlns:a16="http://schemas.microsoft.com/office/drawing/2014/main" val="2237566948"/>
                    </a:ext>
                  </a:extLst>
                </a:gridCol>
                <a:gridCol w="2166937">
                  <a:extLst>
                    <a:ext uri="{9D8B030D-6E8A-4147-A177-3AD203B41FA5}">
                      <a16:colId xmlns:a16="http://schemas.microsoft.com/office/drawing/2014/main" val="2503739341"/>
                    </a:ext>
                  </a:extLst>
                </a:gridCol>
                <a:gridCol w="2311400">
                  <a:extLst>
                    <a:ext uri="{9D8B030D-6E8A-4147-A177-3AD203B41FA5}">
                      <a16:colId xmlns:a16="http://schemas.microsoft.com/office/drawing/2014/main" val="1461835732"/>
                    </a:ext>
                  </a:extLst>
                </a:gridCol>
              </a:tblGrid>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W1(A), R2(A),W2(A)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endParaRPr kumimoji="0" lang="en-US" altLang="en-US" sz="16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97229085"/>
                  </a:ext>
                </a:extLst>
              </a:tr>
              <a:tr h="8286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Schedule 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R1(A), R1(A), W2(A),W1(A)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Conflict Operations</a:t>
                      </a:r>
                    </a:p>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IN"/>
                    </a:p>
                  </a:txBody>
                  <a:tcPr/>
                </a:tc>
                <a:extLst>
                  <a:ext uri="{0D108BD9-81ED-4DB2-BD59-A6C34878D82A}">
                    <a16:rowId xmlns:a16="http://schemas.microsoft.com/office/drawing/2014/main" val="1529083769"/>
                  </a:ext>
                </a:extLst>
              </a:tr>
            </a:tbl>
          </a:graphicData>
        </a:graphic>
      </p:graphicFrame>
      <p:sp>
        <p:nvSpPr>
          <p:cNvPr id="137285" name="Text Box 69" descr="TextBox 12">
            <a:extLst>
              <a:ext uri="{FF2B5EF4-FFF2-40B4-BE49-F238E27FC236}">
                <a16:creationId xmlns:a16="http://schemas.microsoft.com/office/drawing/2014/main" id="{DF6EA4D4-364C-1A1F-E2FF-B5BF12560194}"/>
              </a:ext>
            </a:extLst>
          </p:cNvPr>
          <p:cNvSpPr txBox="1">
            <a:spLocks/>
          </p:cNvSpPr>
          <p:nvPr/>
        </p:nvSpPr>
        <p:spPr bwMode="auto">
          <a:xfrm>
            <a:off x="1808163" y="1628775"/>
            <a:ext cx="1373187"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1</a:t>
            </a:r>
          </a:p>
        </p:txBody>
      </p:sp>
      <p:sp>
        <p:nvSpPr>
          <p:cNvPr id="137286" name="Text Box 70" descr="TextBox 13">
            <a:extLst>
              <a:ext uri="{FF2B5EF4-FFF2-40B4-BE49-F238E27FC236}">
                <a16:creationId xmlns:a16="http://schemas.microsoft.com/office/drawing/2014/main" id="{626FED0D-C7A7-5FBE-DE2F-5581E6F1CE3C}"/>
              </a:ext>
            </a:extLst>
          </p:cNvPr>
          <p:cNvSpPr txBox="1">
            <a:spLocks/>
          </p:cNvSpPr>
          <p:nvPr/>
        </p:nvSpPr>
        <p:spPr bwMode="auto">
          <a:xfrm>
            <a:off x="4473575" y="1595438"/>
            <a:ext cx="137160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3</a:t>
            </a:r>
          </a:p>
        </p:txBody>
      </p:sp>
    </p:spTree>
  </p:cSld>
  <p:clrMapOvr>
    <a:masterClrMapping/>
  </p:clrMapOvr>
  <p:transition spd="med"/>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descr="Title 1">
            <a:extLst>
              <a:ext uri="{FF2B5EF4-FFF2-40B4-BE49-F238E27FC236}">
                <a16:creationId xmlns:a16="http://schemas.microsoft.com/office/drawing/2014/main" id="{0905AE55-6372-A82F-5235-D248E6300BA2}"/>
              </a:ext>
            </a:extLst>
          </p:cNvPr>
          <p:cNvSpPr>
            <a:spLocks noChangeArrowheads="1"/>
          </p:cNvSpPr>
          <p:nvPr>
            <p:ph type="title"/>
          </p:nvPr>
        </p:nvSpPr>
        <p:spPr/>
        <p:txBody>
          <a:bodyPr/>
          <a:lstStyle/>
          <a:p>
            <a:r>
              <a:rPr lang="en-US" altLang="en-US" sz="2400"/>
              <a:t>Testing for conflict-serializability of a schedule</a:t>
            </a:r>
          </a:p>
        </p:txBody>
      </p:sp>
      <p:sp>
        <p:nvSpPr>
          <p:cNvPr id="138243" name="Rectangle 3" descr="Content Placeholder 2">
            <a:extLst>
              <a:ext uri="{FF2B5EF4-FFF2-40B4-BE49-F238E27FC236}">
                <a16:creationId xmlns:a16="http://schemas.microsoft.com/office/drawing/2014/main" id="{911EB9AD-160B-6727-C5B0-30A341A997A1}"/>
              </a:ext>
            </a:extLst>
          </p:cNvPr>
          <p:cNvSpPr>
            <a:spLocks noChangeArrowheads="1"/>
          </p:cNvSpPr>
          <p:nvPr>
            <p:ph type="body" idx="1"/>
          </p:nvPr>
        </p:nvSpPr>
        <p:spPr/>
        <p:txBody>
          <a:bodyPr/>
          <a:lstStyle/>
          <a:p>
            <a:pPr marL="374650" indent="-342900">
              <a:spcBef>
                <a:spcPts val="500"/>
              </a:spcBef>
              <a:buFontTx/>
              <a:buChar char="▪"/>
            </a:pPr>
            <a:r>
              <a:rPr lang="en-US" altLang="en-US" sz="2400"/>
              <a:t>Looks at only read_Item (X) and write_Item (X) operations</a:t>
            </a:r>
          </a:p>
          <a:p>
            <a:pPr marL="374650" indent="-342900">
              <a:spcBef>
                <a:spcPts val="500"/>
              </a:spcBef>
              <a:buFontTx/>
              <a:buChar char="▪"/>
            </a:pPr>
            <a:r>
              <a:rPr lang="en-US" altLang="en-US" sz="2400"/>
              <a:t>Constructs a </a:t>
            </a:r>
            <a:r>
              <a:rPr lang="en-US" altLang="en-US" sz="2400" b="1"/>
              <a:t>precedence graph </a:t>
            </a:r>
            <a:r>
              <a:rPr lang="en-US" altLang="en-US" sz="2400"/>
              <a:t>(serialization graph) - a graph with directed edges </a:t>
            </a:r>
          </a:p>
          <a:p>
            <a:pPr marL="812800" lvl="1" indent="-342900">
              <a:spcBef>
                <a:spcPts val="400"/>
              </a:spcBef>
              <a:buFontTx/>
              <a:buChar char="▪"/>
            </a:pPr>
            <a:r>
              <a:rPr lang="en-US" altLang="en-US" sz="2000"/>
              <a:t>An edge is created from Ti  to  Tj if one of the operations in  Ti  appears before a conflicting operation in Tj</a:t>
            </a:r>
          </a:p>
          <a:p>
            <a:pPr marL="374650" indent="-342900">
              <a:spcBef>
                <a:spcPts val="500"/>
              </a:spcBef>
              <a:buFontTx/>
              <a:buChar char="▪"/>
            </a:pPr>
            <a:r>
              <a:rPr lang="en-US" altLang="en-US" sz="2400"/>
              <a:t>The schedule is serializable if and only if the precedence graph has no cycles</a:t>
            </a:r>
          </a:p>
        </p:txBody>
      </p:sp>
      <p:sp>
        <p:nvSpPr>
          <p:cNvPr id="138244" name="Text Box 4" descr="Date Placeholder 3">
            <a:extLst>
              <a:ext uri="{FF2B5EF4-FFF2-40B4-BE49-F238E27FC236}">
                <a16:creationId xmlns:a16="http://schemas.microsoft.com/office/drawing/2014/main" id="{38C9A075-AC7D-937A-7B78-9D7EA64C13F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8245" name="Text Box 5" descr="Slide Number Placeholder 5">
            <a:extLst>
              <a:ext uri="{FF2B5EF4-FFF2-40B4-BE49-F238E27FC236}">
                <a16:creationId xmlns:a16="http://schemas.microsoft.com/office/drawing/2014/main" id="{0DC8E713-8C85-48BB-8DC9-972CAA74598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5D6710C-1758-435E-896A-024E84FAC29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38246" name="Text Box 6" descr="TextBox 6">
            <a:extLst>
              <a:ext uri="{FF2B5EF4-FFF2-40B4-BE49-F238E27FC236}">
                <a16:creationId xmlns:a16="http://schemas.microsoft.com/office/drawing/2014/main" id="{4412F580-D736-9354-FAA1-7B2794F2B58D}"/>
              </a:ext>
            </a:extLst>
          </p:cNvPr>
          <p:cNvSpPr txBox="1">
            <a:spLocks/>
          </p:cNvSpPr>
          <p:nvPr/>
        </p:nvSpPr>
        <p:spPr bwMode="auto">
          <a:xfrm>
            <a:off x="401638" y="5227638"/>
            <a:ext cx="8567737"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a:t>Definition of Conflict Serializability Schedule:</a:t>
            </a:r>
          </a:p>
          <a:p>
            <a:pPr lvl="1" indent="0"/>
            <a:r>
              <a:rPr lang="en-US" altLang="en-US">
                <a:solidFill>
                  <a:srgbClr val="0000FF"/>
                </a:solidFill>
              </a:rPr>
              <a:t>A schedule </a:t>
            </a:r>
            <a:r>
              <a:rPr lang="en-US" altLang="en-US" b="1">
                <a:solidFill>
                  <a:srgbClr val="0000FF"/>
                </a:solidFill>
              </a:rPr>
              <a:t>S</a:t>
            </a:r>
            <a:r>
              <a:rPr lang="en-US" altLang="en-US">
                <a:solidFill>
                  <a:srgbClr val="0000FF"/>
                </a:solidFill>
              </a:rPr>
              <a:t> is said to be conflict serializable if it is </a:t>
            </a:r>
            <a:r>
              <a:rPr lang="en-US" altLang="en-US" b="1">
                <a:solidFill>
                  <a:srgbClr val="0000FF"/>
                </a:solidFill>
              </a:rPr>
              <a:t>conflict equivalent </a:t>
            </a:r>
          </a:p>
          <a:p>
            <a:pPr lvl="1" indent="0"/>
            <a:r>
              <a:rPr lang="en-US" altLang="en-US">
                <a:solidFill>
                  <a:srgbClr val="0000FF"/>
                </a:solidFill>
              </a:rPr>
              <a:t>to some serial schedule </a:t>
            </a:r>
            <a:r>
              <a:rPr lang="en-US" altLang="en-US" b="1">
                <a:solidFill>
                  <a:srgbClr val="0000FF"/>
                </a:solidFill>
              </a:rPr>
              <a:t>S’</a:t>
            </a:r>
            <a:r>
              <a:rPr lang="en-US" altLang="en-US">
                <a:solidFill>
                  <a:srgbClr val="0000FF"/>
                </a:solidFill>
              </a:rPr>
              <a:t>.</a:t>
            </a:r>
          </a:p>
        </p:txBody>
      </p:sp>
    </p:spTree>
  </p:cSld>
  <p:clrMapOvr>
    <a:masterClrMapping/>
  </p:clrMapOvr>
  <p:transition spd="med"/>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2" descr="Title 1">
            <a:extLst>
              <a:ext uri="{FF2B5EF4-FFF2-40B4-BE49-F238E27FC236}">
                <a16:creationId xmlns:a16="http://schemas.microsoft.com/office/drawing/2014/main" id="{AC9A3AA6-4309-3F7A-6AAA-698FA9E0BA48}"/>
              </a:ext>
            </a:extLst>
          </p:cNvPr>
          <p:cNvSpPr>
            <a:spLocks noChangeArrowheads="1"/>
          </p:cNvSpPr>
          <p:nvPr>
            <p:ph type="title"/>
          </p:nvPr>
        </p:nvSpPr>
        <p:spPr/>
        <p:txBody>
          <a:bodyPr/>
          <a:lstStyle/>
          <a:p>
            <a:r>
              <a:rPr lang="en-US" altLang="en-US" sz="2800"/>
              <a:t>Algorithm Testing for conflict-serializability</a:t>
            </a:r>
          </a:p>
        </p:txBody>
      </p:sp>
      <p:sp>
        <p:nvSpPr>
          <p:cNvPr id="139267" name="Rectangle 3" descr="Content Placeholder 2">
            <a:extLst>
              <a:ext uri="{FF2B5EF4-FFF2-40B4-BE49-F238E27FC236}">
                <a16:creationId xmlns:a16="http://schemas.microsoft.com/office/drawing/2014/main" id="{87BA4715-76B7-BBFA-B831-710ADE1B5330}"/>
              </a:ext>
            </a:extLst>
          </p:cNvPr>
          <p:cNvSpPr>
            <a:spLocks noChangeArrowheads="1"/>
          </p:cNvSpPr>
          <p:nvPr>
            <p:ph type="body" idx="1"/>
          </p:nvPr>
        </p:nvSpPr>
        <p:spPr/>
        <p:txBody>
          <a:bodyPr/>
          <a:lstStyle/>
          <a:p>
            <a:pPr marL="381000" indent="-381000">
              <a:spcBef>
                <a:spcPts val="400"/>
              </a:spcBef>
              <a:buSzTx/>
              <a:buFont typeface="Wingdings" panose="05000000000000000000" pitchFamily="2" charset="2"/>
              <a:buNone/>
            </a:pPr>
            <a:r>
              <a:rPr lang="en-US" altLang="en-US" sz="1800"/>
              <a:t>Algorithm:</a:t>
            </a:r>
          </a:p>
          <a:p>
            <a:pPr marL="381000" indent="-381000">
              <a:spcBef>
                <a:spcPts val="400"/>
              </a:spcBef>
              <a:buFontTx/>
              <a:buAutoNum type="arabicPeriod"/>
            </a:pPr>
            <a:r>
              <a:rPr lang="en-US" altLang="en-US" sz="1800"/>
              <a:t>For each transaction Ti participating in schedule S, create a node labeled Ti in the precedence graph.</a:t>
            </a:r>
          </a:p>
          <a:p>
            <a:pPr marL="381000" indent="-381000">
              <a:spcBef>
                <a:spcPts val="400"/>
              </a:spcBef>
              <a:buFontTx/>
              <a:buAutoNum type="arabicPeriod"/>
            </a:pPr>
            <a:r>
              <a:rPr lang="en-US" altLang="en-US" sz="1800"/>
              <a:t>For each case in S where </a:t>
            </a:r>
            <a:r>
              <a:rPr lang="en-US" altLang="en-US" sz="1800" b="1"/>
              <a:t>Tj</a:t>
            </a:r>
            <a:r>
              <a:rPr lang="en-US" altLang="en-US" sz="1800"/>
              <a:t> executes a </a:t>
            </a:r>
            <a:r>
              <a:rPr lang="en-US" altLang="en-US" sz="1800" b="1"/>
              <a:t>read_item(X) </a:t>
            </a:r>
            <a:r>
              <a:rPr lang="en-US" altLang="en-US" sz="1800"/>
              <a:t>after </a:t>
            </a:r>
            <a:r>
              <a:rPr lang="en-US" altLang="en-US" sz="1800" b="1"/>
              <a:t>Ti</a:t>
            </a:r>
            <a:r>
              <a:rPr lang="en-US" altLang="en-US" sz="1800"/>
              <a:t> executes a </a:t>
            </a:r>
            <a:r>
              <a:rPr lang="en-US" altLang="en-US" sz="1800" b="1"/>
              <a:t>write_item(X)</a:t>
            </a:r>
            <a:r>
              <a:rPr lang="en-US" altLang="en-US" sz="1800"/>
              <a:t>, create an edge (</a:t>
            </a:r>
            <a:r>
              <a:rPr lang="en-US" altLang="en-US" sz="1800" b="1"/>
              <a:t>Ti</a:t>
            </a:r>
            <a:r>
              <a:rPr lang="en-US" altLang="en-US" sz="1800">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sz="1800" b="1"/>
              <a:t>Tj</a:t>
            </a:r>
            <a:r>
              <a:rPr lang="en-US" altLang="en-US" sz="1800"/>
              <a:t>) in the precedence graph.</a:t>
            </a:r>
          </a:p>
          <a:p>
            <a:pPr marL="381000" indent="-381000">
              <a:spcBef>
                <a:spcPts val="400"/>
              </a:spcBef>
              <a:buFontTx/>
              <a:buAutoNum type="arabicPeriod"/>
            </a:pPr>
            <a:r>
              <a:rPr lang="en-US" altLang="en-US" sz="1800"/>
              <a:t>For each case in S where </a:t>
            </a:r>
            <a:r>
              <a:rPr lang="en-US" altLang="en-US" sz="1800" b="1"/>
              <a:t>Tj</a:t>
            </a:r>
            <a:r>
              <a:rPr lang="en-US" altLang="en-US" sz="1800"/>
              <a:t> executes a </a:t>
            </a:r>
            <a:r>
              <a:rPr lang="en-US" altLang="en-US" sz="1800" b="1"/>
              <a:t>write_item(X)</a:t>
            </a:r>
            <a:r>
              <a:rPr lang="en-US" altLang="en-US" sz="1800"/>
              <a:t> after </a:t>
            </a:r>
            <a:r>
              <a:rPr lang="en-US" altLang="en-US" sz="1800" b="1"/>
              <a:t>Ti</a:t>
            </a:r>
            <a:r>
              <a:rPr lang="en-US" altLang="en-US" sz="1800"/>
              <a:t> executes a </a:t>
            </a:r>
            <a:r>
              <a:rPr lang="en-US" altLang="en-US" sz="1800" b="1"/>
              <a:t>read_itern (X)</a:t>
            </a:r>
            <a:r>
              <a:rPr lang="en-US" altLang="en-US" sz="1800"/>
              <a:t> ,create an edge (</a:t>
            </a:r>
            <a:r>
              <a:rPr lang="en-US" altLang="en-US" sz="1800" b="1"/>
              <a:t>Ti</a:t>
            </a:r>
            <a:r>
              <a:rPr lang="en-US" altLang="en-US" sz="1800">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sz="1800" b="1"/>
              <a:t>Tj</a:t>
            </a:r>
            <a:r>
              <a:rPr lang="en-US" altLang="en-US" sz="1800"/>
              <a:t>) in the precedence graph.</a:t>
            </a:r>
          </a:p>
          <a:p>
            <a:pPr marL="381000" indent="-381000">
              <a:spcBef>
                <a:spcPts val="400"/>
              </a:spcBef>
              <a:buFontTx/>
              <a:buAutoNum type="arabicPeriod"/>
            </a:pPr>
            <a:r>
              <a:rPr lang="en-US" altLang="en-US" sz="1800"/>
              <a:t>For each case in S where </a:t>
            </a:r>
            <a:r>
              <a:rPr lang="en-US" altLang="en-US" sz="1800" b="1"/>
              <a:t>Tj</a:t>
            </a:r>
            <a:r>
              <a:rPr lang="en-US" altLang="en-US" sz="1800"/>
              <a:t> executes a </a:t>
            </a:r>
            <a:r>
              <a:rPr lang="en-US" altLang="en-US" sz="1800" b="1"/>
              <a:t>write_item(X)</a:t>
            </a:r>
            <a:r>
              <a:rPr lang="en-US" altLang="en-US" sz="1800"/>
              <a:t> after </a:t>
            </a:r>
            <a:r>
              <a:rPr lang="en-US" altLang="en-US" sz="1800" b="1"/>
              <a:t>Ti</a:t>
            </a:r>
            <a:r>
              <a:rPr lang="en-US" altLang="en-US" sz="1800"/>
              <a:t> executes a </a:t>
            </a:r>
            <a:r>
              <a:rPr lang="en-US" altLang="en-US" sz="1800" b="1"/>
              <a:t>write_item(X)</a:t>
            </a:r>
            <a:r>
              <a:rPr lang="en-US" altLang="en-US" sz="1800"/>
              <a:t>, create an edge (</a:t>
            </a:r>
            <a:r>
              <a:rPr lang="en-US" altLang="en-US" sz="1800" b="1"/>
              <a:t>Ti</a:t>
            </a:r>
            <a:r>
              <a:rPr lang="en-US" altLang="en-US" sz="1800">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sz="1800" b="1"/>
              <a:t>Tj</a:t>
            </a:r>
            <a:r>
              <a:rPr lang="en-US" altLang="en-US" sz="1800"/>
              <a:t>) in the precedence graph.</a:t>
            </a:r>
          </a:p>
          <a:p>
            <a:pPr marL="381000" indent="-381000">
              <a:spcBef>
                <a:spcPts val="400"/>
              </a:spcBef>
              <a:buFontTx/>
              <a:buAutoNum type="arabicPeriod"/>
            </a:pPr>
            <a:r>
              <a:rPr lang="en-US" altLang="en-US" sz="1800"/>
              <a:t>The schedule S is </a:t>
            </a:r>
            <a:r>
              <a:rPr lang="en-US" altLang="en-US" sz="1800" b="1"/>
              <a:t>serializable</a:t>
            </a:r>
            <a:r>
              <a:rPr lang="en-US" altLang="en-US" sz="1800"/>
              <a:t> if and only if the precedence graph has </a:t>
            </a:r>
            <a:r>
              <a:rPr lang="en-US" altLang="en-US" sz="1800" b="1"/>
              <a:t>no cycles</a:t>
            </a:r>
            <a:r>
              <a:rPr lang="en-US" altLang="en-US" sz="1800"/>
              <a:t>. </a:t>
            </a:r>
          </a:p>
        </p:txBody>
      </p:sp>
      <p:sp>
        <p:nvSpPr>
          <p:cNvPr id="139268" name="Text Box 4" descr="Date Placeholder 3">
            <a:extLst>
              <a:ext uri="{FF2B5EF4-FFF2-40B4-BE49-F238E27FC236}">
                <a16:creationId xmlns:a16="http://schemas.microsoft.com/office/drawing/2014/main" id="{8A2BBF1D-D497-25C4-E8D2-2932E726A9E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39269" name="Text Box 5" descr="Slide Number Placeholder 5">
            <a:extLst>
              <a:ext uri="{FF2B5EF4-FFF2-40B4-BE49-F238E27FC236}">
                <a16:creationId xmlns:a16="http://schemas.microsoft.com/office/drawing/2014/main" id="{809F03D9-2348-1028-099F-2D6F8F155C3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1BD62E9-8176-4A69-8DE7-7609FAF3E25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descr="Title 1">
            <a:extLst>
              <a:ext uri="{FF2B5EF4-FFF2-40B4-BE49-F238E27FC236}">
                <a16:creationId xmlns:a16="http://schemas.microsoft.com/office/drawing/2014/main" id="{1D7EFBAA-F4AE-952A-388D-86826E49EBD6}"/>
              </a:ext>
            </a:extLst>
          </p:cNvPr>
          <p:cNvSpPr>
            <a:spLocks noChangeArrowheads="1"/>
          </p:cNvSpPr>
          <p:nvPr>
            <p:ph type="title"/>
          </p:nvPr>
        </p:nvSpPr>
        <p:spPr/>
        <p:txBody>
          <a:bodyPr/>
          <a:lstStyle/>
          <a:p>
            <a:r>
              <a:rPr lang="en-US" altLang="en-US">
                <a:solidFill>
                  <a:srgbClr val="FF0000"/>
                </a:solidFill>
              </a:rPr>
              <a:t>Problem To Solve</a:t>
            </a:r>
          </a:p>
        </p:txBody>
      </p:sp>
      <p:sp>
        <p:nvSpPr>
          <p:cNvPr id="140291" name="Rectangle 3" descr="Content Placeholder 2">
            <a:extLst>
              <a:ext uri="{FF2B5EF4-FFF2-40B4-BE49-F238E27FC236}">
                <a16:creationId xmlns:a16="http://schemas.microsoft.com/office/drawing/2014/main" id="{BE2991FC-FAB1-84C0-6B14-997FD6D3F096}"/>
              </a:ext>
            </a:extLst>
          </p:cNvPr>
          <p:cNvSpPr>
            <a:spLocks noChangeArrowheads="1"/>
          </p:cNvSpPr>
          <p:nvPr>
            <p:ph type="body" idx="1"/>
          </p:nvPr>
        </p:nvSpPr>
        <p:spPr/>
        <p:txBody>
          <a:bodyPr/>
          <a:lstStyle/>
          <a:p>
            <a:pPr>
              <a:spcBef>
                <a:spcPts val="400"/>
              </a:spcBef>
            </a:pPr>
            <a:r>
              <a:rPr lang="en-US" altLang="en-US" sz="2000"/>
              <a:t>Construct precedence graph for the following schedule</a:t>
            </a:r>
          </a:p>
        </p:txBody>
      </p:sp>
      <p:sp>
        <p:nvSpPr>
          <p:cNvPr id="140292" name="Text Box 4" descr="Date Placeholder 3">
            <a:extLst>
              <a:ext uri="{FF2B5EF4-FFF2-40B4-BE49-F238E27FC236}">
                <a16:creationId xmlns:a16="http://schemas.microsoft.com/office/drawing/2014/main" id="{C0F38FCD-21B5-D4DE-CB10-CB0382BBD68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0293" name="Text Box 5" descr="Slide Number Placeholder 5">
            <a:extLst>
              <a:ext uri="{FF2B5EF4-FFF2-40B4-BE49-F238E27FC236}">
                <a16:creationId xmlns:a16="http://schemas.microsoft.com/office/drawing/2014/main" id="{E4F04BF1-5624-134F-E1D4-4CDD625A119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E001254-F83F-47DB-98DA-FA31021C11C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40294" name="Group 6">
            <a:extLst>
              <a:ext uri="{FF2B5EF4-FFF2-40B4-BE49-F238E27FC236}">
                <a16:creationId xmlns:a16="http://schemas.microsoft.com/office/drawing/2014/main" id="{8E05761E-1DF9-015B-4C34-5660A88AAE6F}"/>
              </a:ext>
            </a:extLst>
          </p:cNvPr>
          <p:cNvGraphicFramePr>
            <a:graphicFrameLocks noGrp="1"/>
          </p:cNvGraphicFramePr>
          <p:nvPr/>
        </p:nvGraphicFramePr>
        <p:xfrm>
          <a:off x="900113" y="1925638"/>
          <a:ext cx="4033837" cy="2305050"/>
        </p:xfrm>
        <a:graphic>
          <a:graphicData uri="http://schemas.openxmlformats.org/drawingml/2006/table">
            <a:tbl>
              <a:tblPr/>
              <a:tblGrid>
                <a:gridCol w="1344612">
                  <a:extLst>
                    <a:ext uri="{9D8B030D-6E8A-4147-A177-3AD203B41FA5}">
                      <a16:colId xmlns:a16="http://schemas.microsoft.com/office/drawing/2014/main" val="750902970"/>
                    </a:ext>
                  </a:extLst>
                </a:gridCol>
                <a:gridCol w="1344613">
                  <a:extLst>
                    <a:ext uri="{9D8B030D-6E8A-4147-A177-3AD203B41FA5}">
                      <a16:colId xmlns:a16="http://schemas.microsoft.com/office/drawing/2014/main" val="1795189080"/>
                    </a:ext>
                  </a:extLst>
                </a:gridCol>
                <a:gridCol w="1344612">
                  <a:extLst>
                    <a:ext uri="{9D8B030D-6E8A-4147-A177-3AD203B41FA5}">
                      <a16:colId xmlns:a16="http://schemas.microsoft.com/office/drawing/2014/main" val="3949471941"/>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6122662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5128066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4451574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801988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9339155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30699311"/>
                  </a:ext>
                </a:extLst>
              </a:tr>
            </a:tbl>
          </a:graphicData>
        </a:graphic>
      </p:graphicFrame>
      <p:sp>
        <p:nvSpPr>
          <p:cNvPr id="140358" name="Text Box 70" descr="TextBox 7">
            <a:extLst>
              <a:ext uri="{FF2B5EF4-FFF2-40B4-BE49-F238E27FC236}">
                <a16:creationId xmlns:a16="http://schemas.microsoft.com/office/drawing/2014/main" id="{0F50A405-E888-31BB-2A2C-9E9194148851}"/>
              </a:ext>
            </a:extLst>
          </p:cNvPr>
          <p:cNvSpPr txBox="1">
            <a:spLocks/>
          </p:cNvSpPr>
          <p:nvPr/>
        </p:nvSpPr>
        <p:spPr bwMode="auto">
          <a:xfrm>
            <a:off x="1016000" y="1555750"/>
            <a:ext cx="152876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Tree>
  </p:cSld>
  <p:clrMapOvr>
    <a:masterClrMapping/>
  </p:clrMapOvr>
  <p:transition spd="med"/>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descr="Title 1">
            <a:extLst>
              <a:ext uri="{FF2B5EF4-FFF2-40B4-BE49-F238E27FC236}">
                <a16:creationId xmlns:a16="http://schemas.microsoft.com/office/drawing/2014/main" id="{61E67209-F683-F8C8-FF73-401B72D171AE}"/>
              </a:ext>
            </a:extLst>
          </p:cNvPr>
          <p:cNvSpPr>
            <a:spLocks noChangeArrowheads="1"/>
          </p:cNvSpPr>
          <p:nvPr>
            <p:ph type="title"/>
          </p:nvPr>
        </p:nvSpPr>
        <p:spPr/>
        <p:txBody>
          <a:bodyPr/>
          <a:lstStyle/>
          <a:p>
            <a:r>
              <a:rPr lang="en-US" altLang="en-US"/>
              <a:t>Solution</a:t>
            </a:r>
          </a:p>
        </p:txBody>
      </p:sp>
      <p:sp>
        <p:nvSpPr>
          <p:cNvPr id="141315" name="Rectangle 3" descr="Content Placeholder 2">
            <a:extLst>
              <a:ext uri="{FF2B5EF4-FFF2-40B4-BE49-F238E27FC236}">
                <a16:creationId xmlns:a16="http://schemas.microsoft.com/office/drawing/2014/main" id="{553A5ED4-7897-2E1D-3229-7B495AEB3F64}"/>
              </a:ext>
            </a:extLst>
          </p:cNvPr>
          <p:cNvSpPr>
            <a:spLocks noChangeArrowheads="1"/>
          </p:cNvSpPr>
          <p:nvPr>
            <p:ph type="body" idx="1"/>
          </p:nvPr>
        </p:nvSpPr>
        <p:spPr/>
        <p:txBody>
          <a:bodyPr/>
          <a:lstStyle/>
          <a:p>
            <a:pPr>
              <a:spcBef>
                <a:spcPts val="400"/>
              </a:spcBef>
            </a:pPr>
            <a:r>
              <a:rPr lang="en-US" altLang="en-US" sz="2000"/>
              <a:t>Construct precedence graph for the following schedule</a:t>
            </a:r>
          </a:p>
        </p:txBody>
      </p:sp>
      <p:sp>
        <p:nvSpPr>
          <p:cNvPr id="141316" name="Text Box 4" descr="Date Placeholder 3">
            <a:extLst>
              <a:ext uri="{FF2B5EF4-FFF2-40B4-BE49-F238E27FC236}">
                <a16:creationId xmlns:a16="http://schemas.microsoft.com/office/drawing/2014/main" id="{BDD0BEDA-8491-CEC3-F803-1BF071FA172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1317" name="Text Box 5" descr="Slide Number Placeholder 5">
            <a:extLst>
              <a:ext uri="{FF2B5EF4-FFF2-40B4-BE49-F238E27FC236}">
                <a16:creationId xmlns:a16="http://schemas.microsoft.com/office/drawing/2014/main" id="{019DAED7-D560-A031-651E-5DE60DD9DED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4A5E8AB-D993-497E-B040-EFEA52D9BF1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41318" name="Group 6">
            <a:extLst>
              <a:ext uri="{FF2B5EF4-FFF2-40B4-BE49-F238E27FC236}">
                <a16:creationId xmlns:a16="http://schemas.microsoft.com/office/drawing/2014/main" id="{26102974-F819-ECB8-9647-1C68CD4A44E7}"/>
              </a:ext>
            </a:extLst>
          </p:cNvPr>
          <p:cNvGraphicFramePr>
            <a:graphicFrameLocks noGrp="1"/>
          </p:cNvGraphicFramePr>
          <p:nvPr/>
        </p:nvGraphicFramePr>
        <p:xfrm>
          <a:off x="900113" y="1925638"/>
          <a:ext cx="4033837" cy="2305050"/>
        </p:xfrm>
        <a:graphic>
          <a:graphicData uri="http://schemas.openxmlformats.org/drawingml/2006/table">
            <a:tbl>
              <a:tblPr/>
              <a:tblGrid>
                <a:gridCol w="1344612">
                  <a:extLst>
                    <a:ext uri="{9D8B030D-6E8A-4147-A177-3AD203B41FA5}">
                      <a16:colId xmlns:a16="http://schemas.microsoft.com/office/drawing/2014/main" val="2438180296"/>
                    </a:ext>
                  </a:extLst>
                </a:gridCol>
                <a:gridCol w="1344613">
                  <a:extLst>
                    <a:ext uri="{9D8B030D-6E8A-4147-A177-3AD203B41FA5}">
                      <a16:colId xmlns:a16="http://schemas.microsoft.com/office/drawing/2014/main" val="1825006030"/>
                    </a:ext>
                  </a:extLst>
                </a:gridCol>
                <a:gridCol w="1344612">
                  <a:extLst>
                    <a:ext uri="{9D8B030D-6E8A-4147-A177-3AD203B41FA5}">
                      <a16:colId xmlns:a16="http://schemas.microsoft.com/office/drawing/2014/main" val="4024327331"/>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4451742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9696984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4600945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863325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765377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3894026"/>
                  </a:ext>
                </a:extLst>
              </a:tr>
            </a:tbl>
          </a:graphicData>
        </a:graphic>
      </p:graphicFrame>
      <p:sp>
        <p:nvSpPr>
          <p:cNvPr id="141382" name="Text Box 70" descr="TextBox 7">
            <a:extLst>
              <a:ext uri="{FF2B5EF4-FFF2-40B4-BE49-F238E27FC236}">
                <a16:creationId xmlns:a16="http://schemas.microsoft.com/office/drawing/2014/main" id="{AD6A024D-3A49-35DB-215F-09AD5795FF2A}"/>
              </a:ext>
            </a:extLst>
          </p:cNvPr>
          <p:cNvSpPr txBox="1">
            <a:spLocks/>
          </p:cNvSpPr>
          <p:nvPr/>
        </p:nvSpPr>
        <p:spPr bwMode="auto">
          <a:xfrm>
            <a:off x="1016000" y="1555750"/>
            <a:ext cx="152876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
        <p:nvSpPr>
          <p:cNvPr id="141383" name="Text Box 71" descr="TextBox 8">
            <a:extLst>
              <a:ext uri="{FF2B5EF4-FFF2-40B4-BE49-F238E27FC236}">
                <a16:creationId xmlns:a16="http://schemas.microsoft.com/office/drawing/2014/main" id="{7FFA03E7-24CD-6206-95F3-323970CDDC83}"/>
              </a:ext>
            </a:extLst>
          </p:cNvPr>
          <p:cNvSpPr txBox="1">
            <a:spLocks/>
          </p:cNvSpPr>
          <p:nvPr/>
        </p:nvSpPr>
        <p:spPr bwMode="auto">
          <a:xfrm>
            <a:off x="296863" y="4367213"/>
            <a:ext cx="5761037" cy="1489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Given: Three Transactions </a:t>
            </a:r>
          </a:p>
          <a:p>
            <a:r>
              <a:rPr lang="en-US" altLang="en-US"/>
              <a:t>T1 with operations Read(A), Write(A)</a:t>
            </a:r>
          </a:p>
          <a:p>
            <a:r>
              <a:rPr lang="en-US" altLang="en-US"/>
              <a:t>T2 with operations Read(A)</a:t>
            </a:r>
          </a:p>
          <a:p>
            <a:r>
              <a:rPr lang="en-US" altLang="en-US"/>
              <a:t>T3 with operations Read(A), Write(A)</a:t>
            </a:r>
          </a:p>
          <a:p>
            <a:r>
              <a:rPr lang="en-US" altLang="en-US"/>
              <a:t>Schedule S1: R3(A), R2(A),W3(A), R1(A), W1(A)</a:t>
            </a:r>
          </a:p>
        </p:txBody>
      </p:sp>
      <p:grpSp>
        <p:nvGrpSpPr>
          <p:cNvPr id="141384" name="Group 72">
            <a:extLst>
              <a:ext uri="{FF2B5EF4-FFF2-40B4-BE49-F238E27FC236}">
                <a16:creationId xmlns:a16="http://schemas.microsoft.com/office/drawing/2014/main" id="{FC686049-E965-3D5C-820C-0F9D10D8A29B}"/>
              </a:ext>
            </a:extLst>
          </p:cNvPr>
          <p:cNvGrpSpPr>
            <a:grpSpLocks/>
          </p:cNvGrpSpPr>
          <p:nvPr/>
        </p:nvGrpSpPr>
        <p:grpSpPr bwMode="auto">
          <a:xfrm>
            <a:off x="6400800" y="4219575"/>
            <a:ext cx="2346325" cy="1927225"/>
            <a:chOff x="0" y="-1"/>
            <a:chExt cx="2347472" cy="1927100"/>
          </a:xfrm>
        </p:grpSpPr>
        <p:grpSp>
          <p:nvGrpSpPr>
            <p:cNvPr id="141385" name="Group 73">
              <a:extLst>
                <a:ext uri="{FF2B5EF4-FFF2-40B4-BE49-F238E27FC236}">
                  <a16:creationId xmlns:a16="http://schemas.microsoft.com/office/drawing/2014/main" id="{98BEECC4-69F0-4F15-5C8A-A4EE3135BD18}"/>
                </a:ext>
              </a:extLst>
            </p:cNvPr>
            <p:cNvGrpSpPr>
              <a:grpSpLocks/>
            </p:cNvGrpSpPr>
            <p:nvPr/>
          </p:nvGrpSpPr>
          <p:grpSpPr bwMode="auto">
            <a:xfrm>
              <a:off x="1627390" y="81300"/>
              <a:ext cx="720082" cy="739366"/>
              <a:chOff x="0" y="0"/>
              <a:chExt cx="720081" cy="739366"/>
            </a:xfrm>
          </p:grpSpPr>
          <p:sp>
            <p:nvSpPr>
              <p:cNvPr id="141386" name="Oval 74">
                <a:extLst>
                  <a:ext uri="{FF2B5EF4-FFF2-40B4-BE49-F238E27FC236}">
                    <a16:creationId xmlns:a16="http://schemas.microsoft.com/office/drawing/2014/main" id="{01E6D72D-A88E-ED90-66DD-BAA54285A96A}"/>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1387" name="Text Box 75">
                <a:extLst>
                  <a:ext uri="{FF2B5EF4-FFF2-40B4-BE49-F238E27FC236}">
                    <a16:creationId xmlns:a16="http://schemas.microsoft.com/office/drawing/2014/main" id="{DD1895BB-B923-C330-FF58-FE10AC35509F}"/>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41388" name="Group 76">
              <a:extLst>
                <a:ext uri="{FF2B5EF4-FFF2-40B4-BE49-F238E27FC236}">
                  <a16:creationId xmlns:a16="http://schemas.microsoft.com/office/drawing/2014/main" id="{88296558-78F9-D6A7-C13B-6B8DE05B72D6}"/>
                </a:ext>
              </a:extLst>
            </p:cNvPr>
            <p:cNvGrpSpPr>
              <a:grpSpLocks/>
            </p:cNvGrpSpPr>
            <p:nvPr/>
          </p:nvGrpSpPr>
          <p:grpSpPr bwMode="auto">
            <a:xfrm>
              <a:off x="0" y="81300"/>
              <a:ext cx="720081" cy="739366"/>
              <a:chOff x="0" y="0"/>
              <a:chExt cx="720081" cy="739366"/>
            </a:xfrm>
          </p:grpSpPr>
          <p:sp>
            <p:nvSpPr>
              <p:cNvPr id="141389" name="Oval 77">
                <a:extLst>
                  <a:ext uri="{FF2B5EF4-FFF2-40B4-BE49-F238E27FC236}">
                    <a16:creationId xmlns:a16="http://schemas.microsoft.com/office/drawing/2014/main" id="{198B91FC-F86C-B593-1115-CBCC5C942E5D}"/>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1390" name="Text Box 78">
                <a:extLst>
                  <a:ext uri="{FF2B5EF4-FFF2-40B4-BE49-F238E27FC236}">
                    <a16:creationId xmlns:a16="http://schemas.microsoft.com/office/drawing/2014/main" id="{4C6103D5-133C-2ED2-21CD-68F6B2C2ED5C}"/>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41391" name="Group 79">
              <a:extLst>
                <a:ext uri="{FF2B5EF4-FFF2-40B4-BE49-F238E27FC236}">
                  <a16:creationId xmlns:a16="http://schemas.microsoft.com/office/drawing/2014/main" id="{7A567707-8EAC-0054-B37C-99E79BF66D1E}"/>
                </a:ext>
              </a:extLst>
            </p:cNvPr>
            <p:cNvGrpSpPr>
              <a:grpSpLocks/>
            </p:cNvGrpSpPr>
            <p:nvPr/>
          </p:nvGrpSpPr>
          <p:grpSpPr bwMode="auto">
            <a:xfrm>
              <a:off x="900792" y="1187733"/>
              <a:ext cx="720082" cy="739366"/>
              <a:chOff x="0" y="0"/>
              <a:chExt cx="720081" cy="739366"/>
            </a:xfrm>
          </p:grpSpPr>
          <p:sp>
            <p:nvSpPr>
              <p:cNvPr id="141392" name="Oval 80">
                <a:extLst>
                  <a:ext uri="{FF2B5EF4-FFF2-40B4-BE49-F238E27FC236}">
                    <a16:creationId xmlns:a16="http://schemas.microsoft.com/office/drawing/2014/main" id="{F18594B1-D88B-2002-498C-716EC87F4670}"/>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1393" name="Text Box 81">
                <a:extLst>
                  <a:ext uri="{FF2B5EF4-FFF2-40B4-BE49-F238E27FC236}">
                    <a16:creationId xmlns:a16="http://schemas.microsoft.com/office/drawing/2014/main" id="{BA570737-6072-CBF9-68AD-21C9E86FEE43}"/>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41394" name="Line 82" descr="Straight Arrow Connector 15">
              <a:extLst>
                <a:ext uri="{FF2B5EF4-FFF2-40B4-BE49-F238E27FC236}">
                  <a16:creationId xmlns:a16="http://schemas.microsoft.com/office/drawing/2014/main" id="{0A15936A-1745-07A7-DFE1-80056EA7DAB1}"/>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1395" name="Line 83" descr="Straight Arrow Connector 17">
              <a:extLst>
                <a:ext uri="{FF2B5EF4-FFF2-40B4-BE49-F238E27FC236}">
                  <a16:creationId xmlns:a16="http://schemas.microsoft.com/office/drawing/2014/main" id="{727D00E7-F946-C65A-8237-8B9534442D05}"/>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1396" name="Line 84" descr="Straight Arrow Connector 19">
              <a:extLst>
                <a:ext uri="{FF2B5EF4-FFF2-40B4-BE49-F238E27FC236}">
                  <a16:creationId xmlns:a16="http://schemas.microsoft.com/office/drawing/2014/main" id="{C0208248-F89F-F6B6-CC41-E890C5637C5A}"/>
                </a:ext>
              </a:extLst>
            </p:cNvPr>
            <p:cNvSpPr>
              <a:spLocks noChangeShapeType="1"/>
            </p:cNvSpPr>
            <p:nvPr/>
          </p:nvSpPr>
          <p:spPr bwMode="auto">
            <a:xfrm flipH="1" flipV="1">
              <a:off x="360040" y="657364"/>
              <a:ext cx="540754" cy="81840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1397" name="Text Box 85" descr="TextBox 20">
              <a:extLst>
                <a:ext uri="{FF2B5EF4-FFF2-40B4-BE49-F238E27FC236}">
                  <a16:creationId xmlns:a16="http://schemas.microsoft.com/office/drawing/2014/main" id="{52D598A1-8A30-EA6A-BD5D-5923EACC1BFD}"/>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1398" name="Text Box 86" descr="TextBox 21">
              <a:extLst>
                <a:ext uri="{FF2B5EF4-FFF2-40B4-BE49-F238E27FC236}">
                  <a16:creationId xmlns:a16="http://schemas.microsoft.com/office/drawing/2014/main" id="{25A3A598-4546-57FA-FBC3-78AD70459304}"/>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1399" name="Text Box 87" descr="TextBox 22">
              <a:extLst>
                <a:ext uri="{FF2B5EF4-FFF2-40B4-BE49-F238E27FC236}">
                  <a16:creationId xmlns:a16="http://schemas.microsoft.com/office/drawing/2014/main" id="{10777C89-11A5-FC0C-567A-4E7E55C22DDA}"/>
                </a:ext>
              </a:extLst>
            </p:cNvPr>
            <p:cNvSpPr txBox="1">
              <a:spLocks/>
            </p:cNvSpPr>
            <p:nvPr/>
          </p:nvSpPr>
          <p:spPr bwMode="auto">
            <a:xfrm>
              <a:off x="234880" y="1032954"/>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Tree>
  </p:cSld>
  <p:clrMapOvr>
    <a:masterClrMapping/>
  </p:clrMapOvr>
  <p:transition spd="med"/>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2" descr="Title 1">
            <a:extLst>
              <a:ext uri="{FF2B5EF4-FFF2-40B4-BE49-F238E27FC236}">
                <a16:creationId xmlns:a16="http://schemas.microsoft.com/office/drawing/2014/main" id="{5840E3F6-1E7C-153F-AF45-C17D4C66BF37}"/>
              </a:ext>
            </a:extLst>
          </p:cNvPr>
          <p:cNvSpPr>
            <a:spLocks noChangeArrowheads="1"/>
          </p:cNvSpPr>
          <p:nvPr>
            <p:ph type="title"/>
          </p:nvPr>
        </p:nvSpPr>
        <p:spPr/>
        <p:txBody>
          <a:bodyPr/>
          <a:lstStyle/>
          <a:p>
            <a:endParaRPr lang="en-US" altLang="en-US"/>
          </a:p>
        </p:txBody>
      </p:sp>
      <p:sp>
        <p:nvSpPr>
          <p:cNvPr id="142339" name="Rectangle 3" descr="Content Placeholder 2">
            <a:extLst>
              <a:ext uri="{FF2B5EF4-FFF2-40B4-BE49-F238E27FC236}">
                <a16:creationId xmlns:a16="http://schemas.microsoft.com/office/drawing/2014/main" id="{BAB3F955-A9E8-64CE-E473-82A44C483283}"/>
              </a:ext>
            </a:extLst>
          </p:cNvPr>
          <p:cNvSpPr>
            <a:spLocks noChangeArrowheads="1"/>
          </p:cNvSpPr>
          <p:nvPr>
            <p:ph type="body" idx="1"/>
          </p:nvPr>
        </p:nvSpPr>
        <p:spPr/>
        <p:txBody>
          <a:bodyPr/>
          <a:lstStyle/>
          <a:p>
            <a:pPr>
              <a:spcBef>
                <a:spcPts val="200"/>
              </a:spcBef>
            </a:pPr>
            <a:r>
              <a:rPr lang="en-US" altLang="en-US" sz="1000"/>
              <a:t>If there is no cycle in the precedence graph, it means we can construct a serial schedule S’ which is conflict equivalent to schedule S.</a:t>
            </a:r>
            <a:br>
              <a:rPr lang="en-US" altLang="en-US" sz="1000"/>
            </a:br>
            <a:r>
              <a:rPr lang="en-US" altLang="en-US" sz="1000"/>
              <a:t>The serial schedule S’ can be found by </a:t>
            </a:r>
            <a:r>
              <a:rPr lang="en-US" altLang="en-US" sz="1000" u="sng">
                <a:solidFill>
                  <a:srgbClr val="336699"/>
                </a:solidFill>
                <a:hlinkClick r:id="rId2"/>
              </a:rPr>
              <a:t>Topological Sorting</a:t>
            </a:r>
            <a:r>
              <a:rPr lang="en-US" altLang="en-US" sz="1000"/>
              <a:t> of the acyclic precedence graph. Such schedules can be more than 1</a:t>
            </a:r>
          </a:p>
          <a:p>
            <a:pPr>
              <a:spcBef>
                <a:spcPts val="200"/>
              </a:spcBef>
            </a:pPr>
            <a:r>
              <a:rPr lang="en-US" altLang="en-US" sz="1000"/>
              <a:t>The serial schedule of the Conflict Serializable Schedule can be found by applying topological Sorting on the Precedence Graph of the Conflict Serializable Schedule. Note: Precedence Graph of Conflict Serial Schedule is always directed acyclic graph.</a:t>
            </a:r>
          </a:p>
          <a:p>
            <a:pPr>
              <a:spcBef>
                <a:spcPts val="200"/>
              </a:spcBef>
            </a:pPr>
            <a:r>
              <a:rPr lang="en-US" altLang="en-US" sz="1000" b="1"/>
              <a:t>Approach:</a:t>
            </a:r>
            <a:r>
              <a:rPr lang="en-US" altLang="en-US" sz="1000"/>
              <a:t> Follow to below steps to find topological sorting of Precedence Graph:</a:t>
            </a:r>
          </a:p>
          <a:p>
            <a:pPr>
              <a:spcBef>
                <a:spcPts val="400"/>
              </a:spcBef>
            </a:pPr>
            <a:r>
              <a:rPr lang="en-US" altLang="en-US" sz="1800" u="sng">
                <a:solidFill>
                  <a:srgbClr val="336699"/>
                </a:solidFill>
                <a:hlinkClick r:id="rId3"/>
              </a:rPr>
              <a:t>Find the indegree of all nodes</a:t>
            </a:r>
            <a:r>
              <a:rPr lang="en-US" altLang="en-US" sz="1800"/>
              <a:t> for the given Precedence Graph and store it in an auxiliary array.</a:t>
            </a:r>
          </a:p>
          <a:p>
            <a:pPr>
              <a:spcBef>
                <a:spcPts val="400"/>
              </a:spcBef>
            </a:pPr>
            <a:r>
              <a:rPr lang="en-US" altLang="en-US" sz="1800"/>
              <a:t>Now For each node having </a:t>
            </a:r>
            <a:r>
              <a:rPr lang="en-US" altLang="en-US" sz="1800" b="1"/>
              <a:t>indegree</a:t>
            </a:r>
            <a:r>
              <a:rPr lang="en-US" altLang="en-US" sz="1800"/>
              <a:t> </a:t>
            </a:r>
            <a:r>
              <a:rPr lang="en-US" altLang="en-US" sz="1800" b="1"/>
              <a:t>0</a:t>
            </a:r>
            <a:r>
              <a:rPr lang="en-US" altLang="en-US" sz="1800"/>
              <a:t> perform the following:</a:t>
            </a:r>
          </a:p>
          <a:p>
            <a:pPr marL="908050" lvl="1" indent="-438150">
              <a:spcBef>
                <a:spcPts val="300"/>
              </a:spcBef>
            </a:pPr>
            <a:r>
              <a:rPr lang="en-US" altLang="en-US" sz="1600"/>
              <a:t>Print the current node </a:t>
            </a:r>
            <a:r>
              <a:rPr lang="en-US" altLang="en-US" sz="1600" b="1"/>
              <a:t>T</a:t>
            </a:r>
            <a:r>
              <a:rPr lang="en-US" altLang="en-US" sz="1600"/>
              <a:t> as the order of the topological sort.</a:t>
            </a:r>
            <a:endParaRPr lang="en-US" altLang="en-US" sz="2600"/>
          </a:p>
          <a:p>
            <a:pPr marL="908050" lvl="1" indent="-438150">
              <a:spcBef>
                <a:spcPts val="300"/>
              </a:spcBef>
            </a:pPr>
            <a:r>
              <a:rPr lang="en-US" altLang="en-US" sz="1600"/>
              <a:t>Let the node </a:t>
            </a:r>
            <a:r>
              <a:rPr lang="en-US" altLang="en-US" sz="1600" b="1"/>
              <a:t>T</a:t>
            </a:r>
            <a:r>
              <a:rPr lang="en-US" altLang="en-US" sz="1600"/>
              <a:t> be the node with in-degree </a:t>
            </a:r>
            <a:r>
              <a:rPr lang="en-US" altLang="en-US" sz="1600" b="1"/>
              <a:t>0</a:t>
            </a:r>
            <a:r>
              <a:rPr lang="en-US" altLang="en-US" sz="1600"/>
              <a:t>.</a:t>
            </a:r>
            <a:endParaRPr lang="en-US" altLang="en-US" sz="2600"/>
          </a:p>
          <a:p>
            <a:pPr marL="908050" lvl="1" indent="-438150">
              <a:spcBef>
                <a:spcPts val="300"/>
              </a:spcBef>
            </a:pPr>
            <a:r>
              <a:rPr lang="en-US" altLang="en-US" sz="1600"/>
              <a:t>Remove </a:t>
            </a:r>
            <a:r>
              <a:rPr lang="en-US" altLang="en-US" sz="1600" b="1"/>
              <a:t>T</a:t>
            </a:r>
            <a:r>
              <a:rPr lang="en-US" altLang="en-US" sz="1600"/>
              <a:t> and all edges connecting to </a:t>
            </a:r>
            <a:r>
              <a:rPr lang="en-US" altLang="en-US" sz="1600" b="1"/>
              <a:t>T</a:t>
            </a:r>
            <a:r>
              <a:rPr lang="en-US" altLang="en-US" sz="1600"/>
              <a:t> from the graph.</a:t>
            </a:r>
            <a:endParaRPr lang="en-US" altLang="en-US" sz="2600"/>
          </a:p>
          <a:p>
            <a:pPr marL="908050" lvl="1" indent="-438150">
              <a:spcBef>
                <a:spcPts val="300"/>
              </a:spcBef>
            </a:pPr>
            <a:r>
              <a:rPr lang="en-US" altLang="en-US" sz="1600"/>
              <a:t>Update indegree of all nodes after the above steps.</a:t>
            </a:r>
            <a:endParaRPr lang="en-US" altLang="en-US" sz="2600"/>
          </a:p>
          <a:p>
            <a:pPr>
              <a:spcBef>
                <a:spcPts val="400"/>
              </a:spcBef>
            </a:pPr>
            <a:r>
              <a:rPr lang="en-US" altLang="en-US" sz="1800"/>
              <a:t>After the above steps, the topological sort of the given precedence graph can be calculated.</a:t>
            </a:r>
          </a:p>
        </p:txBody>
      </p:sp>
      <p:sp>
        <p:nvSpPr>
          <p:cNvPr id="142340" name="Text Box 4" descr="Date Placeholder 3">
            <a:extLst>
              <a:ext uri="{FF2B5EF4-FFF2-40B4-BE49-F238E27FC236}">
                <a16:creationId xmlns:a16="http://schemas.microsoft.com/office/drawing/2014/main" id="{C1C36CA1-99AC-013A-E267-7B448923E04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2341" name="Text Box 5" descr="Slide Number Placeholder 5">
            <a:extLst>
              <a:ext uri="{FF2B5EF4-FFF2-40B4-BE49-F238E27FC236}">
                <a16:creationId xmlns:a16="http://schemas.microsoft.com/office/drawing/2014/main" id="{A401ADAD-96B8-4952-AE8C-6E90AE585C6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36CACE6-8CD0-4BC0-BF3F-4197DD34B49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2" descr="Title 1">
            <a:extLst>
              <a:ext uri="{FF2B5EF4-FFF2-40B4-BE49-F238E27FC236}">
                <a16:creationId xmlns:a16="http://schemas.microsoft.com/office/drawing/2014/main" id="{02D3829A-6EF1-84B0-E336-E937D11FF35C}"/>
              </a:ext>
            </a:extLst>
          </p:cNvPr>
          <p:cNvSpPr>
            <a:spLocks noChangeArrowheads="1"/>
          </p:cNvSpPr>
          <p:nvPr>
            <p:ph type="title"/>
          </p:nvPr>
        </p:nvSpPr>
        <p:spPr/>
        <p:txBody>
          <a:bodyPr/>
          <a:lstStyle/>
          <a:p>
            <a:r>
              <a:rPr lang="en-US" altLang="en-US">
                <a:solidFill>
                  <a:srgbClr val="FF0000"/>
                </a:solidFill>
              </a:rPr>
              <a:t>Problem To Solve</a:t>
            </a:r>
          </a:p>
        </p:txBody>
      </p:sp>
      <p:sp>
        <p:nvSpPr>
          <p:cNvPr id="143363" name="Rectangle 3" descr="Content Placeholder 2">
            <a:extLst>
              <a:ext uri="{FF2B5EF4-FFF2-40B4-BE49-F238E27FC236}">
                <a16:creationId xmlns:a16="http://schemas.microsoft.com/office/drawing/2014/main" id="{6357D3BB-33A9-2616-5170-E70D2EE72BDA}"/>
              </a:ext>
            </a:extLst>
          </p:cNvPr>
          <p:cNvSpPr>
            <a:spLocks noChangeArrowheads="1"/>
          </p:cNvSpPr>
          <p:nvPr>
            <p:ph type="body" idx="1"/>
          </p:nvPr>
        </p:nvSpPr>
        <p:spPr/>
        <p:txBody>
          <a:bodyPr/>
          <a:lstStyle/>
          <a:p>
            <a:pPr>
              <a:spcBef>
                <a:spcPts val="400"/>
              </a:spcBef>
            </a:pPr>
            <a:r>
              <a:rPr lang="en-US" altLang="en-US" sz="1800"/>
              <a:t>What is the Equivalent serial schedule for non-serial schedule S1:R3(A), R2(A),W3(A), R1(A), W1(A)</a:t>
            </a:r>
          </a:p>
        </p:txBody>
      </p:sp>
      <p:sp>
        <p:nvSpPr>
          <p:cNvPr id="143364" name="Text Box 4" descr="Date Placeholder 3">
            <a:extLst>
              <a:ext uri="{FF2B5EF4-FFF2-40B4-BE49-F238E27FC236}">
                <a16:creationId xmlns:a16="http://schemas.microsoft.com/office/drawing/2014/main" id="{DE3B629A-9EBA-A944-B2DE-2428451212A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3365" name="Text Box 5" descr="Slide Number Placeholder 5">
            <a:extLst>
              <a:ext uri="{FF2B5EF4-FFF2-40B4-BE49-F238E27FC236}">
                <a16:creationId xmlns:a16="http://schemas.microsoft.com/office/drawing/2014/main" id="{A79CEC6B-AA1B-0D3F-5DFA-52CECDFDA7C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067FA08-2735-4868-8490-B19CC6E3BBC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descr="Title 1">
            <a:extLst>
              <a:ext uri="{FF2B5EF4-FFF2-40B4-BE49-F238E27FC236}">
                <a16:creationId xmlns:a16="http://schemas.microsoft.com/office/drawing/2014/main" id="{12B63CDB-CB9E-AB56-9005-2F5A3A626AD9}"/>
              </a:ext>
            </a:extLst>
          </p:cNvPr>
          <p:cNvSpPr>
            <a:spLocks noChangeArrowheads="1"/>
          </p:cNvSpPr>
          <p:nvPr>
            <p:ph type="title"/>
          </p:nvPr>
        </p:nvSpPr>
        <p:spPr/>
        <p:txBody>
          <a:bodyPr/>
          <a:lstStyle/>
          <a:p>
            <a:r>
              <a:rPr lang="en-US" altLang="en-US"/>
              <a:t>Problem To Solve</a:t>
            </a:r>
          </a:p>
        </p:txBody>
      </p:sp>
      <p:sp>
        <p:nvSpPr>
          <p:cNvPr id="144387" name="Rectangle 3" descr="Content Placeholder 2">
            <a:extLst>
              <a:ext uri="{FF2B5EF4-FFF2-40B4-BE49-F238E27FC236}">
                <a16:creationId xmlns:a16="http://schemas.microsoft.com/office/drawing/2014/main" id="{9B4B2D3D-ECB6-E282-1631-3F0A4CBB7DE8}"/>
              </a:ext>
            </a:extLst>
          </p:cNvPr>
          <p:cNvSpPr>
            <a:spLocks noChangeArrowheads="1"/>
          </p:cNvSpPr>
          <p:nvPr>
            <p:ph type="body" idx="1"/>
          </p:nvPr>
        </p:nvSpPr>
        <p:spPr/>
        <p:txBody>
          <a:bodyPr/>
          <a:lstStyle/>
          <a:p>
            <a:pPr>
              <a:spcBef>
                <a:spcPts val="300"/>
              </a:spcBef>
            </a:pPr>
            <a:r>
              <a:rPr lang="en-US" altLang="en-US" sz="1600"/>
              <a:t>What is the Equivalent serial schedule for non-serial scheduleS1:R3(A), R2(A),W3(A), R1(A), W1(A)</a:t>
            </a:r>
          </a:p>
        </p:txBody>
      </p:sp>
      <p:sp>
        <p:nvSpPr>
          <p:cNvPr id="144388" name="Text Box 4" descr="Date Placeholder 3">
            <a:extLst>
              <a:ext uri="{FF2B5EF4-FFF2-40B4-BE49-F238E27FC236}">
                <a16:creationId xmlns:a16="http://schemas.microsoft.com/office/drawing/2014/main" id="{8DF7C76B-F3AE-0E63-8E93-5BD2262F0FE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4389" name="Text Box 5" descr="Slide Number Placeholder 5">
            <a:extLst>
              <a:ext uri="{FF2B5EF4-FFF2-40B4-BE49-F238E27FC236}">
                <a16:creationId xmlns:a16="http://schemas.microsoft.com/office/drawing/2014/main" id="{95B0675C-DC12-4E70-36E8-00A5EAA2FEB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1A02CDA-E36B-4AF4-9908-F32199AA126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44390" name="Text Box 6" descr="TextBox 8">
            <a:extLst>
              <a:ext uri="{FF2B5EF4-FFF2-40B4-BE49-F238E27FC236}">
                <a16:creationId xmlns:a16="http://schemas.microsoft.com/office/drawing/2014/main" id="{EA6D6948-16E7-E474-FB4B-AD5B93CBFD82}"/>
              </a:ext>
            </a:extLst>
          </p:cNvPr>
          <p:cNvSpPr txBox="1">
            <a:spLocks/>
          </p:cNvSpPr>
          <p:nvPr/>
        </p:nvSpPr>
        <p:spPr bwMode="auto">
          <a:xfrm>
            <a:off x="363538" y="1804988"/>
            <a:ext cx="5132387" cy="1298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Given: Three Transactions </a:t>
            </a:r>
          </a:p>
          <a:p>
            <a:r>
              <a:rPr lang="en-US" altLang="en-US" sz="1600"/>
              <a:t>T1 with operations Read(A), Write(A)</a:t>
            </a:r>
          </a:p>
          <a:p>
            <a:r>
              <a:rPr lang="en-US" altLang="en-US" sz="1600"/>
              <a:t>T2 with operations Read(A)</a:t>
            </a:r>
          </a:p>
          <a:p>
            <a:r>
              <a:rPr lang="en-US" altLang="en-US" sz="1600"/>
              <a:t>T3 with operations Read(A), Write(A)</a:t>
            </a:r>
          </a:p>
          <a:p>
            <a:r>
              <a:rPr lang="en-US" altLang="en-US" sz="1600"/>
              <a:t>Schedule S1: R3(A), R2(A),W3(A), R1(A), W1(A)</a:t>
            </a:r>
          </a:p>
        </p:txBody>
      </p:sp>
      <p:grpSp>
        <p:nvGrpSpPr>
          <p:cNvPr id="144391" name="Group 7">
            <a:extLst>
              <a:ext uri="{FF2B5EF4-FFF2-40B4-BE49-F238E27FC236}">
                <a16:creationId xmlns:a16="http://schemas.microsoft.com/office/drawing/2014/main" id="{8413C427-0CAA-8733-2D24-FC7C499F6028}"/>
              </a:ext>
            </a:extLst>
          </p:cNvPr>
          <p:cNvGrpSpPr>
            <a:grpSpLocks/>
          </p:cNvGrpSpPr>
          <p:nvPr/>
        </p:nvGrpSpPr>
        <p:grpSpPr bwMode="auto">
          <a:xfrm>
            <a:off x="5651500" y="1663700"/>
            <a:ext cx="2347913" cy="1927225"/>
            <a:chOff x="0" y="-1"/>
            <a:chExt cx="2347472" cy="1927100"/>
          </a:xfrm>
        </p:grpSpPr>
        <p:grpSp>
          <p:nvGrpSpPr>
            <p:cNvPr id="144392" name="Group 8">
              <a:extLst>
                <a:ext uri="{FF2B5EF4-FFF2-40B4-BE49-F238E27FC236}">
                  <a16:creationId xmlns:a16="http://schemas.microsoft.com/office/drawing/2014/main" id="{20E4A595-A090-DE4D-6001-D53154C5DA0C}"/>
                </a:ext>
              </a:extLst>
            </p:cNvPr>
            <p:cNvGrpSpPr>
              <a:grpSpLocks/>
            </p:cNvGrpSpPr>
            <p:nvPr/>
          </p:nvGrpSpPr>
          <p:grpSpPr bwMode="auto">
            <a:xfrm>
              <a:off x="1627390" y="81300"/>
              <a:ext cx="720082" cy="739366"/>
              <a:chOff x="0" y="0"/>
              <a:chExt cx="720081" cy="739366"/>
            </a:xfrm>
          </p:grpSpPr>
          <p:sp>
            <p:nvSpPr>
              <p:cNvPr id="144393" name="Oval 9">
                <a:extLst>
                  <a:ext uri="{FF2B5EF4-FFF2-40B4-BE49-F238E27FC236}">
                    <a16:creationId xmlns:a16="http://schemas.microsoft.com/office/drawing/2014/main" id="{6BCF5FAC-F677-4E36-CF80-4F219C96C783}"/>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4394" name="Text Box 10">
                <a:extLst>
                  <a:ext uri="{FF2B5EF4-FFF2-40B4-BE49-F238E27FC236}">
                    <a16:creationId xmlns:a16="http://schemas.microsoft.com/office/drawing/2014/main" id="{47D8C0D6-CA4E-5D79-6F6B-A8559D2F5412}"/>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44395" name="Group 11">
              <a:extLst>
                <a:ext uri="{FF2B5EF4-FFF2-40B4-BE49-F238E27FC236}">
                  <a16:creationId xmlns:a16="http://schemas.microsoft.com/office/drawing/2014/main" id="{1C85488B-E472-3EDA-2BF7-CC2E0FD6F16D}"/>
                </a:ext>
              </a:extLst>
            </p:cNvPr>
            <p:cNvGrpSpPr>
              <a:grpSpLocks/>
            </p:cNvGrpSpPr>
            <p:nvPr/>
          </p:nvGrpSpPr>
          <p:grpSpPr bwMode="auto">
            <a:xfrm>
              <a:off x="0" y="81300"/>
              <a:ext cx="720081" cy="739366"/>
              <a:chOff x="0" y="0"/>
              <a:chExt cx="720081" cy="739366"/>
            </a:xfrm>
          </p:grpSpPr>
          <p:sp>
            <p:nvSpPr>
              <p:cNvPr id="144396" name="Oval 12">
                <a:extLst>
                  <a:ext uri="{FF2B5EF4-FFF2-40B4-BE49-F238E27FC236}">
                    <a16:creationId xmlns:a16="http://schemas.microsoft.com/office/drawing/2014/main" id="{8E7446B0-FFD9-B6F4-DADF-2316104E928B}"/>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4397" name="Text Box 13">
                <a:extLst>
                  <a:ext uri="{FF2B5EF4-FFF2-40B4-BE49-F238E27FC236}">
                    <a16:creationId xmlns:a16="http://schemas.microsoft.com/office/drawing/2014/main" id="{99F83F75-26C9-69A6-7687-51D41FBAF78E}"/>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44398" name="Group 14">
              <a:extLst>
                <a:ext uri="{FF2B5EF4-FFF2-40B4-BE49-F238E27FC236}">
                  <a16:creationId xmlns:a16="http://schemas.microsoft.com/office/drawing/2014/main" id="{0BEBDFD6-9420-E244-20F6-D1375B499828}"/>
                </a:ext>
              </a:extLst>
            </p:cNvPr>
            <p:cNvGrpSpPr>
              <a:grpSpLocks/>
            </p:cNvGrpSpPr>
            <p:nvPr/>
          </p:nvGrpSpPr>
          <p:grpSpPr bwMode="auto">
            <a:xfrm>
              <a:off x="900792" y="1187733"/>
              <a:ext cx="720082" cy="739366"/>
              <a:chOff x="0" y="0"/>
              <a:chExt cx="720081" cy="739366"/>
            </a:xfrm>
          </p:grpSpPr>
          <p:sp>
            <p:nvSpPr>
              <p:cNvPr id="144399" name="Oval 15">
                <a:extLst>
                  <a:ext uri="{FF2B5EF4-FFF2-40B4-BE49-F238E27FC236}">
                    <a16:creationId xmlns:a16="http://schemas.microsoft.com/office/drawing/2014/main" id="{F62E8E8C-BAEB-0830-0405-7E0FF2B3643F}"/>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4400" name="Text Box 16">
                <a:extLst>
                  <a:ext uri="{FF2B5EF4-FFF2-40B4-BE49-F238E27FC236}">
                    <a16:creationId xmlns:a16="http://schemas.microsoft.com/office/drawing/2014/main" id="{07A3B97F-986C-8CFF-40B2-2752EF867A11}"/>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44401" name="Line 17" descr="Straight Arrow Connector 15">
              <a:extLst>
                <a:ext uri="{FF2B5EF4-FFF2-40B4-BE49-F238E27FC236}">
                  <a16:creationId xmlns:a16="http://schemas.microsoft.com/office/drawing/2014/main" id="{31126C29-BFED-7F17-8E02-F802B138C5A8}"/>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4402" name="Line 18" descr="Straight Arrow Connector 17">
              <a:extLst>
                <a:ext uri="{FF2B5EF4-FFF2-40B4-BE49-F238E27FC236}">
                  <a16:creationId xmlns:a16="http://schemas.microsoft.com/office/drawing/2014/main" id="{1F4A55E0-F2B9-A35D-4D85-A27414D54B8A}"/>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4403" name="Line 19" descr="Straight Arrow Connector 19">
              <a:extLst>
                <a:ext uri="{FF2B5EF4-FFF2-40B4-BE49-F238E27FC236}">
                  <a16:creationId xmlns:a16="http://schemas.microsoft.com/office/drawing/2014/main" id="{F6BF0B1B-54E5-06EE-F678-D363EEF5FF04}"/>
                </a:ext>
              </a:extLst>
            </p:cNvPr>
            <p:cNvSpPr>
              <a:spLocks noChangeShapeType="1"/>
            </p:cNvSpPr>
            <p:nvPr/>
          </p:nvSpPr>
          <p:spPr bwMode="auto">
            <a:xfrm flipH="1" flipV="1">
              <a:off x="360040" y="657364"/>
              <a:ext cx="540754" cy="81840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4404" name="Text Box 20" descr="TextBox 20">
              <a:extLst>
                <a:ext uri="{FF2B5EF4-FFF2-40B4-BE49-F238E27FC236}">
                  <a16:creationId xmlns:a16="http://schemas.microsoft.com/office/drawing/2014/main" id="{8DC944CA-8BE6-69F6-8FF9-01589B8A39C7}"/>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4405" name="Text Box 21" descr="TextBox 21">
              <a:extLst>
                <a:ext uri="{FF2B5EF4-FFF2-40B4-BE49-F238E27FC236}">
                  <a16:creationId xmlns:a16="http://schemas.microsoft.com/office/drawing/2014/main" id="{C79B2634-FB41-222A-324E-79C9AC82AA0E}"/>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4406" name="Text Box 22" descr="TextBox 22">
              <a:extLst>
                <a:ext uri="{FF2B5EF4-FFF2-40B4-BE49-F238E27FC236}">
                  <a16:creationId xmlns:a16="http://schemas.microsoft.com/office/drawing/2014/main" id="{95EC3DD1-5C45-D189-F6D7-EBCCD311118A}"/>
                </a:ext>
              </a:extLst>
            </p:cNvPr>
            <p:cNvSpPr txBox="1">
              <a:spLocks/>
            </p:cNvSpPr>
            <p:nvPr/>
          </p:nvSpPr>
          <p:spPr bwMode="auto">
            <a:xfrm>
              <a:off x="234880" y="1032954"/>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Tree>
  </p:cSld>
  <p:clrMapOvr>
    <a:masterClrMapping/>
  </p:clrMapOvr>
  <p:transition spd="med"/>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descr="Title 1">
            <a:extLst>
              <a:ext uri="{FF2B5EF4-FFF2-40B4-BE49-F238E27FC236}">
                <a16:creationId xmlns:a16="http://schemas.microsoft.com/office/drawing/2014/main" id="{70238B8A-72BD-4B5C-F740-E9FB78F23326}"/>
              </a:ext>
            </a:extLst>
          </p:cNvPr>
          <p:cNvSpPr>
            <a:spLocks noChangeArrowheads="1"/>
          </p:cNvSpPr>
          <p:nvPr>
            <p:ph type="title"/>
          </p:nvPr>
        </p:nvSpPr>
        <p:spPr/>
        <p:txBody>
          <a:bodyPr/>
          <a:lstStyle/>
          <a:p>
            <a:r>
              <a:rPr lang="en-US" altLang="en-US"/>
              <a:t>Problem To Solve</a:t>
            </a:r>
          </a:p>
        </p:txBody>
      </p:sp>
      <p:sp>
        <p:nvSpPr>
          <p:cNvPr id="145411" name="Rectangle 3" descr="Content Placeholder 2">
            <a:extLst>
              <a:ext uri="{FF2B5EF4-FFF2-40B4-BE49-F238E27FC236}">
                <a16:creationId xmlns:a16="http://schemas.microsoft.com/office/drawing/2014/main" id="{136D22BD-3912-2E0B-4DF8-E0961AD69DF2}"/>
              </a:ext>
            </a:extLst>
          </p:cNvPr>
          <p:cNvSpPr>
            <a:spLocks noChangeArrowheads="1"/>
          </p:cNvSpPr>
          <p:nvPr>
            <p:ph type="body" idx="1"/>
          </p:nvPr>
        </p:nvSpPr>
        <p:spPr/>
        <p:txBody>
          <a:bodyPr/>
          <a:lstStyle/>
          <a:p>
            <a:pPr>
              <a:spcBef>
                <a:spcPts val="300"/>
              </a:spcBef>
            </a:pPr>
            <a:r>
              <a:rPr lang="en-US" altLang="en-US" sz="1600"/>
              <a:t>What is the Equivalent serial schedule for non-serial scheduleS1:R3(A), R2(A),W3(A), R1(A), W1(A)</a:t>
            </a:r>
          </a:p>
        </p:txBody>
      </p:sp>
      <p:sp>
        <p:nvSpPr>
          <p:cNvPr id="145412" name="Text Box 4" descr="Date Placeholder 3">
            <a:extLst>
              <a:ext uri="{FF2B5EF4-FFF2-40B4-BE49-F238E27FC236}">
                <a16:creationId xmlns:a16="http://schemas.microsoft.com/office/drawing/2014/main" id="{F784D9F4-267F-C235-8AF2-1B74783D5AC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5413" name="Text Box 5" descr="Slide Number Placeholder 5">
            <a:extLst>
              <a:ext uri="{FF2B5EF4-FFF2-40B4-BE49-F238E27FC236}">
                <a16:creationId xmlns:a16="http://schemas.microsoft.com/office/drawing/2014/main" id="{290880BF-AC3D-64B3-5224-F495A4FF7A9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B6CAE3E-1025-4578-B1E7-EB5B28EB3D9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45414" name="Text Box 6" descr="TextBox 8">
            <a:extLst>
              <a:ext uri="{FF2B5EF4-FFF2-40B4-BE49-F238E27FC236}">
                <a16:creationId xmlns:a16="http://schemas.microsoft.com/office/drawing/2014/main" id="{8D6D17B4-7C8F-A52A-9BC5-DA2A89B31711}"/>
              </a:ext>
            </a:extLst>
          </p:cNvPr>
          <p:cNvSpPr txBox="1">
            <a:spLocks/>
          </p:cNvSpPr>
          <p:nvPr/>
        </p:nvSpPr>
        <p:spPr bwMode="auto">
          <a:xfrm>
            <a:off x="363538" y="1804988"/>
            <a:ext cx="5132387" cy="1298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Given: Three Transactions </a:t>
            </a:r>
          </a:p>
          <a:p>
            <a:r>
              <a:rPr lang="en-US" altLang="en-US" sz="1600"/>
              <a:t>T1 with operations Read(A), Write(A)</a:t>
            </a:r>
          </a:p>
          <a:p>
            <a:r>
              <a:rPr lang="en-US" altLang="en-US" sz="1600"/>
              <a:t>T2 with operations Read(A)</a:t>
            </a:r>
          </a:p>
          <a:p>
            <a:r>
              <a:rPr lang="en-US" altLang="en-US" sz="1600"/>
              <a:t>T3 with operations Read(A), Write(A)</a:t>
            </a:r>
          </a:p>
          <a:p>
            <a:r>
              <a:rPr lang="en-US" altLang="en-US" sz="1600"/>
              <a:t>Schedule S1: R3(A), R2(A),W3(A), R1(A), W1(A)</a:t>
            </a:r>
          </a:p>
        </p:txBody>
      </p:sp>
      <p:grpSp>
        <p:nvGrpSpPr>
          <p:cNvPr id="145415" name="Group 7">
            <a:extLst>
              <a:ext uri="{FF2B5EF4-FFF2-40B4-BE49-F238E27FC236}">
                <a16:creationId xmlns:a16="http://schemas.microsoft.com/office/drawing/2014/main" id="{E911F3AD-9624-25ED-2B85-B9EC48E88AF7}"/>
              </a:ext>
            </a:extLst>
          </p:cNvPr>
          <p:cNvGrpSpPr>
            <a:grpSpLocks/>
          </p:cNvGrpSpPr>
          <p:nvPr/>
        </p:nvGrpSpPr>
        <p:grpSpPr bwMode="auto">
          <a:xfrm>
            <a:off x="5651500" y="1484313"/>
            <a:ext cx="2347913" cy="1927225"/>
            <a:chOff x="0" y="-1"/>
            <a:chExt cx="2347472" cy="1927100"/>
          </a:xfrm>
        </p:grpSpPr>
        <p:grpSp>
          <p:nvGrpSpPr>
            <p:cNvPr id="145416" name="Group 8">
              <a:extLst>
                <a:ext uri="{FF2B5EF4-FFF2-40B4-BE49-F238E27FC236}">
                  <a16:creationId xmlns:a16="http://schemas.microsoft.com/office/drawing/2014/main" id="{2469F485-8BDA-49C7-D7D7-22989AC46235}"/>
                </a:ext>
              </a:extLst>
            </p:cNvPr>
            <p:cNvGrpSpPr>
              <a:grpSpLocks/>
            </p:cNvGrpSpPr>
            <p:nvPr/>
          </p:nvGrpSpPr>
          <p:grpSpPr bwMode="auto">
            <a:xfrm>
              <a:off x="1627390" y="81300"/>
              <a:ext cx="720082" cy="739366"/>
              <a:chOff x="0" y="0"/>
              <a:chExt cx="720081" cy="739366"/>
            </a:xfrm>
          </p:grpSpPr>
          <p:sp>
            <p:nvSpPr>
              <p:cNvPr id="145417" name="Oval 9">
                <a:extLst>
                  <a:ext uri="{FF2B5EF4-FFF2-40B4-BE49-F238E27FC236}">
                    <a16:creationId xmlns:a16="http://schemas.microsoft.com/office/drawing/2014/main" id="{45E9EC08-33A7-E9E2-7E46-69F12B6593E8}"/>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18" name="Text Box 10">
                <a:extLst>
                  <a:ext uri="{FF2B5EF4-FFF2-40B4-BE49-F238E27FC236}">
                    <a16:creationId xmlns:a16="http://schemas.microsoft.com/office/drawing/2014/main" id="{25985F97-40C0-F2B3-E560-070296F778C7}"/>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45419" name="Group 11">
              <a:extLst>
                <a:ext uri="{FF2B5EF4-FFF2-40B4-BE49-F238E27FC236}">
                  <a16:creationId xmlns:a16="http://schemas.microsoft.com/office/drawing/2014/main" id="{D238FABB-7E3E-9A7C-6A1B-79C62940A3C1}"/>
                </a:ext>
              </a:extLst>
            </p:cNvPr>
            <p:cNvGrpSpPr>
              <a:grpSpLocks/>
            </p:cNvGrpSpPr>
            <p:nvPr/>
          </p:nvGrpSpPr>
          <p:grpSpPr bwMode="auto">
            <a:xfrm>
              <a:off x="0" y="81300"/>
              <a:ext cx="720081" cy="739366"/>
              <a:chOff x="0" y="0"/>
              <a:chExt cx="720081" cy="739366"/>
            </a:xfrm>
          </p:grpSpPr>
          <p:sp>
            <p:nvSpPr>
              <p:cNvPr id="145420" name="Oval 12">
                <a:extLst>
                  <a:ext uri="{FF2B5EF4-FFF2-40B4-BE49-F238E27FC236}">
                    <a16:creationId xmlns:a16="http://schemas.microsoft.com/office/drawing/2014/main" id="{8B497FBA-B5F3-15FF-9C7B-A26CB0BBC4D2}"/>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21" name="Text Box 13">
                <a:extLst>
                  <a:ext uri="{FF2B5EF4-FFF2-40B4-BE49-F238E27FC236}">
                    <a16:creationId xmlns:a16="http://schemas.microsoft.com/office/drawing/2014/main" id="{144BD071-BEAB-BDF2-1411-73295D847F5C}"/>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45422" name="Group 14">
              <a:extLst>
                <a:ext uri="{FF2B5EF4-FFF2-40B4-BE49-F238E27FC236}">
                  <a16:creationId xmlns:a16="http://schemas.microsoft.com/office/drawing/2014/main" id="{3A179C82-E6E8-163E-9F60-AFA647FB13EE}"/>
                </a:ext>
              </a:extLst>
            </p:cNvPr>
            <p:cNvGrpSpPr>
              <a:grpSpLocks/>
            </p:cNvGrpSpPr>
            <p:nvPr/>
          </p:nvGrpSpPr>
          <p:grpSpPr bwMode="auto">
            <a:xfrm>
              <a:off x="900792" y="1187733"/>
              <a:ext cx="720082" cy="739366"/>
              <a:chOff x="0" y="0"/>
              <a:chExt cx="720081" cy="739366"/>
            </a:xfrm>
          </p:grpSpPr>
          <p:sp>
            <p:nvSpPr>
              <p:cNvPr id="145423" name="Oval 15">
                <a:extLst>
                  <a:ext uri="{FF2B5EF4-FFF2-40B4-BE49-F238E27FC236}">
                    <a16:creationId xmlns:a16="http://schemas.microsoft.com/office/drawing/2014/main" id="{8027612A-6633-5C24-D2A1-6FDA860F7109}"/>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24" name="Text Box 16">
                <a:extLst>
                  <a:ext uri="{FF2B5EF4-FFF2-40B4-BE49-F238E27FC236}">
                    <a16:creationId xmlns:a16="http://schemas.microsoft.com/office/drawing/2014/main" id="{C4837072-D788-2035-6E49-08C88553980C}"/>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45425" name="Line 17" descr="Straight Arrow Connector 15">
              <a:extLst>
                <a:ext uri="{FF2B5EF4-FFF2-40B4-BE49-F238E27FC236}">
                  <a16:creationId xmlns:a16="http://schemas.microsoft.com/office/drawing/2014/main" id="{658F7D48-AF49-311F-0D85-8640D7751D19}"/>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26" name="Line 18" descr="Straight Arrow Connector 17">
              <a:extLst>
                <a:ext uri="{FF2B5EF4-FFF2-40B4-BE49-F238E27FC236}">
                  <a16:creationId xmlns:a16="http://schemas.microsoft.com/office/drawing/2014/main" id="{8B8DB651-21D4-EA25-4C51-0821A1557FF6}"/>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27" name="Line 19" descr="Straight Arrow Connector 19">
              <a:extLst>
                <a:ext uri="{FF2B5EF4-FFF2-40B4-BE49-F238E27FC236}">
                  <a16:creationId xmlns:a16="http://schemas.microsoft.com/office/drawing/2014/main" id="{1CC803A7-D1B0-B36E-DD8A-C2A3F006F2E5}"/>
                </a:ext>
              </a:extLst>
            </p:cNvPr>
            <p:cNvSpPr>
              <a:spLocks noChangeShapeType="1"/>
            </p:cNvSpPr>
            <p:nvPr/>
          </p:nvSpPr>
          <p:spPr bwMode="auto">
            <a:xfrm flipH="1" flipV="1">
              <a:off x="360040" y="657364"/>
              <a:ext cx="540754" cy="81840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28" name="Text Box 20" descr="TextBox 20">
              <a:extLst>
                <a:ext uri="{FF2B5EF4-FFF2-40B4-BE49-F238E27FC236}">
                  <a16:creationId xmlns:a16="http://schemas.microsoft.com/office/drawing/2014/main" id="{73DFF8D5-79F2-8275-A5D5-76A417E643A8}"/>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5429" name="Text Box 21" descr="TextBox 21">
              <a:extLst>
                <a:ext uri="{FF2B5EF4-FFF2-40B4-BE49-F238E27FC236}">
                  <a16:creationId xmlns:a16="http://schemas.microsoft.com/office/drawing/2014/main" id="{A7AF6B86-E383-9399-D90C-AD54C2BAC54F}"/>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5430" name="Text Box 22" descr="TextBox 22">
              <a:extLst>
                <a:ext uri="{FF2B5EF4-FFF2-40B4-BE49-F238E27FC236}">
                  <a16:creationId xmlns:a16="http://schemas.microsoft.com/office/drawing/2014/main" id="{1488C1D9-A95E-41D3-5D95-5AFBCF8FEC69}"/>
                </a:ext>
              </a:extLst>
            </p:cNvPr>
            <p:cNvSpPr txBox="1">
              <a:spLocks/>
            </p:cNvSpPr>
            <p:nvPr/>
          </p:nvSpPr>
          <p:spPr bwMode="auto">
            <a:xfrm>
              <a:off x="234880" y="1032954"/>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
        <p:nvSpPr>
          <p:cNvPr id="145431" name="AutoShape 23" descr="Right Arrow 12">
            <a:extLst>
              <a:ext uri="{FF2B5EF4-FFF2-40B4-BE49-F238E27FC236}">
                <a16:creationId xmlns:a16="http://schemas.microsoft.com/office/drawing/2014/main" id="{2E807F82-43CC-9E59-15E9-1A64D37D6037}"/>
              </a:ext>
            </a:extLst>
          </p:cNvPr>
          <p:cNvSpPr>
            <a:spLocks/>
          </p:cNvSpPr>
          <p:nvPr/>
        </p:nvSpPr>
        <p:spPr bwMode="auto">
          <a:xfrm>
            <a:off x="2411413" y="4421188"/>
            <a:ext cx="503237" cy="338137"/>
          </a:xfrm>
          <a:prstGeom prst="rightArrow">
            <a:avLst>
              <a:gd name="adj1" fmla="val 50000"/>
              <a:gd name="adj2" fmla="val 50112"/>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5432" name="Text Box 24" descr="TextBox 18">
            <a:extLst>
              <a:ext uri="{FF2B5EF4-FFF2-40B4-BE49-F238E27FC236}">
                <a16:creationId xmlns:a16="http://schemas.microsoft.com/office/drawing/2014/main" id="{481AF366-4160-0BA6-861A-7A5DDD4F8698}"/>
              </a:ext>
            </a:extLst>
          </p:cNvPr>
          <p:cNvSpPr txBox="1">
            <a:spLocks/>
          </p:cNvSpPr>
          <p:nvPr/>
        </p:nvSpPr>
        <p:spPr bwMode="auto">
          <a:xfrm>
            <a:off x="492125" y="5300663"/>
            <a:ext cx="1885950" cy="738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Consider first T2</a:t>
            </a:r>
          </a:p>
          <a:p>
            <a:r>
              <a:rPr lang="en-US" altLang="en-US" sz="1400"/>
              <a:t>Because indegree is</a:t>
            </a:r>
          </a:p>
          <a:p>
            <a:r>
              <a:rPr lang="en-US" altLang="en-US" sz="1400"/>
              <a:t>zero</a:t>
            </a:r>
          </a:p>
        </p:txBody>
      </p:sp>
      <p:pic>
        <p:nvPicPr>
          <p:cNvPr id="145433" name="Picture 25" descr="Picture 4">
            <a:extLst>
              <a:ext uri="{FF2B5EF4-FFF2-40B4-BE49-F238E27FC236}">
                <a16:creationId xmlns:a16="http://schemas.microsoft.com/office/drawing/2014/main" id="{33D31C1F-CFA2-EC4E-42FC-72A23AB9DB1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71488" y="3849688"/>
            <a:ext cx="1960562" cy="1500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2" descr="Title 1">
            <a:extLst>
              <a:ext uri="{FF2B5EF4-FFF2-40B4-BE49-F238E27FC236}">
                <a16:creationId xmlns:a16="http://schemas.microsoft.com/office/drawing/2014/main" id="{5E3A5AB2-D2B8-1BD5-D37D-22857971FF28}"/>
              </a:ext>
            </a:extLst>
          </p:cNvPr>
          <p:cNvSpPr>
            <a:spLocks noChangeArrowheads="1"/>
          </p:cNvSpPr>
          <p:nvPr>
            <p:ph type="title"/>
          </p:nvPr>
        </p:nvSpPr>
        <p:spPr/>
        <p:txBody>
          <a:bodyPr/>
          <a:lstStyle/>
          <a:p>
            <a:r>
              <a:rPr lang="en-US" altLang="en-US"/>
              <a:t>Problem To Solve</a:t>
            </a:r>
          </a:p>
        </p:txBody>
      </p:sp>
      <p:sp>
        <p:nvSpPr>
          <p:cNvPr id="146435" name="Rectangle 3" descr="Content Placeholder 2">
            <a:extLst>
              <a:ext uri="{FF2B5EF4-FFF2-40B4-BE49-F238E27FC236}">
                <a16:creationId xmlns:a16="http://schemas.microsoft.com/office/drawing/2014/main" id="{F6056FD2-8F55-D331-9A9C-221B1214A870}"/>
              </a:ext>
            </a:extLst>
          </p:cNvPr>
          <p:cNvSpPr>
            <a:spLocks noChangeArrowheads="1"/>
          </p:cNvSpPr>
          <p:nvPr>
            <p:ph type="body" idx="1"/>
          </p:nvPr>
        </p:nvSpPr>
        <p:spPr/>
        <p:txBody>
          <a:bodyPr/>
          <a:lstStyle/>
          <a:p>
            <a:pPr>
              <a:spcBef>
                <a:spcPts val="300"/>
              </a:spcBef>
            </a:pPr>
            <a:r>
              <a:rPr lang="en-US" altLang="en-US" sz="1600"/>
              <a:t>What is the Equivalent serial schedule for non-serial scheduleS1:R3(A), R2(A),W3(A), R1(A), W1(A)</a:t>
            </a:r>
          </a:p>
        </p:txBody>
      </p:sp>
      <p:sp>
        <p:nvSpPr>
          <p:cNvPr id="146436" name="Text Box 4" descr="Date Placeholder 3">
            <a:extLst>
              <a:ext uri="{FF2B5EF4-FFF2-40B4-BE49-F238E27FC236}">
                <a16:creationId xmlns:a16="http://schemas.microsoft.com/office/drawing/2014/main" id="{2345725F-4386-D0C2-C67A-66F42A08FFE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6437" name="Text Box 5" descr="Slide Number Placeholder 5">
            <a:extLst>
              <a:ext uri="{FF2B5EF4-FFF2-40B4-BE49-F238E27FC236}">
                <a16:creationId xmlns:a16="http://schemas.microsoft.com/office/drawing/2014/main" id="{4033F752-039F-17AD-42F6-1D0B22FE7CB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8530673-1EC9-4929-A4D6-1D388BB9E3B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46438" name="Text Box 6" descr="TextBox 8">
            <a:extLst>
              <a:ext uri="{FF2B5EF4-FFF2-40B4-BE49-F238E27FC236}">
                <a16:creationId xmlns:a16="http://schemas.microsoft.com/office/drawing/2014/main" id="{9D628C77-2F41-300F-F171-D574BC85E6FA}"/>
              </a:ext>
            </a:extLst>
          </p:cNvPr>
          <p:cNvSpPr txBox="1">
            <a:spLocks/>
          </p:cNvSpPr>
          <p:nvPr/>
        </p:nvSpPr>
        <p:spPr bwMode="auto">
          <a:xfrm>
            <a:off x="363538" y="1804988"/>
            <a:ext cx="5132387" cy="1298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Given: Three Transactions </a:t>
            </a:r>
          </a:p>
          <a:p>
            <a:r>
              <a:rPr lang="en-US" altLang="en-US" sz="1600"/>
              <a:t>T1 with operations Read(A), Write(A)</a:t>
            </a:r>
          </a:p>
          <a:p>
            <a:r>
              <a:rPr lang="en-US" altLang="en-US" sz="1600"/>
              <a:t>T2 with operations Read(A)</a:t>
            </a:r>
          </a:p>
          <a:p>
            <a:r>
              <a:rPr lang="en-US" altLang="en-US" sz="1600"/>
              <a:t>T3 with operations Read(A), Write(A)</a:t>
            </a:r>
          </a:p>
          <a:p>
            <a:r>
              <a:rPr lang="en-US" altLang="en-US" sz="1600"/>
              <a:t>Schedule S1: R3(A), R2(A),W3(A), R1(A), W1(A)</a:t>
            </a:r>
          </a:p>
        </p:txBody>
      </p:sp>
      <p:grpSp>
        <p:nvGrpSpPr>
          <p:cNvPr id="146439" name="Group 7">
            <a:extLst>
              <a:ext uri="{FF2B5EF4-FFF2-40B4-BE49-F238E27FC236}">
                <a16:creationId xmlns:a16="http://schemas.microsoft.com/office/drawing/2014/main" id="{F8CE70C5-694E-E856-152A-20AD58F63077}"/>
              </a:ext>
            </a:extLst>
          </p:cNvPr>
          <p:cNvGrpSpPr>
            <a:grpSpLocks/>
          </p:cNvGrpSpPr>
          <p:nvPr/>
        </p:nvGrpSpPr>
        <p:grpSpPr bwMode="auto">
          <a:xfrm>
            <a:off x="5651500" y="1484313"/>
            <a:ext cx="2347913" cy="1927225"/>
            <a:chOff x="0" y="-1"/>
            <a:chExt cx="2347472" cy="1927100"/>
          </a:xfrm>
        </p:grpSpPr>
        <p:grpSp>
          <p:nvGrpSpPr>
            <p:cNvPr id="146440" name="Group 8">
              <a:extLst>
                <a:ext uri="{FF2B5EF4-FFF2-40B4-BE49-F238E27FC236}">
                  <a16:creationId xmlns:a16="http://schemas.microsoft.com/office/drawing/2014/main" id="{332ACE77-B5A0-799F-1F79-5819E1997237}"/>
                </a:ext>
              </a:extLst>
            </p:cNvPr>
            <p:cNvGrpSpPr>
              <a:grpSpLocks/>
            </p:cNvGrpSpPr>
            <p:nvPr/>
          </p:nvGrpSpPr>
          <p:grpSpPr bwMode="auto">
            <a:xfrm>
              <a:off x="1627390" y="81300"/>
              <a:ext cx="720082" cy="739366"/>
              <a:chOff x="0" y="0"/>
              <a:chExt cx="720081" cy="739366"/>
            </a:xfrm>
          </p:grpSpPr>
          <p:sp>
            <p:nvSpPr>
              <p:cNvPr id="146441" name="Oval 9">
                <a:extLst>
                  <a:ext uri="{FF2B5EF4-FFF2-40B4-BE49-F238E27FC236}">
                    <a16:creationId xmlns:a16="http://schemas.microsoft.com/office/drawing/2014/main" id="{6827ECE0-BA35-3FD3-11D8-00F087FD8E76}"/>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42" name="Text Box 10">
                <a:extLst>
                  <a:ext uri="{FF2B5EF4-FFF2-40B4-BE49-F238E27FC236}">
                    <a16:creationId xmlns:a16="http://schemas.microsoft.com/office/drawing/2014/main" id="{6435CA90-3E1E-2C26-DEED-AAA2B9811E1B}"/>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46443" name="Group 11">
              <a:extLst>
                <a:ext uri="{FF2B5EF4-FFF2-40B4-BE49-F238E27FC236}">
                  <a16:creationId xmlns:a16="http://schemas.microsoft.com/office/drawing/2014/main" id="{808B536F-BFF8-CCE4-B75F-571AF56B7A11}"/>
                </a:ext>
              </a:extLst>
            </p:cNvPr>
            <p:cNvGrpSpPr>
              <a:grpSpLocks/>
            </p:cNvGrpSpPr>
            <p:nvPr/>
          </p:nvGrpSpPr>
          <p:grpSpPr bwMode="auto">
            <a:xfrm>
              <a:off x="0" y="81300"/>
              <a:ext cx="720081" cy="739366"/>
              <a:chOff x="0" y="0"/>
              <a:chExt cx="720081" cy="739366"/>
            </a:xfrm>
          </p:grpSpPr>
          <p:sp>
            <p:nvSpPr>
              <p:cNvPr id="146444" name="Oval 12">
                <a:extLst>
                  <a:ext uri="{FF2B5EF4-FFF2-40B4-BE49-F238E27FC236}">
                    <a16:creationId xmlns:a16="http://schemas.microsoft.com/office/drawing/2014/main" id="{5977CF2B-3B3B-0AF9-02D8-D0A2B0C1346C}"/>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45" name="Text Box 13">
                <a:extLst>
                  <a:ext uri="{FF2B5EF4-FFF2-40B4-BE49-F238E27FC236}">
                    <a16:creationId xmlns:a16="http://schemas.microsoft.com/office/drawing/2014/main" id="{AD36A570-D801-302D-8EFC-10E32EEA4CEE}"/>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46446" name="Group 14">
              <a:extLst>
                <a:ext uri="{FF2B5EF4-FFF2-40B4-BE49-F238E27FC236}">
                  <a16:creationId xmlns:a16="http://schemas.microsoft.com/office/drawing/2014/main" id="{D65B6FAD-41D4-9BA4-D254-08C1225FBB55}"/>
                </a:ext>
              </a:extLst>
            </p:cNvPr>
            <p:cNvGrpSpPr>
              <a:grpSpLocks/>
            </p:cNvGrpSpPr>
            <p:nvPr/>
          </p:nvGrpSpPr>
          <p:grpSpPr bwMode="auto">
            <a:xfrm>
              <a:off x="900792" y="1187733"/>
              <a:ext cx="720082" cy="739366"/>
              <a:chOff x="0" y="0"/>
              <a:chExt cx="720081" cy="739366"/>
            </a:xfrm>
          </p:grpSpPr>
          <p:sp>
            <p:nvSpPr>
              <p:cNvPr id="146447" name="Oval 15">
                <a:extLst>
                  <a:ext uri="{FF2B5EF4-FFF2-40B4-BE49-F238E27FC236}">
                    <a16:creationId xmlns:a16="http://schemas.microsoft.com/office/drawing/2014/main" id="{8E762264-5D3B-1BFF-C7D6-71ACFED17C52}"/>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48" name="Text Box 16">
                <a:extLst>
                  <a:ext uri="{FF2B5EF4-FFF2-40B4-BE49-F238E27FC236}">
                    <a16:creationId xmlns:a16="http://schemas.microsoft.com/office/drawing/2014/main" id="{CE9E9574-CE06-B628-5B4E-A0C7DB89485F}"/>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46449" name="Line 17" descr="Straight Arrow Connector 15">
              <a:extLst>
                <a:ext uri="{FF2B5EF4-FFF2-40B4-BE49-F238E27FC236}">
                  <a16:creationId xmlns:a16="http://schemas.microsoft.com/office/drawing/2014/main" id="{901123BA-5668-4B61-41BA-174264E836BC}"/>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50" name="Line 18" descr="Straight Arrow Connector 17">
              <a:extLst>
                <a:ext uri="{FF2B5EF4-FFF2-40B4-BE49-F238E27FC236}">
                  <a16:creationId xmlns:a16="http://schemas.microsoft.com/office/drawing/2014/main" id="{2E8BFC80-568B-DA1A-4412-0BFE2058DC0C}"/>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51" name="Line 19" descr="Straight Arrow Connector 19">
              <a:extLst>
                <a:ext uri="{FF2B5EF4-FFF2-40B4-BE49-F238E27FC236}">
                  <a16:creationId xmlns:a16="http://schemas.microsoft.com/office/drawing/2014/main" id="{36BFE6FB-ACB3-C6A2-2708-4F4902EA8121}"/>
                </a:ext>
              </a:extLst>
            </p:cNvPr>
            <p:cNvSpPr>
              <a:spLocks noChangeShapeType="1"/>
            </p:cNvSpPr>
            <p:nvPr/>
          </p:nvSpPr>
          <p:spPr bwMode="auto">
            <a:xfrm flipH="1" flipV="1">
              <a:off x="360040" y="657364"/>
              <a:ext cx="540754" cy="81840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52" name="Text Box 20" descr="TextBox 20">
              <a:extLst>
                <a:ext uri="{FF2B5EF4-FFF2-40B4-BE49-F238E27FC236}">
                  <a16:creationId xmlns:a16="http://schemas.microsoft.com/office/drawing/2014/main" id="{76A79F1A-F8B3-9804-C391-9F96DAE25EE7}"/>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6453" name="Text Box 21" descr="TextBox 21">
              <a:extLst>
                <a:ext uri="{FF2B5EF4-FFF2-40B4-BE49-F238E27FC236}">
                  <a16:creationId xmlns:a16="http://schemas.microsoft.com/office/drawing/2014/main" id="{9C7C7F93-7FB0-79A0-1625-B1EA9B638CC4}"/>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6454" name="Text Box 22" descr="TextBox 22">
              <a:extLst>
                <a:ext uri="{FF2B5EF4-FFF2-40B4-BE49-F238E27FC236}">
                  <a16:creationId xmlns:a16="http://schemas.microsoft.com/office/drawing/2014/main" id="{0C582FEB-8AFE-B34A-88DE-77339F8A9C7F}"/>
                </a:ext>
              </a:extLst>
            </p:cNvPr>
            <p:cNvSpPr txBox="1">
              <a:spLocks/>
            </p:cNvSpPr>
            <p:nvPr/>
          </p:nvSpPr>
          <p:spPr bwMode="auto">
            <a:xfrm>
              <a:off x="234880" y="1032954"/>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
        <p:nvSpPr>
          <p:cNvPr id="146455" name="AutoShape 23" descr="Right Arrow 12">
            <a:extLst>
              <a:ext uri="{FF2B5EF4-FFF2-40B4-BE49-F238E27FC236}">
                <a16:creationId xmlns:a16="http://schemas.microsoft.com/office/drawing/2014/main" id="{98CE92B1-4194-F920-8EE3-A97439C52EEB}"/>
              </a:ext>
            </a:extLst>
          </p:cNvPr>
          <p:cNvSpPr>
            <a:spLocks/>
          </p:cNvSpPr>
          <p:nvPr/>
        </p:nvSpPr>
        <p:spPr bwMode="auto">
          <a:xfrm>
            <a:off x="2411413" y="4421188"/>
            <a:ext cx="503237" cy="338137"/>
          </a:xfrm>
          <a:prstGeom prst="rightArrow">
            <a:avLst>
              <a:gd name="adj1" fmla="val 50000"/>
              <a:gd name="adj2" fmla="val 50112"/>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6456" name="Text Box 24" descr="TextBox 13">
            <a:extLst>
              <a:ext uri="{FF2B5EF4-FFF2-40B4-BE49-F238E27FC236}">
                <a16:creationId xmlns:a16="http://schemas.microsoft.com/office/drawing/2014/main" id="{B8C17949-E20C-B6FA-4AF8-BDA6332201F1}"/>
              </a:ext>
            </a:extLst>
          </p:cNvPr>
          <p:cNvSpPr txBox="1">
            <a:spLocks/>
          </p:cNvSpPr>
          <p:nvPr/>
        </p:nvSpPr>
        <p:spPr bwMode="auto">
          <a:xfrm>
            <a:off x="2914650" y="4403725"/>
            <a:ext cx="365125" cy="338138"/>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a:t>
            </a:r>
          </a:p>
        </p:txBody>
      </p:sp>
      <p:sp>
        <p:nvSpPr>
          <p:cNvPr id="146457" name="Text Box 25" descr="TextBox 18">
            <a:extLst>
              <a:ext uri="{FF2B5EF4-FFF2-40B4-BE49-F238E27FC236}">
                <a16:creationId xmlns:a16="http://schemas.microsoft.com/office/drawing/2014/main" id="{6B864A55-E31D-18D3-D7CA-57BDC76FFD43}"/>
              </a:ext>
            </a:extLst>
          </p:cNvPr>
          <p:cNvSpPr txBox="1">
            <a:spLocks/>
          </p:cNvSpPr>
          <p:nvPr/>
        </p:nvSpPr>
        <p:spPr bwMode="auto">
          <a:xfrm>
            <a:off x="492125" y="5300663"/>
            <a:ext cx="1885950" cy="738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Consider first T2</a:t>
            </a:r>
          </a:p>
          <a:p>
            <a:r>
              <a:rPr lang="en-US" altLang="en-US" sz="1400"/>
              <a:t>Because indegree is</a:t>
            </a:r>
          </a:p>
          <a:p>
            <a:r>
              <a:rPr lang="en-US" altLang="en-US" sz="1400"/>
              <a:t>zero</a:t>
            </a:r>
          </a:p>
        </p:txBody>
      </p:sp>
      <p:pic>
        <p:nvPicPr>
          <p:cNvPr id="146458" name="Picture 26" descr="Picture 3">
            <a:extLst>
              <a:ext uri="{FF2B5EF4-FFF2-40B4-BE49-F238E27FC236}">
                <a16:creationId xmlns:a16="http://schemas.microsoft.com/office/drawing/2014/main" id="{99980E1E-F0B0-A691-4372-02C7EB2A10D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408363" y="3849688"/>
            <a:ext cx="1846262" cy="1412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46459" name="Picture 27" descr="Picture 4">
            <a:extLst>
              <a:ext uri="{FF2B5EF4-FFF2-40B4-BE49-F238E27FC236}">
                <a16:creationId xmlns:a16="http://schemas.microsoft.com/office/drawing/2014/main" id="{064F744C-3E39-9479-F373-5AF2C64ECFE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1488" y="3849688"/>
            <a:ext cx="1960562" cy="1500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 descr="Title 1">
            <a:extLst>
              <a:ext uri="{FF2B5EF4-FFF2-40B4-BE49-F238E27FC236}">
                <a16:creationId xmlns:a16="http://schemas.microsoft.com/office/drawing/2014/main" id="{ED51F282-7B30-1067-1D2B-E173BE674D17}"/>
              </a:ext>
            </a:extLst>
          </p:cNvPr>
          <p:cNvSpPr>
            <a:spLocks noChangeArrowheads="1"/>
          </p:cNvSpPr>
          <p:nvPr>
            <p:ph type="title"/>
          </p:nvPr>
        </p:nvSpPr>
        <p:spPr/>
        <p:txBody>
          <a:bodyPr/>
          <a:lstStyle/>
          <a:p>
            <a:r>
              <a:rPr lang="en-US" altLang="en-US"/>
              <a:t>Problem To Solve</a:t>
            </a:r>
          </a:p>
        </p:txBody>
      </p:sp>
      <p:sp>
        <p:nvSpPr>
          <p:cNvPr id="147459" name="Rectangle 3" descr="Content Placeholder 2">
            <a:extLst>
              <a:ext uri="{FF2B5EF4-FFF2-40B4-BE49-F238E27FC236}">
                <a16:creationId xmlns:a16="http://schemas.microsoft.com/office/drawing/2014/main" id="{7CB25557-4568-3C81-7C98-5AAF9CB557BC}"/>
              </a:ext>
            </a:extLst>
          </p:cNvPr>
          <p:cNvSpPr>
            <a:spLocks noChangeArrowheads="1"/>
          </p:cNvSpPr>
          <p:nvPr>
            <p:ph type="body" idx="1"/>
          </p:nvPr>
        </p:nvSpPr>
        <p:spPr/>
        <p:txBody>
          <a:bodyPr/>
          <a:lstStyle/>
          <a:p>
            <a:pPr>
              <a:spcBef>
                <a:spcPts val="300"/>
              </a:spcBef>
            </a:pPr>
            <a:r>
              <a:rPr lang="en-US" altLang="en-US" sz="1600"/>
              <a:t>What is the Equivalent serial schedule for non-serial scheduleS1:R3(A), R2(A),W3(A), R1(A), W1(A)</a:t>
            </a:r>
          </a:p>
        </p:txBody>
      </p:sp>
      <p:sp>
        <p:nvSpPr>
          <p:cNvPr id="147460" name="Text Box 4" descr="Date Placeholder 3">
            <a:extLst>
              <a:ext uri="{FF2B5EF4-FFF2-40B4-BE49-F238E27FC236}">
                <a16:creationId xmlns:a16="http://schemas.microsoft.com/office/drawing/2014/main" id="{01ED1A7D-0DFB-E5D1-EFBA-4D8BB1ABA79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7461" name="Text Box 5" descr="Slide Number Placeholder 5">
            <a:extLst>
              <a:ext uri="{FF2B5EF4-FFF2-40B4-BE49-F238E27FC236}">
                <a16:creationId xmlns:a16="http://schemas.microsoft.com/office/drawing/2014/main" id="{85428026-D74A-E7C4-0E22-09AD167CF42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7520B07-6D75-48D1-A845-5B4323521C5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139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47462" name="Text Box 6" descr="TextBox 8">
            <a:extLst>
              <a:ext uri="{FF2B5EF4-FFF2-40B4-BE49-F238E27FC236}">
                <a16:creationId xmlns:a16="http://schemas.microsoft.com/office/drawing/2014/main" id="{04D19749-D98B-1F6E-B001-D4C6FFF0295E}"/>
              </a:ext>
            </a:extLst>
          </p:cNvPr>
          <p:cNvSpPr txBox="1">
            <a:spLocks/>
          </p:cNvSpPr>
          <p:nvPr/>
        </p:nvSpPr>
        <p:spPr bwMode="auto">
          <a:xfrm>
            <a:off x="363538" y="1804988"/>
            <a:ext cx="5132387" cy="1298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Given: Three Transactions </a:t>
            </a:r>
          </a:p>
          <a:p>
            <a:r>
              <a:rPr lang="en-US" altLang="en-US" sz="1600"/>
              <a:t>T1 with operations Read(A), Write(A)</a:t>
            </a:r>
          </a:p>
          <a:p>
            <a:r>
              <a:rPr lang="en-US" altLang="en-US" sz="1600"/>
              <a:t>T2 with operations Read(A)</a:t>
            </a:r>
          </a:p>
          <a:p>
            <a:r>
              <a:rPr lang="en-US" altLang="en-US" sz="1600"/>
              <a:t>T3 with operations Read(A), Write(A)</a:t>
            </a:r>
          </a:p>
          <a:p>
            <a:r>
              <a:rPr lang="en-US" altLang="en-US" sz="1600"/>
              <a:t>Schedule S1: R3(A), R2(A),W3(A), R1(A), W1(A)</a:t>
            </a:r>
          </a:p>
        </p:txBody>
      </p:sp>
      <p:grpSp>
        <p:nvGrpSpPr>
          <p:cNvPr id="147463" name="Group 7">
            <a:extLst>
              <a:ext uri="{FF2B5EF4-FFF2-40B4-BE49-F238E27FC236}">
                <a16:creationId xmlns:a16="http://schemas.microsoft.com/office/drawing/2014/main" id="{244E1D32-FC67-96B1-BA7C-94441E334AFA}"/>
              </a:ext>
            </a:extLst>
          </p:cNvPr>
          <p:cNvGrpSpPr>
            <a:grpSpLocks/>
          </p:cNvGrpSpPr>
          <p:nvPr/>
        </p:nvGrpSpPr>
        <p:grpSpPr bwMode="auto">
          <a:xfrm>
            <a:off x="5651500" y="1484313"/>
            <a:ext cx="2347913" cy="1927225"/>
            <a:chOff x="0" y="-1"/>
            <a:chExt cx="2347472" cy="1927100"/>
          </a:xfrm>
        </p:grpSpPr>
        <p:grpSp>
          <p:nvGrpSpPr>
            <p:cNvPr id="147464" name="Group 8">
              <a:extLst>
                <a:ext uri="{FF2B5EF4-FFF2-40B4-BE49-F238E27FC236}">
                  <a16:creationId xmlns:a16="http://schemas.microsoft.com/office/drawing/2014/main" id="{166CA662-725C-EF27-A109-A18E7CB46B49}"/>
                </a:ext>
              </a:extLst>
            </p:cNvPr>
            <p:cNvGrpSpPr>
              <a:grpSpLocks/>
            </p:cNvGrpSpPr>
            <p:nvPr/>
          </p:nvGrpSpPr>
          <p:grpSpPr bwMode="auto">
            <a:xfrm>
              <a:off x="1627390" y="81300"/>
              <a:ext cx="720082" cy="739366"/>
              <a:chOff x="0" y="0"/>
              <a:chExt cx="720081" cy="739366"/>
            </a:xfrm>
          </p:grpSpPr>
          <p:sp>
            <p:nvSpPr>
              <p:cNvPr id="147465" name="Oval 9">
                <a:extLst>
                  <a:ext uri="{FF2B5EF4-FFF2-40B4-BE49-F238E27FC236}">
                    <a16:creationId xmlns:a16="http://schemas.microsoft.com/office/drawing/2014/main" id="{75B5161D-279E-73B3-CF1E-10238E6AD574}"/>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66" name="Text Box 10">
                <a:extLst>
                  <a:ext uri="{FF2B5EF4-FFF2-40B4-BE49-F238E27FC236}">
                    <a16:creationId xmlns:a16="http://schemas.microsoft.com/office/drawing/2014/main" id="{8DC0EF2B-CC39-96A3-855E-02D827BA20AC}"/>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47467" name="Group 11">
              <a:extLst>
                <a:ext uri="{FF2B5EF4-FFF2-40B4-BE49-F238E27FC236}">
                  <a16:creationId xmlns:a16="http://schemas.microsoft.com/office/drawing/2014/main" id="{63433A18-21FA-4878-8B69-5411DF4BA9BC}"/>
                </a:ext>
              </a:extLst>
            </p:cNvPr>
            <p:cNvGrpSpPr>
              <a:grpSpLocks/>
            </p:cNvGrpSpPr>
            <p:nvPr/>
          </p:nvGrpSpPr>
          <p:grpSpPr bwMode="auto">
            <a:xfrm>
              <a:off x="0" y="81300"/>
              <a:ext cx="720081" cy="739366"/>
              <a:chOff x="0" y="0"/>
              <a:chExt cx="720081" cy="739366"/>
            </a:xfrm>
          </p:grpSpPr>
          <p:sp>
            <p:nvSpPr>
              <p:cNvPr id="147468" name="Oval 12">
                <a:extLst>
                  <a:ext uri="{FF2B5EF4-FFF2-40B4-BE49-F238E27FC236}">
                    <a16:creationId xmlns:a16="http://schemas.microsoft.com/office/drawing/2014/main" id="{69201AA3-4573-94D6-AD81-91B86B9901A7}"/>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69" name="Text Box 13">
                <a:extLst>
                  <a:ext uri="{FF2B5EF4-FFF2-40B4-BE49-F238E27FC236}">
                    <a16:creationId xmlns:a16="http://schemas.microsoft.com/office/drawing/2014/main" id="{4C1D9E84-B78D-A3CA-8211-725399B1A8EF}"/>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47470" name="Group 14">
              <a:extLst>
                <a:ext uri="{FF2B5EF4-FFF2-40B4-BE49-F238E27FC236}">
                  <a16:creationId xmlns:a16="http://schemas.microsoft.com/office/drawing/2014/main" id="{90D5CC7E-D58E-B00E-2298-CF1FB6ABF9D6}"/>
                </a:ext>
              </a:extLst>
            </p:cNvPr>
            <p:cNvGrpSpPr>
              <a:grpSpLocks/>
            </p:cNvGrpSpPr>
            <p:nvPr/>
          </p:nvGrpSpPr>
          <p:grpSpPr bwMode="auto">
            <a:xfrm>
              <a:off x="900792" y="1187733"/>
              <a:ext cx="720082" cy="739366"/>
              <a:chOff x="0" y="0"/>
              <a:chExt cx="720081" cy="739366"/>
            </a:xfrm>
          </p:grpSpPr>
          <p:sp>
            <p:nvSpPr>
              <p:cNvPr id="147471" name="Oval 15">
                <a:extLst>
                  <a:ext uri="{FF2B5EF4-FFF2-40B4-BE49-F238E27FC236}">
                    <a16:creationId xmlns:a16="http://schemas.microsoft.com/office/drawing/2014/main" id="{0CAD3DF7-BE84-D63F-9074-694DF0A26EE9}"/>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72" name="Text Box 16">
                <a:extLst>
                  <a:ext uri="{FF2B5EF4-FFF2-40B4-BE49-F238E27FC236}">
                    <a16:creationId xmlns:a16="http://schemas.microsoft.com/office/drawing/2014/main" id="{002D36BA-6114-6DF2-6F05-153F5C9A90BA}"/>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47473" name="Line 17" descr="Straight Arrow Connector 15">
              <a:extLst>
                <a:ext uri="{FF2B5EF4-FFF2-40B4-BE49-F238E27FC236}">
                  <a16:creationId xmlns:a16="http://schemas.microsoft.com/office/drawing/2014/main" id="{1A40FF70-5B37-AE88-1FB1-A8FB11AAA1BF}"/>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74" name="Line 18" descr="Straight Arrow Connector 17">
              <a:extLst>
                <a:ext uri="{FF2B5EF4-FFF2-40B4-BE49-F238E27FC236}">
                  <a16:creationId xmlns:a16="http://schemas.microsoft.com/office/drawing/2014/main" id="{AA99F91B-1F8C-7803-0E18-463CC1E6E6FA}"/>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75" name="Line 19" descr="Straight Arrow Connector 19">
              <a:extLst>
                <a:ext uri="{FF2B5EF4-FFF2-40B4-BE49-F238E27FC236}">
                  <a16:creationId xmlns:a16="http://schemas.microsoft.com/office/drawing/2014/main" id="{79FED4FD-66C9-F415-4473-827A99F47578}"/>
                </a:ext>
              </a:extLst>
            </p:cNvPr>
            <p:cNvSpPr>
              <a:spLocks noChangeShapeType="1"/>
            </p:cNvSpPr>
            <p:nvPr/>
          </p:nvSpPr>
          <p:spPr bwMode="auto">
            <a:xfrm flipH="1" flipV="1">
              <a:off x="360040" y="657364"/>
              <a:ext cx="540754" cy="81840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76" name="Text Box 20" descr="TextBox 20">
              <a:extLst>
                <a:ext uri="{FF2B5EF4-FFF2-40B4-BE49-F238E27FC236}">
                  <a16:creationId xmlns:a16="http://schemas.microsoft.com/office/drawing/2014/main" id="{D6D646EA-7CBF-2B61-0F66-9E2FD107B118}"/>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7477" name="Text Box 21" descr="TextBox 21">
              <a:extLst>
                <a:ext uri="{FF2B5EF4-FFF2-40B4-BE49-F238E27FC236}">
                  <a16:creationId xmlns:a16="http://schemas.microsoft.com/office/drawing/2014/main" id="{946BD647-B811-E32C-82A4-A487896B7BC8}"/>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7478" name="Text Box 22" descr="TextBox 22">
              <a:extLst>
                <a:ext uri="{FF2B5EF4-FFF2-40B4-BE49-F238E27FC236}">
                  <a16:creationId xmlns:a16="http://schemas.microsoft.com/office/drawing/2014/main" id="{92690531-7A13-5B8E-9EFD-4068D16F6711}"/>
                </a:ext>
              </a:extLst>
            </p:cNvPr>
            <p:cNvSpPr txBox="1">
              <a:spLocks/>
            </p:cNvSpPr>
            <p:nvPr/>
          </p:nvSpPr>
          <p:spPr bwMode="auto">
            <a:xfrm>
              <a:off x="234880" y="1032954"/>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
        <p:nvSpPr>
          <p:cNvPr id="147479" name="AutoShape 23" descr="Right Arrow 12">
            <a:extLst>
              <a:ext uri="{FF2B5EF4-FFF2-40B4-BE49-F238E27FC236}">
                <a16:creationId xmlns:a16="http://schemas.microsoft.com/office/drawing/2014/main" id="{B33DCCF5-8FEB-7977-8D75-FFC17EAAB3EA}"/>
              </a:ext>
            </a:extLst>
          </p:cNvPr>
          <p:cNvSpPr>
            <a:spLocks/>
          </p:cNvSpPr>
          <p:nvPr/>
        </p:nvSpPr>
        <p:spPr bwMode="auto">
          <a:xfrm>
            <a:off x="2411413" y="4421188"/>
            <a:ext cx="503237" cy="338137"/>
          </a:xfrm>
          <a:prstGeom prst="rightArrow">
            <a:avLst>
              <a:gd name="adj1" fmla="val 50000"/>
              <a:gd name="adj2" fmla="val 50112"/>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80" name="Text Box 24" descr="TextBox 13">
            <a:extLst>
              <a:ext uri="{FF2B5EF4-FFF2-40B4-BE49-F238E27FC236}">
                <a16:creationId xmlns:a16="http://schemas.microsoft.com/office/drawing/2014/main" id="{A5E1B672-AC7C-C133-80AC-4C0F3F078A05}"/>
              </a:ext>
            </a:extLst>
          </p:cNvPr>
          <p:cNvSpPr txBox="1">
            <a:spLocks/>
          </p:cNvSpPr>
          <p:nvPr/>
        </p:nvSpPr>
        <p:spPr bwMode="auto">
          <a:xfrm>
            <a:off x="2914650" y="4403725"/>
            <a:ext cx="365125" cy="338138"/>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a:t>
            </a:r>
          </a:p>
        </p:txBody>
      </p:sp>
      <p:sp>
        <p:nvSpPr>
          <p:cNvPr id="147481" name="Text Box 25" descr="TextBox 18">
            <a:extLst>
              <a:ext uri="{FF2B5EF4-FFF2-40B4-BE49-F238E27FC236}">
                <a16:creationId xmlns:a16="http://schemas.microsoft.com/office/drawing/2014/main" id="{CA08409A-AA9B-31E5-89E7-B60B251D5D5E}"/>
              </a:ext>
            </a:extLst>
          </p:cNvPr>
          <p:cNvSpPr txBox="1">
            <a:spLocks/>
          </p:cNvSpPr>
          <p:nvPr/>
        </p:nvSpPr>
        <p:spPr bwMode="auto">
          <a:xfrm>
            <a:off x="492125" y="5300663"/>
            <a:ext cx="1885950" cy="738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Consider first T2</a:t>
            </a:r>
          </a:p>
          <a:p>
            <a:r>
              <a:rPr lang="en-US" altLang="en-US" sz="1400"/>
              <a:t>Because indegree is</a:t>
            </a:r>
          </a:p>
          <a:p>
            <a:r>
              <a:rPr lang="en-US" altLang="en-US" sz="1400"/>
              <a:t>zero</a:t>
            </a:r>
          </a:p>
        </p:txBody>
      </p:sp>
      <p:sp>
        <p:nvSpPr>
          <p:cNvPr id="147482" name="AutoShape 26" descr="Right Arrow 47">
            <a:extLst>
              <a:ext uri="{FF2B5EF4-FFF2-40B4-BE49-F238E27FC236}">
                <a16:creationId xmlns:a16="http://schemas.microsoft.com/office/drawing/2014/main" id="{71FA8B10-DE3C-5216-5A6E-86CCB17AD564}"/>
              </a:ext>
            </a:extLst>
          </p:cNvPr>
          <p:cNvSpPr>
            <a:spLocks/>
          </p:cNvSpPr>
          <p:nvPr/>
        </p:nvSpPr>
        <p:spPr bwMode="auto">
          <a:xfrm>
            <a:off x="5291138" y="4371975"/>
            <a:ext cx="504825" cy="339725"/>
          </a:xfrm>
          <a:prstGeom prst="rightArrow">
            <a:avLst>
              <a:gd name="adj1" fmla="val 50000"/>
              <a:gd name="adj2" fmla="val 50035"/>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83" name="Text Box 27" descr="TextBox 48">
            <a:extLst>
              <a:ext uri="{FF2B5EF4-FFF2-40B4-BE49-F238E27FC236}">
                <a16:creationId xmlns:a16="http://schemas.microsoft.com/office/drawing/2014/main" id="{2FC49D5A-3EF3-6A0E-BE64-7D1628FDE9E6}"/>
              </a:ext>
            </a:extLst>
          </p:cNvPr>
          <p:cNvSpPr txBox="1">
            <a:spLocks/>
          </p:cNvSpPr>
          <p:nvPr/>
        </p:nvSpPr>
        <p:spPr bwMode="auto">
          <a:xfrm>
            <a:off x="5795963" y="4354513"/>
            <a:ext cx="763587" cy="339725"/>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 T3</a:t>
            </a:r>
          </a:p>
        </p:txBody>
      </p:sp>
      <p:pic>
        <p:nvPicPr>
          <p:cNvPr id="147484" name="Picture 28" descr="Picture 2">
            <a:extLst>
              <a:ext uri="{FF2B5EF4-FFF2-40B4-BE49-F238E27FC236}">
                <a16:creationId xmlns:a16="http://schemas.microsoft.com/office/drawing/2014/main" id="{735F45F3-F9A6-409A-0469-DB6EE85E6EF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808788" y="3944938"/>
            <a:ext cx="1866900" cy="1427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47485" name="Picture 29" descr="Picture 3">
            <a:extLst>
              <a:ext uri="{FF2B5EF4-FFF2-40B4-BE49-F238E27FC236}">
                <a16:creationId xmlns:a16="http://schemas.microsoft.com/office/drawing/2014/main" id="{9290C494-78E2-59A0-4EDC-B7B8B1E7046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408363" y="3849688"/>
            <a:ext cx="1846262" cy="1412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47486" name="Picture 30" descr="Picture 4">
            <a:extLst>
              <a:ext uri="{FF2B5EF4-FFF2-40B4-BE49-F238E27FC236}">
                <a16:creationId xmlns:a16="http://schemas.microsoft.com/office/drawing/2014/main" id="{16CA69CD-1747-EA53-44D8-23FACB1E547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1488" y="3849688"/>
            <a:ext cx="1960562" cy="1500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47487" name="AutoShape 31" descr="Down Arrow 62">
            <a:extLst>
              <a:ext uri="{FF2B5EF4-FFF2-40B4-BE49-F238E27FC236}">
                <a16:creationId xmlns:a16="http://schemas.microsoft.com/office/drawing/2014/main" id="{79E2A16E-11EF-BFD7-192A-C7B3FB5241E2}"/>
              </a:ext>
            </a:extLst>
          </p:cNvPr>
          <p:cNvSpPr>
            <a:spLocks/>
          </p:cNvSpPr>
          <p:nvPr/>
        </p:nvSpPr>
        <p:spPr bwMode="auto">
          <a:xfrm>
            <a:off x="7639050" y="5372100"/>
            <a:ext cx="360363" cy="296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7488" name="Text Box 32" descr="TextBox 66">
            <a:extLst>
              <a:ext uri="{FF2B5EF4-FFF2-40B4-BE49-F238E27FC236}">
                <a16:creationId xmlns:a16="http://schemas.microsoft.com/office/drawing/2014/main" id="{AD98F9C8-50FB-4EE0-F598-705AA2F18FE6}"/>
              </a:ext>
            </a:extLst>
          </p:cNvPr>
          <p:cNvSpPr txBox="1">
            <a:spLocks/>
          </p:cNvSpPr>
          <p:nvPr/>
        </p:nvSpPr>
        <p:spPr bwMode="auto">
          <a:xfrm>
            <a:off x="7278688" y="5668963"/>
            <a:ext cx="1119187" cy="339725"/>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 T3, t1</a:t>
            </a:r>
          </a:p>
        </p:txBody>
      </p:sp>
      <p:sp>
        <p:nvSpPr>
          <p:cNvPr id="147489" name="Line 33" descr="Straight Connector 64">
            <a:extLst>
              <a:ext uri="{FF2B5EF4-FFF2-40B4-BE49-F238E27FC236}">
                <a16:creationId xmlns:a16="http://schemas.microsoft.com/office/drawing/2014/main" id="{AF3C522F-D6F6-15E8-4229-40348420E857}"/>
              </a:ext>
            </a:extLst>
          </p:cNvPr>
          <p:cNvSpPr>
            <a:spLocks noChangeShapeType="1"/>
          </p:cNvSpPr>
          <p:nvPr/>
        </p:nvSpPr>
        <p:spPr bwMode="auto">
          <a:xfrm flipV="1">
            <a:off x="7278688" y="4711700"/>
            <a:ext cx="123825" cy="228600"/>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2" descr="Title 1">
            <a:extLst>
              <a:ext uri="{FF2B5EF4-FFF2-40B4-BE49-F238E27FC236}">
                <a16:creationId xmlns:a16="http://schemas.microsoft.com/office/drawing/2014/main" id="{DF1FE324-1647-210A-5506-8C92E01541F3}"/>
              </a:ext>
            </a:extLst>
          </p:cNvPr>
          <p:cNvSpPr>
            <a:spLocks noChangeArrowheads="1"/>
          </p:cNvSpPr>
          <p:nvPr>
            <p:ph type="title"/>
          </p:nvPr>
        </p:nvSpPr>
        <p:spPr/>
        <p:txBody>
          <a:bodyPr/>
          <a:lstStyle/>
          <a:p>
            <a:r>
              <a:rPr lang="en-US" altLang="en-US"/>
              <a:t>Solution</a:t>
            </a:r>
          </a:p>
        </p:txBody>
      </p:sp>
      <p:sp>
        <p:nvSpPr>
          <p:cNvPr id="148483" name="Rectangle 3" descr="Content Placeholder 2">
            <a:extLst>
              <a:ext uri="{FF2B5EF4-FFF2-40B4-BE49-F238E27FC236}">
                <a16:creationId xmlns:a16="http://schemas.microsoft.com/office/drawing/2014/main" id="{B7C7C36C-0ABC-C5A8-A692-F8BC76D35CED}"/>
              </a:ext>
            </a:extLst>
          </p:cNvPr>
          <p:cNvSpPr>
            <a:spLocks noChangeArrowheads="1"/>
          </p:cNvSpPr>
          <p:nvPr>
            <p:ph type="body" idx="1"/>
          </p:nvPr>
        </p:nvSpPr>
        <p:spPr/>
        <p:txBody>
          <a:bodyPr/>
          <a:lstStyle/>
          <a:p>
            <a:pPr>
              <a:spcBef>
                <a:spcPts val="300"/>
              </a:spcBef>
            </a:pPr>
            <a:r>
              <a:rPr lang="en-US" altLang="en-US" sz="1600"/>
              <a:t>What is the Equivalent serial schedule for non-serial schedule S1:R3(A), R2(A),W3(A), R1(A), W1(A)</a:t>
            </a:r>
          </a:p>
        </p:txBody>
      </p:sp>
      <p:sp>
        <p:nvSpPr>
          <p:cNvPr id="148484" name="Text Box 4" descr="Date Placeholder 3">
            <a:extLst>
              <a:ext uri="{FF2B5EF4-FFF2-40B4-BE49-F238E27FC236}">
                <a16:creationId xmlns:a16="http://schemas.microsoft.com/office/drawing/2014/main" id="{41ACAF42-4499-C58E-79B6-8BD79907262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8485" name="Text Box 5" descr="Slide Number Placeholder 5">
            <a:extLst>
              <a:ext uri="{FF2B5EF4-FFF2-40B4-BE49-F238E27FC236}">
                <a16:creationId xmlns:a16="http://schemas.microsoft.com/office/drawing/2014/main" id="{6D6C445D-107C-D88F-3C8F-6BDDB951791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C33B83C-89AD-42BB-99FF-25FD586AD4C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48486" name="Text Box 6" descr="TextBox 8">
            <a:extLst>
              <a:ext uri="{FF2B5EF4-FFF2-40B4-BE49-F238E27FC236}">
                <a16:creationId xmlns:a16="http://schemas.microsoft.com/office/drawing/2014/main" id="{1505ED98-7528-6322-A61C-5F9C144B8682}"/>
              </a:ext>
            </a:extLst>
          </p:cNvPr>
          <p:cNvSpPr txBox="1">
            <a:spLocks/>
          </p:cNvSpPr>
          <p:nvPr/>
        </p:nvSpPr>
        <p:spPr bwMode="auto">
          <a:xfrm>
            <a:off x="363538" y="1804988"/>
            <a:ext cx="5132387" cy="1298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Given: Three Transactions </a:t>
            </a:r>
          </a:p>
          <a:p>
            <a:r>
              <a:rPr lang="en-US" altLang="en-US" sz="1600"/>
              <a:t>T1 with operations Read(A), Write(A)</a:t>
            </a:r>
          </a:p>
          <a:p>
            <a:r>
              <a:rPr lang="en-US" altLang="en-US" sz="1600"/>
              <a:t>T2 with operations Read(A)</a:t>
            </a:r>
          </a:p>
          <a:p>
            <a:r>
              <a:rPr lang="en-US" altLang="en-US" sz="1600"/>
              <a:t>T3 with operations Read(A), Write(A)</a:t>
            </a:r>
          </a:p>
          <a:p>
            <a:r>
              <a:rPr lang="en-US" altLang="en-US" sz="1600"/>
              <a:t>Schedule S1: R3(A), R2(A),W3(A), R1(A), W1(A)</a:t>
            </a:r>
          </a:p>
        </p:txBody>
      </p:sp>
      <p:grpSp>
        <p:nvGrpSpPr>
          <p:cNvPr id="148487" name="Group 7">
            <a:extLst>
              <a:ext uri="{FF2B5EF4-FFF2-40B4-BE49-F238E27FC236}">
                <a16:creationId xmlns:a16="http://schemas.microsoft.com/office/drawing/2014/main" id="{C61CC2FE-C602-828D-F934-FCB1BB93199A}"/>
              </a:ext>
            </a:extLst>
          </p:cNvPr>
          <p:cNvGrpSpPr>
            <a:grpSpLocks/>
          </p:cNvGrpSpPr>
          <p:nvPr/>
        </p:nvGrpSpPr>
        <p:grpSpPr bwMode="auto">
          <a:xfrm>
            <a:off x="5651500" y="1484313"/>
            <a:ext cx="2347913" cy="1927225"/>
            <a:chOff x="0" y="-1"/>
            <a:chExt cx="2347472" cy="1927100"/>
          </a:xfrm>
        </p:grpSpPr>
        <p:grpSp>
          <p:nvGrpSpPr>
            <p:cNvPr id="148488" name="Group 8">
              <a:extLst>
                <a:ext uri="{FF2B5EF4-FFF2-40B4-BE49-F238E27FC236}">
                  <a16:creationId xmlns:a16="http://schemas.microsoft.com/office/drawing/2014/main" id="{8338F525-17BF-9677-8CBA-A008B745CD4B}"/>
                </a:ext>
              </a:extLst>
            </p:cNvPr>
            <p:cNvGrpSpPr>
              <a:grpSpLocks/>
            </p:cNvGrpSpPr>
            <p:nvPr/>
          </p:nvGrpSpPr>
          <p:grpSpPr bwMode="auto">
            <a:xfrm>
              <a:off x="1627390" y="81300"/>
              <a:ext cx="720082" cy="739366"/>
              <a:chOff x="0" y="0"/>
              <a:chExt cx="720081" cy="739366"/>
            </a:xfrm>
          </p:grpSpPr>
          <p:sp>
            <p:nvSpPr>
              <p:cNvPr id="148489" name="Oval 9">
                <a:extLst>
                  <a:ext uri="{FF2B5EF4-FFF2-40B4-BE49-F238E27FC236}">
                    <a16:creationId xmlns:a16="http://schemas.microsoft.com/office/drawing/2014/main" id="{F770E09D-02E3-4C48-E0D9-BFDC53FAE87C}"/>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490" name="Text Box 10">
                <a:extLst>
                  <a:ext uri="{FF2B5EF4-FFF2-40B4-BE49-F238E27FC236}">
                    <a16:creationId xmlns:a16="http://schemas.microsoft.com/office/drawing/2014/main" id="{E21F0F3C-56AA-911B-D421-26A07B619215}"/>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48491" name="Group 11">
              <a:extLst>
                <a:ext uri="{FF2B5EF4-FFF2-40B4-BE49-F238E27FC236}">
                  <a16:creationId xmlns:a16="http://schemas.microsoft.com/office/drawing/2014/main" id="{D11BC654-AA31-7A2C-CC81-DA54AD862684}"/>
                </a:ext>
              </a:extLst>
            </p:cNvPr>
            <p:cNvGrpSpPr>
              <a:grpSpLocks/>
            </p:cNvGrpSpPr>
            <p:nvPr/>
          </p:nvGrpSpPr>
          <p:grpSpPr bwMode="auto">
            <a:xfrm>
              <a:off x="0" y="81300"/>
              <a:ext cx="720081" cy="739366"/>
              <a:chOff x="0" y="0"/>
              <a:chExt cx="720081" cy="739366"/>
            </a:xfrm>
          </p:grpSpPr>
          <p:sp>
            <p:nvSpPr>
              <p:cNvPr id="148492" name="Oval 12">
                <a:extLst>
                  <a:ext uri="{FF2B5EF4-FFF2-40B4-BE49-F238E27FC236}">
                    <a16:creationId xmlns:a16="http://schemas.microsoft.com/office/drawing/2014/main" id="{E8636290-4F9F-1C16-B637-29BAACD61269}"/>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493" name="Text Box 13">
                <a:extLst>
                  <a:ext uri="{FF2B5EF4-FFF2-40B4-BE49-F238E27FC236}">
                    <a16:creationId xmlns:a16="http://schemas.microsoft.com/office/drawing/2014/main" id="{EFD48692-D282-0A93-0361-6842CE828A90}"/>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48494" name="Group 14">
              <a:extLst>
                <a:ext uri="{FF2B5EF4-FFF2-40B4-BE49-F238E27FC236}">
                  <a16:creationId xmlns:a16="http://schemas.microsoft.com/office/drawing/2014/main" id="{A4120017-6B41-9DB9-A5C4-F81025137B13}"/>
                </a:ext>
              </a:extLst>
            </p:cNvPr>
            <p:cNvGrpSpPr>
              <a:grpSpLocks/>
            </p:cNvGrpSpPr>
            <p:nvPr/>
          </p:nvGrpSpPr>
          <p:grpSpPr bwMode="auto">
            <a:xfrm>
              <a:off x="900792" y="1187733"/>
              <a:ext cx="720082" cy="739366"/>
              <a:chOff x="0" y="0"/>
              <a:chExt cx="720081" cy="739366"/>
            </a:xfrm>
          </p:grpSpPr>
          <p:sp>
            <p:nvSpPr>
              <p:cNvPr id="148495" name="Oval 15">
                <a:extLst>
                  <a:ext uri="{FF2B5EF4-FFF2-40B4-BE49-F238E27FC236}">
                    <a16:creationId xmlns:a16="http://schemas.microsoft.com/office/drawing/2014/main" id="{F58DCF43-0FD2-0475-F76D-7CCB0349EDC0}"/>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496" name="Text Box 16">
                <a:extLst>
                  <a:ext uri="{FF2B5EF4-FFF2-40B4-BE49-F238E27FC236}">
                    <a16:creationId xmlns:a16="http://schemas.microsoft.com/office/drawing/2014/main" id="{8761BB6B-3305-461E-EAE9-AD00548C29E7}"/>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48497" name="Line 17" descr="Straight Arrow Connector 15">
              <a:extLst>
                <a:ext uri="{FF2B5EF4-FFF2-40B4-BE49-F238E27FC236}">
                  <a16:creationId xmlns:a16="http://schemas.microsoft.com/office/drawing/2014/main" id="{79BADA10-34B3-4EB1-6ED9-0D2E8999E470}"/>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498" name="Line 18" descr="Straight Arrow Connector 17">
              <a:extLst>
                <a:ext uri="{FF2B5EF4-FFF2-40B4-BE49-F238E27FC236}">
                  <a16:creationId xmlns:a16="http://schemas.microsoft.com/office/drawing/2014/main" id="{BDC021A7-58B3-3EF6-8B9E-1318BE1B1DF7}"/>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499" name="Line 19" descr="Straight Arrow Connector 19">
              <a:extLst>
                <a:ext uri="{FF2B5EF4-FFF2-40B4-BE49-F238E27FC236}">
                  <a16:creationId xmlns:a16="http://schemas.microsoft.com/office/drawing/2014/main" id="{009DDF4D-FF6C-7CB5-D32E-B3796A0477C3}"/>
                </a:ext>
              </a:extLst>
            </p:cNvPr>
            <p:cNvSpPr>
              <a:spLocks noChangeShapeType="1"/>
            </p:cNvSpPr>
            <p:nvPr/>
          </p:nvSpPr>
          <p:spPr bwMode="auto">
            <a:xfrm flipH="1" flipV="1">
              <a:off x="360040" y="657364"/>
              <a:ext cx="540754" cy="81840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500" name="Text Box 20" descr="TextBox 20">
              <a:extLst>
                <a:ext uri="{FF2B5EF4-FFF2-40B4-BE49-F238E27FC236}">
                  <a16:creationId xmlns:a16="http://schemas.microsoft.com/office/drawing/2014/main" id="{9C2DDFF1-087B-0383-723C-8DEC4FC2883B}"/>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8501" name="Text Box 21" descr="TextBox 21">
              <a:extLst>
                <a:ext uri="{FF2B5EF4-FFF2-40B4-BE49-F238E27FC236}">
                  <a16:creationId xmlns:a16="http://schemas.microsoft.com/office/drawing/2014/main" id="{23A0748F-F540-EAE9-C025-B522662A50E2}"/>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48502" name="Text Box 22" descr="TextBox 22">
              <a:extLst>
                <a:ext uri="{FF2B5EF4-FFF2-40B4-BE49-F238E27FC236}">
                  <a16:creationId xmlns:a16="http://schemas.microsoft.com/office/drawing/2014/main" id="{605934A7-3174-BD46-D103-FD1575410DBD}"/>
                </a:ext>
              </a:extLst>
            </p:cNvPr>
            <p:cNvSpPr txBox="1">
              <a:spLocks/>
            </p:cNvSpPr>
            <p:nvPr/>
          </p:nvSpPr>
          <p:spPr bwMode="auto">
            <a:xfrm>
              <a:off x="234880" y="1032954"/>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
        <p:nvSpPr>
          <p:cNvPr id="148503" name="AutoShape 23" descr="Right Arrow 12">
            <a:extLst>
              <a:ext uri="{FF2B5EF4-FFF2-40B4-BE49-F238E27FC236}">
                <a16:creationId xmlns:a16="http://schemas.microsoft.com/office/drawing/2014/main" id="{26F5BB17-AFAD-AB96-E7CE-0C1531D01F0B}"/>
              </a:ext>
            </a:extLst>
          </p:cNvPr>
          <p:cNvSpPr>
            <a:spLocks/>
          </p:cNvSpPr>
          <p:nvPr/>
        </p:nvSpPr>
        <p:spPr bwMode="auto">
          <a:xfrm>
            <a:off x="2411413" y="3998913"/>
            <a:ext cx="503237" cy="339725"/>
          </a:xfrm>
          <a:prstGeom prst="rightArrow">
            <a:avLst>
              <a:gd name="adj1" fmla="val 50000"/>
              <a:gd name="adj2" fmla="val 49878"/>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504" name="Text Box 24" descr="TextBox 13">
            <a:extLst>
              <a:ext uri="{FF2B5EF4-FFF2-40B4-BE49-F238E27FC236}">
                <a16:creationId xmlns:a16="http://schemas.microsoft.com/office/drawing/2014/main" id="{4153168F-DDDA-B220-B2CD-B6985E813199}"/>
              </a:ext>
            </a:extLst>
          </p:cNvPr>
          <p:cNvSpPr txBox="1">
            <a:spLocks/>
          </p:cNvSpPr>
          <p:nvPr/>
        </p:nvSpPr>
        <p:spPr bwMode="auto">
          <a:xfrm>
            <a:off x="2914650" y="3981450"/>
            <a:ext cx="365125" cy="339725"/>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a:t>
            </a:r>
          </a:p>
        </p:txBody>
      </p:sp>
      <p:sp>
        <p:nvSpPr>
          <p:cNvPr id="148505" name="Text Box 25" descr="TextBox 18">
            <a:extLst>
              <a:ext uri="{FF2B5EF4-FFF2-40B4-BE49-F238E27FC236}">
                <a16:creationId xmlns:a16="http://schemas.microsoft.com/office/drawing/2014/main" id="{9B629A49-185D-B222-170B-F2DEFB95E002}"/>
              </a:ext>
            </a:extLst>
          </p:cNvPr>
          <p:cNvSpPr txBox="1">
            <a:spLocks/>
          </p:cNvSpPr>
          <p:nvPr/>
        </p:nvSpPr>
        <p:spPr bwMode="auto">
          <a:xfrm>
            <a:off x="492125" y="4878388"/>
            <a:ext cx="1885950"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Consider first T2</a:t>
            </a:r>
          </a:p>
          <a:p>
            <a:r>
              <a:rPr lang="en-US" altLang="en-US" sz="1400"/>
              <a:t>Because indegree is</a:t>
            </a:r>
          </a:p>
          <a:p>
            <a:r>
              <a:rPr lang="en-US" altLang="en-US" sz="1400"/>
              <a:t>zero</a:t>
            </a:r>
          </a:p>
        </p:txBody>
      </p:sp>
      <p:sp>
        <p:nvSpPr>
          <p:cNvPr id="148506" name="AutoShape 26" descr="Right Arrow 47">
            <a:extLst>
              <a:ext uri="{FF2B5EF4-FFF2-40B4-BE49-F238E27FC236}">
                <a16:creationId xmlns:a16="http://schemas.microsoft.com/office/drawing/2014/main" id="{87B7AF7D-533D-143B-E700-751E394B614A}"/>
              </a:ext>
            </a:extLst>
          </p:cNvPr>
          <p:cNvSpPr>
            <a:spLocks/>
          </p:cNvSpPr>
          <p:nvPr/>
        </p:nvSpPr>
        <p:spPr bwMode="auto">
          <a:xfrm>
            <a:off x="5291138" y="3951288"/>
            <a:ext cx="504825" cy="338137"/>
          </a:xfrm>
          <a:prstGeom prst="rightArrow">
            <a:avLst>
              <a:gd name="adj1" fmla="val 50000"/>
              <a:gd name="adj2" fmla="val 50270"/>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507" name="Text Box 27" descr="TextBox 48">
            <a:extLst>
              <a:ext uri="{FF2B5EF4-FFF2-40B4-BE49-F238E27FC236}">
                <a16:creationId xmlns:a16="http://schemas.microsoft.com/office/drawing/2014/main" id="{071C082E-976E-6930-1FB5-626C01E02351}"/>
              </a:ext>
            </a:extLst>
          </p:cNvPr>
          <p:cNvSpPr txBox="1">
            <a:spLocks/>
          </p:cNvSpPr>
          <p:nvPr/>
        </p:nvSpPr>
        <p:spPr bwMode="auto">
          <a:xfrm>
            <a:off x="5795963" y="3933825"/>
            <a:ext cx="763587" cy="338138"/>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 T3</a:t>
            </a:r>
          </a:p>
        </p:txBody>
      </p:sp>
      <p:pic>
        <p:nvPicPr>
          <p:cNvPr id="148508" name="Picture 28" descr="Picture 2">
            <a:extLst>
              <a:ext uri="{FF2B5EF4-FFF2-40B4-BE49-F238E27FC236}">
                <a16:creationId xmlns:a16="http://schemas.microsoft.com/office/drawing/2014/main" id="{A2CDD79E-554B-05CC-19C2-AE357F3335A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808788" y="3522663"/>
            <a:ext cx="1866900" cy="1428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48509" name="Picture 29" descr="Picture 3">
            <a:extLst>
              <a:ext uri="{FF2B5EF4-FFF2-40B4-BE49-F238E27FC236}">
                <a16:creationId xmlns:a16="http://schemas.microsoft.com/office/drawing/2014/main" id="{2C64C3F5-1CBF-7FB0-5017-1D7348AD379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408363" y="3429000"/>
            <a:ext cx="1846262" cy="1412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48510" name="Picture 30" descr="Picture 4">
            <a:extLst>
              <a:ext uri="{FF2B5EF4-FFF2-40B4-BE49-F238E27FC236}">
                <a16:creationId xmlns:a16="http://schemas.microsoft.com/office/drawing/2014/main" id="{E7043AF6-0DED-0886-1E8F-6A3FF77896E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1488" y="3429000"/>
            <a:ext cx="1960562" cy="1500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48511" name="AutoShape 31" descr="Down Arrow 62">
            <a:extLst>
              <a:ext uri="{FF2B5EF4-FFF2-40B4-BE49-F238E27FC236}">
                <a16:creationId xmlns:a16="http://schemas.microsoft.com/office/drawing/2014/main" id="{EA631FD7-7DA2-3E3A-E970-77B3826C8AD7}"/>
              </a:ext>
            </a:extLst>
          </p:cNvPr>
          <p:cNvSpPr>
            <a:spLocks/>
          </p:cNvSpPr>
          <p:nvPr/>
        </p:nvSpPr>
        <p:spPr bwMode="auto">
          <a:xfrm>
            <a:off x="7639050" y="4951413"/>
            <a:ext cx="360363" cy="2968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lnTo>
                  <a:pt x="5400" y="10800"/>
                </a:lnTo>
                <a:lnTo>
                  <a:pt x="5400" y="0"/>
                </a:lnTo>
                <a:lnTo>
                  <a:pt x="16200" y="0"/>
                </a:lnTo>
                <a:lnTo>
                  <a:pt x="16200" y="10800"/>
                </a:lnTo>
                <a:lnTo>
                  <a:pt x="21600" y="10800"/>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512" name="Text Box 32" descr="TextBox 66">
            <a:extLst>
              <a:ext uri="{FF2B5EF4-FFF2-40B4-BE49-F238E27FC236}">
                <a16:creationId xmlns:a16="http://schemas.microsoft.com/office/drawing/2014/main" id="{FE5EF9B9-3D60-5564-76D6-DE06216025B4}"/>
              </a:ext>
            </a:extLst>
          </p:cNvPr>
          <p:cNvSpPr txBox="1">
            <a:spLocks/>
          </p:cNvSpPr>
          <p:nvPr/>
        </p:nvSpPr>
        <p:spPr bwMode="auto">
          <a:xfrm>
            <a:off x="7278688" y="5248275"/>
            <a:ext cx="1163637" cy="339725"/>
          </a:xfrm>
          <a:prstGeom prst="rect">
            <a:avLst/>
          </a:prstGeom>
          <a:noFill/>
          <a:ln w="6350"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T2, T3, T1</a:t>
            </a:r>
          </a:p>
        </p:txBody>
      </p:sp>
      <p:sp>
        <p:nvSpPr>
          <p:cNvPr id="148513" name="Line 33" descr="Straight Connector 64">
            <a:extLst>
              <a:ext uri="{FF2B5EF4-FFF2-40B4-BE49-F238E27FC236}">
                <a16:creationId xmlns:a16="http://schemas.microsoft.com/office/drawing/2014/main" id="{F2BDED6B-410C-B204-4B38-ABCA9E882C40}"/>
              </a:ext>
            </a:extLst>
          </p:cNvPr>
          <p:cNvSpPr>
            <a:spLocks noChangeShapeType="1"/>
          </p:cNvSpPr>
          <p:nvPr/>
        </p:nvSpPr>
        <p:spPr bwMode="auto">
          <a:xfrm flipV="1">
            <a:off x="7278688" y="4289425"/>
            <a:ext cx="123825" cy="230188"/>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48514" name="Text Box 34" descr="TextBox 65">
            <a:extLst>
              <a:ext uri="{FF2B5EF4-FFF2-40B4-BE49-F238E27FC236}">
                <a16:creationId xmlns:a16="http://schemas.microsoft.com/office/drawing/2014/main" id="{AF77206C-2F11-BCAE-85FB-60EB1E3E8136}"/>
              </a:ext>
            </a:extLst>
          </p:cNvPr>
          <p:cNvSpPr txBox="1">
            <a:spLocks/>
          </p:cNvSpPr>
          <p:nvPr/>
        </p:nvSpPr>
        <p:spPr bwMode="auto">
          <a:xfrm>
            <a:off x="827088" y="5724525"/>
            <a:ext cx="6854825" cy="582613"/>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Equivalent Serial Schedule is: T2, T3, T1</a:t>
            </a:r>
          </a:p>
          <a:p>
            <a:r>
              <a:rPr lang="en-US" altLang="en-US" sz="1600"/>
              <a:t>                                            R2(A), R3(A),W3(A), R1(A), W1(A)</a:t>
            </a:r>
          </a:p>
        </p:txBody>
      </p:sp>
    </p:spTree>
  </p:cSld>
  <p:clrMapOvr>
    <a:masterClrMapping/>
  </p:clrMapOvr>
  <p:transition spd="med"/>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2" descr="Title 1">
            <a:extLst>
              <a:ext uri="{FF2B5EF4-FFF2-40B4-BE49-F238E27FC236}">
                <a16:creationId xmlns:a16="http://schemas.microsoft.com/office/drawing/2014/main" id="{433EC70E-E076-6E02-7216-CDD19A0D39A6}"/>
              </a:ext>
            </a:extLst>
          </p:cNvPr>
          <p:cNvSpPr>
            <a:spLocks noChangeArrowheads="1"/>
          </p:cNvSpPr>
          <p:nvPr>
            <p:ph type="title"/>
          </p:nvPr>
        </p:nvSpPr>
        <p:spPr/>
        <p:txBody>
          <a:bodyPr/>
          <a:lstStyle/>
          <a:p>
            <a:r>
              <a:rPr lang="en-US" altLang="en-US">
                <a:solidFill>
                  <a:srgbClr val="FF0000"/>
                </a:solidFill>
              </a:rPr>
              <a:t>Problem To Solve</a:t>
            </a:r>
          </a:p>
        </p:txBody>
      </p:sp>
      <p:sp>
        <p:nvSpPr>
          <p:cNvPr id="149507" name="Rectangle 3" descr="Content Placeholder 2">
            <a:extLst>
              <a:ext uri="{FF2B5EF4-FFF2-40B4-BE49-F238E27FC236}">
                <a16:creationId xmlns:a16="http://schemas.microsoft.com/office/drawing/2014/main" id="{0708000C-01E4-18AB-9190-A364232CB50E}"/>
              </a:ext>
            </a:extLst>
          </p:cNvPr>
          <p:cNvSpPr>
            <a:spLocks noChangeArrowheads="1"/>
          </p:cNvSpPr>
          <p:nvPr>
            <p:ph type="body" idx="1"/>
          </p:nvPr>
        </p:nvSpPr>
        <p:spPr/>
        <p:txBody>
          <a:bodyPr/>
          <a:lstStyle/>
          <a:p>
            <a:pPr>
              <a:spcBef>
                <a:spcPts val="400"/>
              </a:spcBef>
            </a:pPr>
            <a:r>
              <a:rPr lang="en-US" altLang="en-US" sz="2000"/>
              <a:t>Construct precedence graph for the following schedule</a:t>
            </a:r>
          </a:p>
        </p:txBody>
      </p:sp>
      <p:sp>
        <p:nvSpPr>
          <p:cNvPr id="149508" name="Text Box 4" descr="Date Placeholder 3">
            <a:extLst>
              <a:ext uri="{FF2B5EF4-FFF2-40B4-BE49-F238E27FC236}">
                <a16:creationId xmlns:a16="http://schemas.microsoft.com/office/drawing/2014/main" id="{4D1E0BC4-3D9D-CE97-DD01-7D45E41BD4F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49509" name="Text Box 5" descr="Slide Number Placeholder 5">
            <a:extLst>
              <a:ext uri="{FF2B5EF4-FFF2-40B4-BE49-F238E27FC236}">
                <a16:creationId xmlns:a16="http://schemas.microsoft.com/office/drawing/2014/main" id="{59219F1B-3D2C-9CFF-03EE-28B3816E3D6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90046C2-A312-4927-B99D-33BCF39D58B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49510" name="Group 6">
            <a:extLst>
              <a:ext uri="{FF2B5EF4-FFF2-40B4-BE49-F238E27FC236}">
                <a16:creationId xmlns:a16="http://schemas.microsoft.com/office/drawing/2014/main" id="{E47A2FED-C0CD-232C-31D2-6D33D5DE7831}"/>
              </a:ext>
            </a:extLst>
          </p:cNvPr>
          <p:cNvGraphicFramePr>
            <a:graphicFrameLocks noGrp="1"/>
          </p:cNvGraphicFramePr>
          <p:nvPr/>
        </p:nvGraphicFramePr>
        <p:xfrm>
          <a:off x="900113" y="1925638"/>
          <a:ext cx="4033837" cy="1920875"/>
        </p:xfrm>
        <a:graphic>
          <a:graphicData uri="http://schemas.openxmlformats.org/drawingml/2006/table">
            <a:tbl>
              <a:tblPr/>
              <a:tblGrid>
                <a:gridCol w="1344612">
                  <a:extLst>
                    <a:ext uri="{9D8B030D-6E8A-4147-A177-3AD203B41FA5}">
                      <a16:colId xmlns:a16="http://schemas.microsoft.com/office/drawing/2014/main" val="2776910769"/>
                    </a:ext>
                  </a:extLst>
                </a:gridCol>
                <a:gridCol w="1344613">
                  <a:extLst>
                    <a:ext uri="{9D8B030D-6E8A-4147-A177-3AD203B41FA5}">
                      <a16:colId xmlns:a16="http://schemas.microsoft.com/office/drawing/2014/main" val="1271941202"/>
                    </a:ext>
                  </a:extLst>
                </a:gridCol>
                <a:gridCol w="1344612">
                  <a:extLst>
                    <a:ext uri="{9D8B030D-6E8A-4147-A177-3AD203B41FA5}">
                      <a16:colId xmlns:a16="http://schemas.microsoft.com/office/drawing/2014/main" val="420531123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312593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0569789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1414223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5483366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12414375"/>
                  </a:ext>
                </a:extLst>
              </a:tr>
            </a:tbl>
          </a:graphicData>
        </a:graphic>
      </p:graphicFrame>
      <p:sp>
        <p:nvSpPr>
          <p:cNvPr id="149564" name="Text Box 60" descr="TextBox 7">
            <a:extLst>
              <a:ext uri="{FF2B5EF4-FFF2-40B4-BE49-F238E27FC236}">
                <a16:creationId xmlns:a16="http://schemas.microsoft.com/office/drawing/2014/main" id="{034DF7F5-5C53-1916-8DB5-59D6EA014C91}"/>
              </a:ext>
            </a:extLst>
          </p:cNvPr>
          <p:cNvSpPr txBox="1">
            <a:spLocks/>
          </p:cNvSpPr>
          <p:nvPr/>
        </p:nvSpPr>
        <p:spPr bwMode="auto">
          <a:xfrm>
            <a:off x="1016000" y="1555750"/>
            <a:ext cx="152876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Tree>
  </p:cSld>
  <p:clrMapOvr>
    <a:masterClrMapping/>
  </p:clrMapOvr>
  <p:transition spd="med"/>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2" descr="Title 1">
            <a:extLst>
              <a:ext uri="{FF2B5EF4-FFF2-40B4-BE49-F238E27FC236}">
                <a16:creationId xmlns:a16="http://schemas.microsoft.com/office/drawing/2014/main" id="{82838A1A-C3CC-C42D-E967-B9B6F70ADBB3}"/>
              </a:ext>
            </a:extLst>
          </p:cNvPr>
          <p:cNvSpPr>
            <a:spLocks noChangeArrowheads="1"/>
          </p:cNvSpPr>
          <p:nvPr>
            <p:ph type="title"/>
          </p:nvPr>
        </p:nvSpPr>
        <p:spPr/>
        <p:txBody>
          <a:bodyPr/>
          <a:lstStyle/>
          <a:p>
            <a:r>
              <a:rPr lang="en-US" altLang="en-US">
                <a:solidFill>
                  <a:srgbClr val="FF0000"/>
                </a:solidFill>
              </a:rPr>
              <a:t>Problem To Solve</a:t>
            </a:r>
          </a:p>
        </p:txBody>
      </p:sp>
      <p:sp>
        <p:nvSpPr>
          <p:cNvPr id="150531" name="Rectangle 3" descr="Content Placeholder 2">
            <a:extLst>
              <a:ext uri="{FF2B5EF4-FFF2-40B4-BE49-F238E27FC236}">
                <a16:creationId xmlns:a16="http://schemas.microsoft.com/office/drawing/2014/main" id="{67924246-FDFD-47FC-1BB9-8122F37D5E6B}"/>
              </a:ext>
            </a:extLst>
          </p:cNvPr>
          <p:cNvSpPr>
            <a:spLocks noChangeArrowheads="1"/>
          </p:cNvSpPr>
          <p:nvPr>
            <p:ph type="body" idx="1"/>
          </p:nvPr>
        </p:nvSpPr>
        <p:spPr/>
        <p:txBody>
          <a:bodyPr/>
          <a:lstStyle/>
          <a:p>
            <a:pPr>
              <a:spcBef>
                <a:spcPts val="400"/>
              </a:spcBef>
            </a:pPr>
            <a:r>
              <a:rPr lang="en-US" altLang="en-US" sz="2000"/>
              <a:t>Construct precedence graph for the following schedule</a:t>
            </a:r>
          </a:p>
        </p:txBody>
      </p:sp>
      <p:sp>
        <p:nvSpPr>
          <p:cNvPr id="150532" name="Text Box 4" descr="Date Placeholder 3">
            <a:extLst>
              <a:ext uri="{FF2B5EF4-FFF2-40B4-BE49-F238E27FC236}">
                <a16:creationId xmlns:a16="http://schemas.microsoft.com/office/drawing/2014/main" id="{C4AE561D-3507-5A33-2B72-6206ADED78B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0533" name="Text Box 5" descr="Slide Number Placeholder 5">
            <a:extLst>
              <a:ext uri="{FF2B5EF4-FFF2-40B4-BE49-F238E27FC236}">
                <a16:creationId xmlns:a16="http://schemas.microsoft.com/office/drawing/2014/main" id="{5876A949-2059-E7F9-C687-D95B5685C5A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A9EFF75-D489-4A24-BB63-651069CB938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50534" name="Group 6">
            <a:extLst>
              <a:ext uri="{FF2B5EF4-FFF2-40B4-BE49-F238E27FC236}">
                <a16:creationId xmlns:a16="http://schemas.microsoft.com/office/drawing/2014/main" id="{90FE4805-2F2C-D97E-F338-FDE09F3AE762}"/>
              </a:ext>
            </a:extLst>
          </p:cNvPr>
          <p:cNvGraphicFramePr>
            <a:graphicFrameLocks noGrp="1"/>
          </p:cNvGraphicFramePr>
          <p:nvPr/>
        </p:nvGraphicFramePr>
        <p:xfrm>
          <a:off x="900113" y="1925638"/>
          <a:ext cx="4033837" cy="1920875"/>
        </p:xfrm>
        <a:graphic>
          <a:graphicData uri="http://schemas.openxmlformats.org/drawingml/2006/table">
            <a:tbl>
              <a:tblPr/>
              <a:tblGrid>
                <a:gridCol w="1344612">
                  <a:extLst>
                    <a:ext uri="{9D8B030D-6E8A-4147-A177-3AD203B41FA5}">
                      <a16:colId xmlns:a16="http://schemas.microsoft.com/office/drawing/2014/main" val="1798912830"/>
                    </a:ext>
                  </a:extLst>
                </a:gridCol>
                <a:gridCol w="1344613">
                  <a:extLst>
                    <a:ext uri="{9D8B030D-6E8A-4147-A177-3AD203B41FA5}">
                      <a16:colId xmlns:a16="http://schemas.microsoft.com/office/drawing/2014/main" val="2007015648"/>
                    </a:ext>
                  </a:extLst>
                </a:gridCol>
                <a:gridCol w="1344612">
                  <a:extLst>
                    <a:ext uri="{9D8B030D-6E8A-4147-A177-3AD203B41FA5}">
                      <a16:colId xmlns:a16="http://schemas.microsoft.com/office/drawing/2014/main" val="372341333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1704073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8840351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719467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3936972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6486888"/>
                  </a:ext>
                </a:extLst>
              </a:tr>
            </a:tbl>
          </a:graphicData>
        </a:graphic>
      </p:graphicFrame>
      <p:sp>
        <p:nvSpPr>
          <p:cNvPr id="150588" name="Text Box 60" descr="TextBox 7">
            <a:extLst>
              <a:ext uri="{FF2B5EF4-FFF2-40B4-BE49-F238E27FC236}">
                <a16:creationId xmlns:a16="http://schemas.microsoft.com/office/drawing/2014/main" id="{BD8AB932-72B7-95E1-C01B-B791302D41B1}"/>
              </a:ext>
            </a:extLst>
          </p:cNvPr>
          <p:cNvSpPr txBox="1">
            <a:spLocks/>
          </p:cNvSpPr>
          <p:nvPr/>
        </p:nvSpPr>
        <p:spPr bwMode="auto">
          <a:xfrm>
            <a:off x="1016000" y="1555750"/>
            <a:ext cx="152876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Schedule S1</a:t>
            </a:r>
          </a:p>
        </p:txBody>
      </p:sp>
      <p:sp>
        <p:nvSpPr>
          <p:cNvPr id="150589" name="Text Box 61" descr="TextBox 8">
            <a:extLst>
              <a:ext uri="{FF2B5EF4-FFF2-40B4-BE49-F238E27FC236}">
                <a16:creationId xmlns:a16="http://schemas.microsoft.com/office/drawing/2014/main" id="{D74E7A4B-3DB2-FC4A-A390-9574A36D317D}"/>
              </a:ext>
            </a:extLst>
          </p:cNvPr>
          <p:cNvSpPr txBox="1">
            <a:spLocks/>
          </p:cNvSpPr>
          <p:nvPr/>
        </p:nvSpPr>
        <p:spPr bwMode="auto">
          <a:xfrm>
            <a:off x="296863" y="4367213"/>
            <a:ext cx="5076825" cy="1489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Given: Three Transactions </a:t>
            </a:r>
          </a:p>
          <a:p>
            <a:r>
              <a:rPr lang="en-US" altLang="en-US"/>
              <a:t>T1 with operations Read(A), Write(A)</a:t>
            </a:r>
          </a:p>
          <a:p>
            <a:r>
              <a:rPr lang="en-US" altLang="en-US"/>
              <a:t>T2 with operations Read(A)</a:t>
            </a:r>
          </a:p>
          <a:p>
            <a:r>
              <a:rPr lang="en-US" altLang="en-US"/>
              <a:t>T3 with operations Write(A)</a:t>
            </a:r>
          </a:p>
          <a:p>
            <a:r>
              <a:rPr lang="en-US" altLang="en-US"/>
              <a:t>Schedule S1: R1(A), W2(A), W1(A), W3(A)</a:t>
            </a:r>
          </a:p>
        </p:txBody>
      </p:sp>
      <p:grpSp>
        <p:nvGrpSpPr>
          <p:cNvPr id="150590" name="Group 62">
            <a:extLst>
              <a:ext uri="{FF2B5EF4-FFF2-40B4-BE49-F238E27FC236}">
                <a16:creationId xmlns:a16="http://schemas.microsoft.com/office/drawing/2014/main" id="{55C4E81C-B3EE-C22E-F3B6-31900F5A531E}"/>
              </a:ext>
            </a:extLst>
          </p:cNvPr>
          <p:cNvGrpSpPr>
            <a:grpSpLocks/>
          </p:cNvGrpSpPr>
          <p:nvPr/>
        </p:nvGrpSpPr>
        <p:grpSpPr bwMode="auto">
          <a:xfrm>
            <a:off x="6400800" y="4219575"/>
            <a:ext cx="2346325" cy="1927225"/>
            <a:chOff x="0" y="-1"/>
            <a:chExt cx="2347472" cy="1927100"/>
          </a:xfrm>
        </p:grpSpPr>
        <p:grpSp>
          <p:nvGrpSpPr>
            <p:cNvPr id="150591" name="Group 63">
              <a:extLst>
                <a:ext uri="{FF2B5EF4-FFF2-40B4-BE49-F238E27FC236}">
                  <a16:creationId xmlns:a16="http://schemas.microsoft.com/office/drawing/2014/main" id="{77B152ED-A266-0661-F0C5-07744A79E50C}"/>
                </a:ext>
              </a:extLst>
            </p:cNvPr>
            <p:cNvGrpSpPr>
              <a:grpSpLocks/>
            </p:cNvGrpSpPr>
            <p:nvPr/>
          </p:nvGrpSpPr>
          <p:grpSpPr bwMode="auto">
            <a:xfrm>
              <a:off x="1627390" y="81300"/>
              <a:ext cx="720082" cy="739366"/>
              <a:chOff x="0" y="0"/>
              <a:chExt cx="720081" cy="739366"/>
            </a:xfrm>
          </p:grpSpPr>
          <p:sp>
            <p:nvSpPr>
              <p:cNvPr id="150592" name="Oval 64">
                <a:extLst>
                  <a:ext uri="{FF2B5EF4-FFF2-40B4-BE49-F238E27FC236}">
                    <a16:creationId xmlns:a16="http://schemas.microsoft.com/office/drawing/2014/main" id="{5C8A7F9E-87CD-D70B-FB9B-A7D47B25A8DB}"/>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50593" name="Text Box 65">
                <a:extLst>
                  <a:ext uri="{FF2B5EF4-FFF2-40B4-BE49-F238E27FC236}">
                    <a16:creationId xmlns:a16="http://schemas.microsoft.com/office/drawing/2014/main" id="{DC6B189B-4A34-2492-CBCD-BB9AC3BC7B8A}"/>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T2</a:t>
                </a:r>
              </a:p>
            </p:txBody>
          </p:sp>
        </p:grpSp>
        <p:grpSp>
          <p:nvGrpSpPr>
            <p:cNvPr id="150594" name="Group 66">
              <a:extLst>
                <a:ext uri="{FF2B5EF4-FFF2-40B4-BE49-F238E27FC236}">
                  <a16:creationId xmlns:a16="http://schemas.microsoft.com/office/drawing/2014/main" id="{9C0F060D-716E-327E-22A3-2383B07465C3}"/>
                </a:ext>
              </a:extLst>
            </p:cNvPr>
            <p:cNvGrpSpPr>
              <a:grpSpLocks/>
            </p:cNvGrpSpPr>
            <p:nvPr/>
          </p:nvGrpSpPr>
          <p:grpSpPr bwMode="auto">
            <a:xfrm>
              <a:off x="0" y="81300"/>
              <a:ext cx="720081" cy="739366"/>
              <a:chOff x="0" y="0"/>
              <a:chExt cx="720081" cy="739366"/>
            </a:xfrm>
          </p:grpSpPr>
          <p:sp>
            <p:nvSpPr>
              <p:cNvPr id="150595" name="Oval 67">
                <a:extLst>
                  <a:ext uri="{FF2B5EF4-FFF2-40B4-BE49-F238E27FC236}">
                    <a16:creationId xmlns:a16="http://schemas.microsoft.com/office/drawing/2014/main" id="{141B2793-DAD6-7D41-55E8-5AE5149D5EE7}"/>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50596" name="Text Box 68">
                <a:extLst>
                  <a:ext uri="{FF2B5EF4-FFF2-40B4-BE49-F238E27FC236}">
                    <a16:creationId xmlns:a16="http://schemas.microsoft.com/office/drawing/2014/main" id="{5C0D9B6A-C982-47D5-B232-CF9E51BF09AC}"/>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T1</a:t>
                </a:r>
              </a:p>
            </p:txBody>
          </p:sp>
        </p:grpSp>
        <p:grpSp>
          <p:nvGrpSpPr>
            <p:cNvPr id="150597" name="Group 69">
              <a:extLst>
                <a:ext uri="{FF2B5EF4-FFF2-40B4-BE49-F238E27FC236}">
                  <a16:creationId xmlns:a16="http://schemas.microsoft.com/office/drawing/2014/main" id="{1F2A6DFA-162D-7518-3A86-319837306C9A}"/>
                </a:ext>
              </a:extLst>
            </p:cNvPr>
            <p:cNvGrpSpPr>
              <a:grpSpLocks/>
            </p:cNvGrpSpPr>
            <p:nvPr/>
          </p:nvGrpSpPr>
          <p:grpSpPr bwMode="auto">
            <a:xfrm>
              <a:off x="900792" y="1187733"/>
              <a:ext cx="720082" cy="739366"/>
              <a:chOff x="0" y="0"/>
              <a:chExt cx="720081" cy="739366"/>
            </a:xfrm>
          </p:grpSpPr>
          <p:sp>
            <p:nvSpPr>
              <p:cNvPr id="150598" name="Oval 70">
                <a:extLst>
                  <a:ext uri="{FF2B5EF4-FFF2-40B4-BE49-F238E27FC236}">
                    <a16:creationId xmlns:a16="http://schemas.microsoft.com/office/drawing/2014/main" id="{0000FEAD-8BC0-3D38-9471-D9DE1B783F7D}"/>
                  </a:ext>
                </a:extLst>
              </p:cNvPr>
              <p:cNvSpPr>
                <a:spLocks/>
              </p:cNvSpPr>
              <p:nvPr/>
            </p:nvSpPr>
            <p:spPr bwMode="auto">
              <a:xfrm>
                <a:off x="0" y="0"/>
                <a:ext cx="720081" cy="576065"/>
              </a:xfrm>
              <a:prstGeom prst="ellipse">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50599" name="Text Box 71">
                <a:extLst>
                  <a:ext uri="{FF2B5EF4-FFF2-40B4-BE49-F238E27FC236}">
                    <a16:creationId xmlns:a16="http://schemas.microsoft.com/office/drawing/2014/main" id="{5E69F031-CF3B-592C-B629-D0C95661ED02}"/>
                  </a:ext>
                </a:extLst>
              </p:cNvPr>
              <p:cNvSpPr txBox="1">
                <a:spLocks/>
              </p:cNvSpPr>
              <p:nvPr/>
            </p:nvSpPr>
            <p:spPr bwMode="auto">
              <a:xfrm>
                <a:off x="155935" y="89125"/>
                <a:ext cx="408210" cy="650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b="1"/>
                  <a:t>T3</a:t>
                </a:r>
              </a:p>
            </p:txBody>
          </p:sp>
        </p:grpSp>
        <p:sp>
          <p:nvSpPr>
            <p:cNvPr id="150600" name="Line 72" descr="Straight Arrow Connector 13">
              <a:extLst>
                <a:ext uri="{FF2B5EF4-FFF2-40B4-BE49-F238E27FC236}">
                  <a16:creationId xmlns:a16="http://schemas.microsoft.com/office/drawing/2014/main" id="{669605F9-77B8-48B7-2EAE-EB0AD05017B6}"/>
                </a:ext>
              </a:extLst>
            </p:cNvPr>
            <p:cNvSpPr>
              <a:spLocks noChangeShapeType="1"/>
            </p:cNvSpPr>
            <p:nvPr/>
          </p:nvSpPr>
          <p:spPr bwMode="auto">
            <a:xfrm flipH="1" flipV="1">
              <a:off x="720080" y="369332"/>
              <a:ext cx="907312" cy="1"/>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50601" name="Line 73" descr="Straight Arrow Connector 14">
              <a:extLst>
                <a:ext uri="{FF2B5EF4-FFF2-40B4-BE49-F238E27FC236}">
                  <a16:creationId xmlns:a16="http://schemas.microsoft.com/office/drawing/2014/main" id="{18209229-DFEA-A60C-72D2-6BD7A5EB56DC}"/>
                </a:ext>
              </a:extLst>
            </p:cNvPr>
            <p:cNvSpPr>
              <a:spLocks noChangeShapeType="1"/>
            </p:cNvSpPr>
            <p:nvPr/>
          </p:nvSpPr>
          <p:spPr bwMode="auto">
            <a:xfrm flipH="1">
              <a:off x="1515420" y="657364"/>
              <a:ext cx="472012" cy="614733"/>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50602" name="Text Box 74" descr="TextBox 16">
              <a:extLst>
                <a:ext uri="{FF2B5EF4-FFF2-40B4-BE49-F238E27FC236}">
                  <a16:creationId xmlns:a16="http://schemas.microsoft.com/office/drawing/2014/main" id="{51E6753B-38B3-824D-0558-BA0A82FEB2E8}"/>
                </a:ext>
              </a:extLst>
            </p:cNvPr>
            <p:cNvSpPr txBox="1">
              <a:spLocks/>
            </p:cNvSpPr>
            <p:nvPr/>
          </p:nvSpPr>
          <p:spPr bwMode="auto">
            <a:xfrm>
              <a:off x="1097047" y="0"/>
              <a:ext cx="260410"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50603" name="Text Box 75" descr="TextBox 17">
              <a:extLst>
                <a:ext uri="{FF2B5EF4-FFF2-40B4-BE49-F238E27FC236}">
                  <a16:creationId xmlns:a16="http://schemas.microsoft.com/office/drawing/2014/main" id="{F5FDC0AD-0A83-882A-F905-AEFBB6774EC1}"/>
                </a:ext>
              </a:extLst>
            </p:cNvPr>
            <p:cNvSpPr txBox="1">
              <a:spLocks/>
            </p:cNvSpPr>
            <p:nvPr/>
          </p:nvSpPr>
          <p:spPr bwMode="auto">
            <a:xfrm>
              <a:off x="1862271" y="84828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50604" name="Text Box 76" descr="TextBox 18">
              <a:extLst>
                <a:ext uri="{FF2B5EF4-FFF2-40B4-BE49-F238E27FC236}">
                  <a16:creationId xmlns:a16="http://schemas.microsoft.com/office/drawing/2014/main" id="{52656403-BEE7-DC49-8197-7FCF9BBAE72E}"/>
                </a:ext>
              </a:extLst>
            </p:cNvPr>
            <p:cNvSpPr txBox="1">
              <a:spLocks/>
            </p:cNvSpPr>
            <p:nvPr/>
          </p:nvSpPr>
          <p:spPr bwMode="auto">
            <a:xfrm>
              <a:off x="472543" y="885559"/>
              <a:ext cx="26041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grpSp>
      <p:sp>
        <p:nvSpPr>
          <p:cNvPr id="150605" name="Line 77" descr="Straight Arrow Connector 22">
            <a:extLst>
              <a:ext uri="{FF2B5EF4-FFF2-40B4-BE49-F238E27FC236}">
                <a16:creationId xmlns:a16="http://schemas.microsoft.com/office/drawing/2014/main" id="{503D465A-86D4-7B57-D153-A9FEBEA71D7F}"/>
              </a:ext>
            </a:extLst>
          </p:cNvPr>
          <p:cNvSpPr>
            <a:spLocks noChangeShapeType="1"/>
          </p:cNvSpPr>
          <p:nvPr/>
        </p:nvSpPr>
        <p:spPr bwMode="auto">
          <a:xfrm>
            <a:off x="7015163" y="4792663"/>
            <a:ext cx="1117600" cy="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50606" name="Text Box 78" descr="TextBox 23">
            <a:extLst>
              <a:ext uri="{FF2B5EF4-FFF2-40B4-BE49-F238E27FC236}">
                <a16:creationId xmlns:a16="http://schemas.microsoft.com/office/drawing/2014/main" id="{E7885E6B-A27D-E1DD-0711-0F345A16091F}"/>
              </a:ext>
            </a:extLst>
          </p:cNvPr>
          <p:cNvSpPr txBox="1">
            <a:spLocks/>
          </p:cNvSpPr>
          <p:nvPr/>
        </p:nvSpPr>
        <p:spPr bwMode="auto">
          <a:xfrm>
            <a:off x="7527925" y="4699000"/>
            <a:ext cx="2603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A</a:t>
            </a:r>
          </a:p>
        </p:txBody>
      </p:sp>
      <p:sp>
        <p:nvSpPr>
          <p:cNvPr id="150607" name="Line 79" descr="Straight Arrow Connector 25">
            <a:extLst>
              <a:ext uri="{FF2B5EF4-FFF2-40B4-BE49-F238E27FC236}">
                <a16:creationId xmlns:a16="http://schemas.microsoft.com/office/drawing/2014/main" id="{ACE98FE2-E922-20FE-923E-561D118F0610}"/>
              </a:ext>
            </a:extLst>
          </p:cNvPr>
          <p:cNvSpPr>
            <a:spLocks noChangeShapeType="1"/>
          </p:cNvSpPr>
          <p:nvPr/>
        </p:nvSpPr>
        <p:spPr bwMode="auto">
          <a:xfrm>
            <a:off x="6931025" y="4883150"/>
            <a:ext cx="474663" cy="60960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2" descr="Title 1">
            <a:extLst>
              <a:ext uri="{FF2B5EF4-FFF2-40B4-BE49-F238E27FC236}">
                <a16:creationId xmlns:a16="http://schemas.microsoft.com/office/drawing/2014/main" id="{115C5E83-4EE1-CF12-5B61-EB1BC676EB46}"/>
              </a:ext>
            </a:extLst>
          </p:cNvPr>
          <p:cNvSpPr>
            <a:spLocks noChangeArrowheads="1"/>
          </p:cNvSpPr>
          <p:nvPr>
            <p:ph type="title"/>
          </p:nvPr>
        </p:nvSpPr>
        <p:spPr/>
        <p:txBody>
          <a:bodyPr/>
          <a:lstStyle/>
          <a:p>
            <a:r>
              <a:rPr lang="en-US" altLang="en-US">
                <a:solidFill>
                  <a:srgbClr val="FF0000"/>
                </a:solidFill>
              </a:rPr>
              <a:t>Problem to Solve </a:t>
            </a:r>
          </a:p>
        </p:txBody>
      </p:sp>
      <p:sp>
        <p:nvSpPr>
          <p:cNvPr id="151555" name="Rectangle 3" descr="Content Placeholder 2">
            <a:extLst>
              <a:ext uri="{FF2B5EF4-FFF2-40B4-BE49-F238E27FC236}">
                <a16:creationId xmlns:a16="http://schemas.microsoft.com/office/drawing/2014/main" id="{F106C735-08C8-66C7-224E-5C9DF7A15517}"/>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Which of the following schedules is (conflict) serializable? For each serializable schedule, determine the equivalent serial schedules.</a:t>
            </a:r>
          </a:p>
          <a:p>
            <a:pPr marL="0" indent="0">
              <a:spcBef>
                <a:spcPts val="300"/>
              </a:spcBef>
              <a:buSzTx/>
              <a:buFont typeface="Wingdings" panose="05000000000000000000" pitchFamily="2" charset="2"/>
              <a:buNone/>
            </a:pPr>
            <a:r>
              <a:rPr lang="en-US" altLang="en-US" sz="1600"/>
              <a:t>(a) r1 (X); r3 (X); w1(X); r2(X); w3(X)</a:t>
            </a:r>
          </a:p>
          <a:p>
            <a:pPr marL="0" indent="0">
              <a:spcBef>
                <a:spcPts val="300"/>
              </a:spcBef>
              <a:buSzTx/>
              <a:buFont typeface="Wingdings" panose="05000000000000000000" pitchFamily="2" charset="2"/>
              <a:buNone/>
            </a:pPr>
            <a:r>
              <a:rPr lang="en-US" altLang="en-US" sz="1600"/>
              <a:t>(b) r1 (X); r3 (X); w3(X); w1(X); r2(X)</a:t>
            </a:r>
          </a:p>
          <a:p>
            <a:pPr marL="0" indent="0">
              <a:spcBef>
                <a:spcPts val="300"/>
              </a:spcBef>
              <a:buSzTx/>
              <a:buFont typeface="Wingdings" panose="05000000000000000000" pitchFamily="2" charset="2"/>
              <a:buNone/>
            </a:pPr>
            <a:r>
              <a:rPr lang="en-US" altLang="en-US" sz="1600"/>
              <a:t>(c) r3 (X); r2 (X); w3(X); r1(X); w1(X)</a:t>
            </a:r>
          </a:p>
          <a:p>
            <a:pPr marL="0" indent="0">
              <a:spcBef>
                <a:spcPts val="300"/>
              </a:spcBef>
              <a:buSzTx/>
              <a:buFont typeface="Wingdings" panose="05000000000000000000" pitchFamily="2" charset="2"/>
              <a:buNone/>
            </a:pPr>
            <a:r>
              <a:rPr lang="en-US" altLang="en-US" sz="1600"/>
              <a:t>(d) r3 (X); r2 (X); r1(X); w3(X); w1(X)</a:t>
            </a:r>
          </a:p>
        </p:txBody>
      </p:sp>
      <p:sp>
        <p:nvSpPr>
          <p:cNvPr id="151556" name="Text Box 4" descr="Date Placeholder 3">
            <a:extLst>
              <a:ext uri="{FF2B5EF4-FFF2-40B4-BE49-F238E27FC236}">
                <a16:creationId xmlns:a16="http://schemas.microsoft.com/office/drawing/2014/main" id="{6C3C4F3D-BD9B-47C7-97EF-490B7BA9DCD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1557" name="Text Box 5" descr="Slide Number Placeholder 5">
            <a:extLst>
              <a:ext uri="{FF2B5EF4-FFF2-40B4-BE49-F238E27FC236}">
                <a16:creationId xmlns:a16="http://schemas.microsoft.com/office/drawing/2014/main" id="{95EBF0E3-DB98-013B-07FA-BE165368676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88EBAA9-E979-4256-A327-8F15922C2A5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descr="Title 1">
            <a:extLst>
              <a:ext uri="{FF2B5EF4-FFF2-40B4-BE49-F238E27FC236}">
                <a16:creationId xmlns:a16="http://schemas.microsoft.com/office/drawing/2014/main" id="{7E38BD06-837C-9BD7-740C-F2CEDC668311}"/>
              </a:ext>
            </a:extLst>
          </p:cNvPr>
          <p:cNvSpPr>
            <a:spLocks noChangeArrowheads="1"/>
          </p:cNvSpPr>
          <p:nvPr>
            <p:ph type="title"/>
          </p:nvPr>
        </p:nvSpPr>
        <p:spPr/>
        <p:txBody>
          <a:bodyPr/>
          <a:lstStyle/>
          <a:p>
            <a:r>
              <a:rPr lang="en-US" altLang="en-US">
                <a:solidFill>
                  <a:srgbClr val="002060"/>
                </a:solidFill>
              </a:rPr>
              <a:t>Solution</a:t>
            </a:r>
          </a:p>
        </p:txBody>
      </p:sp>
      <p:sp>
        <p:nvSpPr>
          <p:cNvPr id="152579" name="Rectangle 3" descr="Content Placeholder 2">
            <a:extLst>
              <a:ext uri="{FF2B5EF4-FFF2-40B4-BE49-F238E27FC236}">
                <a16:creationId xmlns:a16="http://schemas.microsoft.com/office/drawing/2014/main" id="{0F02C9FB-0CEA-F4EE-4B30-30268D4AC89F}"/>
              </a:ext>
            </a:extLst>
          </p:cNvPr>
          <p:cNvSpPr>
            <a:spLocks noChangeArrowheads="1"/>
          </p:cNvSpPr>
          <p:nvPr>
            <p:ph type="body" idx="1"/>
          </p:nvPr>
        </p:nvSpPr>
        <p:spPr/>
        <p:txBody>
          <a:bodyPr/>
          <a:lstStyle/>
          <a:p>
            <a:pPr marL="0" indent="0">
              <a:buSzTx/>
              <a:buFont typeface="Wingdings" panose="05000000000000000000" pitchFamily="2" charset="2"/>
              <a:buNone/>
            </a:pPr>
            <a:endParaRPr lang="en-US" altLang="en-US" sz="1600"/>
          </a:p>
        </p:txBody>
      </p:sp>
      <p:sp>
        <p:nvSpPr>
          <p:cNvPr id="152580" name="Text Box 4" descr="Date Placeholder 3">
            <a:extLst>
              <a:ext uri="{FF2B5EF4-FFF2-40B4-BE49-F238E27FC236}">
                <a16:creationId xmlns:a16="http://schemas.microsoft.com/office/drawing/2014/main" id="{B1A322FC-9DEA-C03B-1426-B5B40DAB406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2581" name="Text Box 5" descr="Slide Number Placeholder 5">
            <a:extLst>
              <a:ext uri="{FF2B5EF4-FFF2-40B4-BE49-F238E27FC236}">
                <a16:creationId xmlns:a16="http://schemas.microsoft.com/office/drawing/2014/main" id="{86FD9255-7563-D6AE-5163-C0E42A75CF2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BF818C5-DBBA-4AF8-89DE-78CC607859D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52582" name="Picture 6" descr="Picture 2">
            <a:extLst>
              <a:ext uri="{FF2B5EF4-FFF2-40B4-BE49-F238E27FC236}">
                <a16:creationId xmlns:a16="http://schemas.microsoft.com/office/drawing/2014/main" id="{B24DC764-4343-75E5-E50F-DC6AB0077DE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27088" y="1628775"/>
            <a:ext cx="3240087" cy="46085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52583" name="Picture 7" descr="Picture 3">
            <a:extLst>
              <a:ext uri="{FF2B5EF4-FFF2-40B4-BE49-F238E27FC236}">
                <a16:creationId xmlns:a16="http://schemas.microsoft.com/office/drawing/2014/main" id="{A256AC37-2FC9-D240-8CA5-DB69C4D36F8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27538" y="1217613"/>
            <a:ext cx="4105275" cy="2211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52584" name="Picture 8" descr="Picture 2">
            <a:extLst>
              <a:ext uri="{FF2B5EF4-FFF2-40B4-BE49-F238E27FC236}">
                <a16:creationId xmlns:a16="http://schemas.microsoft.com/office/drawing/2014/main" id="{8BC1F872-0E25-A8AA-5CCE-2DE3A133D548}"/>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884738" y="3944938"/>
            <a:ext cx="3211512" cy="528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52585" name="Picture 9" descr="Picture 3">
            <a:extLst>
              <a:ext uri="{FF2B5EF4-FFF2-40B4-BE49-F238E27FC236}">
                <a16:creationId xmlns:a16="http://schemas.microsoft.com/office/drawing/2014/main" id="{C6410EE5-BB0C-3AB3-C51C-66D7CDA6099F}"/>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157788" y="4460875"/>
            <a:ext cx="2509837" cy="17764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2" descr="Title 1">
            <a:extLst>
              <a:ext uri="{FF2B5EF4-FFF2-40B4-BE49-F238E27FC236}">
                <a16:creationId xmlns:a16="http://schemas.microsoft.com/office/drawing/2014/main" id="{3C7B955A-03DC-BF24-29F3-EA21D04B3513}"/>
              </a:ext>
            </a:extLst>
          </p:cNvPr>
          <p:cNvSpPr>
            <a:spLocks noChangeArrowheads="1"/>
          </p:cNvSpPr>
          <p:nvPr>
            <p:ph type="title"/>
          </p:nvPr>
        </p:nvSpPr>
        <p:spPr/>
        <p:txBody>
          <a:bodyPr/>
          <a:lstStyle/>
          <a:p>
            <a:r>
              <a:rPr lang="en-US" altLang="en-US">
                <a:solidFill>
                  <a:srgbClr val="FF0000"/>
                </a:solidFill>
              </a:rPr>
              <a:t>Problem to Solve</a:t>
            </a:r>
          </a:p>
        </p:txBody>
      </p:sp>
      <p:sp>
        <p:nvSpPr>
          <p:cNvPr id="153603" name="Rectangle 3" descr="Content Placeholder 2">
            <a:extLst>
              <a:ext uri="{FF2B5EF4-FFF2-40B4-BE49-F238E27FC236}">
                <a16:creationId xmlns:a16="http://schemas.microsoft.com/office/drawing/2014/main" id="{F63650F6-3CD5-6925-EC44-7FE08FF69DBB}"/>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Consider the three transactions T1, T2, and T3, and the schedules S1 and S2 given below. Draw the serializibility (precedence) graphs for S1 and S2 and state whether each schedule is serializable or not. If a schedule is serializable, write down the equivalent serial schedule(s).</a:t>
            </a:r>
          </a:p>
          <a:p>
            <a:pPr marL="0" indent="0">
              <a:spcBef>
                <a:spcPts val="300"/>
              </a:spcBef>
              <a:buSzTx/>
              <a:buFont typeface="Wingdings" panose="05000000000000000000" pitchFamily="2" charset="2"/>
              <a:buNone/>
            </a:pPr>
            <a:r>
              <a:rPr lang="en-US" altLang="en-US" sz="1600"/>
              <a:t>T1: r1(x); r1(z); w1(x)</a:t>
            </a:r>
          </a:p>
          <a:p>
            <a:pPr marL="0" indent="0">
              <a:spcBef>
                <a:spcPts val="300"/>
              </a:spcBef>
              <a:buSzTx/>
              <a:buFont typeface="Wingdings" panose="05000000000000000000" pitchFamily="2" charset="2"/>
              <a:buNone/>
            </a:pPr>
            <a:r>
              <a:rPr lang="en-US" altLang="en-US" sz="1600"/>
              <a:t>T2: r2(z); r2(y); w2(z); w2(y)</a:t>
            </a:r>
          </a:p>
          <a:p>
            <a:pPr marL="0" indent="0">
              <a:spcBef>
                <a:spcPts val="300"/>
              </a:spcBef>
              <a:buSzTx/>
              <a:buFont typeface="Wingdings" panose="05000000000000000000" pitchFamily="2" charset="2"/>
              <a:buNone/>
            </a:pPr>
            <a:r>
              <a:rPr lang="en-US" altLang="en-US" sz="1600"/>
              <a:t>T3: r3(x); r3(y); w3(y)</a:t>
            </a:r>
          </a:p>
          <a:p>
            <a:pPr marL="0" indent="0">
              <a:spcBef>
                <a:spcPts val="300"/>
              </a:spcBef>
              <a:buSzTx/>
              <a:buFont typeface="Wingdings" panose="05000000000000000000" pitchFamily="2" charset="2"/>
              <a:buNone/>
            </a:pPr>
            <a:r>
              <a:rPr lang="en-US" altLang="en-US" sz="1600"/>
              <a:t>S1: r1(x); r2(z); r1(z); r3(x); r3(y); w1(x); w3(y); r2(y); w2(z); w2(y)</a:t>
            </a:r>
          </a:p>
          <a:p>
            <a:pPr marL="0" indent="0">
              <a:spcBef>
                <a:spcPts val="300"/>
              </a:spcBef>
              <a:buSzTx/>
              <a:buFont typeface="Wingdings" panose="05000000000000000000" pitchFamily="2" charset="2"/>
              <a:buNone/>
            </a:pPr>
            <a:r>
              <a:rPr lang="en-US" altLang="en-US" sz="1600"/>
              <a:t>S2: r1(x); r2(z); r3(x); r1(z); r2(y); r3(y); w1(x); w2(z); w3(y); w2(y)</a:t>
            </a:r>
          </a:p>
        </p:txBody>
      </p:sp>
      <p:sp>
        <p:nvSpPr>
          <p:cNvPr id="153604" name="Text Box 4" descr="Date Placeholder 3">
            <a:extLst>
              <a:ext uri="{FF2B5EF4-FFF2-40B4-BE49-F238E27FC236}">
                <a16:creationId xmlns:a16="http://schemas.microsoft.com/office/drawing/2014/main" id="{E9AA6245-6745-16A4-F391-0BE8B05FAB2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3605" name="Text Box 5" descr="Slide Number Placeholder 5">
            <a:extLst>
              <a:ext uri="{FF2B5EF4-FFF2-40B4-BE49-F238E27FC236}">
                <a16:creationId xmlns:a16="http://schemas.microsoft.com/office/drawing/2014/main" id="{E0729C1F-4A7F-786A-FC65-1D55A559552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56D5F1A-B5E0-4CD9-9956-92899D37DC8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descr="Title 1">
            <a:extLst>
              <a:ext uri="{FF2B5EF4-FFF2-40B4-BE49-F238E27FC236}">
                <a16:creationId xmlns:a16="http://schemas.microsoft.com/office/drawing/2014/main" id="{8A928F57-DB87-8FF7-819A-3BBB6217DCFD}"/>
              </a:ext>
            </a:extLst>
          </p:cNvPr>
          <p:cNvSpPr>
            <a:spLocks noChangeArrowheads="1"/>
          </p:cNvSpPr>
          <p:nvPr>
            <p:ph type="title"/>
          </p:nvPr>
        </p:nvSpPr>
        <p:spPr/>
        <p:txBody>
          <a:bodyPr/>
          <a:lstStyle/>
          <a:p>
            <a:r>
              <a:rPr lang="en-US" altLang="en-US">
                <a:solidFill>
                  <a:srgbClr val="002060"/>
                </a:solidFill>
              </a:rPr>
              <a:t>Solution</a:t>
            </a:r>
          </a:p>
        </p:txBody>
      </p:sp>
      <p:sp>
        <p:nvSpPr>
          <p:cNvPr id="154627" name="Rectangle 3" descr="Content Placeholder 2">
            <a:extLst>
              <a:ext uri="{FF2B5EF4-FFF2-40B4-BE49-F238E27FC236}">
                <a16:creationId xmlns:a16="http://schemas.microsoft.com/office/drawing/2014/main" id="{E46F47A7-9F88-F242-FC84-60B0FD2BBAED}"/>
              </a:ext>
            </a:extLst>
          </p:cNvPr>
          <p:cNvSpPr>
            <a:spLocks noChangeArrowheads="1"/>
          </p:cNvSpPr>
          <p:nvPr>
            <p:ph type="body" idx="1"/>
          </p:nvPr>
        </p:nvSpPr>
        <p:spPr/>
        <p:txBody>
          <a:bodyPr/>
          <a:lstStyle/>
          <a:p>
            <a:endParaRPr lang="en-US" altLang="en-US"/>
          </a:p>
        </p:txBody>
      </p:sp>
      <p:sp>
        <p:nvSpPr>
          <p:cNvPr id="154628" name="Text Box 4" descr="Date Placeholder 3">
            <a:extLst>
              <a:ext uri="{FF2B5EF4-FFF2-40B4-BE49-F238E27FC236}">
                <a16:creationId xmlns:a16="http://schemas.microsoft.com/office/drawing/2014/main" id="{5FC58904-DA49-CDF6-0802-B15B6963EDC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4629" name="Text Box 5" descr="Slide Number Placeholder 5">
            <a:extLst>
              <a:ext uri="{FF2B5EF4-FFF2-40B4-BE49-F238E27FC236}">
                <a16:creationId xmlns:a16="http://schemas.microsoft.com/office/drawing/2014/main" id="{6BB65B12-C3AD-A70C-0C2C-379CA222E32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A391390-D032-4C56-B9B7-369B7CC84FA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54630" name="Picture 6" descr="Picture 2">
            <a:extLst>
              <a:ext uri="{FF2B5EF4-FFF2-40B4-BE49-F238E27FC236}">
                <a16:creationId xmlns:a16="http://schemas.microsoft.com/office/drawing/2014/main" id="{FD0E6331-BEC0-F98D-4929-C6E4D546587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1547813"/>
            <a:ext cx="4621213" cy="4440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2" descr="Rectangle 2">
            <a:extLst>
              <a:ext uri="{FF2B5EF4-FFF2-40B4-BE49-F238E27FC236}">
                <a16:creationId xmlns:a16="http://schemas.microsoft.com/office/drawing/2014/main" id="{A56F7D4B-E100-E363-3340-88217A26F9E1}"/>
              </a:ext>
            </a:extLst>
          </p:cNvPr>
          <p:cNvSpPr>
            <a:spLocks noChangeArrowheads="1"/>
          </p:cNvSpPr>
          <p:nvPr>
            <p:ph type="title"/>
          </p:nvPr>
        </p:nvSpPr>
        <p:spPr/>
        <p:txBody>
          <a:bodyPr/>
          <a:lstStyle/>
          <a:p>
            <a:r>
              <a:rPr lang="en-US" altLang="en-US" sz="2000"/>
              <a:t>What you have learned until now in Unit4:Transactions</a:t>
            </a:r>
          </a:p>
        </p:txBody>
      </p:sp>
      <p:sp>
        <p:nvSpPr>
          <p:cNvPr id="155651" name="Rectangle 3" descr="Rectangle 3">
            <a:extLst>
              <a:ext uri="{FF2B5EF4-FFF2-40B4-BE49-F238E27FC236}">
                <a16:creationId xmlns:a16="http://schemas.microsoft.com/office/drawing/2014/main" id="{E6E76DE5-551E-649D-6D7C-D6C5810D8348}"/>
              </a:ext>
            </a:extLst>
          </p:cNvPr>
          <p:cNvSpPr>
            <a:spLocks noChangeArrowheads="1"/>
          </p:cNvSpPr>
          <p:nvPr>
            <p:ph type="body" sz="half" idx="1"/>
          </p:nvPr>
        </p:nvSpPr>
        <p:spPr>
          <a:xfrm>
            <a:off x="457200" y="3200400"/>
            <a:ext cx="8382000" cy="1600200"/>
          </a:xfrm>
        </p:spPr>
        <p:txBody>
          <a:bodyPr/>
          <a:lstStyle/>
          <a:p>
            <a:pPr marL="0" indent="0">
              <a:lnSpc>
                <a:spcPct val="80000"/>
              </a:lnSpc>
              <a:spcBef>
                <a:spcPts val="300"/>
              </a:spcBef>
              <a:buClrTx/>
              <a:buSzTx/>
              <a:buFontTx/>
              <a:buNone/>
            </a:pPr>
            <a:r>
              <a:rPr lang="en-US" altLang="en-US" sz="1400"/>
              <a:t>Serial Schedule</a:t>
            </a:r>
          </a:p>
          <a:p>
            <a:pPr marL="0" indent="0">
              <a:lnSpc>
                <a:spcPct val="80000"/>
              </a:lnSpc>
              <a:spcBef>
                <a:spcPts val="300"/>
              </a:spcBef>
              <a:buClrTx/>
              <a:buSzTx/>
              <a:buFontTx/>
              <a:buNone/>
            </a:pPr>
            <a:r>
              <a:rPr lang="en-US" altLang="en-US" sz="1400"/>
              <a:t>Serializable Schedule</a:t>
            </a:r>
          </a:p>
          <a:p>
            <a:pPr marL="0" indent="0">
              <a:lnSpc>
                <a:spcPct val="80000"/>
              </a:lnSpc>
              <a:spcBef>
                <a:spcPts val="300"/>
              </a:spcBef>
              <a:buClrTx/>
              <a:buSzTx/>
              <a:buFontTx/>
              <a:buNone/>
            </a:pPr>
            <a:r>
              <a:rPr lang="en-US" altLang="en-US" sz="1400"/>
              <a:t>Conflict Serializable Schedule (CS)</a:t>
            </a:r>
          </a:p>
          <a:p>
            <a:pPr marL="0" indent="0">
              <a:lnSpc>
                <a:spcPct val="80000"/>
              </a:lnSpc>
              <a:spcBef>
                <a:spcPts val="300"/>
              </a:spcBef>
              <a:buClrTx/>
              <a:buSzTx/>
              <a:buFontTx/>
              <a:buNone/>
            </a:pPr>
            <a:r>
              <a:rPr lang="en-US" altLang="en-US" sz="1400"/>
              <a:t>                       - Algorithm for testing CS and Converting to Serial Schedule</a:t>
            </a:r>
          </a:p>
        </p:txBody>
      </p:sp>
      <p:sp>
        <p:nvSpPr>
          <p:cNvPr id="155652" name="Text Box 4" descr="Date Placeholder 1">
            <a:extLst>
              <a:ext uri="{FF2B5EF4-FFF2-40B4-BE49-F238E27FC236}">
                <a16:creationId xmlns:a16="http://schemas.microsoft.com/office/drawing/2014/main" id="{417FFC13-76C0-39D8-91CF-A0BC3FF72AE4}"/>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5653" name="Text Box 5" descr="Slide Number Placeholder 2">
            <a:extLst>
              <a:ext uri="{FF2B5EF4-FFF2-40B4-BE49-F238E27FC236}">
                <a16:creationId xmlns:a16="http://schemas.microsoft.com/office/drawing/2014/main" id="{4D67F35B-38EA-D00F-EA5B-FCA64B263EE2}"/>
              </a:ext>
            </a:extLst>
          </p:cNvPr>
          <p:cNvSpPr txBox="1">
            <a:spLocks/>
          </p:cNvSpPr>
          <p:nvPr/>
        </p:nvSpPr>
        <p:spPr bwMode="auto">
          <a:xfrm>
            <a:off x="8099425" y="6248400"/>
            <a:ext cx="35877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FC8B20F-8C6D-40B7-8BD6-C217CE747E0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descr="Title 1">
            <a:extLst>
              <a:ext uri="{FF2B5EF4-FFF2-40B4-BE49-F238E27FC236}">
                <a16:creationId xmlns:a16="http://schemas.microsoft.com/office/drawing/2014/main" id="{B7B31177-9D6F-7677-A8FA-910E8267654D}"/>
              </a:ext>
            </a:extLst>
          </p:cNvPr>
          <p:cNvSpPr>
            <a:spLocks noChangeArrowheads="1"/>
          </p:cNvSpPr>
          <p:nvPr>
            <p:ph type="title"/>
          </p:nvPr>
        </p:nvSpPr>
        <p:spPr/>
        <p:txBody>
          <a:bodyPr/>
          <a:lstStyle/>
          <a:p>
            <a:r>
              <a:rPr lang="en-US" altLang="en-US" sz="2400"/>
              <a:t>Characterizing Schedules based on Serializibility</a:t>
            </a:r>
          </a:p>
        </p:txBody>
      </p:sp>
      <p:sp>
        <p:nvSpPr>
          <p:cNvPr id="156675" name="Rectangle 3" descr="Content Placeholder 2">
            <a:extLst>
              <a:ext uri="{FF2B5EF4-FFF2-40B4-BE49-F238E27FC236}">
                <a16:creationId xmlns:a16="http://schemas.microsoft.com/office/drawing/2014/main" id="{EDF89070-FFF4-F644-30AC-98EB485C92C1}"/>
              </a:ext>
            </a:extLst>
          </p:cNvPr>
          <p:cNvSpPr>
            <a:spLocks noChangeArrowheads="1"/>
          </p:cNvSpPr>
          <p:nvPr>
            <p:ph type="body" idx="1"/>
          </p:nvPr>
        </p:nvSpPr>
        <p:spPr/>
        <p:txBody>
          <a:bodyPr/>
          <a:lstStyle/>
          <a:p>
            <a:pPr marL="228600" indent="-228600">
              <a:spcBef>
                <a:spcPts val="400"/>
              </a:spcBef>
              <a:buSzTx/>
              <a:buFont typeface="Wingdings" panose="05000000000000000000" pitchFamily="2" charset="2"/>
              <a:buNone/>
            </a:pPr>
            <a:r>
              <a:rPr lang="en-US" altLang="en-US" sz="2000"/>
              <a:t>Based on Serializability </a:t>
            </a:r>
          </a:p>
          <a:p>
            <a:pPr marL="228600" indent="-228600">
              <a:spcBef>
                <a:spcPts val="400"/>
              </a:spcBef>
              <a:buFontTx/>
              <a:buAutoNum type="arabicPeriod"/>
            </a:pPr>
            <a:r>
              <a:rPr lang="en-US" altLang="en-US" sz="2000"/>
              <a:t>Conflict Serializable Schedule </a:t>
            </a:r>
          </a:p>
          <a:p>
            <a:pPr marL="228600" indent="-228600">
              <a:spcBef>
                <a:spcPts val="400"/>
              </a:spcBef>
              <a:buFontTx/>
              <a:buAutoNum type="arabicPeriod"/>
            </a:pPr>
            <a:r>
              <a:rPr lang="en-US" altLang="en-US" sz="2000" b="1"/>
              <a:t>View Serializable Schedule</a:t>
            </a:r>
          </a:p>
        </p:txBody>
      </p:sp>
      <p:sp>
        <p:nvSpPr>
          <p:cNvPr id="156676" name="Text Box 4" descr="Date Placeholder 3">
            <a:extLst>
              <a:ext uri="{FF2B5EF4-FFF2-40B4-BE49-F238E27FC236}">
                <a16:creationId xmlns:a16="http://schemas.microsoft.com/office/drawing/2014/main" id="{477363CC-1ED2-FDDE-F720-5FAA751F5E4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6677" name="Text Box 5" descr="Slide Number Placeholder 5">
            <a:extLst>
              <a:ext uri="{FF2B5EF4-FFF2-40B4-BE49-F238E27FC236}">
                <a16:creationId xmlns:a16="http://schemas.microsoft.com/office/drawing/2014/main" id="{4B6B13D6-7BFF-52E0-9F2D-7B48B05EB7C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FF79AED-53B6-42B5-88FE-729504EF2D0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2" descr="Title 1">
            <a:extLst>
              <a:ext uri="{FF2B5EF4-FFF2-40B4-BE49-F238E27FC236}">
                <a16:creationId xmlns:a16="http://schemas.microsoft.com/office/drawing/2014/main" id="{2E211EBC-CDA3-B865-D746-6E1DF215D7E1}"/>
              </a:ext>
            </a:extLst>
          </p:cNvPr>
          <p:cNvSpPr>
            <a:spLocks noChangeArrowheads="1"/>
          </p:cNvSpPr>
          <p:nvPr>
            <p:ph type="title"/>
          </p:nvPr>
        </p:nvSpPr>
        <p:spPr/>
        <p:txBody>
          <a:bodyPr/>
          <a:lstStyle/>
          <a:p>
            <a:r>
              <a:rPr lang="en-US" altLang="en-US"/>
              <a:t>View Serializability Schedule</a:t>
            </a:r>
          </a:p>
        </p:txBody>
      </p:sp>
      <p:sp>
        <p:nvSpPr>
          <p:cNvPr id="157699" name="Rectangle 3" descr="Content Placeholder 2">
            <a:extLst>
              <a:ext uri="{FF2B5EF4-FFF2-40B4-BE49-F238E27FC236}">
                <a16:creationId xmlns:a16="http://schemas.microsoft.com/office/drawing/2014/main" id="{AEEB2E8A-991B-E9B5-6E6B-DB087A6ACF90}"/>
              </a:ext>
            </a:extLst>
          </p:cNvPr>
          <p:cNvSpPr>
            <a:spLocks noChangeArrowheads="1"/>
          </p:cNvSpPr>
          <p:nvPr>
            <p:ph type="body" idx="1"/>
          </p:nvPr>
        </p:nvSpPr>
        <p:spPr/>
        <p:txBody>
          <a:bodyPr/>
          <a:lstStyle/>
          <a:p>
            <a:pPr>
              <a:spcBef>
                <a:spcPts val="400"/>
              </a:spcBef>
            </a:pPr>
            <a:r>
              <a:rPr lang="en-US" altLang="en-US" sz="2000"/>
              <a:t>A Schedule is View Serializable if it is </a:t>
            </a:r>
            <a:r>
              <a:rPr lang="en-US" altLang="en-US" sz="2000" b="1"/>
              <a:t>view equivalent </a:t>
            </a:r>
            <a:r>
              <a:rPr lang="en-US" altLang="en-US" sz="2000"/>
              <a:t>to some </a:t>
            </a:r>
            <a:r>
              <a:rPr lang="en-US" altLang="en-US" sz="2000" b="1"/>
              <a:t>serial schedule</a:t>
            </a:r>
            <a:endParaRPr lang="en-US" altLang="en-US" sz="2000"/>
          </a:p>
        </p:txBody>
      </p:sp>
      <p:sp>
        <p:nvSpPr>
          <p:cNvPr id="157700" name="Text Box 4" descr="Date Placeholder 3">
            <a:extLst>
              <a:ext uri="{FF2B5EF4-FFF2-40B4-BE49-F238E27FC236}">
                <a16:creationId xmlns:a16="http://schemas.microsoft.com/office/drawing/2014/main" id="{0C932E6D-B9C4-3A09-E481-6C908A0C8EA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7701" name="Text Box 5" descr="Slide Number Placeholder 5">
            <a:extLst>
              <a:ext uri="{FF2B5EF4-FFF2-40B4-BE49-F238E27FC236}">
                <a16:creationId xmlns:a16="http://schemas.microsoft.com/office/drawing/2014/main" id="{0BB3E07A-FADD-6F19-34E4-6F1904F4BA2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1B1A071-1AC9-451F-9926-87515EAAF67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149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2" descr="Title 1">
            <a:extLst>
              <a:ext uri="{FF2B5EF4-FFF2-40B4-BE49-F238E27FC236}">
                <a16:creationId xmlns:a16="http://schemas.microsoft.com/office/drawing/2014/main" id="{CAAADDF6-27CC-3ADE-8836-5A2094EA82D5}"/>
              </a:ext>
            </a:extLst>
          </p:cNvPr>
          <p:cNvSpPr>
            <a:spLocks noChangeArrowheads="1"/>
          </p:cNvSpPr>
          <p:nvPr>
            <p:ph type="title"/>
          </p:nvPr>
        </p:nvSpPr>
        <p:spPr/>
        <p:txBody>
          <a:bodyPr/>
          <a:lstStyle/>
          <a:p>
            <a:r>
              <a:rPr lang="en-US" altLang="en-US"/>
              <a:t>View Serializability Schedule</a:t>
            </a:r>
          </a:p>
        </p:txBody>
      </p:sp>
      <p:sp>
        <p:nvSpPr>
          <p:cNvPr id="158723" name="Rectangle 3" descr="Content Placeholder 2">
            <a:extLst>
              <a:ext uri="{FF2B5EF4-FFF2-40B4-BE49-F238E27FC236}">
                <a16:creationId xmlns:a16="http://schemas.microsoft.com/office/drawing/2014/main" id="{B0A47AFC-0373-78F1-FCAC-ECCA99AFE48F}"/>
              </a:ext>
            </a:extLst>
          </p:cNvPr>
          <p:cNvSpPr>
            <a:spLocks noChangeArrowheads="1"/>
          </p:cNvSpPr>
          <p:nvPr>
            <p:ph type="body" idx="1"/>
          </p:nvPr>
        </p:nvSpPr>
        <p:spPr/>
        <p:txBody>
          <a:bodyPr/>
          <a:lstStyle/>
          <a:p>
            <a:pPr>
              <a:spcBef>
                <a:spcPts val="400"/>
              </a:spcBef>
            </a:pPr>
            <a:r>
              <a:rPr lang="en-US" altLang="en-US" sz="2000"/>
              <a:t>A Schedule is View Serializable if it is </a:t>
            </a:r>
            <a:r>
              <a:rPr lang="en-US" altLang="en-US" sz="2000" b="1"/>
              <a:t>view equivalent </a:t>
            </a:r>
            <a:r>
              <a:rPr lang="en-US" altLang="en-US" sz="2000"/>
              <a:t>to some </a:t>
            </a:r>
            <a:r>
              <a:rPr lang="en-US" altLang="en-US" sz="2000" b="1"/>
              <a:t>serial schedule</a:t>
            </a:r>
            <a:endParaRPr lang="en-US" altLang="en-US" sz="2000"/>
          </a:p>
          <a:p>
            <a:pPr>
              <a:spcBef>
                <a:spcPts val="400"/>
              </a:spcBef>
            </a:pPr>
            <a:r>
              <a:rPr lang="en-US" altLang="en-US" sz="2000"/>
              <a:t>What is View equivalence ?</a:t>
            </a:r>
          </a:p>
          <a:p>
            <a:pPr marL="301625" lvl="1" indent="168275">
              <a:spcBef>
                <a:spcPts val="400"/>
              </a:spcBef>
              <a:buSzTx/>
              <a:buFont typeface="Wingdings" panose="05000000000000000000" pitchFamily="2" charset="2"/>
              <a:buNone/>
            </a:pPr>
            <a:r>
              <a:rPr lang="en-US" altLang="en-US" sz="1800"/>
              <a:t>In </a:t>
            </a:r>
            <a:r>
              <a:rPr lang="en-US" altLang="en-US" sz="1800" b="1"/>
              <a:t>View Equivalence</a:t>
            </a:r>
            <a:r>
              <a:rPr lang="en-US" altLang="en-US" sz="1800"/>
              <a:t>, respective transactions in the two schedules </a:t>
            </a:r>
            <a:r>
              <a:rPr lang="en-US" altLang="en-US" sz="1800" b="1">
                <a:solidFill>
                  <a:srgbClr val="0000FF"/>
                </a:solidFill>
              </a:rPr>
              <a:t>read </a:t>
            </a:r>
            <a:r>
              <a:rPr lang="en-US" altLang="en-US" sz="1800">
                <a:solidFill>
                  <a:srgbClr val="0000FF"/>
                </a:solidFill>
              </a:rPr>
              <a:t>and </a:t>
            </a:r>
            <a:r>
              <a:rPr lang="en-US" altLang="en-US" sz="1800" b="1">
                <a:solidFill>
                  <a:srgbClr val="0000FF"/>
                </a:solidFill>
              </a:rPr>
              <a:t>write </a:t>
            </a:r>
            <a:r>
              <a:rPr lang="en-US" altLang="en-US" sz="1800">
                <a:solidFill>
                  <a:srgbClr val="0000FF"/>
                </a:solidFill>
              </a:rPr>
              <a:t>the </a:t>
            </a:r>
            <a:r>
              <a:rPr lang="en-US" altLang="en-US" sz="1800" b="1">
                <a:solidFill>
                  <a:srgbClr val="0000FF"/>
                </a:solidFill>
              </a:rPr>
              <a:t>same data </a:t>
            </a:r>
            <a:r>
              <a:rPr lang="en-US" altLang="en-US" sz="1800">
                <a:solidFill>
                  <a:srgbClr val="0000FF"/>
                </a:solidFill>
              </a:rPr>
              <a:t>values </a:t>
            </a:r>
            <a:endParaRPr lang="en-US" altLang="en-US" sz="2600"/>
          </a:p>
          <a:p>
            <a:pPr marL="301625" lvl="1" indent="168275">
              <a:spcBef>
                <a:spcPts val="400"/>
              </a:spcBef>
            </a:pPr>
            <a:r>
              <a:rPr lang="en-US" altLang="en-US" sz="1800">
                <a:solidFill>
                  <a:srgbClr val="0000FF"/>
                </a:solidFill>
              </a:rPr>
              <a:t>Initial Reads: </a:t>
            </a:r>
            <a:r>
              <a:rPr lang="en-US" altLang="en-US" sz="1700" b="1"/>
              <a:t>If </a:t>
            </a:r>
            <a:r>
              <a:rPr lang="en-US" altLang="en-US" sz="1700"/>
              <a:t>in S1: r</a:t>
            </a:r>
            <a:r>
              <a:rPr lang="en-US" altLang="en-US" sz="1800" baseline="-25000"/>
              <a:t>i</a:t>
            </a:r>
            <a:r>
              <a:rPr lang="en-US" altLang="en-US" sz="1700"/>
              <a:t>(A) </a:t>
            </a:r>
            <a:r>
              <a:rPr lang="en-US" altLang="en-US" sz="1700" b="1"/>
              <a:t>reads initial </a:t>
            </a:r>
            <a:r>
              <a:rPr lang="en-US" altLang="en-US" sz="1700"/>
              <a:t>DB value, </a:t>
            </a:r>
            <a:endParaRPr lang="en-US" altLang="en-US" sz="2600">
              <a:solidFill>
                <a:srgbClr val="0000FF"/>
              </a:solidFill>
            </a:endParaRPr>
          </a:p>
          <a:p>
            <a:pPr marL="301625" lvl="1" indent="168275">
              <a:spcBef>
                <a:spcPts val="400"/>
              </a:spcBef>
              <a:buSzTx/>
              <a:buFont typeface="Wingdings" panose="05000000000000000000" pitchFamily="2" charset="2"/>
              <a:buNone/>
            </a:pPr>
            <a:r>
              <a:rPr lang="en-US" altLang="en-US" sz="1700" b="1"/>
              <a:t>                        then </a:t>
            </a:r>
            <a:r>
              <a:rPr lang="en-US" altLang="en-US" sz="1700"/>
              <a:t>in S2: r</a:t>
            </a:r>
            <a:r>
              <a:rPr lang="en-US" altLang="en-US" sz="1600" baseline="-25000"/>
              <a:t>i</a:t>
            </a:r>
            <a:r>
              <a:rPr lang="en-US" altLang="en-US" sz="1700"/>
              <a:t>(A) also reads initial DB value</a:t>
            </a:r>
            <a:endParaRPr lang="en-US" altLang="en-US" sz="1700" b="1"/>
          </a:p>
        </p:txBody>
      </p:sp>
      <p:sp>
        <p:nvSpPr>
          <p:cNvPr id="158724" name="Text Box 4" descr="Date Placeholder 3">
            <a:extLst>
              <a:ext uri="{FF2B5EF4-FFF2-40B4-BE49-F238E27FC236}">
                <a16:creationId xmlns:a16="http://schemas.microsoft.com/office/drawing/2014/main" id="{0D64B4C2-EAAE-34BD-73D0-60418B4B800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8725" name="Text Box 5" descr="Slide Number Placeholder 5">
            <a:extLst>
              <a:ext uri="{FF2B5EF4-FFF2-40B4-BE49-F238E27FC236}">
                <a16:creationId xmlns:a16="http://schemas.microsoft.com/office/drawing/2014/main" id="{696EFCF6-8DFC-C2DF-732F-F420B569262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AC3A934-49B4-4587-95FA-2D259B2372A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58726" name="Text Box 6" descr="TextBox 6">
            <a:extLst>
              <a:ext uri="{FF2B5EF4-FFF2-40B4-BE49-F238E27FC236}">
                <a16:creationId xmlns:a16="http://schemas.microsoft.com/office/drawing/2014/main" id="{8FEF45A5-CC30-1B5E-7AF2-12E9E9F524A7}"/>
              </a:ext>
            </a:extLst>
          </p:cNvPr>
          <p:cNvSpPr txBox="1">
            <a:spLocks/>
          </p:cNvSpPr>
          <p:nvPr/>
        </p:nvSpPr>
        <p:spPr bwMode="auto">
          <a:xfrm>
            <a:off x="6804025" y="5757863"/>
            <a:ext cx="1854200" cy="4826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sz="1200"/>
              <a:t>Note: i,j are identifiers</a:t>
            </a:r>
          </a:p>
          <a:p>
            <a:pPr lvl="1" indent="0"/>
            <a:r>
              <a:rPr lang="en-US" altLang="en-US" sz="1200"/>
              <a:t>of Transactions</a:t>
            </a:r>
          </a:p>
        </p:txBody>
      </p:sp>
    </p:spTree>
  </p:cSld>
  <p:clrMapOvr>
    <a:masterClrMapping/>
  </p:clrMapOvr>
  <p:transition spd="med"/>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2" descr="Title 1">
            <a:extLst>
              <a:ext uri="{FF2B5EF4-FFF2-40B4-BE49-F238E27FC236}">
                <a16:creationId xmlns:a16="http://schemas.microsoft.com/office/drawing/2014/main" id="{2E1E33C1-2383-9908-8DF5-49E1F006C06A}"/>
              </a:ext>
            </a:extLst>
          </p:cNvPr>
          <p:cNvSpPr>
            <a:spLocks noChangeArrowheads="1"/>
          </p:cNvSpPr>
          <p:nvPr>
            <p:ph type="title"/>
          </p:nvPr>
        </p:nvSpPr>
        <p:spPr/>
        <p:txBody>
          <a:bodyPr/>
          <a:lstStyle/>
          <a:p>
            <a:r>
              <a:rPr lang="en-US" altLang="en-US"/>
              <a:t>View Serializability Schedule</a:t>
            </a:r>
          </a:p>
        </p:txBody>
      </p:sp>
      <p:sp>
        <p:nvSpPr>
          <p:cNvPr id="159747" name="Rectangle 3" descr="Content Placeholder 2">
            <a:extLst>
              <a:ext uri="{FF2B5EF4-FFF2-40B4-BE49-F238E27FC236}">
                <a16:creationId xmlns:a16="http://schemas.microsoft.com/office/drawing/2014/main" id="{A78E82FB-B75C-F5E2-2170-975FE8E4F7A7}"/>
              </a:ext>
            </a:extLst>
          </p:cNvPr>
          <p:cNvSpPr>
            <a:spLocks noChangeArrowheads="1"/>
          </p:cNvSpPr>
          <p:nvPr>
            <p:ph type="body" idx="1"/>
          </p:nvPr>
        </p:nvSpPr>
        <p:spPr/>
        <p:txBody>
          <a:bodyPr/>
          <a:lstStyle/>
          <a:p>
            <a:pPr>
              <a:spcBef>
                <a:spcPts val="400"/>
              </a:spcBef>
            </a:pPr>
            <a:r>
              <a:rPr lang="en-US" altLang="en-US" sz="2000"/>
              <a:t>A Schedule is View Serializable if it is </a:t>
            </a:r>
            <a:r>
              <a:rPr lang="en-US" altLang="en-US" sz="2000" b="1"/>
              <a:t>view equivalent </a:t>
            </a:r>
            <a:r>
              <a:rPr lang="en-US" altLang="en-US" sz="2000"/>
              <a:t>to some </a:t>
            </a:r>
            <a:r>
              <a:rPr lang="en-US" altLang="en-US" sz="2000" b="1"/>
              <a:t>serial schedule</a:t>
            </a:r>
            <a:endParaRPr lang="en-US" altLang="en-US" sz="2000"/>
          </a:p>
          <a:p>
            <a:pPr>
              <a:spcBef>
                <a:spcPts val="400"/>
              </a:spcBef>
            </a:pPr>
            <a:r>
              <a:rPr lang="en-US" altLang="en-US" sz="2000"/>
              <a:t>What is View equivalence ?</a:t>
            </a:r>
          </a:p>
          <a:p>
            <a:pPr marL="361950" lvl="1" indent="107950">
              <a:spcBef>
                <a:spcPts val="400"/>
              </a:spcBef>
              <a:buSzTx/>
              <a:buFont typeface="Wingdings" panose="05000000000000000000" pitchFamily="2" charset="2"/>
              <a:buNone/>
            </a:pPr>
            <a:r>
              <a:rPr lang="en-US" altLang="en-US" sz="1800"/>
              <a:t>In </a:t>
            </a:r>
            <a:r>
              <a:rPr lang="en-US" altLang="en-US" sz="1800" b="1"/>
              <a:t>View Equivalence</a:t>
            </a:r>
            <a:r>
              <a:rPr lang="en-US" altLang="en-US" sz="1800"/>
              <a:t>, respective transactions in the two schedules </a:t>
            </a:r>
            <a:r>
              <a:rPr lang="en-US" altLang="en-US" sz="1800" b="1">
                <a:solidFill>
                  <a:srgbClr val="0000FF"/>
                </a:solidFill>
              </a:rPr>
              <a:t>read </a:t>
            </a:r>
            <a:r>
              <a:rPr lang="en-US" altLang="en-US" sz="1800">
                <a:solidFill>
                  <a:srgbClr val="0000FF"/>
                </a:solidFill>
              </a:rPr>
              <a:t>and </a:t>
            </a:r>
            <a:r>
              <a:rPr lang="en-US" altLang="en-US" sz="1800" b="1">
                <a:solidFill>
                  <a:srgbClr val="0000FF"/>
                </a:solidFill>
              </a:rPr>
              <a:t>write </a:t>
            </a:r>
            <a:r>
              <a:rPr lang="en-US" altLang="en-US" sz="1800">
                <a:solidFill>
                  <a:srgbClr val="0000FF"/>
                </a:solidFill>
              </a:rPr>
              <a:t>the </a:t>
            </a:r>
            <a:r>
              <a:rPr lang="en-US" altLang="en-US" sz="1800" b="1">
                <a:solidFill>
                  <a:srgbClr val="0000FF"/>
                </a:solidFill>
              </a:rPr>
              <a:t>same data </a:t>
            </a:r>
            <a:r>
              <a:rPr lang="en-US" altLang="en-US" sz="1800">
                <a:solidFill>
                  <a:srgbClr val="0000FF"/>
                </a:solidFill>
              </a:rPr>
              <a:t>values </a:t>
            </a:r>
            <a:endParaRPr lang="en-US" altLang="en-US" sz="2600"/>
          </a:p>
          <a:p>
            <a:pPr marL="361950" lvl="1" indent="107950">
              <a:spcBef>
                <a:spcPts val="400"/>
              </a:spcBef>
            </a:pPr>
            <a:r>
              <a:rPr lang="en-US" altLang="en-US" sz="1800">
                <a:solidFill>
                  <a:srgbClr val="0000FF"/>
                </a:solidFill>
              </a:rPr>
              <a:t>Initial Reads: </a:t>
            </a:r>
            <a:r>
              <a:rPr lang="en-US" altLang="en-US" sz="1700" b="1"/>
              <a:t>If </a:t>
            </a:r>
            <a:r>
              <a:rPr lang="en-US" altLang="en-US" sz="1700"/>
              <a:t>in S1: r</a:t>
            </a:r>
            <a:r>
              <a:rPr lang="en-US" altLang="en-US" sz="1200"/>
              <a:t>i</a:t>
            </a:r>
            <a:r>
              <a:rPr lang="en-US" altLang="en-US" sz="1700"/>
              <a:t>(A) </a:t>
            </a:r>
            <a:r>
              <a:rPr lang="en-US" altLang="en-US" sz="1700" b="1"/>
              <a:t>reads initial </a:t>
            </a:r>
            <a:r>
              <a:rPr lang="en-US" altLang="en-US" sz="1700"/>
              <a:t>DB value, </a:t>
            </a:r>
            <a:endParaRPr lang="en-US" altLang="en-US" sz="2600">
              <a:solidFill>
                <a:srgbClr val="0000FF"/>
              </a:solidFill>
            </a:endParaRPr>
          </a:p>
          <a:p>
            <a:pPr marL="361950" lvl="1" indent="107950">
              <a:spcBef>
                <a:spcPts val="400"/>
              </a:spcBef>
              <a:buSzTx/>
              <a:buFont typeface="Wingdings" panose="05000000000000000000" pitchFamily="2" charset="2"/>
              <a:buNone/>
            </a:pPr>
            <a:r>
              <a:rPr lang="en-US" altLang="en-US" sz="1700" b="1"/>
              <a:t>                        then </a:t>
            </a:r>
            <a:r>
              <a:rPr lang="en-US" altLang="en-US" sz="1700"/>
              <a:t>in S2: r</a:t>
            </a:r>
            <a:r>
              <a:rPr lang="en-US" altLang="en-US" sz="1200"/>
              <a:t>i</a:t>
            </a:r>
            <a:r>
              <a:rPr lang="en-US" altLang="en-US" sz="1700"/>
              <a:t>(A) also reads initial DB value</a:t>
            </a:r>
            <a:endParaRPr lang="en-US" altLang="en-US" sz="2600" b="1"/>
          </a:p>
          <a:p>
            <a:pPr marL="361950" lvl="1" indent="107950">
              <a:spcBef>
                <a:spcPts val="400"/>
              </a:spcBef>
            </a:pPr>
            <a:r>
              <a:rPr lang="en-US" altLang="en-US" sz="1700">
                <a:solidFill>
                  <a:srgbClr val="0000FF"/>
                </a:solidFill>
              </a:rPr>
              <a:t>Same WR order</a:t>
            </a:r>
            <a:r>
              <a:rPr lang="en-US" altLang="en-US" sz="1700"/>
              <a:t>: </a:t>
            </a:r>
            <a:r>
              <a:rPr lang="en-US" altLang="en-US" sz="1700" b="1"/>
              <a:t>If </a:t>
            </a:r>
            <a:r>
              <a:rPr lang="en-US" altLang="en-US" sz="1700"/>
              <a:t>in S1: w</a:t>
            </a:r>
            <a:r>
              <a:rPr lang="en-US" altLang="en-US" sz="1200"/>
              <a:t>j</a:t>
            </a:r>
            <a:r>
              <a:rPr lang="en-US" altLang="en-US" sz="1700"/>
              <a:t>(A) –&gt; r</a:t>
            </a:r>
            <a:r>
              <a:rPr lang="en-US" altLang="en-US" sz="1200"/>
              <a:t>i</a:t>
            </a:r>
            <a:r>
              <a:rPr lang="en-US" altLang="en-US" sz="1700"/>
              <a:t>(A)</a:t>
            </a:r>
            <a:endParaRPr lang="en-US" altLang="en-US" sz="2600">
              <a:solidFill>
                <a:srgbClr val="0000FF"/>
              </a:solidFill>
            </a:endParaRPr>
          </a:p>
          <a:p>
            <a:pPr marL="361950" lvl="1" indent="107950">
              <a:spcBef>
                <a:spcPts val="400"/>
              </a:spcBef>
              <a:buSzTx/>
              <a:buFont typeface="Wingdings" panose="05000000000000000000" pitchFamily="2" charset="2"/>
              <a:buNone/>
            </a:pPr>
            <a:r>
              <a:rPr lang="en-US" altLang="en-US" sz="1700"/>
              <a:t>                               </a:t>
            </a:r>
            <a:r>
              <a:rPr lang="en-US" altLang="en-US" sz="1700" b="1"/>
              <a:t>then </a:t>
            </a:r>
            <a:r>
              <a:rPr lang="en-US" altLang="en-US" sz="1700"/>
              <a:t>in S2: w</a:t>
            </a:r>
            <a:r>
              <a:rPr lang="en-US" altLang="en-US" sz="1200"/>
              <a:t>j</a:t>
            </a:r>
            <a:r>
              <a:rPr lang="en-US" altLang="en-US" sz="1700"/>
              <a:t>(A)-&gt; r</a:t>
            </a:r>
            <a:r>
              <a:rPr lang="en-US" altLang="en-US" sz="1200"/>
              <a:t>i</a:t>
            </a:r>
            <a:r>
              <a:rPr lang="en-US" altLang="en-US" sz="1700"/>
              <a:t>(A)</a:t>
            </a:r>
          </a:p>
        </p:txBody>
      </p:sp>
      <p:sp>
        <p:nvSpPr>
          <p:cNvPr id="159748" name="Text Box 4" descr="Date Placeholder 3">
            <a:extLst>
              <a:ext uri="{FF2B5EF4-FFF2-40B4-BE49-F238E27FC236}">
                <a16:creationId xmlns:a16="http://schemas.microsoft.com/office/drawing/2014/main" id="{F3F0E89B-DCD7-7A78-86D2-1485BC4EC90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59749" name="Text Box 5" descr="Slide Number Placeholder 5">
            <a:extLst>
              <a:ext uri="{FF2B5EF4-FFF2-40B4-BE49-F238E27FC236}">
                <a16:creationId xmlns:a16="http://schemas.microsoft.com/office/drawing/2014/main" id="{AB0D0FE8-C0C1-1398-A74B-53DBCCFA329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F4298F9-671E-4F8F-A422-7B9338DFF55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59750" name="Text Box 6" descr="TextBox 6">
            <a:extLst>
              <a:ext uri="{FF2B5EF4-FFF2-40B4-BE49-F238E27FC236}">
                <a16:creationId xmlns:a16="http://schemas.microsoft.com/office/drawing/2014/main" id="{5B9023C0-09E8-9EF4-C9AC-ED1621DF94DF}"/>
              </a:ext>
            </a:extLst>
          </p:cNvPr>
          <p:cNvSpPr txBox="1">
            <a:spLocks/>
          </p:cNvSpPr>
          <p:nvPr/>
        </p:nvSpPr>
        <p:spPr bwMode="auto">
          <a:xfrm>
            <a:off x="6804025" y="5757863"/>
            <a:ext cx="1854200" cy="4826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sz="1200"/>
              <a:t>Note: i,j are identifiers</a:t>
            </a:r>
          </a:p>
          <a:p>
            <a:pPr lvl="1" indent="0"/>
            <a:r>
              <a:rPr lang="en-US" altLang="en-US" sz="1200"/>
              <a:t>of Transactions</a:t>
            </a:r>
          </a:p>
        </p:txBody>
      </p:sp>
    </p:spTree>
  </p:cSld>
  <p:clrMapOvr>
    <a:masterClrMapping/>
  </p:clrMapOvr>
  <p:transition spd="med"/>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2" descr="Title 1">
            <a:extLst>
              <a:ext uri="{FF2B5EF4-FFF2-40B4-BE49-F238E27FC236}">
                <a16:creationId xmlns:a16="http://schemas.microsoft.com/office/drawing/2014/main" id="{550E839F-08C9-FFF5-4086-790B9234659C}"/>
              </a:ext>
            </a:extLst>
          </p:cNvPr>
          <p:cNvSpPr>
            <a:spLocks noChangeArrowheads="1"/>
          </p:cNvSpPr>
          <p:nvPr>
            <p:ph type="title"/>
          </p:nvPr>
        </p:nvSpPr>
        <p:spPr/>
        <p:txBody>
          <a:bodyPr/>
          <a:lstStyle/>
          <a:p>
            <a:r>
              <a:rPr lang="en-US" altLang="en-US"/>
              <a:t>View Serializability Schedule</a:t>
            </a:r>
          </a:p>
        </p:txBody>
      </p:sp>
      <p:sp>
        <p:nvSpPr>
          <p:cNvPr id="160771" name="Rectangle 3" descr="Content Placeholder 2">
            <a:extLst>
              <a:ext uri="{FF2B5EF4-FFF2-40B4-BE49-F238E27FC236}">
                <a16:creationId xmlns:a16="http://schemas.microsoft.com/office/drawing/2014/main" id="{598A7AD9-FEF3-970A-0A64-34DAEA24D5E1}"/>
              </a:ext>
            </a:extLst>
          </p:cNvPr>
          <p:cNvSpPr>
            <a:spLocks noChangeArrowheads="1"/>
          </p:cNvSpPr>
          <p:nvPr>
            <p:ph type="body" idx="1"/>
          </p:nvPr>
        </p:nvSpPr>
        <p:spPr/>
        <p:txBody>
          <a:bodyPr/>
          <a:lstStyle/>
          <a:p>
            <a:pPr>
              <a:spcBef>
                <a:spcPts val="400"/>
              </a:spcBef>
            </a:pPr>
            <a:r>
              <a:rPr lang="en-US" altLang="en-US" sz="2000"/>
              <a:t>A Schedule is View Serializable if it is </a:t>
            </a:r>
            <a:r>
              <a:rPr lang="en-US" altLang="en-US" sz="2000" b="1"/>
              <a:t>view equivalent </a:t>
            </a:r>
            <a:r>
              <a:rPr lang="en-US" altLang="en-US" sz="2000"/>
              <a:t>to some </a:t>
            </a:r>
            <a:r>
              <a:rPr lang="en-US" altLang="en-US" sz="2000" b="1"/>
              <a:t>serial schedule</a:t>
            </a:r>
            <a:endParaRPr lang="en-US" altLang="en-US" sz="2000"/>
          </a:p>
          <a:p>
            <a:pPr>
              <a:spcBef>
                <a:spcPts val="400"/>
              </a:spcBef>
            </a:pPr>
            <a:r>
              <a:rPr lang="en-US" altLang="en-US" sz="2000"/>
              <a:t>What is View equivalence ?</a:t>
            </a:r>
          </a:p>
          <a:p>
            <a:pPr marL="388938" lvl="1" indent="80963">
              <a:spcBef>
                <a:spcPts val="400"/>
              </a:spcBef>
              <a:buSzTx/>
              <a:buFont typeface="Wingdings" panose="05000000000000000000" pitchFamily="2" charset="2"/>
              <a:buNone/>
            </a:pPr>
            <a:r>
              <a:rPr lang="en-US" altLang="en-US" sz="1800"/>
              <a:t>In </a:t>
            </a:r>
            <a:r>
              <a:rPr lang="en-US" altLang="en-US" sz="1800" b="1"/>
              <a:t>View Equivalence</a:t>
            </a:r>
            <a:r>
              <a:rPr lang="en-US" altLang="en-US" sz="1800"/>
              <a:t>, respective transactions in the two schedules </a:t>
            </a:r>
            <a:r>
              <a:rPr lang="en-US" altLang="en-US" sz="1800" b="1">
                <a:solidFill>
                  <a:srgbClr val="0000FF"/>
                </a:solidFill>
              </a:rPr>
              <a:t>read </a:t>
            </a:r>
            <a:r>
              <a:rPr lang="en-US" altLang="en-US" sz="1800">
                <a:solidFill>
                  <a:srgbClr val="0000FF"/>
                </a:solidFill>
              </a:rPr>
              <a:t>and </a:t>
            </a:r>
            <a:r>
              <a:rPr lang="en-US" altLang="en-US" sz="1800" b="1">
                <a:solidFill>
                  <a:srgbClr val="0000FF"/>
                </a:solidFill>
              </a:rPr>
              <a:t>write </a:t>
            </a:r>
            <a:r>
              <a:rPr lang="en-US" altLang="en-US" sz="1800">
                <a:solidFill>
                  <a:srgbClr val="0000FF"/>
                </a:solidFill>
              </a:rPr>
              <a:t>the </a:t>
            </a:r>
            <a:r>
              <a:rPr lang="en-US" altLang="en-US" sz="1800" b="1">
                <a:solidFill>
                  <a:srgbClr val="0000FF"/>
                </a:solidFill>
              </a:rPr>
              <a:t>same data </a:t>
            </a:r>
            <a:r>
              <a:rPr lang="en-US" altLang="en-US" sz="1800">
                <a:solidFill>
                  <a:srgbClr val="0000FF"/>
                </a:solidFill>
              </a:rPr>
              <a:t>values </a:t>
            </a:r>
            <a:endParaRPr lang="en-US" altLang="en-US" sz="2600"/>
          </a:p>
          <a:p>
            <a:pPr marL="388938" lvl="1" indent="80963">
              <a:spcBef>
                <a:spcPts val="400"/>
              </a:spcBef>
            </a:pPr>
            <a:r>
              <a:rPr lang="en-US" altLang="en-US" sz="1600">
                <a:solidFill>
                  <a:srgbClr val="0000FF"/>
                </a:solidFill>
              </a:rPr>
              <a:t>Initial</a:t>
            </a:r>
            <a:r>
              <a:rPr lang="en-US" altLang="en-US" sz="1700">
                <a:solidFill>
                  <a:srgbClr val="0000FF"/>
                </a:solidFill>
              </a:rPr>
              <a:t> Read: </a:t>
            </a:r>
            <a:r>
              <a:rPr lang="en-US" altLang="en-US" sz="1700" b="1"/>
              <a:t>If </a:t>
            </a:r>
            <a:r>
              <a:rPr lang="en-US" altLang="en-US" sz="1700"/>
              <a:t>in S1: r</a:t>
            </a:r>
            <a:r>
              <a:rPr lang="en-US" altLang="en-US" sz="1200"/>
              <a:t>i</a:t>
            </a:r>
            <a:r>
              <a:rPr lang="en-US" altLang="en-US" sz="1700"/>
              <a:t>(A) </a:t>
            </a:r>
            <a:r>
              <a:rPr lang="en-US" altLang="en-US" sz="1700" b="1"/>
              <a:t>reads initial </a:t>
            </a:r>
            <a:r>
              <a:rPr lang="en-US" altLang="en-US" sz="1700"/>
              <a:t>DB value, </a:t>
            </a:r>
            <a:endParaRPr lang="en-US" altLang="en-US" sz="2600">
              <a:solidFill>
                <a:srgbClr val="0000FF"/>
              </a:solidFill>
            </a:endParaRPr>
          </a:p>
          <a:p>
            <a:pPr marL="388938" lvl="1" indent="80963">
              <a:spcBef>
                <a:spcPts val="400"/>
              </a:spcBef>
              <a:buSzTx/>
              <a:buFont typeface="Wingdings" panose="05000000000000000000" pitchFamily="2" charset="2"/>
              <a:buNone/>
            </a:pPr>
            <a:r>
              <a:rPr lang="en-US" altLang="en-US" sz="1700" b="1"/>
              <a:t>                        then </a:t>
            </a:r>
            <a:r>
              <a:rPr lang="en-US" altLang="en-US" sz="1700"/>
              <a:t>in S2: r</a:t>
            </a:r>
            <a:r>
              <a:rPr lang="en-US" altLang="en-US" sz="1200"/>
              <a:t>i</a:t>
            </a:r>
            <a:r>
              <a:rPr lang="en-US" altLang="en-US" sz="1700"/>
              <a:t>(A) also reads initial DB value</a:t>
            </a:r>
            <a:endParaRPr lang="en-US" altLang="en-US" sz="2600" b="1"/>
          </a:p>
          <a:p>
            <a:pPr marL="388938" lvl="1" indent="80963">
              <a:spcBef>
                <a:spcPts val="400"/>
              </a:spcBef>
            </a:pPr>
            <a:r>
              <a:rPr lang="en-US" altLang="en-US" sz="1700">
                <a:solidFill>
                  <a:srgbClr val="0000FF"/>
                </a:solidFill>
              </a:rPr>
              <a:t>Same WR order</a:t>
            </a:r>
            <a:r>
              <a:rPr lang="en-US" altLang="en-US" sz="1700"/>
              <a:t>: </a:t>
            </a:r>
            <a:r>
              <a:rPr lang="en-US" altLang="en-US" sz="1700" b="1"/>
              <a:t>If </a:t>
            </a:r>
            <a:r>
              <a:rPr lang="en-US" altLang="en-US" sz="1700"/>
              <a:t>in S1: w</a:t>
            </a:r>
            <a:r>
              <a:rPr lang="en-US" altLang="en-US" sz="1200"/>
              <a:t>j</a:t>
            </a:r>
            <a:r>
              <a:rPr lang="en-US" altLang="en-US" sz="1700"/>
              <a:t>(A) –&gt; r</a:t>
            </a:r>
            <a:r>
              <a:rPr lang="en-US" altLang="en-US" sz="1200"/>
              <a:t>i</a:t>
            </a:r>
            <a:r>
              <a:rPr lang="en-US" altLang="en-US" sz="1700"/>
              <a:t>(A)</a:t>
            </a:r>
            <a:endParaRPr lang="en-US" altLang="en-US" sz="2600">
              <a:solidFill>
                <a:srgbClr val="0000FF"/>
              </a:solidFill>
            </a:endParaRPr>
          </a:p>
          <a:p>
            <a:pPr marL="388938" lvl="1" indent="80963">
              <a:spcBef>
                <a:spcPts val="400"/>
              </a:spcBef>
              <a:buSzTx/>
              <a:buFont typeface="Wingdings" panose="05000000000000000000" pitchFamily="2" charset="2"/>
              <a:buNone/>
            </a:pPr>
            <a:r>
              <a:rPr lang="en-US" altLang="en-US" sz="1700"/>
              <a:t>                               </a:t>
            </a:r>
            <a:r>
              <a:rPr lang="en-US" altLang="en-US" sz="1700" b="1"/>
              <a:t>then </a:t>
            </a:r>
            <a:r>
              <a:rPr lang="en-US" altLang="en-US" sz="1700"/>
              <a:t>in S2: w</a:t>
            </a:r>
            <a:r>
              <a:rPr lang="en-US" altLang="en-US" sz="1200"/>
              <a:t>j</a:t>
            </a:r>
            <a:r>
              <a:rPr lang="en-US" altLang="en-US" sz="1700"/>
              <a:t>(A)-&gt; r</a:t>
            </a:r>
            <a:r>
              <a:rPr lang="en-US" altLang="en-US" sz="1200"/>
              <a:t>i</a:t>
            </a:r>
            <a:r>
              <a:rPr lang="en-US" altLang="en-US" sz="1700"/>
              <a:t>(A)</a:t>
            </a:r>
            <a:endParaRPr lang="en-US" altLang="en-US" sz="2600"/>
          </a:p>
          <a:p>
            <a:pPr marL="388938" lvl="1" indent="80963">
              <a:spcBef>
                <a:spcPts val="400"/>
              </a:spcBef>
            </a:pPr>
            <a:r>
              <a:rPr lang="en-US" altLang="en-US" sz="1700">
                <a:solidFill>
                  <a:srgbClr val="0000FF"/>
                </a:solidFill>
              </a:rPr>
              <a:t>Last Write: </a:t>
            </a:r>
            <a:r>
              <a:rPr lang="en-US" altLang="en-US" sz="1700" b="1"/>
              <a:t>If</a:t>
            </a:r>
            <a:r>
              <a:rPr lang="en-US" altLang="en-US" sz="1700"/>
              <a:t> in S1: w</a:t>
            </a:r>
            <a:r>
              <a:rPr lang="en-US" altLang="en-US" sz="1200"/>
              <a:t>i</a:t>
            </a:r>
            <a:r>
              <a:rPr lang="en-US" altLang="en-US" sz="1700"/>
              <a:t>(A) does </a:t>
            </a:r>
            <a:r>
              <a:rPr lang="en-US" altLang="en-US" sz="1700" b="1"/>
              <a:t>last write </a:t>
            </a:r>
            <a:r>
              <a:rPr lang="en-US" altLang="en-US" sz="1700"/>
              <a:t>on A, </a:t>
            </a:r>
            <a:endParaRPr lang="en-US" altLang="en-US" sz="2600">
              <a:solidFill>
                <a:srgbClr val="0000FF"/>
              </a:solidFill>
            </a:endParaRPr>
          </a:p>
          <a:p>
            <a:pPr marL="388938" lvl="1" indent="80963">
              <a:spcBef>
                <a:spcPts val="400"/>
              </a:spcBef>
              <a:buSzTx/>
              <a:buFont typeface="Wingdings" panose="05000000000000000000" pitchFamily="2" charset="2"/>
              <a:buNone/>
            </a:pPr>
            <a:r>
              <a:rPr lang="en-US" altLang="en-US" sz="1700" b="1"/>
              <a:t>                        then </a:t>
            </a:r>
            <a:r>
              <a:rPr lang="en-US" altLang="en-US" sz="1700"/>
              <a:t>in S2: w</a:t>
            </a:r>
            <a:r>
              <a:rPr lang="en-US" altLang="en-US" sz="1200"/>
              <a:t>i</a:t>
            </a:r>
            <a:r>
              <a:rPr lang="en-US" altLang="en-US" sz="1700"/>
              <a:t>(A) also does last write on A</a:t>
            </a:r>
            <a:endParaRPr lang="en-US" altLang="en-US" sz="1700" b="1"/>
          </a:p>
        </p:txBody>
      </p:sp>
      <p:sp>
        <p:nvSpPr>
          <p:cNvPr id="160772" name="Text Box 4" descr="Date Placeholder 3">
            <a:extLst>
              <a:ext uri="{FF2B5EF4-FFF2-40B4-BE49-F238E27FC236}">
                <a16:creationId xmlns:a16="http://schemas.microsoft.com/office/drawing/2014/main" id="{FB235DA3-C27C-809C-3E91-945EC4AA817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0773" name="Text Box 5" descr="Slide Number Placeholder 5">
            <a:extLst>
              <a:ext uri="{FF2B5EF4-FFF2-40B4-BE49-F238E27FC236}">
                <a16:creationId xmlns:a16="http://schemas.microsoft.com/office/drawing/2014/main" id="{0FEFF038-1E59-A4E1-E6AE-970A32975F8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52ACDF5-C590-4339-B04F-1F1F5AF4F44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60774" name="Text Box 6" descr="TextBox 6">
            <a:extLst>
              <a:ext uri="{FF2B5EF4-FFF2-40B4-BE49-F238E27FC236}">
                <a16:creationId xmlns:a16="http://schemas.microsoft.com/office/drawing/2014/main" id="{0624E404-3FDF-7C4A-0A5F-194DCEA6C9D0}"/>
              </a:ext>
            </a:extLst>
          </p:cNvPr>
          <p:cNvSpPr txBox="1">
            <a:spLocks/>
          </p:cNvSpPr>
          <p:nvPr/>
        </p:nvSpPr>
        <p:spPr bwMode="auto">
          <a:xfrm>
            <a:off x="7019925" y="2852738"/>
            <a:ext cx="1854200" cy="4810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lvl="1" indent="0"/>
            <a:r>
              <a:rPr lang="en-US" altLang="en-US" sz="1200"/>
              <a:t>Note: i,j are identifiers</a:t>
            </a:r>
          </a:p>
          <a:p>
            <a:pPr lvl="1" indent="0"/>
            <a:r>
              <a:rPr lang="en-US" altLang="en-US" sz="1200"/>
              <a:t>of Transactions</a:t>
            </a:r>
          </a:p>
        </p:txBody>
      </p:sp>
      <p:sp>
        <p:nvSpPr>
          <p:cNvPr id="160775" name="Text Box 7" descr="TextBox 7">
            <a:extLst>
              <a:ext uri="{FF2B5EF4-FFF2-40B4-BE49-F238E27FC236}">
                <a16:creationId xmlns:a16="http://schemas.microsoft.com/office/drawing/2014/main" id="{398A18F0-C267-3B19-CA22-9B9FD694EFF1}"/>
              </a:ext>
            </a:extLst>
          </p:cNvPr>
          <p:cNvSpPr txBox="1">
            <a:spLocks/>
          </p:cNvSpPr>
          <p:nvPr/>
        </p:nvSpPr>
        <p:spPr bwMode="auto">
          <a:xfrm>
            <a:off x="584200" y="5156200"/>
            <a:ext cx="7697788" cy="1171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Note: The premise behind view equivalence:</a:t>
            </a:r>
          </a:p>
          <a:p>
            <a:r>
              <a:rPr lang="en-US" altLang="en-US" sz="1400"/>
              <a:t>– “The view”: the read operations are said to see </a:t>
            </a:r>
            <a:r>
              <a:rPr lang="en-US" altLang="en-US" sz="1400" i="1"/>
              <a:t>the same view </a:t>
            </a:r>
            <a:r>
              <a:rPr lang="en-US" altLang="en-US" sz="1400"/>
              <a:t>in both schedules.</a:t>
            </a:r>
          </a:p>
          <a:p>
            <a:r>
              <a:rPr lang="en-US" altLang="en-US" sz="1400"/>
              <a:t>– Rule: As long as each read operation of a transaction reads the result of </a:t>
            </a:r>
            <a:r>
              <a:rPr lang="en-US" altLang="en-US" sz="1400" i="1"/>
              <a:t>the same </a:t>
            </a:r>
          </a:p>
          <a:p>
            <a:r>
              <a:rPr lang="en-US" altLang="en-US" sz="1400" i="1"/>
              <a:t>write operation </a:t>
            </a:r>
            <a:r>
              <a:rPr lang="en-US" altLang="en-US" sz="1400"/>
              <a:t>in both schedules, the write operations of each transaction must </a:t>
            </a:r>
          </a:p>
          <a:p>
            <a:r>
              <a:rPr lang="en-US" altLang="en-US" sz="1400"/>
              <a:t>produce the same results.</a:t>
            </a:r>
          </a:p>
        </p:txBody>
      </p:sp>
    </p:spTree>
  </p:cSld>
  <p:clrMapOvr>
    <a:masterClrMapping/>
  </p:clrMapOvr>
  <p:transition spd="med"/>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2" descr="Title 1">
            <a:extLst>
              <a:ext uri="{FF2B5EF4-FFF2-40B4-BE49-F238E27FC236}">
                <a16:creationId xmlns:a16="http://schemas.microsoft.com/office/drawing/2014/main" id="{A616F5CF-456B-88BD-CBFA-FDAC2C0D7C4E}"/>
              </a:ext>
            </a:extLst>
          </p:cNvPr>
          <p:cNvSpPr>
            <a:spLocks noChangeArrowheads="1"/>
          </p:cNvSpPr>
          <p:nvPr>
            <p:ph type="title"/>
          </p:nvPr>
        </p:nvSpPr>
        <p:spPr/>
        <p:txBody>
          <a:bodyPr/>
          <a:lstStyle/>
          <a:p>
            <a:r>
              <a:rPr lang="en-US" altLang="en-US"/>
              <a:t>View Equivalence Schedules</a:t>
            </a:r>
          </a:p>
        </p:txBody>
      </p:sp>
      <p:sp>
        <p:nvSpPr>
          <p:cNvPr id="161795" name="Rectangle 3" descr="Content Placeholder 2">
            <a:extLst>
              <a:ext uri="{FF2B5EF4-FFF2-40B4-BE49-F238E27FC236}">
                <a16:creationId xmlns:a16="http://schemas.microsoft.com/office/drawing/2014/main" id="{A4B6343B-F5E3-A74D-1291-3A00EC35CD5F}"/>
              </a:ext>
            </a:extLst>
          </p:cNvPr>
          <p:cNvSpPr>
            <a:spLocks noChangeArrowheads="1"/>
          </p:cNvSpPr>
          <p:nvPr>
            <p:ph type="body" idx="1"/>
          </p:nvPr>
        </p:nvSpPr>
        <p:spPr/>
        <p:txBody>
          <a:bodyPr/>
          <a:lstStyle/>
          <a:p>
            <a:pPr marL="200025" indent="-182563">
              <a:spcBef>
                <a:spcPts val="300"/>
              </a:spcBef>
              <a:buSzTx/>
              <a:buFont typeface="Wingdings" panose="05000000000000000000" pitchFamily="2" charset="2"/>
              <a:buNone/>
            </a:pPr>
            <a:r>
              <a:rPr lang="en-US" altLang="en-US" sz="1400" b="1"/>
              <a:t>View Equivalence</a:t>
            </a:r>
            <a:r>
              <a:rPr lang="en-US" altLang="en-US" sz="1400"/>
              <a:t>, </a:t>
            </a:r>
            <a:r>
              <a:rPr lang="en-US" altLang="en-US" sz="1400" b="1"/>
              <a:t>respective transactions </a:t>
            </a:r>
            <a:r>
              <a:rPr lang="en-US" altLang="en-US" sz="1400"/>
              <a:t>in the two schedules </a:t>
            </a:r>
            <a:r>
              <a:rPr lang="en-US" altLang="en-US" sz="1400" b="1">
                <a:solidFill>
                  <a:srgbClr val="0000FF"/>
                </a:solidFill>
              </a:rPr>
              <a:t>read </a:t>
            </a:r>
            <a:r>
              <a:rPr lang="en-US" altLang="en-US" sz="1400">
                <a:solidFill>
                  <a:srgbClr val="0000FF"/>
                </a:solidFill>
              </a:rPr>
              <a:t>and </a:t>
            </a:r>
            <a:r>
              <a:rPr lang="en-US" altLang="en-US" sz="1400" b="1">
                <a:solidFill>
                  <a:srgbClr val="0000FF"/>
                </a:solidFill>
              </a:rPr>
              <a:t>write </a:t>
            </a:r>
            <a:r>
              <a:rPr lang="en-US" altLang="en-US" sz="1400">
                <a:solidFill>
                  <a:srgbClr val="0000FF"/>
                </a:solidFill>
              </a:rPr>
              <a:t>the </a:t>
            </a:r>
            <a:r>
              <a:rPr lang="en-US" altLang="en-US" sz="1400" b="1">
                <a:solidFill>
                  <a:srgbClr val="0000FF"/>
                </a:solidFill>
              </a:rPr>
              <a:t>same data </a:t>
            </a:r>
            <a:r>
              <a:rPr lang="en-US" altLang="en-US" sz="1400">
                <a:solidFill>
                  <a:srgbClr val="0000FF"/>
                </a:solidFill>
              </a:rPr>
              <a:t>values </a:t>
            </a:r>
          </a:p>
          <a:p>
            <a:pPr marL="200025" indent="-182563">
              <a:spcBef>
                <a:spcPts val="300"/>
              </a:spcBef>
            </a:pPr>
            <a:r>
              <a:rPr lang="en-US" altLang="en-US" sz="1400">
                <a:solidFill>
                  <a:srgbClr val="0000FF"/>
                </a:solidFill>
              </a:rPr>
              <a:t>Initial Reads: </a:t>
            </a:r>
            <a:r>
              <a:rPr lang="en-US" altLang="en-US" sz="1400" b="1"/>
              <a:t>If </a:t>
            </a:r>
            <a:r>
              <a:rPr lang="en-US" altLang="en-US" sz="1400"/>
              <a:t>in S1: ri(A) </a:t>
            </a:r>
            <a:r>
              <a:rPr lang="en-US" altLang="en-US" sz="1400" b="1"/>
              <a:t>reads initial </a:t>
            </a:r>
            <a:r>
              <a:rPr lang="en-US" altLang="en-US" sz="1400"/>
              <a:t>DB value, </a:t>
            </a:r>
          </a:p>
          <a:p>
            <a:pPr marL="200025" indent="-182563">
              <a:spcBef>
                <a:spcPts val="300"/>
              </a:spcBef>
              <a:buSzTx/>
              <a:buFont typeface="Wingdings" panose="05000000000000000000" pitchFamily="2" charset="2"/>
              <a:buNone/>
            </a:pPr>
            <a:r>
              <a:rPr lang="en-US" altLang="en-US" sz="1400" b="1"/>
              <a:t>                          then </a:t>
            </a:r>
            <a:r>
              <a:rPr lang="en-US" altLang="en-US" sz="1400"/>
              <a:t>in S2: ri(A) also reads initial DB value</a:t>
            </a:r>
            <a:endParaRPr lang="en-US" altLang="en-US" sz="1400" b="1">
              <a:solidFill>
                <a:srgbClr val="0000FF"/>
              </a:solidFill>
            </a:endParaRPr>
          </a:p>
          <a:p>
            <a:pPr marL="200025" indent="-182563">
              <a:spcBef>
                <a:spcPts val="300"/>
              </a:spcBef>
            </a:pPr>
            <a:r>
              <a:rPr lang="en-US" altLang="en-US" sz="1400">
                <a:solidFill>
                  <a:srgbClr val="0000FF"/>
                </a:solidFill>
              </a:rPr>
              <a:t>Same WR order</a:t>
            </a:r>
            <a:r>
              <a:rPr lang="en-US" altLang="en-US" sz="1400"/>
              <a:t>: </a:t>
            </a:r>
            <a:r>
              <a:rPr lang="en-US" altLang="en-US" sz="1400" b="1"/>
              <a:t>If </a:t>
            </a:r>
            <a:r>
              <a:rPr lang="en-US" altLang="en-US" sz="1400"/>
              <a:t>in S1: wj(A) –&gt; ri(A)</a:t>
            </a:r>
          </a:p>
          <a:p>
            <a:pPr marL="200025" indent="-182563">
              <a:spcBef>
                <a:spcPts val="300"/>
              </a:spcBef>
              <a:buSzTx/>
              <a:buFont typeface="Wingdings" panose="05000000000000000000" pitchFamily="2" charset="2"/>
              <a:buNone/>
            </a:pPr>
            <a:r>
              <a:rPr lang="en-US" altLang="en-US" sz="1400"/>
              <a:t>                              </a:t>
            </a:r>
            <a:r>
              <a:rPr lang="en-US" altLang="en-US" sz="1400" b="1"/>
              <a:t>then </a:t>
            </a:r>
            <a:r>
              <a:rPr lang="en-US" altLang="en-US" sz="1400"/>
              <a:t>in S2: wj(A)-&gt; ri(A)</a:t>
            </a:r>
          </a:p>
          <a:p>
            <a:pPr marL="200025" indent="-182563">
              <a:spcBef>
                <a:spcPts val="300"/>
              </a:spcBef>
            </a:pPr>
            <a:r>
              <a:rPr lang="en-US" altLang="en-US" sz="1400">
                <a:solidFill>
                  <a:srgbClr val="0000FF"/>
                </a:solidFill>
              </a:rPr>
              <a:t>Final Writes: </a:t>
            </a:r>
            <a:r>
              <a:rPr lang="en-US" altLang="en-US" sz="1400" b="1"/>
              <a:t>If</a:t>
            </a:r>
            <a:r>
              <a:rPr lang="en-US" altLang="en-US" sz="1400"/>
              <a:t> in S1: wi(A) does </a:t>
            </a:r>
            <a:r>
              <a:rPr lang="en-US" altLang="en-US" sz="1400" b="1"/>
              <a:t>last write </a:t>
            </a:r>
            <a:r>
              <a:rPr lang="en-US" altLang="en-US" sz="1400"/>
              <a:t>on A, </a:t>
            </a:r>
          </a:p>
          <a:p>
            <a:pPr marL="200025" indent="-182563">
              <a:spcBef>
                <a:spcPts val="300"/>
              </a:spcBef>
              <a:buSzTx/>
              <a:buFont typeface="Wingdings" panose="05000000000000000000" pitchFamily="2" charset="2"/>
              <a:buNone/>
            </a:pPr>
            <a:r>
              <a:rPr lang="en-US" altLang="en-US" sz="1400" b="1"/>
              <a:t>                        then </a:t>
            </a:r>
            <a:r>
              <a:rPr lang="en-US" altLang="en-US" sz="1400"/>
              <a:t>in S2: wi(A) also does last write on A</a:t>
            </a:r>
            <a:endParaRPr lang="en-US" altLang="en-US" sz="1400" b="1"/>
          </a:p>
        </p:txBody>
      </p:sp>
      <p:sp>
        <p:nvSpPr>
          <p:cNvPr id="161796" name="Text Box 4" descr="Date Placeholder 3">
            <a:extLst>
              <a:ext uri="{FF2B5EF4-FFF2-40B4-BE49-F238E27FC236}">
                <a16:creationId xmlns:a16="http://schemas.microsoft.com/office/drawing/2014/main" id="{9AE20004-813B-219A-7A20-2379DF6201E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1797" name="Text Box 5" descr="Slide Number Placeholder 5">
            <a:extLst>
              <a:ext uri="{FF2B5EF4-FFF2-40B4-BE49-F238E27FC236}">
                <a16:creationId xmlns:a16="http://schemas.microsoft.com/office/drawing/2014/main" id="{ED5EA759-B80C-9F08-B3B5-1576DF6DDF4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424BA66-F248-4907-B5F1-541EB35C1A4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61798" name="Group 6">
            <a:extLst>
              <a:ext uri="{FF2B5EF4-FFF2-40B4-BE49-F238E27FC236}">
                <a16:creationId xmlns:a16="http://schemas.microsoft.com/office/drawing/2014/main" id="{2046D09F-AEAC-6FEB-B22B-AFEB22C2CA16}"/>
              </a:ext>
            </a:extLst>
          </p:cNvPr>
          <p:cNvGraphicFramePr>
            <a:graphicFrameLocks noGrp="1"/>
          </p:cNvGraphicFramePr>
          <p:nvPr/>
        </p:nvGraphicFramePr>
        <p:xfrm>
          <a:off x="1330325" y="3716338"/>
          <a:ext cx="2665413" cy="2305050"/>
        </p:xfrm>
        <a:graphic>
          <a:graphicData uri="http://schemas.openxmlformats.org/drawingml/2006/table">
            <a:tbl>
              <a:tblPr/>
              <a:tblGrid>
                <a:gridCol w="773113">
                  <a:extLst>
                    <a:ext uri="{9D8B030D-6E8A-4147-A177-3AD203B41FA5}">
                      <a16:colId xmlns:a16="http://schemas.microsoft.com/office/drawing/2014/main" val="3994602129"/>
                    </a:ext>
                  </a:extLst>
                </a:gridCol>
                <a:gridCol w="946150">
                  <a:extLst>
                    <a:ext uri="{9D8B030D-6E8A-4147-A177-3AD203B41FA5}">
                      <a16:colId xmlns:a16="http://schemas.microsoft.com/office/drawing/2014/main" val="3114502495"/>
                    </a:ext>
                  </a:extLst>
                </a:gridCol>
                <a:gridCol w="946150">
                  <a:extLst>
                    <a:ext uri="{9D8B030D-6E8A-4147-A177-3AD203B41FA5}">
                      <a16:colId xmlns:a16="http://schemas.microsoft.com/office/drawing/2014/main" val="273220018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104490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0653774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4843852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006258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2579280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39602351"/>
                  </a:ext>
                </a:extLst>
              </a:tr>
            </a:tbl>
          </a:graphicData>
        </a:graphic>
      </p:graphicFrame>
      <p:sp>
        <p:nvSpPr>
          <p:cNvPr id="161862" name="Text Box 70" descr="TextBox 7">
            <a:extLst>
              <a:ext uri="{FF2B5EF4-FFF2-40B4-BE49-F238E27FC236}">
                <a16:creationId xmlns:a16="http://schemas.microsoft.com/office/drawing/2014/main" id="{111E1F39-42D9-9C3C-402E-607F6A4B19B7}"/>
              </a:ext>
            </a:extLst>
          </p:cNvPr>
          <p:cNvSpPr txBox="1">
            <a:spLocks/>
          </p:cNvSpPr>
          <p:nvPr/>
        </p:nvSpPr>
        <p:spPr bwMode="auto">
          <a:xfrm>
            <a:off x="2079625" y="3355975"/>
            <a:ext cx="1212850"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S1</a:t>
            </a:r>
          </a:p>
        </p:txBody>
      </p:sp>
      <p:graphicFrame>
        <p:nvGraphicFramePr>
          <p:cNvPr id="161863" name="Group 71">
            <a:extLst>
              <a:ext uri="{FF2B5EF4-FFF2-40B4-BE49-F238E27FC236}">
                <a16:creationId xmlns:a16="http://schemas.microsoft.com/office/drawing/2014/main" id="{BC6C5551-3A5E-F28C-7C9A-4EB7A95E0D20}"/>
              </a:ext>
            </a:extLst>
          </p:cNvPr>
          <p:cNvGraphicFramePr>
            <a:graphicFrameLocks noGrp="1"/>
          </p:cNvGraphicFramePr>
          <p:nvPr/>
        </p:nvGraphicFramePr>
        <p:xfrm>
          <a:off x="4716463" y="3711575"/>
          <a:ext cx="2665412" cy="2305050"/>
        </p:xfrm>
        <a:graphic>
          <a:graphicData uri="http://schemas.openxmlformats.org/drawingml/2006/table">
            <a:tbl>
              <a:tblPr/>
              <a:tblGrid>
                <a:gridCol w="773112">
                  <a:extLst>
                    <a:ext uri="{9D8B030D-6E8A-4147-A177-3AD203B41FA5}">
                      <a16:colId xmlns:a16="http://schemas.microsoft.com/office/drawing/2014/main" val="2723542348"/>
                    </a:ext>
                  </a:extLst>
                </a:gridCol>
                <a:gridCol w="946150">
                  <a:extLst>
                    <a:ext uri="{9D8B030D-6E8A-4147-A177-3AD203B41FA5}">
                      <a16:colId xmlns:a16="http://schemas.microsoft.com/office/drawing/2014/main" val="1275526494"/>
                    </a:ext>
                  </a:extLst>
                </a:gridCol>
                <a:gridCol w="946150">
                  <a:extLst>
                    <a:ext uri="{9D8B030D-6E8A-4147-A177-3AD203B41FA5}">
                      <a16:colId xmlns:a16="http://schemas.microsoft.com/office/drawing/2014/main" val="281418172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024864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8060538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154207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2661028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270517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50684412"/>
                  </a:ext>
                </a:extLst>
              </a:tr>
            </a:tbl>
          </a:graphicData>
        </a:graphic>
      </p:graphicFrame>
      <p:sp>
        <p:nvSpPr>
          <p:cNvPr id="161927" name="Text Box 135" descr="TextBox 10">
            <a:extLst>
              <a:ext uri="{FF2B5EF4-FFF2-40B4-BE49-F238E27FC236}">
                <a16:creationId xmlns:a16="http://schemas.microsoft.com/office/drawing/2014/main" id="{A81E2BF6-8CC8-8841-1682-9C67316B11A7}"/>
              </a:ext>
            </a:extLst>
          </p:cNvPr>
          <p:cNvSpPr txBox="1">
            <a:spLocks/>
          </p:cNvSpPr>
          <p:nvPr/>
        </p:nvSpPr>
        <p:spPr bwMode="auto">
          <a:xfrm>
            <a:off x="5481638" y="3355975"/>
            <a:ext cx="1211262"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a:t>
            </a:r>
          </a:p>
        </p:txBody>
      </p:sp>
      <p:sp>
        <p:nvSpPr>
          <p:cNvPr id="161928" name="Text Box 136" descr="TextBox 8">
            <a:extLst>
              <a:ext uri="{FF2B5EF4-FFF2-40B4-BE49-F238E27FC236}">
                <a16:creationId xmlns:a16="http://schemas.microsoft.com/office/drawing/2014/main" id="{163A4A07-ACA4-1715-B6A6-350CD53A2AA1}"/>
              </a:ext>
            </a:extLst>
          </p:cNvPr>
          <p:cNvSpPr txBox="1">
            <a:spLocks/>
          </p:cNvSpPr>
          <p:nvPr/>
        </p:nvSpPr>
        <p:spPr bwMode="auto">
          <a:xfrm>
            <a:off x="1927225" y="5948363"/>
            <a:ext cx="4794250"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 is view equivalent to serial schedule S1</a:t>
            </a:r>
          </a:p>
        </p:txBody>
      </p:sp>
    </p:spTree>
  </p:cSld>
  <p:clrMapOvr>
    <a:masterClrMapping/>
  </p:clrMapOvr>
  <p:transition spd="med"/>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2" descr="Title 1">
            <a:extLst>
              <a:ext uri="{FF2B5EF4-FFF2-40B4-BE49-F238E27FC236}">
                <a16:creationId xmlns:a16="http://schemas.microsoft.com/office/drawing/2014/main" id="{B2DBF6FB-3E86-2E40-7054-9F93197FE9B4}"/>
              </a:ext>
            </a:extLst>
          </p:cNvPr>
          <p:cNvSpPr>
            <a:spLocks noChangeArrowheads="1"/>
          </p:cNvSpPr>
          <p:nvPr>
            <p:ph type="title"/>
          </p:nvPr>
        </p:nvSpPr>
        <p:spPr/>
        <p:txBody>
          <a:bodyPr/>
          <a:lstStyle/>
          <a:p>
            <a:r>
              <a:rPr lang="en-US" altLang="en-US"/>
              <a:t>View Equivalence Schedules</a:t>
            </a:r>
          </a:p>
        </p:txBody>
      </p:sp>
      <p:sp>
        <p:nvSpPr>
          <p:cNvPr id="162819" name="Rectangle 3" descr="Content Placeholder 2">
            <a:extLst>
              <a:ext uri="{FF2B5EF4-FFF2-40B4-BE49-F238E27FC236}">
                <a16:creationId xmlns:a16="http://schemas.microsoft.com/office/drawing/2014/main" id="{6C49E955-87FB-32C7-EA71-D45826E328AD}"/>
              </a:ext>
            </a:extLst>
          </p:cNvPr>
          <p:cNvSpPr>
            <a:spLocks noChangeArrowheads="1"/>
          </p:cNvSpPr>
          <p:nvPr>
            <p:ph type="body" idx="1"/>
          </p:nvPr>
        </p:nvSpPr>
        <p:spPr/>
        <p:txBody>
          <a:bodyPr/>
          <a:lstStyle/>
          <a:p>
            <a:pPr marL="200025" indent="-182563">
              <a:spcBef>
                <a:spcPts val="300"/>
              </a:spcBef>
              <a:buSzTx/>
              <a:buFont typeface="Wingdings" panose="05000000000000000000" pitchFamily="2" charset="2"/>
              <a:buNone/>
            </a:pPr>
            <a:r>
              <a:rPr lang="en-US" altLang="en-US" sz="1400" b="1">
                <a:solidFill>
                  <a:srgbClr val="000000"/>
                </a:solidFill>
              </a:rPr>
              <a:t>View Equivalence</a:t>
            </a:r>
            <a:r>
              <a:rPr lang="en-US" altLang="en-US" sz="1400">
                <a:solidFill>
                  <a:srgbClr val="000000"/>
                </a:solidFill>
              </a:rPr>
              <a:t>, </a:t>
            </a:r>
            <a:r>
              <a:rPr lang="en-US" altLang="en-US" sz="1400" b="1">
                <a:solidFill>
                  <a:srgbClr val="000000"/>
                </a:solidFill>
              </a:rPr>
              <a:t>respective transactions </a:t>
            </a:r>
            <a:r>
              <a:rPr lang="en-US" altLang="en-US" sz="1400">
                <a:solidFill>
                  <a:srgbClr val="000000"/>
                </a:solidFill>
              </a:rPr>
              <a:t>in the two schedules </a:t>
            </a:r>
            <a:r>
              <a:rPr lang="en-US" altLang="en-US" sz="1400" b="1">
                <a:solidFill>
                  <a:srgbClr val="000000"/>
                </a:solidFill>
              </a:rPr>
              <a:t>read </a:t>
            </a:r>
            <a:r>
              <a:rPr lang="en-US" altLang="en-US" sz="1400">
                <a:solidFill>
                  <a:srgbClr val="000000"/>
                </a:solidFill>
              </a:rPr>
              <a:t>and </a:t>
            </a:r>
            <a:r>
              <a:rPr lang="en-US" altLang="en-US" sz="1400" b="1">
                <a:solidFill>
                  <a:srgbClr val="000000"/>
                </a:solidFill>
              </a:rPr>
              <a:t>write </a:t>
            </a:r>
            <a:r>
              <a:rPr lang="en-US" altLang="en-US" sz="1400">
                <a:solidFill>
                  <a:srgbClr val="000000"/>
                </a:solidFill>
              </a:rPr>
              <a:t>the </a:t>
            </a:r>
            <a:r>
              <a:rPr lang="en-US" altLang="en-US" sz="1400" b="1">
                <a:solidFill>
                  <a:srgbClr val="000000"/>
                </a:solidFill>
              </a:rPr>
              <a:t>same data </a:t>
            </a:r>
            <a:r>
              <a:rPr lang="en-US" altLang="en-US" sz="1400">
                <a:solidFill>
                  <a:srgbClr val="000000"/>
                </a:solidFill>
              </a:rPr>
              <a:t>values </a:t>
            </a:r>
          </a:p>
          <a:p>
            <a:pPr marL="200025" indent="-182563">
              <a:spcBef>
                <a:spcPts val="300"/>
              </a:spcBef>
            </a:pPr>
            <a:r>
              <a:rPr lang="en-US" altLang="en-US" sz="1400">
                <a:solidFill>
                  <a:srgbClr val="0000FF"/>
                </a:solidFill>
              </a:rPr>
              <a:t>Initial Reads: </a:t>
            </a:r>
            <a:r>
              <a:rPr lang="en-US" altLang="en-US" sz="1400" b="1">
                <a:solidFill>
                  <a:srgbClr val="0000FF"/>
                </a:solidFill>
              </a:rPr>
              <a:t>If </a:t>
            </a:r>
            <a:r>
              <a:rPr lang="en-US" altLang="en-US" sz="1400">
                <a:solidFill>
                  <a:srgbClr val="0000FF"/>
                </a:solidFill>
              </a:rPr>
              <a:t>in S1: ri(A) </a:t>
            </a:r>
            <a:r>
              <a:rPr lang="en-US" altLang="en-US" sz="1400" b="1">
                <a:solidFill>
                  <a:srgbClr val="0000FF"/>
                </a:solidFill>
              </a:rPr>
              <a:t>reads initial </a:t>
            </a:r>
            <a:r>
              <a:rPr lang="en-US" altLang="en-US" sz="1400">
                <a:solidFill>
                  <a:srgbClr val="0000FF"/>
                </a:solidFill>
              </a:rPr>
              <a:t>DB value, </a:t>
            </a:r>
          </a:p>
          <a:p>
            <a:pPr marL="200025" indent="-182563">
              <a:spcBef>
                <a:spcPts val="300"/>
              </a:spcBef>
              <a:buSzTx/>
              <a:buFont typeface="Wingdings" panose="05000000000000000000" pitchFamily="2" charset="2"/>
              <a:buNone/>
            </a:pPr>
            <a:r>
              <a:rPr lang="en-US" altLang="en-US" sz="1400" b="1">
                <a:solidFill>
                  <a:srgbClr val="0000FF"/>
                </a:solidFill>
              </a:rPr>
              <a:t>                          then </a:t>
            </a:r>
            <a:r>
              <a:rPr lang="en-US" altLang="en-US" sz="1400">
                <a:solidFill>
                  <a:srgbClr val="0000FF"/>
                </a:solidFill>
              </a:rPr>
              <a:t>in S2: ri(A) also reads initial DB value</a:t>
            </a:r>
          </a:p>
          <a:p>
            <a:pPr marL="200025" indent="-182563">
              <a:spcBef>
                <a:spcPts val="300"/>
              </a:spcBef>
            </a:pPr>
            <a:r>
              <a:rPr lang="en-US" altLang="en-US" sz="1400">
                <a:solidFill>
                  <a:srgbClr val="000000"/>
                </a:solidFill>
              </a:rPr>
              <a:t>Same WR order: </a:t>
            </a:r>
            <a:r>
              <a:rPr lang="en-US" altLang="en-US" sz="1400" b="1">
                <a:solidFill>
                  <a:srgbClr val="000000"/>
                </a:solidFill>
              </a:rPr>
              <a:t>If </a:t>
            </a:r>
            <a:r>
              <a:rPr lang="en-US" altLang="en-US" sz="1400">
                <a:solidFill>
                  <a:srgbClr val="000000"/>
                </a:solidFill>
              </a:rPr>
              <a:t>in S1: wj(A) –&gt; ri(A)</a:t>
            </a:r>
          </a:p>
          <a:p>
            <a:pPr marL="200025" indent="-182563">
              <a:spcBef>
                <a:spcPts val="300"/>
              </a:spcBef>
              <a:buSzTx/>
              <a:buFont typeface="Wingdings" panose="05000000000000000000" pitchFamily="2" charset="2"/>
              <a:buNone/>
            </a:pPr>
            <a:r>
              <a:rPr lang="en-US" altLang="en-US" sz="1400">
                <a:solidFill>
                  <a:srgbClr val="000000"/>
                </a:solidFill>
              </a:rPr>
              <a:t>                              </a:t>
            </a:r>
            <a:r>
              <a:rPr lang="en-US" altLang="en-US" sz="1400" b="1">
                <a:solidFill>
                  <a:srgbClr val="000000"/>
                </a:solidFill>
              </a:rPr>
              <a:t>then </a:t>
            </a:r>
            <a:r>
              <a:rPr lang="en-US" altLang="en-US" sz="1400">
                <a:solidFill>
                  <a:srgbClr val="000000"/>
                </a:solidFill>
              </a:rPr>
              <a:t>in S2: wj(A)-&gt; ri(A)</a:t>
            </a:r>
          </a:p>
          <a:p>
            <a:pPr marL="200025" indent="-182563">
              <a:spcBef>
                <a:spcPts val="300"/>
              </a:spcBef>
            </a:pPr>
            <a:r>
              <a:rPr lang="en-US" altLang="en-US" sz="1400">
                <a:solidFill>
                  <a:srgbClr val="000000"/>
                </a:solidFill>
              </a:rPr>
              <a:t>Final Writes: </a:t>
            </a:r>
            <a:r>
              <a:rPr lang="en-US" altLang="en-US" sz="1400" b="1">
                <a:solidFill>
                  <a:srgbClr val="000000"/>
                </a:solidFill>
              </a:rPr>
              <a:t>If</a:t>
            </a:r>
            <a:r>
              <a:rPr lang="en-US" altLang="en-US" sz="1400">
                <a:solidFill>
                  <a:srgbClr val="000000"/>
                </a:solidFill>
              </a:rPr>
              <a:t> in S1: wi(A) does </a:t>
            </a:r>
            <a:r>
              <a:rPr lang="en-US" altLang="en-US" sz="1400" b="1">
                <a:solidFill>
                  <a:srgbClr val="000000"/>
                </a:solidFill>
              </a:rPr>
              <a:t>last write </a:t>
            </a:r>
            <a:r>
              <a:rPr lang="en-US" altLang="en-US" sz="1400">
                <a:solidFill>
                  <a:srgbClr val="000000"/>
                </a:solidFill>
              </a:rPr>
              <a:t>on A, </a:t>
            </a:r>
          </a:p>
          <a:p>
            <a:pPr marL="200025" indent="-182563">
              <a:spcBef>
                <a:spcPts val="300"/>
              </a:spcBef>
              <a:buSzTx/>
              <a:buFont typeface="Wingdings" panose="05000000000000000000" pitchFamily="2" charset="2"/>
              <a:buNone/>
            </a:pPr>
            <a:r>
              <a:rPr lang="en-US" altLang="en-US" sz="1400" b="1">
                <a:solidFill>
                  <a:srgbClr val="000000"/>
                </a:solidFill>
              </a:rPr>
              <a:t>                        then </a:t>
            </a:r>
            <a:r>
              <a:rPr lang="en-US" altLang="en-US" sz="1400">
                <a:solidFill>
                  <a:srgbClr val="000000"/>
                </a:solidFill>
              </a:rPr>
              <a:t>in S2: wi(A) also does last write on A</a:t>
            </a:r>
            <a:endParaRPr lang="en-US" altLang="en-US" sz="1400" b="1">
              <a:solidFill>
                <a:srgbClr val="000000"/>
              </a:solidFill>
            </a:endParaRPr>
          </a:p>
        </p:txBody>
      </p:sp>
      <p:sp>
        <p:nvSpPr>
          <p:cNvPr id="162820" name="Text Box 4" descr="Date Placeholder 3">
            <a:extLst>
              <a:ext uri="{FF2B5EF4-FFF2-40B4-BE49-F238E27FC236}">
                <a16:creationId xmlns:a16="http://schemas.microsoft.com/office/drawing/2014/main" id="{BBF8CDE1-925C-E6A8-6080-1DF43E25C0D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2821" name="Text Box 5" descr="Slide Number Placeholder 5">
            <a:extLst>
              <a:ext uri="{FF2B5EF4-FFF2-40B4-BE49-F238E27FC236}">
                <a16:creationId xmlns:a16="http://schemas.microsoft.com/office/drawing/2014/main" id="{917FE7CB-31B1-17D7-C5C6-97DA8798091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EC8C2B0-B956-4DE2-B964-3996091C211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62822" name="Group 6">
            <a:extLst>
              <a:ext uri="{FF2B5EF4-FFF2-40B4-BE49-F238E27FC236}">
                <a16:creationId xmlns:a16="http://schemas.microsoft.com/office/drawing/2014/main" id="{81C2001D-479A-06A9-CE70-E2DDC499FC86}"/>
              </a:ext>
            </a:extLst>
          </p:cNvPr>
          <p:cNvGraphicFramePr>
            <a:graphicFrameLocks noGrp="1"/>
          </p:cNvGraphicFramePr>
          <p:nvPr/>
        </p:nvGraphicFramePr>
        <p:xfrm>
          <a:off x="755650" y="3716338"/>
          <a:ext cx="2665413" cy="2305050"/>
        </p:xfrm>
        <a:graphic>
          <a:graphicData uri="http://schemas.openxmlformats.org/drawingml/2006/table">
            <a:tbl>
              <a:tblPr/>
              <a:tblGrid>
                <a:gridCol w="773113">
                  <a:extLst>
                    <a:ext uri="{9D8B030D-6E8A-4147-A177-3AD203B41FA5}">
                      <a16:colId xmlns:a16="http://schemas.microsoft.com/office/drawing/2014/main" val="1300618779"/>
                    </a:ext>
                  </a:extLst>
                </a:gridCol>
                <a:gridCol w="946150">
                  <a:extLst>
                    <a:ext uri="{9D8B030D-6E8A-4147-A177-3AD203B41FA5}">
                      <a16:colId xmlns:a16="http://schemas.microsoft.com/office/drawing/2014/main" val="1914551706"/>
                    </a:ext>
                  </a:extLst>
                </a:gridCol>
                <a:gridCol w="946150">
                  <a:extLst>
                    <a:ext uri="{9D8B030D-6E8A-4147-A177-3AD203B41FA5}">
                      <a16:colId xmlns:a16="http://schemas.microsoft.com/office/drawing/2014/main" val="296160320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783052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5455553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4828548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3141307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857122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56319788"/>
                  </a:ext>
                </a:extLst>
              </a:tr>
            </a:tbl>
          </a:graphicData>
        </a:graphic>
      </p:graphicFrame>
      <p:sp>
        <p:nvSpPr>
          <p:cNvPr id="162886" name="Text Box 70" descr="TextBox 7">
            <a:extLst>
              <a:ext uri="{FF2B5EF4-FFF2-40B4-BE49-F238E27FC236}">
                <a16:creationId xmlns:a16="http://schemas.microsoft.com/office/drawing/2014/main" id="{C2BFD4CE-80C6-46EF-99B2-B1211BBF0858}"/>
              </a:ext>
            </a:extLst>
          </p:cNvPr>
          <p:cNvSpPr txBox="1">
            <a:spLocks/>
          </p:cNvSpPr>
          <p:nvPr/>
        </p:nvSpPr>
        <p:spPr bwMode="auto">
          <a:xfrm>
            <a:off x="1522413" y="5935663"/>
            <a:ext cx="1211262"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S1</a:t>
            </a:r>
          </a:p>
        </p:txBody>
      </p:sp>
      <p:graphicFrame>
        <p:nvGraphicFramePr>
          <p:cNvPr id="162887" name="Group 71">
            <a:extLst>
              <a:ext uri="{FF2B5EF4-FFF2-40B4-BE49-F238E27FC236}">
                <a16:creationId xmlns:a16="http://schemas.microsoft.com/office/drawing/2014/main" id="{8743B3D2-A083-0405-1794-858E7515B7D6}"/>
              </a:ext>
            </a:extLst>
          </p:cNvPr>
          <p:cNvGraphicFramePr>
            <a:graphicFrameLocks noGrp="1"/>
          </p:cNvGraphicFramePr>
          <p:nvPr/>
        </p:nvGraphicFramePr>
        <p:xfrm>
          <a:off x="4141788" y="3711575"/>
          <a:ext cx="2665412" cy="2305050"/>
        </p:xfrm>
        <a:graphic>
          <a:graphicData uri="http://schemas.openxmlformats.org/drawingml/2006/table">
            <a:tbl>
              <a:tblPr/>
              <a:tblGrid>
                <a:gridCol w="773112">
                  <a:extLst>
                    <a:ext uri="{9D8B030D-6E8A-4147-A177-3AD203B41FA5}">
                      <a16:colId xmlns:a16="http://schemas.microsoft.com/office/drawing/2014/main" val="1446763683"/>
                    </a:ext>
                  </a:extLst>
                </a:gridCol>
                <a:gridCol w="946150">
                  <a:extLst>
                    <a:ext uri="{9D8B030D-6E8A-4147-A177-3AD203B41FA5}">
                      <a16:colId xmlns:a16="http://schemas.microsoft.com/office/drawing/2014/main" val="1758131302"/>
                    </a:ext>
                  </a:extLst>
                </a:gridCol>
                <a:gridCol w="946150">
                  <a:extLst>
                    <a:ext uri="{9D8B030D-6E8A-4147-A177-3AD203B41FA5}">
                      <a16:colId xmlns:a16="http://schemas.microsoft.com/office/drawing/2014/main" val="280273438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553880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006492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495919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5951992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2501676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19789107"/>
                  </a:ext>
                </a:extLst>
              </a:tr>
            </a:tbl>
          </a:graphicData>
        </a:graphic>
      </p:graphicFrame>
      <p:sp>
        <p:nvSpPr>
          <p:cNvPr id="162951" name="Text Box 135" descr="TextBox 10">
            <a:extLst>
              <a:ext uri="{FF2B5EF4-FFF2-40B4-BE49-F238E27FC236}">
                <a16:creationId xmlns:a16="http://schemas.microsoft.com/office/drawing/2014/main" id="{CE5137C6-1097-9B24-B8BE-043DFCA0D4BC}"/>
              </a:ext>
            </a:extLst>
          </p:cNvPr>
          <p:cNvSpPr txBox="1">
            <a:spLocks/>
          </p:cNvSpPr>
          <p:nvPr/>
        </p:nvSpPr>
        <p:spPr bwMode="auto">
          <a:xfrm>
            <a:off x="4762500" y="5929313"/>
            <a:ext cx="1211263"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a:t>
            </a:r>
          </a:p>
        </p:txBody>
      </p:sp>
      <p:sp>
        <p:nvSpPr>
          <p:cNvPr id="162952" name="Text Box 136" descr="TextBox 8">
            <a:extLst>
              <a:ext uri="{FF2B5EF4-FFF2-40B4-BE49-F238E27FC236}">
                <a16:creationId xmlns:a16="http://schemas.microsoft.com/office/drawing/2014/main" id="{B2C5CE65-0DAB-14F2-53B0-70F748FF0B41}"/>
              </a:ext>
            </a:extLst>
          </p:cNvPr>
          <p:cNvSpPr txBox="1">
            <a:spLocks/>
          </p:cNvSpPr>
          <p:nvPr/>
        </p:nvSpPr>
        <p:spPr bwMode="auto">
          <a:xfrm>
            <a:off x="1209675" y="3378200"/>
            <a:ext cx="4792663"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 is view equivalent to serial schedule S1</a:t>
            </a:r>
          </a:p>
        </p:txBody>
      </p:sp>
      <p:sp>
        <p:nvSpPr>
          <p:cNvPr id="162953" name="Text Box 137" descr="TextBox 11">
            <a:extLst>
              <a:ext uri="{FF2B5EF4-FFF2-40B4-BE49-F238E27FC236}">
                <a16:creationId xmlns:a16="http://schemas.microsoft.com/office/drawing/2014/main" id="{4DF06FE5-05C5-3301-9ECC-AC5F0A6A847D}"/>
              </a:ext>
            </a:extLst>
          </p:cNvPr>
          <p:cNvSpPr txBox="1">
            <a:spLocks/>
          </p:cNvSpPr>
          <p:nvPr/>
        </p:nvSpPr>
        <p:spPr bwMode="auto">
          <a:xfrm>
            <a:off x="6992938" y="4027488"/>
            <a:ext cx="1851025"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0000FF"/>
                </a:solidFill>
              </a:rPr>
              <a:t>Same Initial </a:t>
            </a:r>
          </a:p>
          <a:p>
            <a:r>
              <a:rPr lang="en-US" altLang="en-US" sz="1400">
                <a:solidFill>
                  <a:srgbClr val="0000FF"/>
                </a:solidFill>
              </a:rPr>
              <a:t>Reads in S1 and S2</a:t>
            </a:r>
          </a:p>
        </p:txBody>
      </p:sp>
    </p:spTree>
  </p:cSld>
  <p:clrMapOvr>
    <a:masterClrMapping/>
  </p:clrMapOvr>
  <p:transition spd="med"/>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descr="Title 1">
            <a:extLst>
              <a:ext uri="{FF2B5EF4-FFF2-40B4-BE49-F238E27FC236}">
                <a16:creationId xmlns:a16="http://schemas.microsoft.com/office/drawing/2014/main" id="{563B130B-C072-4551-4284-38076948A836}"/>
              </a:ext>
            </a:extLst>
          </p:cNvPr>
          <p:cNvSpPr>
            <a:spLocks noChangeArrowheads="1"/>
          </p:cNvSpPr>
          <p:nvPr>
            <p:ph type="title"/>
          </p:nvPr>
        </p:nvSpPr>
        <p:spPr/>
        <p:txBody>
          <a:bodyPr/>
          <a:lstStyle/>
          <a:p>
            <a:r>
              <a:rPr lang="en-US" altLang="en-US"/>
              <a:t>View Equivalence Schedules</a:t>
            </a:r>
          </a:p>
        </p:txBody>
      </p:sp>
      <p:sp>
        <p:nvSpPr>
          <p:cNvPr id="163843" name="Rectangle 3" descr="Content Placeholder 2">
            <a:extLst>
              <a:ext uri="{FF2B5EF4-FFF2-40B4-BE49-F238E27FC236}">
                <a16:creationId xmlns:a16="http://schemas.microsoft.com/office/drawing/2014/main" id="{511AE750-6F20-28A7-0AD1-A2B15FE0AB09}"/>
              </a:ext>
            </a:extLst>
          </p:cNvPr>
          <p:cNvSpPr>
            <a:spLocks noChangeArrowheads="1"/>
          </p:cNvSpPr>
          <p:nvPr>
            <p:ph type="body" idx="1"/>
          </p:nvPr>
        </p:nvSpPr>
        <p:spPr/>
        <p:txBody>
          <a:bodyPr/>
          <a:lstStyle/>
          <a:p>
            <a:pPr marL="200025" indent="-182563">
              <a:spcBef>
                <a:spcPts val="300"/>
              </a:spcBef>
              <a:buSzTx/>
              <a:buFont typeface="Wingdings" panose="05000000000000000000" pitchFamily="2" charset="2"/>
              <a:buNone/>
            </a:pPr>
            <a:r>
              <a:rPr lang="en-US" altLang="en-US" sz="1400" b="1">
                <a:solidFill>
                  <a:srgbClr val="000000"/>
                </a:solidFill>
              </a:rPr>
              <a:t>View Equivalence</a:t>
            </a:r>
            <a:r>
              <a:rPr lang="en-US" altLang="en-US" sz="1400">
                <a:solidFill>
                  <a:srgbClr val="000000"/>
                </a:solidFill>
              </a:rPr>
              <a:t>, </a:t>
            </a:r>
            <a:r>
              <a:rPr lang="en-US" altLang="en-US" sz="1400" b="1">
                <a:solidFill>
                  <a:srgbClr val="000000"/>
                </a:solidFill>
              </a:rPr>
              <a:t>respective transactions </a:t>
            </a:r>
            <a:r>
              <a:rPr lang="en-US" altLang="en-US" sz="1400">
                <a:solidFill>
                  <a:srgbClr val="000000"/>
                </a:solidFill>
              </a:rPr>
              <a:t>in the two schedules </a:t>
            </a:r>
            <a:r>
              <a:rPr lang="en-US" altLang="en-US" sz="1400" b="1">
                <a:solidFill>
                  <a:srgbClr val="000000"/>
                </a:solidFill>
              </a:rPr>
              <a:t>read </a:t>
            </a:r>
            <a:r>
              <a:rPr lang="en-US" altLang="en-US" sz="1400">
                <a:solidFill>
                  <a:srgbClr val="000000"/>
                </a:solidFill>
              </a:rPr>
              <a:t>and </a:t>
            </a:r>
            <a:r>
              <a:rPr lang="en-US" altLang="en-US" sz="1400" b="1">
                <a:solidFill>
                  <a:srgbClr val="000000"/>
                </a:solidFill>
              </a:rPr>
              <a:t>write </a:t>
            </a:r>
            <a:r>
              <a:rPr lang="en-US" altLang="en-US" sz="1400">
                <a:solidFill>
                  <a:srgbClr val="000000"/>
                </a:solidFill>
              </a:rPr>
              <a:t>the </a:t>
            </a:r>
            <a:r>
              <a:rPr lang="en-US" altLang="en-US" sz="1400" b="1">
                <a:solidFill>
                  <a:srgbClr val="000000"/>
                </a:solidFill>
              </a:rPr>
              <a:t>same data </a:t>
            </a:r>
            <a:r>
              <a:rPr lang="en-US" altLang="en-US" sz="1400">
                <a:solidFill>
                  <a:srgbClr val="000000"/>
                </a:solidFill>
              </a:rPr>
              <a:t>values </a:t>
            </a:r>
          </a:p>
          <a:p>
            <a:pPr marL="200025" indent="-182563">
              <a:spcBef>
                <a:spcPts val="300"/>
              </a:spcBef>
            </a:pPr>
            <a:r>
              <a:rPr lang="en-US" altLang="en-US" sz="1400">
                <a:solidFill>
                  <a:srgbClr val="000000"/>
                </a:solidFill>
              </a:rPr>
              <a:t>Initial Reads: </a:t>
            </a:r>
            <a:r>
              <a:rPr lang="en-US" altLang="en-US" sz="1400" b="1">
                <a:solidFill>
                  <a:srgbClr val="000000"/>
                </a:solidFill>
              </a:rPr>
              <a:t>If </a:t>
            </a:r>
            <a:r>
              <a:rPr lang="en-US" altLang="en-US" sz="1400">
                <a:solidFill>
                  <a:srgbClr val="000000"/>
                </a:solidFill>
              </a:rPr>
              <a:t>in S1: ri(A) </a:t>
            </a:r>
            <a:r>
              <a:rPr lang="en-US" altLang="en-US" sz="1400" b="1">
                <a:solidFill>
                  <a:srgbClr val="000000"/>
                </a:solidFill>
              </a:rPr>
              <a:t>reads initial </a:t>
            </a:r>
            <a:r>
              <a:rPr lang="en-US" altLang="en-US" sz="1400">
                <a:solidFill>
                  <a:srgbClr val="000000"/>
                </a:solidFill>
              </a:rPr>
              <a:t>DB value, </a:t>
            </a:r>
          </a:p>
          <a:p>
            <a:pPr marL="200025" indent="-182563">
              <a:spcBef>
                <a:spcPts val="300"/>
              </a:spcBef>
              <a:buSzTx/>
              <a:buFont typeface="Wingdings" panose="05000000000000000000" pitchFamily="2" charset="2"/>
              <a:buNone/>
            </a:pPr>
            <a:r>
              <a:rPr lang="en-US" altLang="en-US" sz="1400" b="1">
                <a:solidFill>
                  <a:srgbClr val="000000"/>
                </a:solidFill>
              </a:rPr>
              <a:t>                          then </a:t>
            </a:r>
            <a:r>
              <a:rPr lang="en-US" altLang="en-US" sz="1400">
                <a:solidFill>
                  <a:srgbClr val="000000"/>
                </a:solidFill>
              </a:rPr>
              <a:t>in S2: ri(A) also reads initial DB value</a:t>
            </a:r>
          </a:p>
          <a:p>
            <a:pPr marL="200025" indent="-182563">
              <a:spcBef>
                <a:spcPts val="300"/>
              </a:spcBef>
            </a:pPr>
            <a:r>
              <a:rPr lang="en-US" altLang="en-US" sz="1400">
                <a:solidFill>
                  <a:srgbClr val="0000FF"/>
                </a:solidFill>
              </a:rPr>
              <a:t>Same WR order: </a:t>
            </a:r>
            <a:r>
              <a:rPr lang="en-US" altLang="en-US" sz="1400" b="1">
                <a:solidFill>
                  <a:srgbClr val="0000FF"/>
                </a:solidFill>
              </a:rPr>
              <a:t>If </a:t>
            </a:r>
            <a:r>
              <a:rPr lang="en-US" altLang="en-US" sz="1400">
                <a:solidFill>
                  <a:srgbClr val="0000FF"/>
                </a:solidFill>
              </a:rPr>
              <a:t>in S1: wj(A) –&gt; ri(A)</a:t>
            </a:r>
          </a:p>
          <a:p>
            <a:pPr marL="200025" indent="-182563">
              <a:spcBef>
                <a:spcPts val="300"/>
              </a:spcBef>
              <a:buSzTx/>
              <a:buFont typeface="Wingdings" panose="05000000000000000000" pitchFamily="2" charset="2"/>
              <a:buNone/>
            </a:pPr>
            <a:r>
              <a:rPr lang="en-US" altLang="en-US" sz="1400">
                <a:solidFill>
                  <a:srgbClr val="0000FF"/>
                </a:solidFill>
              </a:rPr>
              <a:t>                              </a:t>
            </a:r>
            <a:r>
              <a:rPr lang="en-US" altLang="en-US" sz="1400" b="1">
                <a:solidFill>
                  <a:srgbClr val="0000FF"/>
                </a:solidFill>
              </a:rPr>
              <a:t>then </a:t>
            </a:r>
            <a:r>
              <a:rPr lang="en-US" altLang="en-US" sz="1400">
                <a:solidFill>
                  <a:srgbClr val="0000FF"/>
                </a:solidFill>
              </a:rPr>
              <a:t>in S2: wj(A)-&gt; ri(A)</a:t>
            </a:r>
          </a:p>
          <a:p>
            <a:pPr marL="200025" indent="-182563">
              <a:spcBef>
                <a:spcPts val="300"/>
              </a:spcBef>
            </a:pPr>
            <a:r>
              <a:rPr lang="en-US" altLang="en-US" sz="1400">
                <a:solidFill>
                  <a:srgbClr val="000000"/>
                </a:solidFill>
              </a:rPr>
              <a:t>Final Writes: </a:t>
            </a:r>
            <a:r>
              <a:rPr lang="en-US" altLang="en-US" sz="1400" b="1">
                <a:solidFill>
                  <a:srgbClr val="000000"/>
                </a:solidFill>
              </a:rPr>
              <a:t>If</a:t>
            </a:r>
            <a:r>
              <a:rPr lang="en-US" altLang="en-US" sz="1400">
                <a:solidFill>
                  <a:srgbClr val="000000"/>
                </a:solidFill>
              </a:rPr>
              <a:t> in S1: wi(A) does </a:t>
            </a:r>
            <a:r>
              <a:rPr lang="en-US" altLang="en-US" sz="1400" b="1">
                <a:solidFill>
                  <a:srgbClr val="000000"/>
                </a:solidFill>
              </a:rPr>
              <a:t>last write </a:t>
            </a:r>
            <a:r>
              <a:rPr lang="en-US" altLang="en-US" sz="1400">
                <a:solidFill>
                  <a:srgbClr val="000000"/>
                </a:solidFill>
              </a:rPr>
              <a:t>on A, </a:t>
            </a:r>
          </a:p>
          <a:p>
            <a:pPr marL="200025" indent="-182563">
              <a:spcBef>
                <a:spcPts val="300"/>
              </a:spcBef>
              <a:buSzTx/>
              <a:buFont typeface="Wingdings" panose="05000000000000000000" pitchFamily="2" charset="2"/>
              <a:buNone/>
            </a:pPr>
            <a:r>
              <a:rPr lang="en-US" altLang="en-US" sz="1400" b="1">
                <a:solidFill>
                  <a:srgbClr val="000000"/>
                </a:solidFill>
              </a:rPr>
              <a:t>                        then </a:t>
            </a:r>
            <a:r>
              <a:rPr lang="en-US" altLang="en-US" sz="1400">
                <a:solidFill>
                  <a:srgbClr val="000000"/>
                </a:solidFill>
              </a:rPr>
              <a:t>in S2: wi(A) also does last write on A</a:t>
            </a:r>
            <a:endParaRPr lang="en-US" altLang="en-US" sz="1400" b="1">
              <a:solidFill>
                <a:srgbClr val="000000"/>
              </a:solidFill>
            </a:endParaRPr>
          </a:p>
        </p:txBody>
      </p:sp>
      <p:sp>
        <p:nvSpPr>
          <p:cNvPr id="163844" name="Text Box 4" descr="Date Placeholder 3">
            <a:extLst>
              <a:ext uri="{FF2B5EF4-FFF2-40B4-BE49-F238E27FC236}">
                <a16:creationId xmlns:a16="http://schemas.microsoft.com/office/drawing/2014/main" id="{D675B1EA-F575-C904-836D-ECA705CD6DB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3845" name="Text Box 5" descr="Slide Number Placeholder 5">
            <a:extLst>
              <a:ext uri="{FF2B5EF4-FFF2-40B4-BE49-F238E27FC236}">
                <a16:creationId xmlns:a16="http://schemas.microsoft.com/office/drawing/2014/main" id="{04CEF2E6-8326-A528-A293-EF308756A74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6D54D7F-0758-4C36-B77D-9AC254B186B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63846" name="Group 6">
            <a:extLst>
              <a:ext uri="{FF2B5EF4-FFF2-40B4-BE49-F238E27FC236}">
                <a16:creationId xmlns:a16="http://schemas.microsoft.com/office/drawing/2014/main" id="{1A14A179-44E0-4761-DE7E-F17BE174A13F}"/>
              </a:ext>
            </a:extLst>
          </p:cNvPr>
          <p:cNvGraphicFramePr>
            <a:graphicFrameLocks noGrp="1"/>
          </p:cNvGraphicFramePr>
          <p:nvPr/>
        </p:nvGraphicFramePr>
        <p:xfrm>
          <a:off x="755650" y="3716338"/>
          <a:ext cx="2665413" cy="2305050"/>
        </p:xfrm>
        <a:graphic>
          <a:graphicData uri="http://schemas.openxmlformats.org/drawingml/2006/table">
            <a:tbl>
              <a:tblPr/>
              <a:tblGrid>
                <a:gridCol w="773113">
                  <a:extLst>
                    <a:ext uri="{9D8B030D-6E8A-4147-A177-3AD203B41FA5}">
                      <a16:colId xmlns:a16="http://schemas.microsoft.com/office/drawing/2014/main" val="495880778"/>
                    </a:ext>
                  </a:extLst>
                </a:gridCol>
                <a:gridCol w="946150">
                  <a:extLst>
                    <a:ext uri="{9D8B030D-6E8A-4147-A177-3AD203B41FA5}">
                      <a16:colId xmlns:a16="http://schemas.microsoft.com/office/drawing/2014/main" val="2994574877"/>
                    </a:ext>
                  </a:extLst>
                </a:gridCol>
                <a:gridCol w="946150">
                  <a:extLst>
                    <a:ext uri="{9D8B030D-6E8A-4147-A177-3AD203B41FA5}">
                      <a16:colId xmlns:a16="http://schemas.microsoft.com/office/drawing/2014/main" val="146808765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8485756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9590714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048433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34374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8241673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56225311"/>
                  </a:ext>
                </a:extLst>
              </a:tr>
            </a:tbl>
          </a:graphicData>
        </a:graphic>
      </p:graphicFrame>
      <p:sp>
        <p:nvSpPr>
          <p:cNvPr id="163910" name="Text Box 70" descr="TextBox 7">
            <a:extLst>
              <a:ext uri="{FF2B5EF4-FFF2-40B4-BE49-F238E27FC236}">
                <a16:creationId xmlns:a16="http://schemas.microsoft.com/office/drawing/2014/main" id="{4BFF5451-CA9B-7D04-E6CE-825D652E4926}"/>
              </a:ext>
            </a:extLst>
          </p:cNvPr>
          <p:cNvSpPr txBox="1">
            <a:spLocks/>
          </p:cNvSpPr>
          <p:nvPr/>
        </p:nvSpPr>
        <p:spPr bwMode="auto">
          <a:xfrm>
            <a:off x="1522413" y="5935663"/>
            <a:ext cx="1211262"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S1</a:t>
            </a:r>
          </a:p>
        </p:txBody>
      </p:sp>
      <p:graphicFrame>
        <p:nvGraphicFramePr>
          <p:cNvPr id="163911" name="Group 71">
            <a:extLst>
              <a:ext uri="{FF2B5EF4-FFF2-40B4-BE49-F238E27FC236}">
                <a16:creationId xmlns:a16="http://schemas.microsoft.com/office/drawing/2014/main" id="{35DDCF11-263A-8D38-B208-E5EB09BBF01C}"/>
              </a:ext>
            </a:extLst>
          </p:cNvPr>
          <p:cNvGraphicFramePr>
            <a:graphicFrameLocks noGrp="1"/>
          </p:cNvGraphicFramePr>
          <p:nvPr/>
        </p:nvGraphicFramePr>
        <p:xfrm>
          <a:off x="4141788" y="3711575"/>
          <a:ext cx="2665412" cy="2305050"/>
        </p:xfrm>
        <a:graphic>
          <a:graphicData uri="http://schemas.openxmlformats.org/drawingml/2006/table">
            <a:tbl>
              <a:tblPr/>
              <a:tblGrid>
                <a:gridCol w="773112">
                  <a:extLst>
                    <a:ext uri="{9D8B030D-6E8A-4147-A177-3AD203B41FA5}">
                      <a16:colId xmlns:a16="http://schemas.microsoft.com/office/drawing/2014/main" val="1998320207"/>
                    </a:ext>
                  </a:extLst>
                </a:gridCol>
                <a:gridCol w="946150">
                  <a:extLst>
                    <a:ext uri="{9D8B030D-6E8A-4147-A177-3AD203B41FA5}">
                      <a16:colId xmlns:a16="http://schemas.microsoft.com/office/drawing/2014/main" val="50787281"/>
                    </a:ext>
                  </a:extLst>
                </a:gridCol>
                <a:gridCol w="946150">
                  <a:extLst>
                    <a:ext uri="{9D8B030D-6E8A-4147-A177-3AD203B41FA5}">
                      <a16:colId xmlns:a16="http://schemas.microsoft.com/office/drawing/2014/main" val="252512570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524372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0151362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683551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385247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9041921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76670055"/>
                  </a:ext>
                </a:extLst>
              </a:tr>
            </a:tbl>
          </a:graphicData>
        </a:graphic>
      </p:graphicFrame>
      <p:sp>
        <p:nvSpPr>
          <p:cNvPr id="163975" name="Text Box 135" descr="TextBox 10">
            <a:extLst>
              <a:ext uri="{FF2B5EF4-FFF2-40B4-BE49-F238E27FC236}">
                <a16:creationId xmlns:a16="http://schemas.microsoft.com/office/drawing/2014/main" id="{7B56F75A-1EDE-DF2B-8D9B-ACE18A156EDF}"/>
              </a:ext>
            </a:extLst>
          </p:cNvPr>
          <p:cNvSpPr txBox="1">
            <a:spLocks/>
          </p:cNvSpPr>
          <p:nvPr/>
        </p:nvSpPr>
        <p:spPr bwMode="auto">
          <a:xfrm>
            <a:off x="4762500" y="5929313"/>
            <a:ext cx="1211263"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a:t>
            </a:r>
          </a:p>
        </p:txBody>
      </p:sp>
      <p:sp>
        <p:nvSpPr>
          <p:cNvPr id="163976" name="Text Box 136" descr="TextBox 8">
            <a:extLst>
              <a:ext uri="{FF2B5EF4-FFF2-40B4-BE49-F238E27FC236}">
                <a16:creationId xmlns:a16="http://schemas.microsoft.com/office/drawing/2014/main" id="{CBC4F599-5188-1AA2-FB69-20ECBB249ADF}"/>
              </a:ext>
            </a:extLst>
          </p:cNvPr>
          <p:cNvSpPr txBox="1">
            <a:spLocks/>
          </p:cNvSpPr>
          <p:nvPr/>
        </p:nvSpPr>
        <p:spPr bwMode="auto">
          <a:xfrm>
            <a:off x="1209675" y="3378200"/>
            <a:ext cx="4792663"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 is view equivalent to serial schedule S1</a:t>
            </a:r>
          </a:p>
        </p:txBody>
      </p:sp>
      <p:sp>
        <p:nvSpPr>
          <p:cNvPr id="163977" name="Text Box 137" descr="TextBox 11">
            <a:extLst>
              <a:ext uri="{FF2B5EF4-FFF2-40B4-BE49-F238E27FC236}">
                <a16:creationId xmlns:a16="http://schemas.microsoft.com/office/drawing/2014/main" id="{5D44C52D-D6BE-C138-8059-78F00279A11B}"/>
              </a:ext>
            </a:extLst>
          </p:cNvPr>
          <p:cNvSpPr txBox="1">
            <a:spLocks/>
          </p:cNvSpPr>
          <p:nvPr/>
        </p:nvSpPr>
        <p:spPr bwMode="auto">
          <a:xfrm>
            <a:off x="6981825" y="4724400"/>
            <a:ext cx="1557338"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0000FF"/>
                </a:solidFill>
              </a:rPr>
              <a:t>Same Write </a:t>
            </a:r>
          </a:p>
          <a:p>
            <a:r>
              <a:rPr lang="en-US" altLang="en-US" sz="1400">
                <a:solidFill>
                  <a:srgbClr val="0000FF"/>
                </a:solidFill>
              </a:rPr>
              <a:t>Reads orders in </a:t>
            </a:r>
          </a:p>
          <a:p>
            <a:r>
              <a:rPr lang="en-US" altLang="en-US" sz="1400">
                <a:solidFill>
                  <a:srgbClr val="0000FF"/>
                </a:solidFill>
              </a:rPr>
              <a:t>S1 and S2</a:t>
            </a:r>
          </a:p>
        </p:txBody>
      </p:sp>
    </p:spTree>
  </p:cSld>
  <p:clrMapOvr>
    <a:masterClrMapping/>
  </p:clrMapOvr>
  <p:transition spd="med"/>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descr="Title 1">
            <a:extLst>
              <a:ext uri="{FF2B5EF4-FFF2-40B4-BE49-F238E27FC236}">
                <a16:creationId xmlns:a16="http://schemas.microsoft.com/office/drawing/2014/main" id="{A020BA7C-F582-2DF5-6C9B-DE6FE5D2B533}"/>
              </a:ext>
            </a:extLst>
          </p:cNvPr>
          <p:cNvSpPr>
            <a:spLocks noChangeArrowheads="1"/>
          </p:cNvSpPr>
          <p:nvPr>
            <p:ph type="title"/>
          </p:nvPr>
        </p:nvSpPr>
        <p:spPr/>
        <p:txBody>
          <a:bodyPr/>
          <a:lstStyle/>
          <a:p>
            <a:r>
              <a:rPr lang="en-US" altLang="en-US"/>
              <a:t>View Equivalence Schedules</a:t>
            </a:r>
          </a:p>
        </p:txBody>
      </p:sp>
      <p:sp>
        <p:nvSpPr>
          <p:cNvPr id="164867" name="Rectangle 3" descr="Content Placeholder 2">
            <a:extLst>
              <a:ext uri="{FF2B5EF4-FFF2-40B4-BE49-F238E27FC236}">
                <a16:creationId xmlns:a16="http://schemas.microsoft.com/office/drawing/2014/main" id="{C5F7F394-49D6-77AA-99D7-7590F320B8B4}"/>
              </a:ext>
            </a:extLst>
          </p:cNvPr>
          <p:cNvSpPr>
            <a:spLocks noChangeArrowheads="1"/>
          </p:cNvSpPr>
          <p:nvPr>
            <p:ph type="body" idx="1"/>
          </p:nvPr>
        </p:nvSpPr>
        <p:spPr/>
        <p:txBody>
          <a:bodyPr/>
          <a:lstStyle/>
          <a:p>
            <a:pPr marL="200025" indent="-182563">
              <a:spcBef>
                <a:spcPts val="300"/>
              </a:spcBef>
              <a:buSzTx/>
              <a:buFont typeface="Wingdings" panose="05000000000000000000" pitchFamily="2" charset="2"/>
              <a:buNone/>
            </a:pPr>
            <a:r>
              <a:rPr lang="en-US" altLang="en-US" sz="1400" b="1">
                <a:solidFill>
                  <a:srgbClr val="000000"/>
                </a:solidFill>
              </a:rPr>
              <a:t>View Equivalence</a:t>
            </a:r>
            <a:r>
              <a:rPr lang="en-US" altLang="en-US" sz="1400">
                <a:solidFill>
                  <a:srgbClr val="000000"/>
                </a:solidFill>
              </a:rPr>
              <a:t>, </a:t>
            </a:r>
            <a:r>
              <a:rPr lang="en-US" altLang="en-US" sz="1400" b="1">
                <a:solidFill>
                  <a:srgbClr val="000000"/>
                </a:solidFill>
              </a:rPr>
              <a:t>respective transactions </a:t>
            </a:r>
            <a:r>
              <a:rPr lang="en-US" altLang="en-US" sz="1400">
                <a:solidFill>
                  <a:srgbClr val="000000"/>
                </a:solidFill>
              </a:rPr>
              <a:t>in the two schedules </a:t>
            </a:r>
            <a:r>
              <a:rPr lang="en-US" altLang="en-US" sz="1400" b="1">
                <a:solidFill>
                  <a:srgbClr val="000000"/>
                </a:solidFill>
              </a:rPr>
              <a:t>read </a:t>
            </a:r>
            <a:r>
              <a:rPr lang="en-US" altLang="en-US" sz="1400">
                <a:solidFill>
                  <a:srgbClr val="000000"/>
                </a:solidFill>
              </a:rPr>
              <a:t>and </a:t>
            </a:r>
            <a:r>
              <a:rPr lang="en-US" altLang="en-US" sz="1400" b="1">
                <a:solidFill>
                  <a:srgbClr val="000000"/>
                </a:solidFill>
              </a:rPr>
              <a:t>write </a:t>
            </a:r>
            <a:r>
              <a:rPr lang="en-US" altLang="en-US" sz="1400">
                <a:solidFill>
                  <a:srgbClr val="000000"/>
                </a:solidFill>
              </a:rPr>
              <a:t>the </a:t>
            </a:r>
            <a:r>
              <a:rPr lang="en-US" altLang="en-US" sz="1400" b="1">
                <a:solidFill>
                  <a:srgbClr val="000000"/>
                </a:solidFill>
              </a:rPr>
              <a:t>same data </a:t>
            </a:r>
            <a:r>
              <a:rPr lang="en-US" altLang="en-US" sz="1400">
                <a:solidFill>
                  <a:srgbClr val="000000"/>
                </a:solidFill>
              </a:rPr>
              <a:t>values </a:t>
            </a:r>
          </a:p>
          <a:p>
            <a:pPr marL="200025" indent="-182563">
              <a:spcBef>
                <a:spcPts val="300"/>
              </a:spcBef>
            </a:pPr>
            <a:r>
              <a:rPr lang="en-US" altLang="en-US" sz="1400">
                <a:solidFill>
                  <a:srgbClr val="000000"/>
                </a:solidFill>
              </a:rPr>
              <a:t>Initial Reads: </a:t>
            </a:r>
            <a:r>
              <a:rPr lang="en-US" altLang="en-US" sz="1400" b="1">
                <a:solidFill>
                  <a:srgbClr val="000000"/>
                </a:solidFill>
              </a:rPr>
              <a:t>If </a:t>
            </a:r>
            <a:r>
              <a:rPr lang="en-US" altLang="en-US" sz="1400">
                <a:solidFill>
                  <a:srgbClr val="000000"/>
                </a:solidFill>
              </a:rPr>
              <a:t>in S1: ri(A) </a:t>
            </a:r>
            <a:r>
              <a:rPr lang="en-US" altLang="en-US" sz="1400" b="1">
                <a:solidFill>
                  <a:srgbClr val="000000"/>
                </a:solidFill>
              </a:rPr>
              <a:t>reads initial </a:t>
            </a:r>
            <a:r>
              <a:rPr lang="en-US" altLang="en-US" sz="1400">
                <a:solidFill>
                  <a:srgbClr val="000000"/>
                </a:solidFill>
              </a:rPr>
              <a:t>DB value, </a:t>
            </a:r>
          </a:p>
          <a:p>
            <a:pPr marL="200025" indent="-182563">
              <a:spcBef>
                <a:spcPts val="300"/>
              </a:spcBef>
              <a:buSzTx/>
              <a:buFont typeface="Wingdings" panose="05000000000000000000" pitchFamily="2" charset="2"/>
              <a:buNone/>
            </a:pPr>
            <a:r>
              <a:rPr lang="en-US" altLang="en-US" sz="1400" b="1">
                <a:solidFill>
                  <a:srgbClr val="000000"/>
                </a:solidFill>
              </a:rPr>
              <a:t>                          then </a:t>
            </a:r>
            <a:r>
              <a:rPr lang="en-US" altLang="en-US" sz="1400">
                <a:solidFill>
                  <a:srgbClr val="000000"/>
                </a:solidFill>
              </a:rPr>
              <a:t>in S2: ri(A) also reads initial DB value</a:t>
            </a:r>
          </a:p>
          <a:p>
            <a:pPr marL="200025" indent="-182563">
              <a:spcBef>
                <a:spcPts val="300"/>
              </a:spcBef>
            </a:pPr>
            <a:r>
              <a:rPr lang="en-US" altLang="en-US" sz="1400">
                <a:solidFill>
                  <a:srgbClr val="000000"/>
                </a:solidFill>
              </a:rPr>
              <a:t>Same WR order: </a:t>
            </a:r>
            <a:r>
              <a:rPr lang="en-US" altLang="en-US" sz="1400" b="1">
                <a:solidFill>
                  <a:srgbClr val="000000"/>
                </a:solidFill>
              </a:rPr>
              <a:t>If </a:t>
            </a:r>
            <a:r>
              <a:rPr lang="en-US" altLang="en-US" sz="1400">
                <a:solidFill>
                  <a:srgbClr val="000000"/>
                </a:solidFill>
              </a:rPr>
              <a:t>in S1: wj(A) –&gt; ri(A)</a:t>
            </a:r>
          </a:p>
          <a:p>
            <a:pPr marL="200025" indent="-182563">
              <a:spcBef>
                <a:spcPts val="300"/>
              </a:spcBef>
              <a:buSzTx/>
              <a:buFont typeface="Wingdings" panose="05000000000000000000" pitchFamily="2" charset="2"/>
              <a:buNone/>
            </a:pPr>
            <a:r>
              <a:rPr lang="en-US" altLang="en-US" sz="1400">
                <a:solidFill>
                  <a:srgbClr val="000000"/>
                </a:solidFill>
              </a:rPr>
              <a:t>                              </a:t>
            </a:r>
            <a:r>
              <a:rPr lang="en-US" altLang="en-US" sz="1400" b="1">
                <a:solidFill>
                  <a:srgbClr val="000000"/>
                </a:solidFill>
              </a:rPr>
              <a:t>then </a:t>
            </a:r>
            <a:r>
              <a:rPr lang="en-US" altLang="en-US" sz="1400">
                <a:solidFill>
                  <a:srgbClr val="000000"/>
                </a:solidFill>
              </a:rPr>
              <a:t>in S2: wj(A)-&gt; ri(A)</a:t>
            </a:r>
          </a:p>
          <a:p>
            <a:pPr marL="200025" indent="-182563">
              <a:spcBef>
                <a:spcPts val="300"/>
              </a:spcBef>
            </a:pPr>
            <a:r>
              <a:rPr lang="en-US" altLang="en-US" sz="1400">
                <a:solidFill>
                  <a:srgbClr val="0000FF"/>
                </a:solidFill>
              </a:rPr>
              <a:t>Final Writes: </a:t>
            </a:r>
            <a:r>
              <a:rPr lang="en-US" altLang="en-US" sz="1400" b="1">
                <a:solidFill>
                  <a:srgbClr val="0000FF"/>
                </a:solidFill>
              </a:rPr>
              <a:t>If</a:t>
            </a:r>
            <a:r>
              <a:rPr lang="en-US" altLang="en-US" sz="1400">
                <a:solidFill>
                  <a:srgbClr val="0000FF"/>
                </a:solidFill>
              </a:rPr>
              <a:t> in S1: wi(A) does </a:t>
            </a:r>
            <a:r>
              <a:rPr lang="en-US" altLang="en-US" sz="1400" b="1">
                <a:solidFill>
                  <a:srgbClr val="0000FF"/>
                </a:solidFill>
              </a:rPr>
              <a:t>last write </a:t>
            </a:r>
            <a:r>
              <a:rPr lang="en-US" altLang="en-US" sz="1400">
                <a:solidFill>
                  <a:srgbClr val="0000FF"/>
                </a:solidFill>
              </a:rPr>
              <a:t>on A, </a:t>
            </a:r>
          </a:p>
          <a:p>
            <a:pPr marL="200025" indent="-182563">
              <a:spcBef>
                <a:spcPts val="300"/>
              </a:spcBef>
              <a:buSzTx/>
              <a:buFont typeface="Wingdings" panose="05000000000000000000" pitchFamily="2" charset="2"/>
              <a:buNone/>
            </a:pPr>
            <a:r>
              <a:rPr lang="en-US" altLang="en-US" sz="1400" b="1">
                <a:solidFill>
                  <a:srgbClr val="0000FF"/>
                </a:solidFill>
              </a:rPr>
              <a:t>                        then </a:t>
            </a:r>
            <a:r>
              <a:rPr lang="en-US" altLang="en-US" sz="1400">
                <a:solidFill>
                  <a:srgbClr val="0000FF"/>
                </a:solidFill>
              </a:rPr>
              <a:t>in S2: wi(A) also does last write on A</a:t>
            </a:r>
            <a:endParaRPr lang="en-US" altLang="en-US" sz="1400" b="1">
              <a:solidFill>
                <a:srgbClr val="0000FF"/>
              </a:solidFill>
            </a:endParaRPr>
          </a:p>
        </p:txBody>
      </p:sp>
      <p:sp>
        <p:nvSpPr>
          <p:cNvPr id="164868" name="Text Box 4" descr="Date Placeholder 3">
            <a:extLst>
              <a:ext uri="{FF2B5EF4-FFF2-40B4-BE49-F238E27FC236}">
                <a16:creationId xmlns:a16="http://schemas.microsoft.com/office/drawing/2014/main" id="{773F78A9-3362-A007-ADB1-F00F2D43541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4869" name="Text Box 5" descr="Slide Number Placeholder 5">
            <a:extLst>
              <a:ext uri="{FF2B5EF4-FFF2-40B4-BE49-F238E27FC236}">
                <a16:creationId xmlns:a16="http://schemas.microsoft.com/office/drawing/2014/main" id="{7B9E1FE7-6CA4-1FEF-580D-EE11044A20F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D86AFA3-6196-438B-9E59-902EA8A1CEB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164870" name="Group 6">
            <a:extLst>
              <a:ext uri="{FF2B5EF4-FFF2-40B4-BE49-F238E27FC236}">
                <a16:creationId xmlns:a16="http://schemas.microsoft.com/office/drawing/2014/main" id="{55B951D9-33F5-C8CF-9727-C662B97FCDB1}"/>
              </a:ext>
            </a:extLst>
          </p:cNvPr>
          <p:cNvGraphicFramePr>
            <a:graphicFrameLocks noGrp="1"/>
          </p:cNvGraphicFramePr>
          <p:nvPr/>
        </p:nvGraphicFramePr>
        <p:xfrm>
          <a:off x="755650" y="3716338"/>
          <a:ext cx="2665413" cy="2305050"/>
        </p:xfrm>
        <a:graphic>
          <a:graphicData uri="http://schemas.openxmlformats.org/drawingml/2006/table">
            <a:tbl>
              <a:tblPr/>
              <a:tblGrid>
                <a:gridCol w="773113">
                  <a:extLst>
                    <a:ext uri="{9D8B030D-6E8A-4147-A177-3AD203B41FA5}">
                      <a16:colId xmlns:a16="http://schemas.microsoft.com/office/drawing/2014/main" val="1958689783"/>
                    </a:ext>
                  </a:extLst>
                </a:gridCol>
                <a:gridCol w="946150">
                  <a:extLst>
                    <a:ext uri="{9D8B030D-6E8A-4147-A177-3AD203B41FA5}">
                      <a16:colId xmlns:a16="http://schemas.microsoft.com/office/drawing/2014/main" val="255897933"/>
                    </a:ext>
                  </a:extLst>
                </a:gridCol>
                <a:gridCol w="946150">
                  <a:extLst>
                    <a:ext uri="{9D8B030D-6E8A-4147-A177-3AD203B41FA5}">
                      <a16:colId xmlns:a16="http://schemas.microsoft.com/office/drawing/2014/main" val="362322894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8158938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3827062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9010448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9928231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8547959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54078155"/>
                  </a:ext>
                </a:extLst>
              </a:tr>
            </a:tbl>
          </a:graphicData>
        </a:graphic>
      </p:graphicFrame>
      <p:sp>
        <p:nvSpPr>
          <p:cNvPr id="164934" name="Text Box 70" descr="TextBox 7">
            <a:extLst>
              <a:ext uri="{FF2B5EF4-FFF2-40B4-BE49-F238E27FC236}">
                <a16:creationId xmlns:a16="http://schemas.microsoft.com/office/drawing/2014/main" id="{5CE920ED-1643-9695-5FA1-F67A831A70AE}"/>
              </a:ext>
            </a:extLst>
          </p:cNvPr>
          <p:cNvSpPr txBox="1">
            <a:spLocks/>
          </p:cNvSpPr>
          <p:nvPr/>
        </p:nvSpPr>
        <p:spPr bwMode="auto">
          <a:xfrm>
            <a:off x="1522413" y="5935663"/>
            <a:ext cx="1211262"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S1</a:t>
            </a:r>
          </a:p>
        </p:txBody>
      </p:sp>
      <p:graphicFrame>
        <p:nvGraphicFramePr>
          <p:cNvPr id="164935" name="Group 71">
            <a:extLst>
              <a:ext uri="{FF2B5EF4-FFF2-40B4-BE49-F238E27FC236}">
                <a16:creationId xmlns:a16="http://schemas.microsoft.com/office/drawing/2014/main" id="{1A407071-49B5-8B77-EA75-09CBE33C0AEA}"/>
              </a:ext>
            </a:extLst>
          </p:cNvPr>
          <p:cNvGraphicFramePr>
            <a:graphicFrameLocks noGrp="1"/>
          </p:cNvGraphicFramePr>
          <p:nvPr/>
        </p:nvGraphicFramePr>
        <p:xfrm>
          <a:off x="4141788" y="3711575"/>
          <a:ext cx="2665412" cy="2305050"/>
        </p:xfrm>
        <a:graphic>
          <a:graphicData uri="http://schemas.openxmlformats.org/drawingml/2006/table">
            <a:tbl>
              <a:tblPr/>
              <a:tblGrid>
                <a:gridCol w="773112">
                  <a:extLst>
                    <a:ext uri="{9D8B030D-6E8A-4147-A177-3AD203B41FA5}">
                      <a16:colId xmlns:a16="http://schemas.microsoft.com/office/drawing/2014/main" val="1583267382"/>
                    </a:ext>
                  </a:extLst>
                </a:gridCol>
                <a:gridCol w="946150">
                  <a:extLst>
                    <a:ext uri="{9D8B030D-6E8A-4147-A177-3AD203B41FA5}">
                      <a16:colId xmlns:a16="http://schemas.microsoft.com/office/drawing/2014/main" val="760039240"/>
                    </a:ext>
                  </a:extLst>
                </a:gridCol>
                <a:gridCol w="946150">
                  <a:extLst>
                    <a:ext uri="{9D8B030D-6E8A-4147-A177-3AD203B41FA5}">
                      <a16:colId xmlns:a16="http://schemas.microsoft.com/office/drawing/2014/main" val="293621523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8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681958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9454694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4199995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373641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0604028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91746094"/>
                  </a:ext>
                </a:extLst>
              </a:tr>
            </a:tbl>
          </a:graphicData>
        </a:graphic>
      </p:graphicFrame>
      <p:sp>
        <p:nvSpPr>
          <p:cNvPr id="164999" name="Text Box 135" descr="TextBox 10">
            <a:extLst>
              <a:ext uri="{FF2B5EF4-FFF2-40B4-BE49-F238E27FC236}">
                <a16:creationId xmlns:a16="http://schemas.microsoft.com/office/drawing/2014/main" id="{4DFAB621-1621-4CAB-BBA3-2791F390218C}"/>
              </a:ext>
            </a:extLst>
          </p:cNvPr>
          <p:cNvSpPr txBox="1">
            <a:spLocks/>
          </p:cNvSpPr>
          <p:nvPr/>
        </p:nvSpPr>
        <p:spPr bwMode="auto">
          <a:xfrm>
            <a:off x="4762500" y="5929313"/>
            <a:ext cx="1211263" cy="306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a:t>
            </a:r>
          </a:p>
        </p:txBody>
      </p:sp>
      <p:sp>
        <p:nvSpPr>
          <p:cNvPr id="165000" name="Text Box 136" descr="TextBox 8">
            <a:extLst>
              <a:ext uri="{FF2B5EF4-FFF2-40B4-BE49-F238E27FC236}">
                <a16:creationId xmlns:a16="http://schemas.microsoft.com/office/drawing/2014/main" id="{FDC514FA-4597-8C29-6A0B-6C26269174ED}"/>
              </a:ext>
            </a:extLst>
          </p:cNvPr>
          <p:cNvSpPr txBox="1">
            <a:spLocks/>
          </p:cNvSpPr>
          <p:nvPr/>
        </p:nvSpPr>
        <p:spPr bwMode="auto">
          <a:xfrm>
            <a:off x="1209675" y="3378200"/>
            <a:ext cx="4792663"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C00000"/>
                </a:solidFill>
              </a:rPr>
              <a:t>Schedule S2 is view equivalent to serial schedule S1</a:t>
            </a:r>
          </a:p>
        </p:txBody>
      </p:sp>
      <p:sp>
        <p:nvSpPr>
          <p:cNvPr id="165001" name="Text Box 137" descr="TextBox 11">
            <a:extLst>
              <a:ext uri="{FF2B5EF4-FFF2-40B4-BE49-F238E27FC236}">
                <a16:creationId xmlns:a16="http://schemas.microsoft.com/office/drawing/2014/main" id="{2AB11E4A-6330-4FBF-63AB-6BEC49B09CAD}"/>
              </a:ext>
            </a:extLst>
          </p:cNvPr>
          <p:cNvSpPr txBox="1">
            <a:spLocks/>
          </p:cNvSpPr>
          <p:nvPr/>
        </p:nvSpPr>
        <p:spPr bwMode="auto">
          <a:xfrm>
            <a:off x="6962775" y="5195888"/>
            <a:ext cx="1093788"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0000FF"/>
                </a:solidFill>
              </a:rPr>
              <a:t>Same Final</a:t>
            </a:r>
          </a:p>
          <a:p>
            <a:r>
              <a:rPr lang="en-US" altLang="en-US" sz="1400">
                <a:solidFill>
                  <a:srgbClr val="0000FF"/>
                </a:solidFill>
              </a:rPr>
              <a:t>Writes  in </a:t>
            </a:r>
          </a:p>
          <a:p>
            <a:r>
              <a:rPr lang="en-US" altLang="en-US" sz="1400">
                <a:solidFill>
                  <a:srgbClr val="0000FF"/>
                </a:solidFill>
              </a:rPr>
              <a:t>S1 and S2</a:t>
            </a:r>
          </a:p>
        </p:txBody>
      </p:sp>
    </p:spTree>
  </p:cSld>
  <p:clrMapOvr>
    <a:masterClrMapping/>
  </p:clrMapOvr>
  <p:transition spd="med"/>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descr="Title 1">
            <a:extLst>
              <a:ext uri="{FF2B5EF4-FFF2-40B4-BE49-F238E27FC236}">
                <a16:creationId xmlns:a16="http://schemas.microsoft.com/office/drawing/2014/main" id="{30148F1B-9C04-EE07-9268-F641D0E953C0}"/>
              </a:ext>
            </a:extLst>
          </p:cNvPr>
          <p:cNvSpPr>
            <a:spLocks noChangeArrowheads="1"/>
          </p:cNvSpPr>
          <p:nvPr>
            <p:ph type="title"/>
          </p:nvPr>
        </p:nvSpPr>
        <p:spPr/>
        <p:txBody>
          <a:bodyPr/>
          <a:lstStyle/>
          <a:p>
            <a:r>
              <a:rPr lang="en-US" altLang="en-US"/>
              <a:t>View Equivalence</a:t>
            </a:r>
          </a:p>
        </p:txBody>
      </p:sp>
      <p:sp>
        <p:nvSpPr>
          <p:cNvPr id="165891" name="Rectangle 3" descr="Content Placeholder 2">
            <a:extLst>
              <a:ext uri="{FF2B5EF4-FFF2-40B4-BE49-F238E27FC236}">
                <a16:creationId xmlns:a16="http://schemas.microsoft.com/office/drawing/2014/main" id="{5038F2D8-E648-04A6-8AE7-B9A61EA79190}"/>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1800" b="1"/>
              <a:t>View Serializability Summary:</a:t>
            </a:r>
          </a:p>
          <a:p>
            <a:pPr marL="0" indent="0">
              <a:spcBef>
                <a:spcPts val="400"/>
              </a:spcBef>
              <a:buSzTx/>
              <a:buFont typeface="Wingdings" panose="05000000000000000000" pitchFamily="2" charset="2"/>
              <a:buNone/>
            </a:pPr>
            <a:r>
              <a:rPr lang="en-US" altLang="en-US" sz="1800"/>
              <a:t>i. Same Transaction </a:t>
            </a:r>
            <a:r>
              <a:rPr lang="en-US" altLang="en-US" sz="1800" b="1"/>
              <a:t>Reads Data First.</a:t>
            </a:r>
            <a:endParaRPr lang="en-US" altLang="en-US" sz="1800"/>
          </a:p>
          <a:p>
            <a:pPr marL="0" indent="0">
              <a:spcBef>
                <a:spcPts val="400"/>
              </a:spcBef>
              <a:buSzTx/>
              <a:buFont typeface="Wingdings" panose="05000000000000000000" pitchFamily="2" charset="2"/>
              <a:buNone/>
            </a:pPr>
            <a:r>
              <a:rPr lang="en-US" altLang="en-US" sz="1800"/>
              <a:t>ii. Same </a:t>
            </a:r>
            <a:r>
              <a:rPr lang="en-US" altLang="en-US" sz="1800" b="1"/>
              <a:t>WR Order </a:t>
            </a:r>
            <a:r>
              <a:rPr lang="en-US" altLang="en-US" sz="1800"/>
              <a:t>of actions.</a:t>
            </a:r>
          </a:p>
          <a:p>
            <a:pPr marL="0" indent="0">
              <a:spcBef>
                <a:spcPts val="400"/>
              </a:spcBef>
              <a:buSzTx/>
              <a:buFont typeface="Wingdings" panose="05000000000000000000" pitchFamily="2" charset="2"/>
              <a:buNone/>
            </a:pPr>
            <a:r>
              <a:rPr lang="en-US" altLang="en-US" sz="1800"/>
              <a:t>iii. Same Transaction </a:t>
            </a:r>
            <a:r>
              <a:rPr lang="en-US" altLang="en-US" sz="1800" b="1"/>
              <a:t>Writes Data Last.</a:t>
            </a:r>
            <a:endParaRPr lang="en-US" altLang="en-US" sz="1800"/>
          </a:p>
        </p:txBody>
      </p:sp>
      <p:sp>
        <p:nvSpPr>
          <p:cNvPr id="165892" name="Text Box 4" descr="Date Placeholder 3">
            <a:extLst>
              <a:ext uri="{FF2B5EF4-FFF2-40B4-BE49-F238E27FC236}">
                <a16:creationId xmlns:a16="http://schemas.microsoft.com/office/drawing/2014/main" id="{422BE9BA-8FB2-1B9E-C69A-B216EE26E05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5893" name="Text Box 5" descr="Slide Number Placeholder 5">
            <a:extLst>
              <a:ext uri="{FF2B5EF4-FFF2-40B4-BE49-F238E27FC236}">
                <a16:creationId xmlns:a16="http://schemas.microsoft.com/office/drawing/2014/main" id="{CEBBE2B9-A365-C2D7-133A-14720E8A532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5990A6B-471A-4FE3-9AA7-99B801C0206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descr="Title 1">
            <a:extLst>
              <a:ext uri="{FF2B5EF4-FFF2-40B4-BE49-F238E27FC236}">
                <a16:creationId xmlns:a16="http://schemas.microsoft.com/office/drawing/2014/main" id="{CB9DCDE5-B371-C114-6450-C51CC14A19BC}"/>
              </a:ext>
            </a:extLst>
          </p:cNvPr>
          <p:cNvSpPr>
            <a:spLocks noChangeArrowheads="1"/>
          </p:cNvSpPr>
          <p:nvPr>
            <p:ph type="title"/>
          </p:nvPr>
        </p:nvSpPr>
        <p:spPr/>
        <p:txBody>
          <a:bodyPr/>
          <a:lstStyle/>
          <a:p>
            <a:r>
              <a:rPr lang="en-US" altLang="en-US" sz="2800"/>
              <a:t>Summarizing Serializability Schedules</a:t>
            </a:r>
          </a:p>
        </p:txBody>
      </p:sp>
      <p:sp>
        <p:nvSpPr>
          <p:cNvPr id="166915" name="Rectangle 3" descr="Content Placeholder 2">
            <a:extLst>
              <a:ext uri="{FF2B5EF4-FFF2-40B4-BE49-F238E27FC236}">
                <a16:creationId xmlns:a16="http://schemas.microsoft.com/office/drawing/2014/main" id="{18F45163-0944-8EEA-441F-D736BF43F276}"/>
              </a:ext>
            </a:extLst>
          </p:cNvPr>
          <p:cNvSpPr>
            <a:spLocks noChangeArrowheads="1"/>
          </p:cNvSpPr>
          <p:nvPr>
            <p:ph type="body" idx="1"/>
          </p:nvPr>
        </p:nvSpPr>
        <p:spPr/>
        <p:txBody>
          <a:bodyPr/>
          <a:lstStyle/>
          <a:p>
            <a:r>
              <a:rPr lang="en-US" altLang="en-US"/>
              <a:t>Venn diagram</a:t>
            </a:r>
          </a:p>
        </p:txBody>
      </p:sp>
      <p:sp>
        <p:nvSpPr>
          <p:cNvPr id="166916" name="Text Box 4" descr="Date Placeholder 3">
            <a:extLst>
              <a:ext uri="{FF2B5EF4-FFF2-40B4-BE49-F238E27FC236}">
                <a16:creationId xmlns:a16="http://schemas.microsoft.com/office/drawing/2014/main" id="{2031601D-149F-8143-C09B-52FA7CAA4F1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6917" name="Text Box 5" descr="Slide Number Placeholder 5">
            <a:extLst>
              <a:ext uri="{FF2B5EF4-FFF2-40B4-BE49-F238E27FC236}">
                <a16:creationId xmlns:a16="http://schemas.microsoft.com/office/drawing/2014/main" id="{0219F67F-A2FA-A68A-0B47-BE090F31447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CCEA9DF-9C1D-43D2-953C-937937F6316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66918" name="Picture 6" descr="Picture 2">
            <a:extLst>
              <a:ext uri="{FF2B5EF4-FFF2-40B4-BE49-F238E27FC236}">
                <a16:creationId xmlns:a16="http://schemas.microsoft.com/office/drawing/2014/main" id="{223479F3-ED68-C2EF-558F-05CE6569A36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06588" y="1916113"/>
            <a:ext cx="2736850" cy="1874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66919" name="Text Box 7" descr="TextBox 6">
            <a:extLst>
              <a:ext uri="{FF2B5EF4-FFF2-40B4-BE49-F238E27FC236}">
                <a16:creationId xmlns:a16="http://schemas.microsoft.com/office/drawing/2014/main" id="{4CC7FD35-1A22-4530-C634-291107FD9B18}"/>
              </a:ext>
            </a:extLst>
          </p:cNvPr>
          <p:cNvSpPr txBox="1">
            <a:spLocks/>
          </p:cNvSpPr>
          <p:nvPr/>
        </p:nvSpPr>
        <p:spPr bwMode="auto">
          <a:xfrm>
            <a:off x="4832350" y="2640013"/>
            <a:ext cx="4113213" cy="739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Note:</a:t>
            </a:r>
          </a:p>
          <a:p>
            <a:r>
              <a:rPr lang="en-US" altLang="en-US" sz="1400"/>
              <a:t>Any Conflict serializable schedules is also </a:t>
            </a:r>
          </a:p>
          <a:p>
            <a:r>
              <a:rPr lang="en-US" altLang="en-US" sz="1400"/>
              <a:t>View serializable schedule but not vice-versa</a:t>
            </a:r>
          </a:p>
        </p:txBody>
      </p:sp>
      <p:sp>
        <p:nvSpPr>
          <p:cNvPr id="166920" name="Text Box 8" descr="TextBox 7">
            <a:extLst>
              <a:ext uri="{FF2B5EF4-FFF2-40B4-BE49-F238E27FC236}">
                <a16:creationId xmlns:a16="http://schemas.microsoft.com/office/drawing/2014/main" id="{15A642E8-CD94-7C4F-DF09-9CF0CD7C2F77}"/>
              </a:ext>
            </a:extLst>
          </p:cNvPr>
          <p:cNvSpPr txBox="1">
            <a:spLocks/>
          </p:cNvSpPr>
          <p:nvPr/>
        </p:nvSpPr>
        <p:spPr bwMode="auto">
          <a:xfrm>
            <a:off x="873125" y="4724400"/>
            <a:ext cx="7116763" cy="1171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114300" indent="-1143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a:t>Note:</a:t>
            </a:r>
          </a:p>
          <a:p>
            <a:pPr>
              <a:buSzPct val="100000"/>
              <a:buFontTx/>
              <a:buChar char="-"/>
            </a:pPr>
            <a:r>
              <a:rPr lang="en-US" altLang="en-US" sz="1400"/>
              <a:t>There is an algorithm to test whether a schedule S is view serial schedule. </a:t>
            </a:r>
          </a:p>
          <a:p>
            <a:pPr>
              <a:buSzPct val="100000"/>
              <a:buFontTx/>
              <a:buChar char="-"/>
            </a:pPr>
            <a:r>
              <a:rPr lang="en-US" altLang="en-US" sz="1400"/>
              <a:t>However, the problem of testing view serializability has been shown to be </a:t>
            </a:r>
          </a:p>
          <a:p>
            <a:r>
              <a:rPr lang="en-US" altLang="en-US" sz="1400"/>
              <a:t>NP-hard, meaning that finding an efficient polynomial time algorithm for </a:t>
            </a:r>
          </a:p>
          <a:p>
            <a:r>
              <a:rPr lang="en-US" altLang="en-US" sz="1400"/>
              <a:t>this problem is highly unlikely.</a:t>
            </a:r>
          </a:p>
        </p:txBody>
      </p:sp>
    </p:spTree>
  </p:cSld>
  <p:clrMapOvr>
    <a:masterClrMapping/>
  </p:clrMapOvr>
  <p:transition spd="med"/>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2" descr="Title 1">
            <a:extLst>
              <a:ext uri="{FF2B5EF4-FFF2-40B4-BE49-F238E27FC236}">
                <a16:creationId xmlns:a16="http://schemas.microsoft.com/office/drawing/2014/main" id="{73AF4227-C1F7-FECD-99B3-9C8C9618ECBA}"/>
              </a:ext>
            </a:extLst>
          </p:cNvPr>
          <p:cNvSpPr>
            <a:spLocks noChangeArrowheads="1"/>
          </p:cNvSpPr>
          <p:nvPr>
            <p:ph type="title"/>
          </p:nvPr>
        </p:nvSpPr>
        <p:spPr/>
        <p:txBody>
          <a:bodyPr/>
          <a:lstStyle/>
          <a:p>
            <a:r>
              <a:rPr lang="en-US" altLang="en-US"/>
              <a:t>Characterizing Schedules</a:t>
            </a:r>
          </a:p>
        </p:txBody>
      </p:sp>
      <p:sp>
        <p:nvSpPr>
          <p:cNvPr id="167939" name="Rectangle 3" descr="Content Placeholder 2">
            <a:extLst>
              <a:ext uri="{FF2B5EF4-FFF2-40B4-BE49-F238E27FC236}">
                <a16:creationId xmlns:a16="http://schemas.microsoft.com/office/drawing/2014/main" id="{397457AE-4AF1-39F5-913A-9EA5DBFCD9C8}"/>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Characterizing different schedules based on the following two properties: </a:t>
            </a:r>
          </a:p>
          <a:p>
            <a:pPr marL="0" indent="0">
              <a:spcBef>
                <a:spcPts val="300"/>
              </a:spcBef>
              <a:buSzTx/>
              <a:buFont typeface="Wingdings" panose="05000000000000000000" pitchFamily="2" charset="2"/>
              <a:buNone/>
            </a:pPr>
            <a:r>
              <a:rPr lang="en-US" altLang="en-US" sz="1600" b="1"/>
              <a:t>A. Based on Serializability </a:t>
            </a:r>
          </a:p>
          <a:p>
            <a:pPr marL="0" indent="0">
              <a:spcBef>
                <a:spcPts val="300"/>
              </a:spcBef>
              <a:buSzTx/>
              <a:buFont typeface="Wingdings" panose="05000000000000000000" pitchFamily="2" charset="2"/>
              <a:buNone/>
            </a:pPr>
            <a:r>
              <a:rPr lang="en-US" altLang="en-US" sz="1600"/>
              <a:t>- We shall ignore Commits and Aborts for this section</a:t>
            </a:r>
          </a:p>
          <a:p>
            <a:pPr marL="0" indent="0">
              <a:spcBef>
                <a:spcPts val="300"/>
              </a:spcBef>
              <a:buSzTx/>
              <a:buFont typeface="Wingdings" panose="05000000000000000000" pitchFamily="2" charset="2"/>
              <a:buNone/>
            </a:pPr>
            <a:r>
              <a:rPr lang="en-US" altLang="en-US" sz="1600"/>
              <a:t>- Characterize which </a:t>
            </a:r>
            <a:r>
              <a:rPr lang="en-US" altLang="en-US" sz="1600" b="1"/>
              <a:t>schedules are correct </a:t>
            </a:r>
            <a:r>
              <a:rPr lang="en-US" altLang="en-US" sz="1600"/>
              <a:t>when concurrent transactions are executing. </a:t>
            </a:r>
          </a:p>
          <a:p>
            <a:pPr marL="781050" lvl="1" indent="-342900">
              <a:spcBef>
                <a:spcPts val="300"/>
              </a:spcBef>
              <a:buFontTx/>
              <a:buAutoNum type="arabicPeriod"/>
            </a:pPr>
            <a:r>
              <a:rPr lang="en-US" altLang="en-US" sz="1400"/>
              <a:t>Conflict Serializable Schedule </a:t>
            </a:r>
            <a:endParaRPr lang="en-US" altLang="en-US" sz="2600"/>
          </a:p>
          <a:p>
            <a:pPr marL="781050" lvl="1" indent="-342900">
              <a:spcBef>
                <a:spcPts val="300"/>
              </a:spcBef>
              <a:buFontTx/>
              <a:buAutoNum type="arabicPeriod"/>
            </a:pPr>
            <a:r>
              <a:rPr lang="en-US" altLang="en-US" sz="1400"/>
              <a:t>View Serializable Schedule </a:t>
            </a:r>
            <a:endParaRPr lang="en-US" altLang="en-US" sz="2600"/>
          </a:p>
          <a:p>
            <a:pPr marL="0" indent="0">
              <a:spcBef>
                <a:spcPts val="300"/>
              </a:spcBef>
              <a:buSzTx/>
              <a:buFont typeface="Wingdings" panose="05000000000000000000" pitchFamily="2" charset="2"/>
              <a:buNone/>
            </a:pPr>
            <a:r>
              <a:rPr lang="en-US" altLang="en-US" sz="1600" b="1"/>
              <a:t>B. Based on Recoverability </a:t>
            </a:r>
          </a:p>
          <a:p>
            <a:pPr marL="0" indent="0">
              <a:spcBef>
                <a:spcPts val="300"/>
              </a:spcBef>
              <a:buSzTx/>
              <a:buFont typeface="Wingdings" panose="05000000000000000000" pitchFamily="2" charset="2"/>
              <a:buNone/>
            </a:pPr>
            <a:r>
              <a:rPr lang="en-US" altLang="en-US" sz="1600"/>
              <a:t>- Commits and Aborts become important for this section</a:t>
            </a:r>
          </a:p>
          <a:p>
            <a:pPr marL="0" indent="0">
              <a:spcBef>
                <a:spcPts val="300"/>
              </a:spcBef>
              <a:buSzTx/>
              <a:buFont typeface="Wingdings" panose="05000000000000000000" pitchFamily="2" charset="2"/>
              <a:buNone/>
            </a:pPr>
            <a:r>
              <a:rPr lang="en-US" altLang="en-US" sz="1600"/>
              <a:t>- Characterize which </a:t>
            </a:r>
            <a:r>
              <a:rPr lang="en-US" altLang="en-US" sz="1600" b="1"/>
              <a:t>schedules can be recovered</a:t>
            </a:r>
            <a:r>
              <a:rPr lang="en-US" altLang="en-US" sz="1600"/>
              <a:t> and how easily. </a:t>
            </a:r>
          </a:p>
          <a:p>
            <a:pPr marL="781050" lvl="1" indent="-342900">
              <a:spcBef>
                <a:spcPts val="300"/>
              </a:spcBef>
              <a:buFontTx/>
              <a:buAutoNum type="arabicPeriod"/>
            </a:pPr>
            <a:r>
              <a:rPr lang="en-US" altLang="en-US" sz="1400"/>
              <a:t>Recoverable Schedule </a:t>
            </a:r>
            <a:endParaRPr lang="en-US" altLang="en-US" sz="2600"/>
          </a:p>
          <a:p>
            <a:pPr marL="781050" lvl="1" indent="-342900">
              <a:spcBef>
                <a:spcPts val="300"/>
              </a:spcBef>
              <a:buFontTx/>
              <a:buAutoNum type="arabicPeriod"/>
            </a:pPr>
            <a:r>
              <a:rPr lang="en-US" altLang="en-US" sz="1400"/>
              <a:t>Cascadeless schedule </a:t>
            </a:r>
            <a:endParaRPr lang="en-US" altLang="en-US" sz="2600"/>
          </a:p>
          <a:p>
            <a:pPr marL="781050" lvl="1" indent="-342900">
              <a:spcBef>
                <a:spcPts val="300"/>
              </a:spcBef>
              <a:buFontTx/>
              <a:buAutoNum type="arabicPeriod"/>
            </a:pPr>
            <a:r>
              <a:rPr lang="en-US" altLang="en-US" sz="1400"/>
              <a:t>Strict Schedules</a:t>
            </a:r>
          </a:p>
        </p:txBody>
      </p:sp>
      <p:sp>
        <p:nvSpPr>
          <p:cNvPr id="167940" name="Text Box 4" descr="Date Placeholder 3">
            <a:extLst>
              <a:ext uri="{FF2B5EF4-FFF2-40B4-BE49-F238E27FC236}">
                <a16:creationId xmlns:a16="http://schemas.microsoft.com/office/drawing/2014/main" id="{39EF7F9E-717E-4794-0BEA-C82ECCCBE2A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7941" name="Text Box 5" descr="Slide Number Placeholder 5">
            <a:extLst>
              <a:ext uri="{FF2B5EF4-FFF2-40B4-BE49-F238E27FC236}">
                <a16:creationId xmlns:a16="http://schemas.microsoft.com/office/drawing/2014/main" id="{C97B2D98-0F90-3BE9-BA22-A789845E6C7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4554200-4BE6-4F23-AAC9-5FC2051348A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159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descr="Title 1">
            <a:extLst>
              <a:ext uri="{FF2B5EF4-FFF2-40B4-BE49-F238E27FC236}">
                <a16:creationId xmlns:a16="http://schemas.microsoft.com/office/drawing/2014/main" id="{F78D4BFD-76CB-243D-C70E-D5016204E3C7}"/>
              </a:ext>
            </a:extLst>
          </p:cNvPr>
          <p:cNvSpPr>
            <a:spLocks noChangeArrowheads="1"/>
          </p:cNvSpPr>
          <p:nvPr>
            <p:ph type="title"/>
          </p:nvPr>
        </p:nvSpPr>
        <p:spPr/>
        <p:txBody>
          <a:bodyPr/>
          <a:lstStyle/>
          <a:p>
            <a:r>
              <a:rPr lang="en-US" altLang="en-US"/>
              <a:t>Note</a:t>
            </a:r>
          </a:p>
        </p:txBody>
      </p:sp>
      <p:sp>
        <p:nvSpPr>
          <p:cNvPr id="168963" name="Rectangle 3" descr="Content Placeholder 2">
            <a:extLst>
              <a:ext uri="{FF2B5EF4-FFF2-40B4-BE49-F238E27FC236}">
                <a16:creationId xmlns:a16="http://schemas.microsoft.com/office/drawing/2014/main" id="{7C596CB6-F1C3-088D-0C9A-007D19357DD7}"/>
              </a:ext>
            </a:extLst>
          </p:cNvPr>
          <p:cNvSpPr>
            <a:spLocks noChangeArrowheads="1"/>
          </p:cNvSpPr>
          <p:nvPr>
            <p:ph type="body" idx="1"/>
          </p:nvPr>
        </p:nvSpPr>
        <p:spPr/>
        <p:txBody>
          <a:bodyPr/>
          <a:lstStyle/>
          <a:p>
            <a:pPr marL="0" indent="0" algn="just">
              <a:spcBef>
                <a:spcPts val="500"/>
              </a:spcBef>
              <a:buSzTx/>
              <a:buFont typeface="Wingdings" panose="05000000000000000000" pitchFamily="2" charset="2"/>
              <a:buNone/>
            </a:pPr>
            <a:r>
              <a:rPr lang="en-US" altLang="en-US" sz="2400" b="1"/>
              <a:t>Commit</a:t>
            </a:r>
            <a:r>
              <a:rPr lang="en-US" altLang="en-US" sz="2400"/>
              <a:t> simply means to </a:t>
            </a:r>
            <a:r>
              <a:rPr lang="en-US" altLang="en-US" sz="2400">
                <a:solidFill>
                  <a:srgbClr val="0000FF"/>
                </a:solidFill>
              </a:rPr>
              <a:t>permanently save all the changes </a:t>
            </a:r>
            <a:r>
              <a:rPr lang="en-US" altLang="en-US" sz="2400"/>
              <a:t>which you have made in the current transaction. </a:t>
            </a:r>
            <a:endParaRPr lang="en-US" altLang="en-US" sz="2400" b="1"/>
          </a:p>
          <a:p>
            <a:pPr marL="0" indent="0" algn="just">
              <a:buSzTx/>
              <a:buFont typeface="Wingdings" panose="05000000000000000000" pitchFamily="2" charset="2"/>
              <a:buNone/>
            </a:pPr>
            <a:endParaRPr lang="en-US" altLang="en-US" sz="2400"/>
          </a:p>
          <a:p>
            <a:pPr marL="0" indent="0" algn="just">
              <a:spcBef>
                <a:spcPts val="500"/>
              </a:spcBef>
              <a:buSzTx/>
              <a:buFont typeface="Wingdings" panose="05000000000000000000" pitchFamily="2" charset="2"/>
              <a:buNone/>
            </a:pPr>
            <a:r>
              <a:rPr lang="en-US" altLang="en-US" sz="2400" b="1"/>
              <a:t>Abort</a:t>
            </a:r>
            <a:r>
              <a:rPr lang="en-US" altLang="en-US" sz="2400"/>
              <a:t> means to </a:t>
            </a:r>
            <a:r>
              <a:rPr lang="en-US" altLang="en-US" sz="2400">
                <a:solidFill>
                  <a:srgbClr val="0000FF"/>
                </a:solidFill>
              </a:rPr>
              <a:t>disrupt the action by killing the current ongoing transaction</a:t>
            </a:r>
            <a:r>
              <a:rPr lang="en-US" altLang="en-US" sz="2400"/>
              <a:t>. </a:t>
            </a:r>
            <a:endParaRPr lang="en-US" altLang="en-US" sz="2400" b="1"/>
          </a:p>
          <a:p>
            <a:pPr marL="0" indent="0" algn="just">
              <a:buSzTx/>
              <a:buFont typeface="Wingdings" panose="05000000000000000000" pitchFamily="2" charset="2"/>
              <a:buNone/>
            </a:pPr>
            <a:endParaRPr lang="en-US" altLang="en-US" sz="2400" b="1"/>
          </a:p>
          <a:p>
            <a:pPr marL="0" indent="0" algn="just">
              <a:spcBef>
                <a:spcPts val="500"/>
              </a:spcBef>
              <a:buSzTx/>
              <a:buFont typeface="Wingdings" panose="05000000000000000000" pitchFamily="2" charset="2"/>
              <a:buNone/>
            </a:pPr>
            <a:r>
              <a:rPr lang="en-US" altLang="en-US" sz="2400" b="1"/>
              <a:t>Rollback</a:t>
            </a:r>
            <a:r>
              <a:rPr lang="en-US" altLang="en-US" sz="2400"/>
              <a:t> refers to </a:t>
            </a:r>
            <a:r>
              <a:rPr lang="en-US" altLang="en-US" sz="2400">
                <a:solidFill>
                  <a:srgbClr val="0000FF"/>
                </a:solidFill>
              </a:rPr>
              <a:t>reverting to a previous stable state</a:t>
            </a:r>
            <a:r>
              <a:rPr lang="en-US" altLang="en-US" sz="2400"/>
              <a:t> in the case of transactions.</a:t>
            </a:r>
            <a:endParaRPr lang="en-US" altLang="en-US" sz="2400" b="1"/>
          </a:p>
        </p:txBody>
      </p:sp>
      <p:sp>
        <p:nvSpPr>
          <p:cNvPr id="168964" name="Text Box 4" descr="Date Placeholder 3">
            <a:extLst>
              <a:ext uri="{FF2B5EF4-FFF2-40B4-BE49-F238E27FC236}">
                <a16:creationId xmlns:a16="http://schemas.microsoft.com/office/drawing/2014/main" id="{9BDCF939-A832-628A-8ED6-209FFBDF96F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8965" name="Text Box 5" descr="Slide Number Placeholder 5">
            <a:extLst>
              <a:ext uri="{FF2B5EF4-FFF2-40B4-BE49-F238E27FC236}">
                <a16:creationId xmlns:a16="http://schemas.microsoft.com/office/drawing/2014/main" id="{32359B3A-C7E1-9D3C-24BA-A94A0422A56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2A85EC1-D0FC-44E8-B231-1BC30C39E53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2" descr="Title 1">
            <a:extLst>
              <a:ext uri="{FF2B5EF4-FFF2-40B4-BE49-F238E27FC236}">
                <a16:creationId xmlns:a16="http://schemas.microsoft.com/office/drawing/2014/main" id="{41654E6E-7F86-BEB7-8BB6-DA2B245CAAFC}"/>
              </a:ext>
            </a:extLst>
          </p:cNvPr>
          <p:cNvSpPr>
            <a:spLocks noChangeArrowheads="1"/>
          </p:cNvSpPr>
          <p:nvPr>
            <p:ph type="title"/>
          </p:nvPr>
        </p:nvSpPr>
        <p:spPr/>
        <p:txBody>
          <a:bodyPr/>
          <a:lstStyle/>
          <a:p>
            <a:r>
              <a:rPr lang="en-US" altLang="en-US" sz="2400"/>
              <a:t>Characterizing Schedules based on Recoverability </a:t>
            </a:r>
          </a:p>
        </p:txBody>
      </p:sp>
      <p:sp>
        <p:nvSpPr>
          <p:cNvPr id="169987" name="Rectangle 3" descr="Content Placeholder 2">
            <a:extLst>
              <a:ext uri="{FF2B5EF4-FFF2-40B4-BE49-F238E27FC236}">
                <a16:creationId xmlns:a16="http://schemas.microsoft.com/office/drawing/2014/main" id="{7BF64FA0-1BCF-88AA-F63A-E1EC73549F7B}"/>
              </a:ext>
            </a:extLst>
          </p:cNvPr>
          <p:cNvSpPr>
            <a:spLocks noChangeArrowheads="1"/>
          </p:cNvSpPr>
          <p:nvPr>
            <p:ph type="body" idx="1"/>
          </p:nvPr>
        </p:nvSpPr>
        <p:spPr/>
        <p:txBody>
          <a:bodyPr/>
          <a:lstStyle/>
          <a:p>
            <a:pPr marL="273050" indent="-273050">
              <a:spcBef>
                <a:spcPts val="400"/>
              </a:spcBef>
              <a:buSzTx/>
              <a:buFont typeface="Wingdings" panose="05000000000000000000" pitchFamily="2" charset="2"/>
              <a:buNone/>
            </a:pPr>
            <a:r>
              <a:rPr lang="en-US" altLang="en-US" sz="2000" b="1"/>
              <a:t>Based on Recoverability </a:t>
            </a:r>
          </a:p>
          <a:p>
            <a:pPr marL="273050" indent="-273050">
              <a:spcBef>
                <a:spcPts val="400"/>
              </a:spcBef>
              <a:buSzTx/>
              <a:buFont typeface="Wingdings" panose="05000000000000000000" pitchFamily="2" charset="2"/>
              <a:buNone/>
            </a:pPr>
            <a:r>
              <a:rPr lang="en-US" altLang="en-US" sz="2000"/>
              <a:t>Characterize which </a:t>
            </a:r>
            <a:r>
              <a:rPr lang="en-US" altLang="en-US" sz="2000" b="1"/>
              <a:t>schedules can be recovered </a:t>
            </a:r>
            <a:r>
              <a:rPr lang="en-US" altLang="en-US" sz="2000"/>
              <a:t>and how easily. </a:t>
            </a:r>
          </a:p>
          <a:p>
            <a:pPr marL="273050" indent="-273050">
              <a:spcBef>
                <a:spcPts val="400"/>
              </a:spcBef>
              <a:buFontTx/>
              <a:buAutoNum type="arabicPeriod"/>
            </a:pPr>
            <a:r>
              <a:rPr lang="en-US" altLang="en-US" sz="2000"/>
              <a:t>Recoverable Schedule </a:t>
            </a:r>
          </a:p>
          <a:p>
            <a:pPr marL="273050" indent="-273050">
              <a:spcBef>
                <a:spcPts val="400"/>
              </a:spcBef>
              <a:buFontTx/>
              <a:buAutoNum type="arabicPeriod"/>
            </a:pPr>
            <a:r>
              <a:rPr lang="en-US" altLang="en-US" sz="2000"/>
              <a:t>Cascadeless or Avoid Cascading Rollback schedule </a:t>
            </a:r>
          </a:p>
          <a:p>
            <a:pPr marL="273050" indent="-273050">
              <a:spcBef>
                <a:spcPts val="400"/>
              </a:spcBef>
              <a:buFontTx/>
              <a:buAutoNum type="arabicPeriod"/>
            </a:pPr>
            <a:r>
              <a:rPr lang="en-US" altLang="en-US" sz="2000"/>
              <a:t>Strict Schedules</a:t>
            </a:r>
          </a:p>
        </p:txBody>
      </p:sp>
      <p:sp>
        <p:nvSpPr>
          <p:cNvPr id="169988" name="Text Box 4" descr="Date Placeholder 3">
            <a:extLst>
              <a:ext uri="{FF2B5EF4-FFF2-40B4-BE49-F238E27FC236}">
                <a16:creationId xmlns:a16="http://schemas.microsoft.com/office/drawing/2014/main" id="{0CD25DEF-EE1C-3F48-DB44-21FAF85A68B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69989" name="Text Box 5" descr="Slide Number Placeholder 5">
            <a:extLst>
              <a:ext uri="{FF2B5EF4-FFF2-40B4-BE49-F238E27FC236}">
                <a16:creationId xmlns:a16="http://schemas.microsoft.com/office/drawing/2014/main" id="{73DC85F6-16A8-69CB-A688-143A370DDAE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ADEAA2C-7480-4D33-A79B-D64D3EF257C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descr="Title 1">
            <a:extLst>
              <a:ext uri="{FF2B5EF4-FFF2-40B4-BE49-F238E27FC236}">
                <a16:creationId xmlns:a16="http://schemas.microsoft.com/office/drawing/2014/main" id="{3E3933ED-DBAB-BE19-97E6-FF407B6C01B8}"/>
              </a:ext>
            </a:extLst>
          </p:cNvPr>
          <p:cNvSpPr>
            <a:spLocks noChangeArrowheads="1"/>
          </p:cNvSpPr>
          <p:nvPr>
            <p:ph type="title"/>
          </p:nvPr>
        </p:nvSpPr>
        <p:spPr/>
        <p:txBody>
          <a:bodyPr/>
          <a:lstStyle/>
          <a:p>
            <a:r>
              <a:rPr lang="en-US" altLang="en-US"/>
              <a:t>Recoverable Schedule</a:t>
            </a:r>
          </a:p>
        </p:txBody>
      </p:sp>
      <p:sp>
        <p:nvSpPr>
          <p:cNvPr id="172035" name="Rectangle 3" descr="Content Placeholder 2">
            <a:extLst>
              <a:ext uri="{FF2B5EF4-FFF2-40B4-BE49-F238E27FC236}">
                <a16:creationId xmlns:a16="http://schemas.microsoft.com/office/drawing/2014/main" id="{C4A1759B-A0F6-1B0A-EC12-B511ECF0DAFF}"/>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Recoverability is a situation where we can recover database system to a consistent way after failure.</a:t>
            </a:r>
          </a:p>
          <a:p>
            <a:pPr marL="234950" indent="-234950">
              <a:spcBef>
                <a:spcPts val="300"/>
              </a:spcBef>
            </a:pPr>
            <a:r>
              <a:rPr lang="en-US" altLang="en-US" sz="1600"/>
              <a:t>Recoverable schedule: A </a:t>
            </a:r>
            <a:r>
              <a:rPr lang="en-US" altLang="en-US" sz="1600" b="1"/>
              <a:t>schedule S </a:t>
            </a:r>
            <a:r>
              <a:rPr lang="en-US" altLang="en-US" sz="1600"/>
              <a:t>is </a:t>
            </a:r>
            <a:r>
              <a:rPr lang="en-US" altLang="en-US" sz="1600" b="1"/>
              <a:t>recoverable </a:t>
            </a:r>
            <a:r>
              <a:rPr lang="en-US" altLang="en-US" sz="1600"/>
              <a:t>if no transaction </a:t>
            </a:r>
            <a:r>
              <a:rPr lang="en-US" altLang="en-US" sz="1600" b="1"/>
              <a:t>T </a:t>
            </a:r>
            <a:r>
              <a:rPr lang="en-US" altLang="en-US" sz="1600"/>
              <a:t>in </a:t>
            </a:r>
            <a:r>
              <a:rPr lang="en-US" altLang="en-US" sz="1600" b="1"/>
              <a:t>S </a:t>
            </a:r>
            <a:r>
              <a:rPr lang="en-US" altLang="en-US" sz="1600"/>
              <a:t>commits until all transactions </a:t>
            </a:r>
            <a:r>
              <a:rPr lang="en-US" altLang="en-US" sz="1600" b="1"/>
              <a:t>T’</a:t>
            </a:r>
            <a:r>
              <a:rPr lang="en-US" altLang="en-US" sz="1600"/>
              <a:t>, that have written an item that </a:t>
            </a:r>
            <a:r>
              <a:rPr lang="en-US" altLang="en-US" sz="1600" b="1"/>
              <a:t>T </a:t>
            </a:r>
            <a:r>
              <a:rPr lang="en-US" altLang="en-US" sz="1600"/>
              <a:t>reads, have committed.</a:t>
            </a:r>
          </a:p>
        </p:txBody>
      </p:sp>
      <p:sp>
        <p:nvSpPr>
          <p:cNvPr id="172036" name="Text Box 4" descr="Date Placeholder 3">
            <a:extLst>
              <a:ext uri="{FF2B5EF4-FFF2-40B4-BE49-F238E27FC236}">
                <a16:creationId xmlns:a16="http://schemas.microsoft.com/office/drawing/2014/main" id="{70FD5F86-0903-EB36-9824-ACD9EC47734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2037" name="Text Box 5" descr="Slide Number Placeholder 5">
            <a:extLst>
              <a:ext uri="{FF2B5EF4-FFF2-40B4-BE49-F238E27FC236}">
                <a16:creationId xmlns:a16="http://schemas.microsoft.com/office/drawing/2014/main" id="{6BB19557-1983-7EE5-79A8-C1A32C5618B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8CCE2B3-3D39-4A6E-A3CF-BEACE19C4F8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2" descr="Title 1">
            <a:extLst>
              <a:ext uri="{FF2B5EF4-FFF2-40B4-BE49-F238E27FC236}">
                <a16:creationId xmlns:a16="http://schemas.microsoft.com/office/drawing/2014/main" id="{2AF73BEB-DC6F-5F95-9775-30BD88F4A5A9}"/>
              </a:ext>
            </a:extLst>
          </p:cNvPr>
          <p:cNvSpPr>
            <a:spLocks noChangeArrowheads="1"/>
          </p:cNvSpPr>
          <p:nvPr>
            <p:ph type="title"/>
          </p:nvPr>
        </p:nvSpPr>
        <p:spPr/>
        <p:txBody>
          <a:bodyPr/>
          <a:lstStyle/>
          <a:p>
            <a:r>
              <a:rPr lang="en-US" altLang="en-US"/>
              <a:t>Recoverable Schedule</a:t>
            </a:r>
          </a:p>
        </p:txBody>
      </p:sp>
      <p:sp>
        <p:nvSpPr>
          <p:cNvPr id="173059" name="Rectangle 3" descr="Content Placeholder 2">
            <a:extLst>
              <a:ext uri="{FF2B5EF4-FFF2-40B4-BE49-F238E27FC236}">
                <a16:creationId xmlns:a16="http://schemas.microsoft.com/office/drawing/2014/main" id="{F4E3F7D7-2A0C-B700-C981-510F6238AF30}"/>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Recoverability is a situation where we can recover database system to a consistent way after failure.</a:t>
            </a:r>
          </a:p>
          <a:p>
            <a:pPr marL="234950" indent="-234950">
              <a:spcBef>
                <a:spcPts val="300"/>
              </a:spcBef>
            </a:pPr>
            <a:r>
              <a:rPr lang="en-US" altLang="en-US" sz="1600"/>
              <a:t>Recoverable schedule: A </a:t>
            </a:r>
            <a:r>
              <a:rPr lang="en-US" altLang="en-US" sz="1600" b="1"/>
              <a:t>schedule S </a:t>
            </a:r>
            <a:r>
              <a:rPr lang="en-US" altLang="en-US" sz="1600"/>
              <a:t>is </a:t>
            </a:r>
            <a:r>
              <a:rPr lang="en-US" altLang="en-US" sz="1600" b="1"/>
              <a:t>recoverable </a:t>
            </a:r>
            <a:r>
              <a:rPr lang="en-US" altLang="en-US" sz="1600"/>
              <a:t>if no transaction </a:t>
            </a:r>
            <a:r>
              <a:rPr lang="en-US" altLang="en-US" sz="1600" b="1"/>
              <a:t>T </a:t>
            </a:r>
            <a:r>
              <a:rPr lang="en-US" altLang="en-US" sz="1600"/>
              <a:t>in </a:t>
            </a:r>
            <a:r>
              <a:rPr lang="en-US" altLang="en-US" sz="1600" b="1"/>
              <a:t>S </a:t>
            </a:r>
            <a:r>
              <a:rPr lang="en-US" altLang="en-US" sz="1600"/>
              <a:t>commits until all transactions </a:t>
            </a:r>
            <a:r>
              <a:rPr lang="en-US" altLang="en-US" sz="1600" b="1"/>
              <a:t>T’</a:t>
            </a:r>
            <a:r>
              <a:rPr lang="en-US" altLang="en-US" sz="1600"/>
              <a:t>, that have written an item that </a:t>
            </a:r>
            <a:r>
              <a:rPr lang="en-US" altLang="en-US" sz="1600" b="1"/>
              <a:t>T </a:t>
            </a:r>
            <a:r>
              <a:rPr lang="en-US" altLang="en-US" sz="1600"/>
              <a:t>reads, have committed.</a:t>
            </a:r>
          </a:p>
        </p:txBody>
      </p:sp>
      <p:sp>
        <p:nvSpPr>
          <p:cNvPr id="173060" name="Text Box 4" descr="Date Placeholder 3">
            <a:extLst>
              <a:ext uri="{FF2B5EF4-FFF2-40B4-BE49-F238E27FC236}">
                <a16:creationId xmlns:a16="http://schemas.microsoft.com/office/drawing/2014/main" id="{6A0BDDCC-2193-A5D2-8260-E5286C5F3A9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3061" name="Text Box 5" descr="Slide Number Placeholder 5">
            <a:extLst>
              <a:ext uri="{FF2B5EF4-FFF2-40B4-BE49-F238E27FC236}">
                <a16:creationId xmlns:a16="http://schemas.microsoft.com/office/drawing/2014/main" id="{353F9C49-4919-67FB-E776-9184CFFFB69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0470FFE-313E-4DE7-9B43-0B3C8005913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73062" name="Text Box 6" descr="TextBox 7">
            <a:extLst>
              <a:ext uri="{FF2B5EF4-FFF2-40B4-BE49-F238E27FC236}">
                <a16:creationId xmlns:a16="http://schemas.microsoft.com/office/drawing/2014/main" id="{EAF82B8F-A6BC-F9AE-ACD2-BB8AECAC8F84}"/>
              </a:ext>
            </a:extLst>
          </p:cNvPr>
          <p:cNvSpPr txBox="1">
            <a:spLocks/>
          </p:cNvSpPr>
          <p:nvPr/>
        </p:nvSpPr>
        <p:spPr bwMode="auto">
          <a:xfrm>
            <a:off x="6200775" y="4560888"/>
            <a:ext cx="2921000" cy="527050"/>
          </a:xfrm>
          <a:prstGeom prst="rect">
            <a:avLst/>
          </a:prstGeom>
          <a:noFill/>
          <a:ln w="3175"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Note: A committed transaction </a:t>
            </a:r>
          </a:p>
          <a:p>
            <a:r>
              <a:rPr lang="en-US" altLang="en-US" sz="1400"/>
              <a:t>should never be rolled back</a:t>
            </a:r>
          </a:p>
        </p:txBody>
      </p:sp>
      <p:sp>
        <p:nvSpPr>
          <p:cNvPr id="173063" name="Text Box 7" descr="TextBox 10">
            <a:extLst>
              <a:ext uri="{FF2B5EF4-FFF2-40B4-BE49-F238E27FC236}">
                <a16:creationId xmlns:a16="http://schemas.microsoft.com/office/drawing/2014/main" id="{1D5E575F-377B-5D93-996C-BBE3D28D79BE}"/>
              </a:ext>
            </a:extLst>
          </p:cNvPr>
          <p:cNvSpPr txBox="1">
            <a:spLocks/>
          </p:cNvSpPr>
          <p:nvPr/>
        </p:nvSpPr>
        <p:spPr bwMode="auto">
          <a:xfrm>
            <a:off x="3608388" y="2808288"/>
            <a:ext cx="2335212"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Recoverable Schedule</a:t>
            </a:r>
          </a:p>
        </p:txBody>
      </p:sp>
      <p:graphicFrame>
        <p:nvGraphicFramePr>
          <p:cNvPr id="173064" name="Group 8">
            <a:extLst>
              <a:ext uri="{FF2B5EF4-FFF2-40B4-BE49-F238E27FC236}">
                <a16:creationId xmlns:a16="http://schemas.microsoft.com/office/drawing/2014/main" id="{ABDBBCF6-BB74-5765-221D-166802EFC1C2}"/>
              </a:ext>
            </a:extLst>
          </p:cNvPr>
          <p:cNvGraphicFramePr>
            <a:graphicFrameLocks noGrp="1"/>
          </p:cNvGraphicFramePr>
          <p:nvPr/>
        </p:nvGraphicFramePr>
        <p:xfrm>
          <a:off x="3635375" y="3117850"/>
          <a:ext cx="2303463" cy="3419475"/>
        </p:xfrm>
        <a:graphic>
          <a:graphicData uri="http://schemas.openxmlformats.org/drawingml/2006/table">
            <a:tbl>
              <a:tblPr/>
              <a:tblGrid>
                <a:gridCol w="1079500">
                  <a:extLst>
                    <a:ext uri="{9D8B030D-6E8A-4147-A177-3AD203B41FA5}">
                      <a16:colId xmlns:a16="http://schemas.microsoft.com/office/drawing/2014/main" val="741112514"/>
                    </a:ext>
                  </a:extLst>
                </a:gridCol>
                <a:gridCol w="1223963">
                  <a:extLst>
                    <a:ext uri="{9D8B030D-6E8A-4147-A177-3AD203B41FA5}">
                      <a16:colId xmlns:a16="http://schemas.microsoft.com/office/drawing/2014/main" val="2640024646"/>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9126150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6434654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50044930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706305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748076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8729077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67186983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9603486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dirty="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830912"/>
                  </a:ext>
                </a:extLst>
              </a:tr>
            </a:tbl>
          </a:graphicData>
        </a:graphic>
      </p:graphicFrame>
    </p:spTree>
  </p:cSld>
  <p:clrMapOvr>
    <a:masterClrMapping/>
  </p:clrMapOvr>
  <p:transition spd="med"/>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2" descr="Title 1">
            <a:extLst>
              <a:ext uri="{FF2B5EF4-FFF2-40B4-BE49-F238E27FC236}">
                <a16:creationId xmlns:a16="http://schemas.microsoft.com/office/drawing/2014/main" id="{5CCF2125-B38B-6A4E-AEE0-472F76EDA6F7}"/>
              </a:ext>
            </a:extLst>
          </p:cNvPr>
          <p:cNvSpPr>
            <a:spLocks noChangeArrowheads="1"/>
          </p:cNvSpPr>
          <p:nvPr>
            <p:ph type="title"/>
          </p:nvPr>
        </p:nvSpPr>
        <p:spPr/>
        <p:txBody>
          <a:bodyPr/>
          <a:lstStyle/>
          <a:p>
            <a:r>
              <a:rPr lang="en-US" altLang="en-US"/>
              <a:t>Recoverable Schedule</a:t>
            </a:r>
          </a:p>
        </p:txBody>
      </p:sp>
      <p:sp>
        <p:nvSpPr>
          <p:cNvPr id="174083" name="Rectangle 3" descr="Content Placeholder 2">
            <a:extLst>
              <a:ext uri="{FF2B5EF4-FFF2-40B4-BE49-F238E27FC236}">
                <a16:creationId xmlns:a16="http://schemas.microsoft.com/office/drawing/2014/main" id="{0A31FDDE-6DA6-D399-6565-85F78BD5D284}"/>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Recoverability is a situation where we can recover database system to a consistent way after failure.</a:t>
            </a:r>
          </a:p>
          <a:p>
            <a:pPr marL="234950" indent="-234950">
              <a:spcBef>
                <a:spcPts val="300"/>
              </a:spcBef>
            </a:pPr>
            <a:r>
              <a:rPr lang="en-US" altLang="en-US" sz="1600"/>
              <a:t>Recoverable schedule: A </a:t>
            </a:r>
            <a:r>
              <a:rPr lang="en-US" altLang="en-US" sz="1600" b="1"/>
              <a:t>schedule S </a:t>
            </a:r>
            <a:r>
              <a:rPr lang="en-US" altLang="en-US" sz="1600"/>
              <a:t>is </a:t>
            </a:r>
            <a:r>
              <a:rPr lang="en-US" altLang="en-US" sz="1600" b="1"/>
              <a:t>recoverable </a:t>
            </a:r>
            <a:r>
              <a:rPr lang="en-US" altLang="en-US" sz="1600"/>
              <a:t>if no transaction </a:t>
            </a:r>
            <a:r>
              <a:rPr lang="en-US" altLang="en-US" sz="1600" b="1"/>
              <a:t>T </a:t>
            </a:r>
            <a:r>
              <a:rPr lang="en-US" altLang="en-US" sz="1600"/>
              <a:t>in </a:t>
            </a:r>
            <a:r>
              <a:rPr lang="en-US" altLang="en-US" sz="1600" b="1"/>
              <a:t>S </a:t>
            </a:r>
            <a:r>
              <a:rPr lang="en-US" altLang="en-US" sz="1600"/>
              <a:t>commits until all transactions </a:t>
            </a:r>
            <a:r>
              <a:rPr lang="en-US" altLang="en-US" sz="1600" b="1"/>
              <a:t>T’</a:t>
            </a:r>
            <a:r>
              <a:rPr lang="en-US" altLang="en-US" sz="1600"/>
              <a:t>, that have written an item that </a:t>
            </a:r>
            <a:r>
              <a:rPr lang="en-US" altLang="en-US" sz="1600" b="1"/>
              <a:t>T reads, have committed.</a:t>
            </a:r>
            <a:endParaRPr lang="en-US" altLang="en-US" sz="1600"/>
          </a:p>
        </p:txBody>
      </p:sp>
      <p:sp>
        <p:nvSpPr>
          <p:cNvPr id="174084" name="Text Box 4" descr="Date Placeholder 3">
            <a:extLst>
              <a:ext uri="{FF2B5EF4-FFF2-40B4-BE49-F238E27FC236}">
                <a16:creationId xmlns:a16="http://schemas.microsoft.com/office/drawing/2014/main" id="{A4B6B3D7-0875-01D2-B9E8-A10D5D7FA75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4085" name="Text Box 5" descr="Slide Number Placeholder 5">
            <a:extLst>
              <a:ext uri="{FF2B5EF4-FFF2-40B4-BE49-F238E27FC236}">
                <a16:creationId xmlns:a16="http://schemas.microsoft.com/office/drawing/2014/main" id="{BA1FD7EB-44F0-0885-0681-0AC78644784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6A5C1C8-5400-4F30-A835-E9933593DA7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74086" name="Text Box 6" descr="TextBox 7">
            <a:extLst>
              <a:ext uri="{FF2B5EF4-FFF2-40B4-BE49-F238E27FC236}">
                <a16:creationId xmlns:a16="http://schemas.microsoft.com/office/drawing/2014/main" id="{D1F5714B-AC57-332E-8F53-63E40D6889EC}"/>
              </a:ext>
            </a:extLst>
          </p:cNvPr>
          <p:cNvSpPr txBox="1">
            <a:spLocks/>
          </p:cNvSpPr>
          <p:nvPr/>
        </p:nvSpPr>
        <p:spPr bwMode="auto">
          <a:xfrm>
            <a:off x="6200775" y="4560888"/>
            <a:ext cx="2921000" cy="527050"/>
          </a:xfrm>
          <a:prstGeom prst="rect">
            <a:avLst/>
          </a:prstGeom>
          <a:noFill/>
          <a:ln w="3175"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Note: A committed transaction </a:t>
            </a:r>
          </a:p>
          <a:p>
            <a:r>
              <a:rPr lang="en-US" altLang="en-US" sz="1400"/>
              <a:t>should never be rolled back</a:t>
            </a:r>
          </a:p>
        </p:txBody>
      </p:sp>
      <p:sp>
        <p:nvSpPr>
          <p:cNvPr id="174087" name="Text Box 7" descr="TextBox 8">
            <a:extLst>
              <a:ext uri="{FF2B5EF4-FFF2-40B4-BE49-F238E27FC236}">
                <a16:creationId xmlns:a16="http://schemas.microsoft.com/office/drawing/2014/main" id="{62F6C5DB-7062-F8A2-1D77-30BE20023456}"/>
              </a:ext>
            </a:extLst>
          </p:cNvPr>
          <p:cNvSpPr txBox="1">
            <a:spLocks/>
          </p:cNvSpPr>
          <p:nvPr/>
        </p:nvSpPr>
        <p:spPr bwMode="auto">
          <a:xfrm>
            <a:off x="296863" y="2859088"/>
            <a:ext cx="2830512"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Non-Recoverable Schedule</a:t>
            </a:r>
          </a:p>
        </p:txBody>
      </p:sp>
      <p:graphicFrame>
        <p:nvGraphicFramePr>
          <p:cNvPr id="174088" name="Group 8">
            <a:extLst>
              <a:ext uri="{FF2B5EF4-FFF2-40B4-BE49-F238E27FC236}">
                <a16:creationId xmlns:a16="http://schemas.microsoft.com/office/drawing/2014/main" id="{746DD158-A669-5E12-AB1E-DAE94F91389F}"/>
              </a:ext>
            </a:extLst>
          </p:cNvPr>
          <p:cNvGraphicFramePr>
            <a:graphicFrameLocks noGrp="1"/>
          </p:cNvGraphicFramePr>
          <p:nvPr/>
        </p:nvGraphicFramePr>
        <p:xfrm>
          <a:off x="485775" y="3189288"/>
          <a:ext cx="2303463" cy="3035300"/>
        </p:xfrm>
        <a:graphic>
          <a:graphicData uri="http://schemas.openxmlformats.org/drawingml/2006/table">
            <a:tbl>
              <a:tblPr/>
              <a:tblGrid>
                <a:gridCol w="1079500">
                  <a:extLst>
                    <a:ext uri="{9D8B030D-6E8A-4147-A177-3AD203B41FA5}">
                      <a16:colId xmlns:a16="http://schemas.microsoft.com/office/drawing/2014/main" val="3373472724"/>
                    </a:ext>
                  </a:extLst>
                </a:gridCol>
                <a:gridCol w="1223963">
                  <a:extLst>
                    <a:ext uri="{9D8B030D-6E8A-4147-A177-3AD203B41FA5}">
                      <a16:colId xmlns:a16="http://schemas.microsoft.com/office/drawing/2014/main" val="242799284"/>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6030107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670976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86622537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6727796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974110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3665538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80443227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89489776"/>
                  </a:ext>
                </a:extLst>
              </a:tr>
            </a:tbl>
          </a:graphicData>
        </a:graphic>
      </p:graphicFrame>
      <p:sp>
        <p:nvSpPr>
          <p:cNvPr id="174147" name="Text Box 67" descr="TextBox 10">
            <a:extLst>
              <a:ext uri="{FF2B5EF4-FFF2-40B4-BE49-F238E27FC236}">
                <a16:creationId xmlns:a16="http://schemas.microsoft.com/office/drawing/2014/main" id="{2011C815-5198-35DD-F1F1-78DFD7A8C02E}"/>
              </a:ext>
            </a:extLst>
          </p:cNvPr>
          <p:cNvSpPr txBox="1">
            <a:spLocks/>
          </p:cNvSpPr>
          <p:nvPr/>
        </p:nvSpPr>
        <p:spPr bwMode="auto">
          <a:xfrm>
            <a:off x="3608388" y="2808288"/>
            <a:ext cx="2335212"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Recoverable Schedule</a:t>
            </a:r>
          </a:p>
        </p:txBody>
      </p:sp>
      <p:graphicFrame>
        <p:nvGraphicFramePr>
          <p:cNvPr id="174148" name="Group 68">
            <a:extLst>
              <a:ext uri="{FF2B5EF4-FFF2-40B4-BE49-F238E27FC236}">
                <a16:creationId xmlns:a16="http://schemas.microsoft.com/office/drawing/2014/main" id="{E7F512F6-79D0-A08F-57E7-CBAFF00B3284}"/>
              </a:ext>
            </a:extLst>
          </p:cNvPr>
          <p:cNvGraphicFramePr>
            <a:graphicFrameLocks noGrp="1"/>
          </p:cNvGraphicFramePr>
          <p:nvPr/>
        </p:nvGraphicFramePr>
        <p:xfrm>
          <a:off x="3635375" y="3117850"/>
          <a:ext cx="2303463" cy="3419475"/>
        </p:xfrm>
        <a:graphic>
          <a:graphicData uri="http://schemas.openxmlformats.org/drawingml/2006/table">
            <a:tbl>
              <a:tblPr/>
              <a:tblGrid>
                <a:gridCol w="1079500">
                  <a:extLst>
                    <a:ext uri="{9D8B030D-6E8A-4147-A177-3AD203B41FA5}">
                      <a16:colId xmlns:a16="http://schemas.microsoft.com/office/drawing/2014/main" val="49700588"/>
                    </a:ext>
                  </a:extLst>
                </a:gridCol>
                <a:gridCol w="1223963">
                  <a:extLst>
                    <a:ext uri="{9D8B030D-6E8A-4147-A177-3AD203B41FA5}">
                      <a16:colId xmlns:a16="http://schemas.microsoft.com/office/drawing/2014/main" val="3881672343"/>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27684712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581940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0870244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2254418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53078295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7866398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X=X-5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3927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236390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868859"/>
                  </a:ext>
                </a:extLst>
              </a:tr>
            </a:tbl>
          </a:graphicData>
        </a:graphic>
      </p:graphicFrame>
    </p:spTree>
  </p:cSld>
  <p:clrMapOvr>
    <a:masterClrMapping/>
  </p:clrMapOvr>
  <p:transition spd="med"/>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descr="Title 1">
            <a:extLst>
              <a:ext uri="{FF2B5EF4-FFF2-40B4-BE49-F238E27FC236}">
                <a16:creationId xmlns:a16="http://schemas.microsoft.com/office/drawing/2014/main" id="{72E336C0-4A06-8AFB-01E6-99DBE042C220}"/>
              </a:ext>
            </a:extLst>
          </p:cNvPr>
          <p:cNvSpPr>
            <a:spLocks noChangeArrowheads="1"/>
          </p:cNvSpPr>
          <p:nvPr>
            <p:ph type="title"/>
          </p:nvPr>
        </p:nvSpPr>
        <p:spPr/>
        <p:txBody>
          <a:bodyPr/>
          <a:lstStyle/>
          <a:p>
            <a:r>
              <a:rPr lang="en-US" altLang="en-US"/>
              <a:t>Recoverable Schedule</a:t>
            </a:r>
          </a:p>
        </p:txBody>
      </p:sp>
      <p:sp>
        <p:nvSpPr>
          <p:cNvPr id="175107" name="Rectangle 3" descr="Content Placeholder 2">
            <a:extLst>
              <a:ext uri="{FF2B5EF4-FFF2-40B4-BE49-F238E27FC236}">
                <a16:creationId xmlns:a16="http://schemas.microsoft.com/office/drawing/2014/main" id="{BCDF7E3B-A408-A0BE-2595-E4CF6557AD1B}"/>
              </a:ext>
            </a:extLst>
          </p:cNvPr>
          <p:cNvSpPr>
            <a:spLocks noChangeArrowheads="1"/>
          </p:cNvSpPr>
          <p:nvPr>
            <p:ph type="body" idx="1"/>
          </p:nvPr>
        </p:nvSpPr>
        <p:spPr/>
        <p:txBody>
          <a:bodyPr/>
          <a:lstStyle/>
          <a:p>
            <a:pPr marL="234950" indent="-234950">
              <a:spcBef>
                <a:spcPts val="400"/>
              </a:spcBef>
              <a:buSzTx/>
              <a:buFont typeface="Wingdings" panose="05000000000000000000" pitchFamily="2" charset="2"/>
              <a:buNone/>
            </a:pPr>
            <a:r>
              <a:rPr lang="en-US" altLang="en-US" sz="1800"/>
              <a:t>Recoverability is a situation where we can recover database system to a consistent way after failure.</a:t>
            </a:r>
          </a:p>
          <a:p>
            <a:pPr marL="234950" indent="-234950">
              <a:spcBef>
                <a:spcPts val="400"/>
              </a:spcBef>
            </a:pPr>
            <a:r>
              <a:rPr lang="en-US" altLang="en-US" sz="1800"/>
              <a:t>Recoverable schedule: A </a:t>
            </a:r>
            <a:r>
              <a:rPr lang="en-US" altLang="en-US" sz="1800" b="1"/>
              <a:t>schedule S </a:t>
            </a:r>
            <a:r>
              <a:rPr lang="en-US" altLang="en-US" sz="1800"/>
              <a:t>is </a:t>
            </a:r>
            <a:r>
              <a:rPr lang="en-US" altLang="en-US" sz="1800" b="1"/>
              <a:t>recoverable </a:t>
            </a:r>
            <a:r>
              <a:rPr lang="en-US" altLang="en-US" sz="1800"/>
              <a:t>if no transaction </a:t>
            </a:r>
            <a:r>
              <a:rPr lang="en-US" altLang="en-US" sz="1800" b="1"/>
              <a:t>T </a:t>
            </a:r>
            <a:r>
              <a:rPr lang="en-US" altLang="en-US" sz="1800"/>
              <a:t>in </a:t>
            </a:r>
            <a:r>
              <a:rPr lang="en-US" altLang="en-US" sz="1800" b="1"/>
              <a:t>S </a:t>
            </a:r>
            <a:r>
              <a:rPr lang="en-US" altLang="en-US" sz="1800"/>
              <a:t>commits until all transactions </a:t>
            </a:r>
            <a:r>
              <a:rPr lang="en-US" altLang="en-US" sz="1800" b="1"/>
              <a:t>T’</a:t>
            </a:r>
            <a:r>
              <a:rPr lang="en-US" altLang="en-US" sz="1800"/>
              <a:t>, that have written an item that </a:t>
            </a:r>
            <a:r>
              <a:rPr lang="en-US" altLang="en-US" sz="1800" b="1"/>
              <a:t>T </a:t>
            </a:r>
            <a:r>
              <a:rPr lang="en-US" altLang="en-US" sz="1800"/>
              <a:t>reads, have committed.</a:t>
            </a:r>
          </a:p>
        </p:txBody>
      </p:sp>
      <p:sp>
        <p:nvSpPr>
          <p:cNvPr id="175108" name="Text Box 4" descr="Date Placeholder 3">
            <a:extLst>
              <a:ext uri="{FF2B5EF4-FFF2-40B4-BE49-F238E27FC236}">
                <a16:creationId xmlns:a16="http://schemas.microsoft.com/office/drawing/2014/main" id="{E1451FEB-BB43-8A17-0805-F1D2066C7B4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5109" name="Text Box 5" descr="Slide Number Placeholder 5">
            <a:extLst>
              <a:ext uri="{FF2B5EF4-FFF2-40B4-BE49-F238E27FC236}">
                <a16:creationId xmlns:a16="http://schemas.microsoft.com/office/drawing/2014/main" id="{262E1C0D-4DDE-6888-0D4B-0E88A984F19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134A77F-39B4-444F-9C74-1D1A598ECBE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75110" name="Text Box 6" descr="TextBox 10">
            <a:extLst>
              <a:ext uri="{FF2B5EF4-FFF2-40B4-BE49-F238E27FC236}">
                <a16:creationId xmlns:a16="http://schemas.microsoft.com/office/drawing/2014/main" id="{9576F589-9337-DDF5-CA3C-0EEC73B9673E}"/>
              </a:ext>
            </a:extLst>
          </p:cNvPr>
          <p:cNvSpPr txBox="1">
            <a:spLocks/>
          </p:cNvSpPr>
          <p:nvPr/>
        </p:nvSpPr>
        <p:spPr bwMode="auto">
          <a:xfrm>
            <a:off x="800100" y="2873375"/>
            <a:ext cx="575786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Question: Following is Recoverable Schedule ? Yes / No</a:t>
            </a:r>
          </a:p>
        </p:txBody>
      </p:sp>
      <p:graphicFrame>
        <p:nvGraphicFramePr>
          <p:cNvPr id="175111" name="Group 7">
            <a:extLst>
              <a:ext uri="{FF2B5EF4-FFF2-40B4-BE49-F238E27FC236}">
                <a16:creationId xmlns:a16="http://schemas.microsoft.com/office/drawing/2014/main" id="{B4E7BF23-E566-4378-67FD-65D70AD99B22}"/>
              </a:ext>
            </a:extLst>
          </p:cNvPr>
          <p:cNvGraphicFramePr>
            <a:graphicFrameLocks noGrp="1"/>
          </p:cNvGraphicFramePr>
          <p:nvPr/>
        </p:nvGraphicFramePr>
        <p:xfrm>
          <a:off x="1331913" y="3278188"/>
          <a:ext cx="1943100" cy="3035300"/>
        </p:xfrm>
        <a:graphic>
          <a:graphicData uri="http://schemas.openxmlformats.org/drawingml/2006/table">
            <a:tbl>
              <a:tblPr/>
              <a:tblGrid>
                <a:gridCol w="863600">
                  <a:extLst>
                    <a:ext uri="{9D8B030D-6E8A-4147-A177-3AD203B41FA5}">
                      <a16:colId xmlns:a16="http://schemas.microsoft.com/office/drawing/2014/main" val="2719253891"/>
                    </a:ext>
                  </a:extLst>
                </a:gridCol>
                <a:gridCol w="1079500">
                  <a:extLst>
                    <a:ext uri="{9D8B030D-6E8A-4147-A177-3AD203B41FA5}">
                      <a16:colId xmlns:a16="http://schemas.microsoft.com/office/drawing/2014/main" val="141466264"/>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1488033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5450669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0562329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453183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5229027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2966556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6833058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Abort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72862984"/>
                  </a:ext>
                </a:extLst>
              </a:tr>
            </a:tbl>
          </a:graphicData>
        </a:graphic>
      </p:graphicFrame>
    </p:spTree>
  </p:cSld>
  <p:clrMapOvr>
    <a:masterClrMapping/>
  </p:clrMapOvr>
  <p:transition spd="med"/>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descr="Title 1">
            <a:extLst>
              <a:ext uri="{FF2B5EF4-FFF2-40B4-BE49-F238E27FC236}">
                <a16:creationId xmlns:a16="http://schemas.microsoft.com/office/drawing/2014/main" id="{D4694267-4F35-300A-14CB-242F53E247F7}"/>
              </a:ext>
            </a:extLst>
          </p:cNvPr>
          <p:cNvSpPr>
            <a:spLocks noChangeArrowheads="1"/>
          </p:cNvSpPr>
          <p:nvPr>
            <p:ph type="title"/>
          </p:nvPr>
        </p:nvSpPr>
        <p:spPr/>
        <p:txBody>
          <a:bodyPr/>
          <a:lstStyle/>
          <a:p>
            <a:r>
              <a:rPr lang="en-US" altLang="en-US"/>
              <a:t>Recoverable Schedule</a:t>
            </a:r>
          </a:p>
        </p:txBody>
      </p:sp>
      <p:sp>
        <p:nvSpPr>
          <p:cNvPr id="176131" name="Rectangle 3" descr="Content Placeholder 2">
            <a:extLst>
              <a:ext uri="{FF2B5EF4-FFF2-40B4-BE49-F238E27FC236}">
                <a16:creationId xmlns:a16="http://schemas.microsoft.com/office/drawing/2014/main" id="{9FAF471D-1A66-AAAB-E5EA-B1A17E878359}"/>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Recoverability is a situation where we can recover database system to a consistent way after failure.</a:t>
            </a:r>
          </a:p>
          <a:p>
            <a:pPr marL="234950" indent="-234950">
              <a:spcBef>
                <a:spcPts val="300"/>
              </a:spcBef>
            </a:pPr>
            <a:r>
              <a:rPr lang="en-US" altLang="en-US" sz="1600"/>
              <a:t>Recoverable schedule: A </a:t>
            </a:r>
            <a:r>
              <a:rPr lang="en-US" altLang="en-US" sz="1600" b="1"/>
              <a:t>schedule S </a:t>
            </a:r>
            <a:r>
              <a:rPr lang="en-US" altLang="en-US" sz="1600"/>
              <a:t>is </a:t>
            </a:r>
            <a:r>
              <a:rPr lang="en-US" altLang="en-US" sz="1600" b="1"/>
              <a:t>recoverable </a:t>
            </a:r>
            <a:r>
              <a:rPr lang="en-US" altLang="en-US" sz="1600"/>
              <a:t>if no transaction </a:t>
            </a:r>
            <a:r>
              <a:rPr lang="en-US" altLang="en-US" sz="1600" b="1"/>
              <a:t>T </a:t>
            </a:r>
            <a:r>
              <a:rPr lang="en-US" altLang="en-US" sz="1600"/>
              <a:t>in </a:t>
            </a:r>
            <a:r>
              <a:rPr lang="en-US" altLang="en-US" sz="1600" b="1"/>
              <a:t>S </a:t>
            </a:r>
            <a:r>
              <a:rPr lang="en-US" altLang="en-US" sz="1600"/>
              <a:t>commits until all transactions </a:t>
            </a:r>
            <a:r>
              <a:rPr lang="en-US" altLang="en-US" sz="1600" b="1"/>
              <a:t>T’</a:t>
            </a:r>
            <a:r>
              <a:rPr lang="en-US" altLang="en-US" sz="1600"/>
              <a:t>, that have written an item that </a:t>
            </a:r>
            <a:r>
              <a:rPr lang="en-US" altLang="en-US" sz="1600" b="1"/>
              <a:t>T </a:t>
            </a:r>
            <a:r>
              <a:rPr lang="en-US" altLang="en-US" sz="1600"/>
              <a:t>reads, have committed.</a:t>
            </a:r>
          </a:p>
        </p:txBody>
      </p:sp>
      <p:sp>
        <p:nvSpPr>
          <p:cNvPr id="176132" name="Text Box 4" descr="Date Placeholder 3">
            <a:extLst>
              <a:ext uri="{FF2B5EF4-FFF2-40B4-BE49-F238E27FC236}">
                <a16:creationId xmlns:a16="http://schemas.microsoft.com/office/drawing/2014/main" id="{9F1720FA-2A66-1EC0-F55E-9279816AA6B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6133" name="Text Box 5" descr="Slide Number Placeholder 5">
            <a:extLst>
              <a:ext uri="{FF2B5EF4-FFF2-40B4-BE49-F238E27FC236}">
                <a16:creationId xmlns:a16="http://schemas.microsoft.com/office/drawing/2014/main" id="{985F1880-8731-2674-2ABF-7A22600222C4}"/>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BE65CE6-9FC7-463C-8E45-DA059E243C3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76134" name="Text Box 6" descr="TextBox 7">
            <a:extLst>
              <a:ext uri="{FF2B5EF4-FFF2-40B4-BE49-F238E27FC236}">
                <a16:creationId xmlns:a16="http://schemas.microsoft.com/office/drawing/2014/main" id="{B11DD57C-7089-FE77-9CCB-A00F02D60AEF}"/>
              </a:ext>
            </a:extLst>
          </p:cNvPr>
          <p:cNvSpPr txBox="1">
            <a:spLocks/>
          </p:cNvSpPr>
          <p:nvPr/>
        </p:nvSpPr>
        <p:spPr bwMode="auto">
          <a:xfrm>
            <a:off x="3594100" y="3984625"/>
            <a:ext cx="5503863" cy="958850"/>
          </a:xfrm>
          <a:prstGeom prst="rect">
            <a:avLst/>
          </a:prstGeom>
          <a:noFill/>
          <a:ln w="3175"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Answer: </a:t>
            </a:r>
            <a:r>
              <a:rPr lang="en-US" altLang="en-US" sz="1400" b="1"/>
              <a:t>NO</a:t>
            </a:r>
          </a:p>
          <a:p>
            <a:endParaRPr lang="en-US" altLang="en-US" sz="1400" b="1"/>
          </a:p>
          <a:p>
            <a:r>
              <a:rPr lang="en-US" altLang="en-US" sz="1400" b="1"/>
              <a:t>Why NOT recoverable?</a:t>
            </a:r>
          </a:p>
          <a:p>
            <a:r>
              <a:rPr lang="en-US" altLang="en-US" sz="1400"/>
              <a:t>•Because </a:t>
            </a:r>
            <a:r>
              <a:rPr lang="en-US" altLang="en-US" sz="1400" b="1"/>
              <a:t>T2 </a:t>
            </a:r>
            <a:r>
              <a:rPr lang="en-US" altLang="en-US" sz="1400"/>
              <a:t>made a </a:t>
            </a:r>
            <a:r>
              <a:rPr lang="en-US" altLang="en-US" sz="1400" b="1"/>
              <a:t>dirty read </a:t>
            </a:r>
            <a:r>
              <a:rPr lang="en-US" altLang="en-US" sz="1400"/>
              <a:t>and committed before </a:t>
            </a:r>
            <a:r>
              <a:rPr lang="en-US" altLang="en-US" sz="1400" b="1"/>
              <a:t>T1 </a:t>
            </a:r>
            <a:endParaRPr lang="en-US" altLang="en-US" sz="1400"/>
          </a:p>
        </p:txBody>
      </p:sp>
      <p:sp>
        <p:nvSpPr>
          <p:cNvPr id="176135" name="Text Box 7" descr="TextBox 10">
            <a:extLst>
              <a:ext uri="{FF2B5EF4-FFF2-40B4-BE49-F238E27FC236}">
                <a16:creationId xmlns:a16="http://schemas.microsoft.com/office/drawing/2014/main" id="{D69BA368-64EA-6788-FC87-3D3D5AEACEC3}"/>
              </a:ext>
            </a:extLst>
          </p:cNvPr>
          <p:cNvSpPr txBox="1">
            <a:spLocks/>
          </p:cNvSpPr>
          <p:nvPr/>
        </p:nvSpPr>
        <p:spPr bwMode="auto">
          <a:xfrm>
            <a:off x="1016000" y="2808288"/>
            <a:ext cx="575786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Question: Following is Recoverable Schedule ? Yes / No</a:t>
            </a:r>
          </a:p>
        </p:txBody>
      </p:sp>
      <p:graphicFrame>
        <p:nvGraphicFramePr>
          <p:cNvPr id="176136" name="Group 8">
            <a:extLst>
              <a:ext uri="{FF2B5EF4-FFF2-40B4-BE49-F238E27FC236}">
                <a16:creationId xmlns:a16="http://schemas.microsoft.com/office/drawing/2014/main" id="{67C43DE3-B0FE-EF1F-B618-96F51C2B1D8C}"/>
              </a:ext>
            </a:extLst>
          </p:cNvPr>
          <p:cNvGraphicFramePr>
            <a:graphicFrameLocks noGrp="1"/>
          </p:cNvGraphicFramePr>
          <p:nvPr/>
        </p:nvGraphicFramePr>
        <p:xfrm>
          <a:off x="1331913" y="3278188"/>
          <a:ext cx="1943100" cy="3035300"/>
        </p:xfrm>
        <a:graphic>
          <a:graphicData uri="http://schemas.openxmlformats.org/drawingml/2006/table">
            <a:tbl>
              <a:tblPr/>
              <a:tblGrid>
                <a:gridCol w="863600">
                  <a:extLst>
                    <a:ext uri="{9D8B030D-6E8A-4147-A177-3AD203B41FA5}">
                      <a16:colId xmlns:a16="http://schemas.microsoft.com/office/drawing/2014/main" val="65226583"/>
                    </a:ext>
                  </a:extLst>
                </a:gridCol>
                <a:gridCol w="1079500">
                  <a:extLst>
                    <a:ext uri="{9D8B030D-6E8A-4147-A177-3AD203B41FA5}">
                      <a16:colId xmlns:a16="http://schemas.microsoft.com/office/drawing/2014/main" val="3098542455"/>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8473263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w="12700" cap="flat" cmpd="sng" algn="ctr">
                      <a:solidFill>
                        <a:srgbClr val="000000"/>
                      </a:solidFill>
                      <a:prstDash val="solid"/>
                      <a:round/>
                      <a:headEnd type="none" w="med" len="med"/>
                      <a:tailEnd type="none" w="med" len="med"/>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cap="flat">
                      <a:noFill/>
                    </a:lnB>
                    <a:lnTlToBr>
                      <a:noFill/>
                    </a:lnTlToBr>
                    <a:lnBlToTr>
                      <a:noFill/>
                    </a:lnBlToTr>
                    <a:solidFill>
                      <a:srgbClr val="FFFFFF"/>
                    </a:solidFill>
                  </a:tcPr>
                </a:tc>
                <a:extLst>
                  <a:ext uri="{0D108BD9-81ED-4DB2-BD59-A6C34878D82A}">
                    <a16:rowId xmlns:a16="http://schemas.microsoft.com/office/drawing/2014/main" val="132957828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134220728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37267856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311784195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345752910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418728144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Abort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79653723"/>
                  </a:ext>
                </a:extLst>
              </a:tr>
            </a:tbl>
          </a:graphicData>
        </a:graphic>
      </p:graphicFrame>
      <p:sp>
        <p:nvSpPr>
          <p:cNvPr id="176195" name="Line 67" descr="Straight Arrow Connector 8">
            <a:extLst>
              <a:ext uri="{FF2B5EF4-FFF2-40B4-BE49-F238E27FC236}">
                <a16:creationId xmlns:a16="http://schemas.microsoft.com/office/drawing/2014/main" id="{C594B9D6-B62A-80E9-25A3-87D5A31B315B}"/>
              </a:ext>
            </a:extLst>
          </p:cNvPr>
          <p:cNvSpPr>
            <a:spLocks noChangeShapeType="1"/>
          </p:cNvSpPr>
          <p:nvPr/>
        </p:nvSpPr>
        <p:spPr bwMode="auto">
          <a:xfrm>
            <a:off x="2051050" y="4148138"/>
            <a:ext cx="287338" cy="21590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76196" name="Text Box 68" descr="TextBox 9">
            <a:extLst>
              <a:ext uri="{FF2B5EF4-FFF2-40B4-BE49-F238E27FC236}">
                <a16:creationId xmlns:a16="http://schemas.microsoft.com/office/drawing/2014/main" id="{477C3506-2A6E-79CA-2EA3-C9E932DE25CC}"/>
              </a:ext>
            </a:extLst>
          </p:cNvPr>
          <p:cNvSpPr txBox="1">
            <a:spLocks/>
          </p:cNvSpPr>
          <p:nvPr/>
        </p:nvSpPr>
        <p:spPr bwMode="auto">
          <a:xfrm>
            <a:off x="2185988" y="3984625"/>
            <a:ext cx="1046162"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FF0000"/>
                </a:solidFill>
              </a:rPr>
              <a:t>Dirty Read</a:t>
            </a:r>
          </a:p>
        </p:txBody>
      </p:sp>
    </p:spTree>
  </p:cSld>
  <p:clrMapOvr>
    <a:masterClrMapping/>
  </p:clrMapOvr>
  <p:transition spd="med"/>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descr="Title 1">
            <a:extLst>
              <a:ext uri="{FF2B5EF4-FFF2-40B4-BE49-F238E27FC236}">
                <a16:creationId xmlns:a16="http://schemas.microsoft.com/office/drawing/2014/main" id="{BAE7F84A-4D74-A419-B51F-A85D637B9ABA}"/>
              </a:ext>
            </a:extLst>
          </p:cNvPr>
          <p:cNvSpPr>
            <a:spLocks noChangeArrowheads="1"/>
          </p:cNvSpPr>
          <p:nvPr>
            <p:ph type="title"/>
          </p:nvPr>
        </p:nvSpPr>
        <p:spPr/>
        <p:txBody>
          <a:bodyPr/>
          <a:lstStyle/>
          <a:p>
            <a:r>
              <a:rPr lang="en-US" altLang="en-US"/>
              <a:t>Recoverable Schedule</a:t>
            </a:r>
          </a:p>
        </p:txBody>
      </p:sp>
      <p:sp>
        <p:nvSpPr>
          <p:cNvPr id="177155" name="Rectangle 3" descr="Content Placeholder 2">
            <a:extLst>
              <a:ext uri="{FF2B5EF4-FFF2-40B4-BE49-F238E27FC236}">
                <a16:creationId xmlns:a16="http://schemas.microsoft.com/office/drawing/2014/main" id="{158A842E-22A6-F5B8-2BEC-83CBA849A2A5}"/>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Recoverability is a situation where we can recover database system to a consistent way after failure.</a:t>
            </a:r>
          </a:p>
          <a:p>
            <a:pPr marL="234950" indent="-234950">
              <a:spcBef>
                <a:spcPts val="300"/>
              </a:spcBef>
            </a:pPr>
            <a:r>
              <a:rPr lang="en-US" altLang="en-US" sz="1600"/>
              <a:t>Recoverable schedule: A </a:t>
            </a:r>
            <a:r>
              <a:rPr lang="en-US" altLang="en-US" sz="1600" b="1"/>
              <a:t>schedule S </a:t>
            </a:r>
            <a:r>
              <a:rPr lang="en-US" altLang="en-US" sz="1600"/>
              <a:t>is </a:t>
            </a:r>
            <a:r>
              <a:rPr lang="en-US" altLang="en-US" sz="1600" b="1"/>
              <a:t>recoverable </a:t>
            </a:r>
            <a:r>
              <a:rPr lang="en-US" altLang="en-US" sz="1600"/>
              <a:t>if no transaction </a:t>
            </a:r>
            <a:r>
              <a:rPr lang="en-US" altLang="en-US" sz="1600" b="1"/>
              <a:t>T </a:t>
            </a:r>
            <a:r>
              <a:rPr lang="en-US" altLang="en-US" sz="1600"/>
              <a:t>in </a:t>
            </a:r>
            <a:r>
              <a:rPr lang="en-US" altLang="en-US" sz="1600" b="1"/>
              <a:t>S </a:t>
            </a:r>
            <a:r>
              <a:rPr lang="en-US" altLang="en-US" sz="1600"/>
              <a:t>commits until all transactions </a:t>
            </a:r>
            <a:r>
              <a:rPr lang="en-US" altLang="en-US" sz="1600" b="1"/>
              <a:t>T’</a:t>
            </a:r>
            <a:r>
              <a:rPr lang="en-US" altLang="en-US" sz="1600"/>
              <a:t>, that have written an item that </a:t>
            </a:r>
            <a:r>
              <a:rPr lang="en-US" altLang="en-US" sz="1600" b="1"/>
              <a:t>T </a:t>
            </a:r>
            <a:r>
              <a:rPr lang="en-US" altLang="en-US" sz="1600"/>
              <a:t>reads, have committed.</a:t>
            </a:r>
          </a:p>
        </p:txBody>
      </p:sp>
      <p:sp>
        <p:nvSpPr>
          <p:cNvPr id="177156" name="Text Box 4" descr="Date Placeholder 3">
            <a:extLst>
              <a:ext uri="{FF2B5EF4-FFF2-40B4-BE49-F238E27FC236}">
                <a16:creationId xmlns:a16="http://schemas.microsoft.com/office/drawing/2014/main" id="{042BE636-CA2E-1AEB-2A9C-E0E9CFEF76A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7157" name="Text Box 5" descr="Slide Number Placeholder 5">
            <a:extLst>
              <a:ext uri="{FF2B5EF4-FFF2-40B4-BE49-F238E27FC236}">
                <a16:creationId xmlns:a16="http://schemas.microsoft.com/office/drawing/2014/main" id="{25ED7C87-0A30-77FE-5B6A-1B35C64E03C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5697208-FD86-4297-835F-1CFAC2DC4A0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77158" name="Text Box 6" descr="TextBox 7">
            <a:extLst>
              <a:ext uri="{FF2B5EF4-FFF2-40B4-BE49-F238E27FC236}">
                <a16:creationId xmlns:a16="http://schemas.microsoft.com/office/drawing/2014/main" id="{411B0295-6CC4-88CA-AF4B-E61431B1317F}"/>
              </a:ext>
            </a:extLst>
          </p:cNvPr>
          <p:cNvSpPr txBox="1">
            <a:spLocks/>
          </p:cNvSpPr>
          <p:nvPr/>
        </p:nvSpPr>
        <p:spPr bwMode="auto">
          <a:xfrm>
            <a:off x="3635375" y="3209925"/>
            <a:ext cx="5492750" cy="2470150"/>
          </a:xfrm>
          <a:prstGeom prst="rect">
            <a:avLst/>
          </a:prstGeom>
          <a:noFill/>
          <a:ln w="3175"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Answer: NO</a:t>
            </a:r>
          </a:p>
          <a:p>
            <a:endParaRPr lang="en-US" altLang="en-US" sz="1400" b="1"/>
          </a:p>
          <a:p>
            <a:r>
              <a:rPr lang="en-US" altLang="en-US" sz="1400" b="1"/>
              <a:t>Why it not a recoverable schedule?</a:t>
            </a:r>
          </a:p>
          <a:p>
            <a:r>
              <a:rPr lang="en-US" altLang="en-US" sz="1400"/>
              <a:t>•Because </a:t>
            </a:r>
            <a:r>
              <a:rPr lang="en-US" altLang="en-US" sz="1400" b="1"/>
              <a:t>T2 </a:t>
            </a:r>
            <a:r>
              <a:rPr lang="en-US" altLang="en-US" sz="1400"/>
              <a:t>made a </a:t>
            </a:r>
            <a:r>
              <a:rPr lang="en-US" altLang="en-US" sz="1400" b="1"/>
              <a:t>dirty read </a:t>
            </a:r>
            <a:r>
              <a:rPr lang="en-US" altLang="en-US" sz="1400"/>
              <a:t>and  committed before </a:t>
            </a:r>
            <a:r>
              <a:rPr lang="en-US" altLang="en-US" sz="1400" b="1"/>
              <a:t>T1 </a:t>
            </a:r>
          </a:p>
          <a:p>
            <a:endParaRPr lang="en-US" altLang="en-US" sz="1400" b="1"/>
          </a:p>
          <a:p>
            <a:r>
              <a:rPr lang="en-US" altLang="en-US" sz="1400" b="1"/>
              <a:t>But why is the schedule Nonrecoverable ?</a:t>
            </a:r>
          </a:p>
          <a:p>
            <a:r>
              <a:rPr lang="en-US" altLang="en-US" sz="1400"/>
              <a:t>•Because when the </a:t>
            </a:r>
            <a:r>
              <a:rPr lang="en-US" altLang="en-US" sz="1400" b="1"/>
              <a:t>recovery manager </a:t>
            </a:r>
            <a:r>
              <a:rPr lang="en-US" altLang="en-US" sz="1400"/>
              <a:t>rolls back</a:t>
            </a:r>
          </a:p>
          <a:p>
            <a:r>
              <a:rPr lang="en-US" altLang="en-US" sz="1400"/>
              <a:t>(step a) </a:t>
            </a:r>
            <a:r>
              <a:rPr lang="en-US" altLang="en-US" sz="1400" b="1"/>
              <a:t>T1 </a:t>
            </a:r>
            <a:r>
              <a:rPr lang="en-US" altLang="en-US" sz="1400"/>
              <a:t>then A gets its initial value.</a:t>
            </a:r>
          </a:p>
          <a:p>
            <a:r>
              <a:rPr lang="en-US" altLang="en-US" sz="1400"/>
              <a:t>•But T2 has already utilized this wrong value </a:t>
            </a:r>
          </a:p>
          <a:p>
            <a:r>
              <a:rPr lang="en-US" altLang="en-US" sz="1400"/>
              <a:t>and committed something to the DB</a:t>
            </a:r>
          </a:p>
          <a:p>
            <a:r>
              <a:rPr lang="en-US" altLang="en-US" sz="1400"/>
              <a:t>•The DB is consequently in an inconsistent state!</a:t>
            </a:r>
          </a:p>
        </p:txBody>
      </p:sp>
      <p:sp>
        <p:nvSpPr>
          <p:cNvPr id="177159" name="Text Box 7" descr="TextBox 10">
            <a:extLst>
              <a:ext uri="{FF2B5EF4-FFF2-40B4-BE49-F238E27FC236}">
                <a16:creationId xmlns:a16="http://schemas.microsoft.com/office/drawing/2014/main" id="{35A7B813-D057-3472-1523-842814C58CDD}"/>
              </a:ext>
            </a:extLst>
          </p:cNvPr>
          <p:cNvSpPr txBox="1">
            <a:spLocks/>
          </p:cNvSpPr>
          <p:nvPr/>
        </p:nvSpPr>
        <p:spPr bwMode="auto">
          <a:xfrm>
            <a:off x="1016000" y="2808288"/>
            <a:ext cx="798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Question: Following is Recoverable Schedule ? Yes / NoRecoverable Schedule</a:t>
            </a:r>
          </a:p>
        </p:txBody>
      </p:sp>
      <p:graphicFrame>
        <p:nvGraphicFramePr>
          <p:cNvPr id="177160" name="Group 8">
            <a:extLst>
              <a:ext uri="{FF2B5EF4-FFF2-40B4-BE49-F238E27FC236}">
                <a16:creationId xmlns:a16="http://schemas.microsoft.com/office/drawing/2014/main" id="{F99C36AE-4741-7363-E7A9-CC3B310A5ABD}"/>
              </a:ext>
            </a:extLst>
          </p:cNvPr>
          <p:cNvGraphicFramePr>
            <a:graphicFrameLocks noGrp="1"/>
          </p:cNvGraphicFramePr>
          <p:nvPr/>
        </p:nvGraphicFramePr>
        <p:xfrm>
          <a:off x="1331913" y="3278188"/>
          <a:ext cx="1943100" cy="3035300"/>
        </p:xfrm>
        <a:graphic>
          <a:graphicData uri="http://schemas.openxmlformats.org/drawingml/2006/table">
            <a:tbl>
              <a:tblPr/>
              <a:tblGrid>
                <a:gridCol w="863600">
                  <a:extLst>
                    <a:ext uri="{9D8B030D-6E8A-4147-A177-3AD203B41FA5}">
                      <a16:colId xmlns:a16="http://schemas.microsoft.com/office/drawing/2014/main" val="1291168321"/>
                    </a:ext>
                  </a:extLst>
                </a:gridCol>
                <a:gridCol w="1079500">
                  <a:extLst>
                    <a:ext uri="{9D8B030D-6E8A-4147-A177-3AD203B41FA5}">
                      <a16:colId xmlns:a16="http://schemas.microsoft.com/office/drawing/2014/main" val="780082450"/>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93809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w="12700" cap="flat" cmpd="sng" algn="ctr">
                      <a:solidFill>
                        <a:srgbClr val="000000"/>
                      </a:solidFill>
                      <a:prstDash val="solid"/>
                      <a:round/>
                      <a:headEnd type="none" w="med" len="med"/>
                      <a:tailEnd type="none" w="med" len="med"/>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cap="flat">
                      <a:noFill/>
                    </a:lnB>
                    <a:lnTlToBr>
                      <a:noFill/>
                    </a:lnTlToBr>
                    <a:lnBlToTr>
                      <a:noFill/>
                    </a:lnBlToTr>
                    <a:solidFill>
                      <a:srgbClr val="FFFFFF"/>
                    </a:solidFill>
                  </a:tcPr>
                </a:tc>
                <a:extLst>
                  <a:ext uri="{0D108BD9-81ED-4DB2-BD59-A6C34878D82A}">
                    <a16:rowId xmlns:a16="http://schemas.microsoft.com/office/drawing/2014/main" val="581055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17197909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17871685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292693241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214937811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cap="flat">
                      <a:noFill/>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solidFill>
                      <a:srgbClr val="FFFFFF"/>
                    </a:solidFill>
                  </a:tcPr>
                </a:tc>
                <a:extLst>
                  <a:ext uri="{0D108BD9-81ED-4DB2-BD59-A6C34878D82A}">
                    <a16:rowId xmlns:a16="http://schemas.microsoft.com/office/drawing/2014/main" val="162333697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Abort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02681252"/>
                  </a:ext>
                </a:extLst>
              </a:tr>
            </a:tbl>
          </a:graphicData>
        </a:graphic>
      </p:graphicFrame>
      <p:sp>
        <p:nvSpPr>
          <p:cNvPr id="177219" name="Line 67" descr="Straight Arrow Connector 8">
            <a:extLst>
              <a:ext uri="{FF2B5EF4-FFF2-40B4-BE49-F238E27FC236}">
                <a16:creationId xmlns:a16="http://schemas.microsoft.com/office/drawing/2014/main" id="{B3FE6E72-5BF5-0CF8-64D9-2397295007D6}"/>
              </a:ext>
            </a:extLst>
          </p:cNvPr>
          <p:cNvSpPr>
            <a:spLocks noChangeShapeType="1"/>
          </p:cNvSpPr>
          <p:nvPr/>
        </p:nvSpPr>
        <p:spPr bwMode="auto">
          <a:xfrm>
            <a:off x="2051050" y="4148138"/>
            <a:ext cx="287338" cy="21590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77220" name="Text Box 68" descr="TextBox 9">
            <a:extLst>
              <a:ext uri="{FF2B5EF4-FFF2-40B4-BE49-F238E27FC236}">
                <a16:creationId xmlns:a16="http://schemas.microsoft.com/office/drawing/2014/main" id="{C5EF449F-68E0-A506-2CB7-3F7ED74FB8D5}"/>
              </a:ext>
            </a:extLst>
          </p:cNvPr>
          <p:cNvSpPr txBox="1">
            <a:spLocks/>
          </p:cNvSpPr>
          <p:nvPr/>
        </p:nvSpPr>
        <p:spPr bwMode="auto">
          <a:xfrm>
            <a:off x="2185988" y="3984625"/>
            <a:ext cx="1046162" cy="30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FF0000"/>
                </a:solidFill>
              </a:rPr>
              <a:t>Dirty Read</a:t>
            </a:r>
          </a:p>
        </p:txBody>
      </p:sp>
      <p:grpSp>
        <p:nvGrpSpPr>
          <p:cNvPr id="177221" name="Group 69">
            <a:extLst>
              <a:ext uri="{FF2B5EF4-FFF2-40B4-BE49-F238E27FC236}">
                <a16:creationId xmlns:a16="http://schemas.microsoft.com/office/drawing/2014/main" id="{048D24FD-02C9-DC1D-1309-F79A84BEFE63}"/>
              </a:ext>
            </a:extLst>
          </p:cNvPr>
          <p:cNvGrpSpPr>
            <a:grpSpLocks/>
          </p:cNvGrpSpPr>
          <p:nvPr/>
        </p:nvGrpSpPr>
        <p:grpSpPr bwMode="auto">
          <a:xfrm>
            <a:off x="538163" y="3605213"/>
            <a:ext cx="720725" cy="2282825"/>
            <a:chOff x="-1" y="-1"/>
            <a:chExt cx="720103" cy="2282941"/>
          </a:xfrm>
        </p:grpSpPr>
        <p:sp>
          <p:nvSpPr>
            <p:cNvPr id="177222" name="AutoShape 70">
              <a:extLst>
                <a:ext uri="{FF2B5EF4-FFF2-40B4-BE49-F238E27FC236}">
                  <a16:creationId xmlns:a16="http://schemas.microsoft.com/office/drawing/2014/main" id="{5CADE324-9065-623D-4DF7-8BEAC5EF5E05}"/>
                </a:ext>
              </a:extLst>
            </p:cNvPr>
            <p:cNvSpPr>
              <a:spLocks/>
            </p:cNvSpPr>
            <p:nvPr/>
          </p:nvSpPr>
          <p:spPr bwMode="auto">
            <a:xfrm rot="10800000">
              <a:off x="0" y="-1"/>
              <a:ext cx="720102" cy="2282941"/>
            </a:xfrm>
            <a:custGeom>
              <a:avLst/>
              <a:gdLst>
                <a:gd name="T0" fmla="*/ 10439 w 20879"/>
                <a:gd name="T1" fmla="*/ 10800 h 21600"/>
                <a:gd name="T2" fmla="*/ 10439 w 20879"/>
                <a:gd name="T3" fmla="*/ 10800 h 21600"/>
                <a:gd name="T4" fmla="*/ 10439 w 20879"/>
                <a:gd name="T5" fmla="*/ 10800 h 21600"/>
                <a:gd name="T6" fmla="*/ 10439 w 20879"/>
                <a:gd name="T7" fmla="*/ 10800 h 21600"/>
              </a:gdLst>
              <a:ahLst/>
              <a:cxnLst>
                <a:cxn ang="0">
                  <a:pos x="T0" y="T1"/>
                </a:cxn>
                <a:cxn ang="0">
                  <a:pos x="T2" y="T3"/>
                </a:cxn>
                <a:cxn ang="0">
                  <a:pos x="T4" y="T5"/>
                </a:cxn>
                <a:cxn ang="0">
                  <a:pos x="T6" y="T7"/>
                </a:cxn>
              </a:cxnLst>
              <a:rect l="0" t="0" r="r" b="b"/>
              <a:pathLst>
                <a:path w="20879" h="21600">
                  <a:moveTo>
                    <a:pt x="0" y="20206"/>
                  </a:moveTo>
                  <a:lnTo>
                    <a:pt x="5220" y="18193"/>
                  </a:lnTo>
                  <a:lnTo>
                    <a:pt x="5220" y="19143"/>
                  </a:lnTo>
                  <a:cubicBezTo>
                    <a:pt x="13858" y="18104"/>
                    <a:pt x="20124" y="14623"/>
                    <a:pt x="20815" y="10480"/>
                  </a:cubicBezTo>
                  <a:cubicBezTo>
                    <a:pt x="21600" y="15183"/>
                    <a:pt x="15025" y="19471"/>
                    <a:pt x="5220" y="20650"/>
                  </a:cubicBezTo>
                  <a:lnTo>
                    <a:pt x="5220" y="21600"/>
                  </a:lnTo>
                  <a:close/>
                  <a:moveTo>
                    <a:pt x="20878" y="11233"/>
                  </a:moveTo>
                  <a:cubicBezTo>
                    <a:pt x="20878" y="5862"/>
                    <a:pt x="11531" y="1507"/>
                    <a:pt x="0" y="1507"/>
                  </a:cubicBezTo>
                  <a:lnTo>
                    <a:pt x="0" y="0"/>
                  </a:lnTo>
                  <a:cubicBezTo>
                    <a:pt x="11531" y="0"/>
                    <a:pt x="20878" y="4354"/>
                    <a:pt x="20878" y="9726"/>
                  </a:cubicBezTo>
                  <a:close/>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77223" name="AutoShape 71">
              <a:extLst>
                <a:ext uri="{FF2B5EF4-FFF2-40B4-BE49-F238E27FC236}">
                  <a16:creationId xmlns:a16="http://schemas.microsoft.com/office/drawing/2014/main" id="{8368D05A-1093-2482-86F7-583146B6D3FC}"/>
                </a:ext>
              </a:extLst>
            </p:cNvPr>
            <p:cNvSpPr>
              <a:spLocks/>
            </p:cNvSpPr>
            <p:nvPr/>
          </p:nvSpPr>
          <p:spPr bwMode="auto">
            <a:xfrm rot="10800000">
              <a:off x="21" y="1095697"/>
              <a:ext cx="720081" cy="118724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1600"/>
                  </a:moveTo>
                  <a:cubicBezTo>
                    <a:pt x="21600" y="11271"/>
                    <a:pt x="11929" y="2898"/>
                    <a:pt x="0" y="2898"/>
                  </a:cubicBezTo>
                  <a:lnTo>
                    <a:pt x="0" y="0"/>
                  </a:lnTo>
                  <a:cubicBezTo>
                    <a:pt x="11929" y="0"/>
                    <a:pt x="21600" y="8373"/>
                    <a:pt x="21600" y="18702"/>
                  </a:cubicBezTo>
                  <a:close/>
                </a:path>
              </a:pathLst>
            </a:custGeom>
            <a:solidFill>
              <a:srgbClr val="000000">
                <a:alpha val="20000"/>
              </a:srgbClr>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77224" name="AutoShape 72">
              <a:extLst>
                <a:ext uri="{FF2B5EF4-FFF2-40B4-BE49-F238E27FC236}">
                  <a16:creationId xmlns:a16="http://schemas.microsoft.com/office/drawing/2014/main" id="{82347969-A488-532B-D777-D0CB3125FAC8}"/>
                </a:ext>
              </a:extLst>
            </p:cNvPr>
            <p:cNvSpPr>
              <a:spLocks/>
            </p:cNvSpPr>
            <p:nvPr/>
          </p:nvSpPr>
          <p:spPr bwMode="auto">
            <a:xfrm rot="10800000">
              <a:off x="21" y="-1"/>
              <a:ext cx="720081" cy="22829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1233"/>
                  </a:moveTo>
                  <a:cubicBezTo>
                    <a:pt x="21600" y="5862"/>
                    <a:pt x="11929" y="1507"/>
                    <a:pt x="0" y="1507"/>
                  </a:cubicBezTo>
                  <a:lnTo>
                    <a:pt x="0" y="0"/>
                  </a:lnTo>
                  <a:cubicBezTo>
                    <a:pt x="11929" y="0"/>
                    <a:pt x="21600" y="4354"/>
                    <a:pt x="21600" y="9726"/>
                  </a:cubicBezTo>
                  <a:lnTo>
                    <a:pt x="21600" y="11233"/>
                  </a:lnTo>
                  <a:cubicBezTo>
                    <a:pt x="21600" y="15668"/>
                    <a:pt x="14937" y="19541"/>
                    <a:pt x="5400" y="20650"/>
                  </a:cubicBezTo>
                  <a:lnTo>
                    <a:pt x="5400" y="21600"/>
                  </a:lnTo>
                  <a:lnTo>
                    <a:pt x="0" y="20206"/>
                  </a:lnTo>
                  <a:lnTo>
                    <a:pt x="5400" y="18193"/>
                  </a:lnTo>
                  <a:lnTo>
                    <a:pt x="5400" y="19143"/>
                  </a:lnTo>
                  <a:cubicBezTo>
                    <a:pt x="14337" y="18104"/>
                    <a:pt x="20820" y="14623"/>
                    <a:pt x="21535" y="10480"/>
                  </a:cubicBezTo>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pSp>
      <p:sp>
        <p:nvSpPr>
          <p:cNvPr id="177225" name="Text Box 73" descr="TextBox 13">
            <a:extLst>
              <a:ext uri="{FF2B5EF4-FFF2-40B4-BE49-F238E27FC236}">
                <a16:creationId xmlns:a16="http://schemas.microsoft.com/office/drawing/2014/main" id="{F0279166-E96F-8FB4-384A-263C32723CBA}"/>
              </a:ext>
            </a:extLst>
          </p:cNvPr>
          <p:cNvSpPr txBox="1">
            <a:spLocks/>
          </p:cNvSpPr>
          <p:nvPr/>
        </p:nvSpPr>
        <p:spPr bwMode="auto">
          <a:xfrm>
            <a:off x="312738" y="5783263"/>
            <a:ext cx="842962"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Step a:</a:t>
            </a:r>
          </a:p>
          <a:p>
            <a:r>
              <a:rPr lang="en-US" altLang="en-US" sz="1400"/>
              <a:t>Rollback</a:t>
            </a:r>
          </a:p>
        </p:txBody>
      </p:sp>
    </p:spTree>
  </p:cSld>
  <p:clrMapOvr>
    <a:masterClrMapping/>
  </p:clrMapOvr>
  <p:transition spd="med"/>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descr="Title 1">
            <a:extLst>
              <a:ext uri="{FF2B5EF4-FFF2-40B4-BE49-F238E27FC236}">
                <a16:creationId xmlns:a16="http://schemas.microsoft.com/office/drawing/2014/main" id="{5232C5D6-AE66-8FA4-600F-A3135228D317}"/>
              </a:ext>
            </a:extLst>
          </p:cNvPr>
          <p:cNvSpPr>
            <a:spLocks noChangeArrowheads="1"/>
          </p:cNvSpPr>
          <p:nvPr>
            <p:ph type="title"/>
          </p:nvPr>
        </p:nvSpPr>
        <p:spPr/>
        <p:txBody>
          <a:bodyPr/>
          <a:lstStyle/>
          <a:p>
            <a:r>
              <a:rPr lang="en-US" altLang="en-US" sz="2400">
                <a:solidFill>
                  <a:srgbClr val="FF0000"/>
                </a:solidFill>
              </a:rPr>
              <a:t>Problem to Solve on Recoverable Schedules</a:t>
            </a:r>
          </a:p>
        </p:txBody>
      </p:sp>
      <p:sp>
        <p:nvSpPr>
          <p:cNvPr id="178179" name="Rectangle 3" descr="Content Placeholder 2">
            <a:extLst>
              <a:ext uri="{FF2B5EF4-FFF2-40B4-BE49-F238E27FC236}">
                <a16:creationId xmlns:a16="http://schemas.microsoft.com/office/drawing/2014/main" id="{D2788D88-42C8-B49A-58F8-DA3129BF090B}"/>
              </a:ext>
            </a:extLst>
          </p:cNvPr>
          <p:cNvSpPr>
            <a:spLocks noChangeArrowheads="1"/>
          </p:cNvSpPr>
          <p:nvPr>
            <p:ph type="body" idx="1"/>
          </p:nvPr>
        </p:nvSpPr>
        <p:spPr/>
        <p:txBody>
          <a:bodyPr/>
          <a:lstStyle/>
          <a:p>
            <a:pPr>
              <a:spcBef>
                <a:spcPts val="400"/>
              </a:spcBef>
            </a:pPr>
            <a:r>
              <a:rPr lang="en-US" altLang="en-US" sz="2000"/>
              <a:t>Check whether the following schedule is recoverable schedule </a:t>
            </a:r>
          </a:p>
        </p:txBody>
      </p:sp>
      <p:sp>
        <p:nvSpPr>
          <p:cNvPr id="178180" name="Text Box 4" descr="Date Placeholder 3">
            <a:extLst>
              <a:ext uri="{FF2B5EF4-FFF2-40B4-BE49-F238E27FC236}">
                <a16:creationId xmlns:a16="http://schemas.microsoft.com/office/drawing/2014/main" id="{E3858D47-D021-1457-9EE4-C8C0D7CAC2A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8181" name="Text Box 5" descr="Slide Number Placeholder 5">
            <a:extLst>
              <a:ext uri="{FF2B5EF4-FFF2-40B4-BE49-F238E27FC236}">
                <a16:creationId xmlns:a16="http://schemas.microsoft.com/office/drawing/2014/main" id="{E4287F32-F720-4370-A272-FC5DDB8CB374}"/>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5615DCC-52E7-488B-B23A-62B92ADA408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78182" name="Picture 6" descr="Picture 4">
            <a:extLst>
              <a:ext uri="{FF2B5EF4-FFF2-40B4-BE49-F238E27FC236}">
                <a16:creationId xmlns:a16="http://schemas.microsoft.com/office/drawing/2014/main" id="{2C3BB395-5947-1FE1-CC3A-AF4B9D77A51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1955800"/>
            <a:ext cx="5527675" cy="608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78183" name="Text Box 7" descr="TextBox 10">
            <a:extLst>
              <a:ext uri="{FF2B5EF4-FFF2-40B4-BE49-F238E27FC236}">
                <a16:creationId xmlns:a16="http://schemas.microsoft.com/office/drawing/2014/main" id="{3D0FEC81-4D15-5C95-822E-D8928AD64744}"/>
              </a:ext>
            </a:extLst>
          </p:cNvPr>
          <p:cNvSpPr txBox="1">
            <a:spLocks/>
          </p:cNvSpPr>
          <p:nvPr/>
        </p:nvSpPr>
        <p:spPr bwMode="auto">
          <a:xfrm>
            <a:off x="439738" y="4497388"/>
            <a:ext cx="8031162" cy="1654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47625" indent="-47625">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Recoverable schedule</a:t>
            </a:r>
            <a:r>
              <a:rPr lang="en-US" altLang="en-US" sz="1400"/>
              <a:t>: A schedule is recoverable if the following condition is satisfied:</a:t>
            </a:r>
          </a:p>
          <a:p>
            <a:pPr>
              <a:buSzPct val="100000"/>
              <a:buFontTx/>
              <a:buChar char="-"/>
            </a:pPr>
            <a:r>
              <a:rPr lang="en-US" altLang="en-US" sz="1400"/>
              <a:t>Tj should commit after Ti  if Tj has read any data item written by Ti.</a:t>
            </a:r>
          </a:p>
          <a:p>
            <a:endParaRPr lang="en-US" altLang="en-US" sz="1400"/>
          </a:p>
          <a:p>
            <a:r>
              <a:rPr lang="en-US" altLang="en-US" sz="1600"/>
              <a:t>……..</a:t>
            </a:r>
            <a:r>
              <a:rPr lang="en-US" altLang="en-US" sz="1600">
                <a:solidFill>
                  <a:srgbClr val="C00000"/>
                </a:solidFill>
              </a:rPr>
              <a:t>Wi(x)</a:t>
            </a:r>
            <a:r>
              <a:rPr lang="en-US" altLang="en-US" sz="1600"/>
              <a:t>……….</a:t>
            </a:r>
            <a:r>
              <a:rPr lang="en-US" altLang="en-US" sz="1600">
                <a:solidFill>
                  <a:srgbClr val="0000FF"/>
                </a:solidFill>
              </a:rPr>
              <a:t>Rj(x)</a:t>
            </a:r>
            <a:r>
              <a:rPr lang="en-US" altLang="en-US" sz="1600"/>
              <a:t>…………</a:t>
            </a:r>
            <a:r>
              <a:rPr lang="en-US" altLang="en-US" sz="1600">
                <a:solidFill>
                  <a:srgbClr val="C00000"/>
                </a:solidFill>
              </a:rPr>
              <a:t>Ci</a:t>
            </a:r>
            <a:r>
              <a:rPr lang="en-US" altLang="en-US" sz="1600"/>
              <a:t>………..</a:t>
            </a:r>
            <a:r>
              <a:rPr lang="en-US" altLang="en-US" sz="1600">
                <a:solidFill>
                  <a:srgbClr val="0000FF"/>
                </a:solidFill>
              </a:rPr>
              <a:t>Cj</a:t>
            </a:r>
            <a:r>
              <a:rPr lang="en-US" altLang="en-US" sz="1600"/>
              <a:t>    -&gt; This schedule is </a:t>
            </a:r>
            <a:r>
              <a:rPr lang="en-US" altLang="en-US" sz="1600">
                <a:solidFill>
                  <a:srgbClr val="FF0000"/>
                </a:solidFill>
              </a:rPr>
              <a:t>recoverable</a:t>
            </a:r>
          </a:p>
          <a:p>
            <a:r>
              <a:rPr lang="en-US" altLang="en-US" sz="1600"/>
              <a:t>……..</a:t>
            </a:r>
            <a:r>
              <a:rPr lang="en-US" altLang="en-US" sz="1600">
                <a:solidFill>
                  <a:srgbClr val="C00000"/>
                </a:solidFill>
              </a:rPr>
              <a:t>Wi(x)</a:t>
            </a:r>
            <a:r>
              <a:rPr lang="en-US" altLang="en-US" sz="1600"/>
              <a:t>……….</a:t>
            </a:r>
            <a:r>
              <a:rPr lang="en-US" altLang="en-US" sz="1600">
                <a:solidFill>
                  <a:srgbClr val="0000FF"/>
                </a:solidFill>
              </a:rPr>
              <a:t>Rj(x)</a:t>
            </a:r>
            <a:r>
              <a:rPr lang="en-US" altLang="en-US" sz="1600"/>
              <a:t>…………</a:t>
            </a:r>
            <a:r>
              <a:rPr lang="en-US" altLang="en-US" sz="1600">
                <a:solidFill>
                  <a:srgbClr val="0000FF"/>
                </a:solidFill>
              </a:rPr>
              <a:t>Cj</a:t>
            </a:r>
            <a:r>
              <a:rPr lang="en-US" altLang="en-US" sz="1600"/>
              <a:t>………..</a:t>
            </a:r>
            <a:r>
              <a:rPr lang="en-US" altLang="en-US" sz="1600">
                <a:solidFill>
                  <a:srgbClr val="C00000"/>
                </a:solidFill>
              </a:rPr>
              <a:t>Ci</a:t>
            </a:r>
            <a:r>
              <a:rPr lang="en-US" altLang="en-US" sz="1600"/>
              <a:t>    -&gt; This schedule is </a:t>
            </a:r>
            <a:r>
              <a:rPr lang="en-US" altLang="en-US" sz="1600">
                <a:solidFill>
                  <a:srgbClr val="008000"/>
                </a:solidFill>
              </a:rPr>
              <a:t>non-recoverable</a:t>
            </a:r>
          </a:p>
          <a:p>
            <a:endParaRPr lang="en-US" altLang="en-US" sz="1400"/>
          </a:p>
        </p:txBody>
      </p:sp>
    </p:spTree>
  </p:cSld>
  <p:clrMapOvr>
    <a:masterClrMapping/>
  </p:clrMapOvr>
  <p:transition spd="med"/>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2" descr="Title 1">
            <a:extLst>
              <a:ext uri="{FF2B5EF4-FFF2-40B4-BE49-F238E27FC236}">
                <a16:creationId xmlns:a16="http://schemas.microsoft.com/office/drawing/2014/main" id="{4A3AC1C5-85FD-6EC4-9F09-B3F01EE6E792}"/>
              </a:ext>
            </a:extLst>
          </p:cNvPr>
          <p:cNvSpPr>
            <a:spLocks noChangeArrowheads="1"/>
          </p:cNvSpPr>
          <p:nvPr>
            <p:ph type="title"/>
          </p:nvPr>
        </p:nvSpPr>
        <p:spPr/>
        <p:txBody>
          <a:bodyPr/>
          <a:lstStyle/>
          <a:p>
            <a:r>
              <a:rPr lang="en-US" altLang="en-US" sz="2400">
                <a:solidFill>
                  <a:srgbClr val="FF0000"/>
                </a:solidFill>
              </a:rPr>
              <a:t>Problem to Solve on Recoverable Schedules</a:t>
            </a:r>
          </a:p>
        </p:txBody>
      </p:sp>
      <p:sp>
        <p:nvSpPr>
          <p:cNvPr id="179203" name="Rectangle 3" descr="Content Placeholder 2">
            <a:extLst>
              <a:ext uri="{FF2B5EF4-FFF2-40B4-BE49-F238E27FC236}">
                <a16:creationId xmlns:a16="http://schemas.microsoft.com/office/drawing/2014/main" id="{C2A29A16-0BF8-68F0-7985-5DC6FC3D1F95}"/>
              </a:ext>
            </a:extLst>
          </p:cNvPr>
          <p:cNvSpPr>
            <a:spLocks noChangeArrowheads="1"/>
          </p:cNvSpPr>
          <p:nvPr>
            <p:ph type="body" idx="1"/>
          </p:nvPr>
        </p:nvSpPr>
        <p:spPr/>
        <p:txBody>
          <a:bodyPr/>
          <a:lstStyle/>
          <a:p>
            <a:pPr>
              <a:spcBef>
                <a:spcPts val="400"/>
              </a:spcBef>
            </a:pPr>
            <a:r>
              <a:rPr lang="en-US" altLang="en-US" sz="2000"/>
              <a:t>Check whether the following schedule is recoverable schedule </a:t>
            </a:r>
          </a:p>
        </p:txBody>
      </p:sp>
      <p:sp>
        <p:nvSpPr>
          <p:cNvPr id="179204" name="Text Box 4" descr="Date Placeholder 3">
            <a:extLst>
              <a:ext uri="{FF2B5EF4-FFF2-40B4-BE49-F238E27FC236}">
                <a16:creationId xmlns:a16="http://schemas.microsoft.com/office/drawing/2014/main" id="{5133A274-FE95-CD78-3055-D2615578849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79205" name="Text Box 5" descr="Slide Number Placeholder 5">
            <a:extLst>
              <a:ext uri="{FF2B5EF4-FFF2-40B4-BE49-F238E27FC236}">
                <a16:creationId xmlns:a16="http://schemas.microsoft.com/office/drawing/2014/main" id="{3BEA4885-F3D3-32E6-1991-16A7F93B407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CFBC126-762F-4FC1-A479-D5D52C47AC3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169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79206" name="Picture 6" descr="Picture 4">
            <a:extLst>
              <a:ext uri="{FF2B5EF4-FFF2-40B4-BE49-F238E27FC236}">
                <a16:creationId xmlns:a16="http://schemas.microsoft.com/office/drawing/2014/main" id="{5D3B520C-F15D-2C05-B980-0199221B959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1955800"/>
            <a:ext cx="3981450" cy="438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79207" name="Text Box 7" descr="TextBox 10">
            <a:extLst>
              <a:ext uri="{FF2B5EF4-FFF2-40B4-BE49-F238E27FC236}">
                <a16:creationId xmlns:a16="http://schemas.microsoft.com/office/drawing/2014/main" id="{D0854670-B877-FA8F-6A0A-59D444D03E1C}"/>
              </a:ext>
            </a:extLst>
          </p:cNvPr>
          <p:cNvSpPr txBox="1">
            <a:spLocks/>
          </p:cNvSpPr>
          <p:nvPr/>
        </p:nvSpPr>
        <p:spPr bwMode="auto">
          <a:xfrm>
            <a:off x="439738" y="4497388"/>
            <a:ext cx="8031162" cy="160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47625" indent="-47625">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Recoverable schedule</a:t>
            </a:r>
            <a:r>
              <a:rPr lang="en-US" altLang="en-US" sz="1400"/>
              <a:t>: A schedule is recoverable if the following condition is satisfied:</a:t>
            </a:r>
          </a:p>
          <a:p>
            <a:pPr>
              <a:buSzPct val="100000"/>
              <a:buFontTx/>
              <a:buChar char="-"/>
            </a:pPr>
            <a:r>
              <a:rPr lang="en-US" altLang="en-US" sz="1400"/>
              <a:t>Tj should commit after Ti  if Tj has read any data item written by Ti.</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0000FF"/>
                </a:solidFill>
              </a:rPr>
              <a:t>Rj(x)</a:t>
            </a:r>
            <a:r>
              <a:rPr lang="en-US" altLang="en-US" sz="1400"/>
              <a:t>…………</a:t>
            </a:r>
            <a:r>
              <a:rPr lang="en-US" altLang="en-US" sz="1400">
                <a:solidFill>
                  <a:srgbClr val="C00000"/>
                </a:solidFill>
              </a:rPr>
              <a:t>Ci</a:t>
            </a:r>
            <a:r>
              <a:rPr lang="en-US" altLang="en-US" sz="1400"/>
              <a:t>………..</a:t>
            </a:r>
            <a:r>
              <a:rPr lang="en-US" altLang="en-US" sz="1400">
                <a:solidFill>
                  <a:srgbClr val="0000FF"/>
                </a:solidFill>
              </a:rPr>
              <a:t>Cj</a:t>
            </a:r>
            <a:r>
              <a:rPr lang="en-US" altLang="en-US" sz="1400"/>
              <a:t>    -&gt; This schedule is </a:t>
            </a:r>
            <a:r>
              <a:rPr lang="en-US" altLang="en-US" sz="1400">
                <a:solidFill>
                  <a:srgbClr val="FF0000"/>
                </a:solidFill>
              </a:rPr>
              <a:t>recoverable</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a:t>
            </a:r>
            <a:r>
              <a:rPr lang="en-US" altLang="en-US" sz="1400"/>
              <a:t>…………</a:t>
            </a:r>
            <a:r>
              <a:rPr lang="en-US" altLang="en-US" sz="1400">
                <a:solidFill>
                  <a:srgbClr val="0000FF"/>
                </a:solidFill>
              </a:rPr>
              <a:t>Cj</a:t>
            </a:r>
            <a:r>
              <a:rPr lang="en-US" altLang="en-US" sz="1400"/>
              <a:t>………..</a:t>
            </a:r>
            <a:r>
              <a:rPr lang="en-US" altLang="en-US" sz="1400">
                <a:solidFill>
                  <a:srgbClr val="C00000"/>
                </a:solidFill>
              </a:rPr>
              <a:t>Ci</a:t>
            </a:r>
            <a:r>
              <a:rPr lang="en-US" altLang="en-US" sz="1400"/>
              <a:t>    -&gt; This schedule is </a:t>
            </a:r>
            <a:r>
              <a:rPr lang="en-US" altLang="en-US" sz="1400">
                <a:solidFill>
                  <a:srgbClr val="008000"/>
                </a:solidFill>
              </a:rPr>
              <a:t>non-recoverable</a:t>
            </a:r>
          </a:p>
          <a:p>
            <a:endParaRPr lang="en-US" altLang="en-US" sz="1400"/>
          </a:p>
        </p:txBody>
      </p:sp>
      <p:sp>
        <p:nvSpPr>
          <p:cNvPr id="179208" name="Text Box 8" descr="TextBox 6">
            <a:extLst>
              <a:ext uri="{FF2B5EF4-FFF2-40B4-BE49-F238E27FC236}">
                <a16:creationId xmlns:a16="http://schemas.microsoft.com/office/drawing/2014/main" id="{23DE28BA-5A5C-1220-17E2-F0733B3BECB8}"/>
              </a:ext>
            </a:extLst>
          </p:cNvPr>
          <p:cNvSpPr txBox="1">
            <a:spLocks/>
          </p:cNvSpPr>
          <p:nvPr/>
        </p:nvSpPr>
        <p:spPr bwMode="auto">
          <a:xfrm>
            <a:off x="179388" y="2852738"/>
            <a:ext cx="8053387" cy="747712"/>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Answer: </a:t>
            </a:r>
            <a:r>
              <a:rPr lang="en-US" altLang="en-US" sz="1400"/>
              <a:t>Non-recoverable </a:t>
            </a:r>
          </a:p>
          <a:p>
            <a:r>
              <a:rPr lang="en-US" altLang="en-US" sz="1400"/>
              <a:t>Transaction T2 reads the data item R2(y) written by T3 w3(y)</a:t>
            </a:r>
          </a:p>
          <a:p>
            <a:r>
              <a:rPr lang="en-US" altLang="en-US" sz="1400"/>
              <a:t>Schedule is non-recoverable because transaction T2 commits C2  before T3 commits C3.</a:t>
            </a:r>
          </a:p>
        </p:txBody>
      </p:sp>
    </p:spTree>
  </p:cSld>
  <p:clrMapOvr>
    <a:masterClrMapping/>
  </p:clrMapOvr>
  <p:transition spd="med"/>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2" descr="Title 1">
            <a:extLst>
              <a:ext uri="{FF2B5EF4-FFF2-40B4-BE49-F238E27FC236}">
                <a16:creationId xmlns:a16="http://schemas.microsoft.com/office/drawing/2014/main" id="{E5B48FBA-A9F7-F8D8-3FF6-61DDB4734B43}"/>
              </a:ext>
            </a:extLst>
          </p:cNvPr>
          <p:cNvSpPr>
            <a:spLocks noChangeArrowheads="1"/>
          </p:cNvSpPr>
          <p:nvPr>
            <p:ph type="title"/>
          </p:nvPr>
        </p:nvSpPr>
        <p:spPr/>
        <p:txBody>
          <a:bodyPr/>
          <a:lstStyle/>
          <a:p>
            <a:r>
              <a:rPr lang="en-US" altLang="en-US">
                <a:solidFill>
                  <a:srgbClr val="FF0000"/>
                </a:solidFill>
              </a:rPr>
              <a:t>Problem to Solve </a:t>
            </a:r>
          </a:p>
        </p:txBody>
      </p:sp>
      <p:sp>
        <p:nvSpPr>
          <p:cNvPr id="180227" name="Text Box 3" descr="Date Placeholder 3">
            <a:extLst>
              <a:ext uri="{FF2B5EF4-FFF2-40B4-BE49-F238E27FC236}">
                <a16:creationId xmlns:a16="http://schemas.microsoft.com/office/drawing/2014/main" id="{93E916A8-36CB-1451-BD44-579307DB7FC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0228" name="Text Box 4" descr="Slide Number Placeholder 5">
            <a:extLst>
              <a:ext uri="{FF2B5EF4-FFF2-40B4-BE49-F238E27FC236}">
                <a16:creationId xmlns:a16="http://schemas.microsoft.com/office/drawing/2014/main" id="{62DFFBC8-5FFC-6BF1-B3B3-A2BFB6D4D7A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22AF681-1E0D-4A0B-AA0B-D6C9A98A3BE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80229" name="Picture 5" descr="Picture 2">
            <a:extLst>
              <a:ext uri="{FF2B5EF4-FFF2-40B4-BE49-F238E27FC236}">
                <a16:creationId xmlns:a16="http://schemas.microsoft.com/office/drawing/2014/main" id="{09EA82A8-E782-66D8-AA41-ACDC1506D85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163" y="1204913"/>
            <a:ext cx="4681537" cy="2689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80230" name="Text Box 6" descr="TextBox 17">
            <a:extLst>
              <a:ext uri="{FF2B5EF4-FFF2-40B4-BE49-F238E27FC236}">
                <a16:creationId xmlns:a16="http://schemas.microsoft.com/office/drawing/2014/main" id="{576E1EA2-4DD4-EA59-B5C9-06C362B68A66}"/>
              </a:ext>
            </a:extLst>
          </p:cNvPr>
          <p:cNvSpPr txBox="1">
            <a:spLocks/>
          </p:cNvSpPr>
          <p:nvPr/>
        </p:nvSpPr>
        <p:spPr bwMode="auto">
          <a:xfrm>
            <a:off x="439738" y="4497388"/>
            <a:ext cx="8031162" cy="1654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47625" indent="-47625">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Recoverable schedule</a:t>
            </a:r>
            <a:r>
              <a:rPr lang="en-US" altLang="en-US" sz="1400"/>
              <a:t>: A schedule is recoverable if the following condition is satisfied:</a:t>
            </a:r>
          </a:p>
          <a:p>
            <a:pPr>
              <a:buSzPct val="100000"/>
              <a:buFontTx/>
              <a:buChar char="-"/>
            </a:pPr>
            <a:r>
              <a:rPr lang="en-US" altLang="en-US" sz="1400"/>
              <a:t>Tj should commit after Ti  if Tj has read any data item written by Ti.</a:t>
            </a:r>
          </a:p>
          <a:p>
            <a:endParaRPr lang="en-US" altLang="en-US" sz="1400"/>
          </a:p>
          <a:p>
            <a:r>
              <a:rPr lang="en-US" altLang="en-US" sz="1600"/>
              <a:t>……..</a:t>
            </a:r>
            <a:r>
              <a:rPr lang="en-US" altLang="en-US" sz="1600">
                <a:solidFill>
                  <a:srgbClr val="C00000"/>
                </a:solidFill>
              </a:rPr>
              <a:t>Wi(x)</a:t>
            </a:r>
            <a:r>
              <a:rPr lang="en-US" altLang="en-US" sz="1600"/>
              <a:t>……….</a:t>
            </a:r>
            <a:r>
              <a:rPr lang="en-US" altLang="en-US" sz="1600">
                <a:solidFill>
                  <a:srgbClr val="0000FF"/>
                </a:solidFill>
              </a:rPr>
              <a:t>Rj(x)</a:t>
            </a:r>
            <a:r>
              <a:rPr lang="en-US" altLang="en-US" sz="1600"/>
              <a:t>…………</a:t>
            </a:r>
            <a:r>
              <a:rPr lang="en-US" altLang="en-US" sz="1600">
                <a:solidFill>
                  <a:srgbClr val="C00000"/>
                </a:solidFill>
              </a:rPr>
              <a:t>Ci</a:t>
            </a:r>
            <a:r>
              <a:rPr lang="en-US" altLang="en-US" sz="1600"/>
              <a:t>………..</a:t>
            </a:r>
            <a:r>
              <a:rPr lang="en-US" altLang="en-US" sz="1600">
                <a:solidFill>
                  <a:srgbClr val="0000FF"/>
                </a:solidFill>
              </a:rPr>
              <a:t>Cj</a:t>
            </a:r>
            <a:r>
              <a:rPr lang="en-US" altLang="en-US" sz="1600"/>
              <a:t>    -&gt; This schedule is </a:t>
            </a:r>
            <a:r>
              <a:rPr lang="en-US" altLang="en-US" sz="1600">
                <a:solidFill>
                  <a:srgbClr val="FF0000"/>
                </a:solidFill>
              </a:rPr>
              <a:t>recoverable</a:t>
            </a:r>
          </a:p>
          <a:p>
            <a:r>
              <a:rPr lang="en-US" altLang="en-US" sz="1600"/>
              <a:t>……..</a:t>
            </a:r>
            <a:r>
              <a:rPr lang="en-US" altLang="en-US" sz="1600">
                <a:solidFill>
                  <a:srgbClr val="C00000"/>
                </a:solidFill>
              </a:rPr>
              <a:t>Wi(x)</a:t>
            </a:r>
            <a:r>
              <a:rPr lang="en-US" altLang="en-US" sz="1600"/>
              <a:t>……….</a:t>
            </a:r>
            <a:r>
              <a:rPr lang="en-US" altLang="en-US" sz="1600">
                <a:solidFill>
                  <a:srgbClr val="0000FF"/>
                </a:solidFill>
              </a:rPr>
              <a:t>Rj(x)</a:t>
            </a:r>
            <a:r>
              <a:rPr lang="en-US" altLang="en-US" sz="1600"/>
              <a:t>…………</a:t>
            </a:r>
            <a:r>
              <a:rPr lang="en-US" altLang="en-US" sz="1600">
                <a:solidFill>
                  <a:srgbClr val="0000FF"/>
                </a:solidFill>
              </a:rPr>
              <a:t>Cj</a:t>
            </a:r>
            <a:r>
              <a:rPr lang="en-US" altLang="en-US" sz="1600"/>
              <a:t>………..</a:t>
            </a:r>
            <a:r>
              <a:rPr lang="en-US" altLang="en-US" sz="1600">
                <a:solidFill>
                  <a:srgbClr val="C00000"/>
                </a:solidFill>
              </a:rPr>
              <a:t>Ci</a:t>
            </a:r>
            <a:r>
              <a:rPr lang="en-US" altLang="en-US" sz="1600"/>
              <a:t>    -&gt; This schedule is </a:t>
            </a:r>
            <a:r>
              <a:rPr lang="en-US" altLang="en-US" sz="1600">
                <a:solidFill>
                  <a:srgbClr val="008000"/>
                </a:solidFill>
              </a:rPr>
              <a:t>non-recoverable</a:t>
            </a:r>
          </a:p>
          <a:p>
            <a:endParaRPr lang="en-US" altLang="en-US" sz="1400"/>
          </a:p>
        </p:txBody>
      </p:sp>
    </p:spTree>
  </p:cSld>
  <p:clrMapOvr>
    <a:masterClrMapping/>
  </p:clrMapOvr>
  <p:transition spd="med"/>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2" descr="Title 1">
            <a:extLst>
              <a:ext uri="{FF2B5EF4-FFF2-40B4-BE49-F238E27FC236}">
                <a16:creationId xmlns:a16="http://schemas.microsoft.com/office/drawing/2014/main" id="{899F48A3-2E01-2C3D-9280-0E0224F78283}"/>
              </a:ext>
            </a:extLst>
          </p:cNvPr>
          <p:cNvSpPr>
            <a:spLocks noChangeArrowheads="1"/>
          </p:cNvSpPr>
          <p:nvPr>
            <p:ph type="title"/>
          </p:nvPr>
        </p:nvSpPr>
        <p:spPr/>
        <p:txBody>
          <a:bodyPr/>
          <a:lstStyle/>
          <a:p>
            <a:r>
              <a:rPr lang="en-US" altLang="en-US">
                <a:solidFill>
                  <a:srgbClr val="FF0000"/>
                </a:solidFill>
              </a:rPr>
              <a:t>Problem to Solve </a:t>
            </a:r>
          </a:p>
        </p:txBody>
      </p:sp>
      <p:sp>
        <p:nvSpPr>
          <p:cNvPr id="182275" name="Text Box 3" descr="Date Placeholder 3">
            <a:extLst>
              <a:ext uri="{FF2B5EF4-FFF2-40B4-BE49-F238E27FC236}">
                <a16:creationId xmlns:a16="http://schemas.microsoft.com/office/drawing/2014/main" id="{D16D6255-8B82-A287-B4D8-6B6D6F2533C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2276" name="Text Box 4" descr="Slide Number Placeholder 5">
            <a:extLst>
              <a:ext uri="{FF2B5EF4-FFF2-40B4-BE49-F238E27FC236}">
                <a16:creationId xmlns:a16="http://schemas.microsoft.com/office/drawing/2014/main" id="{5CB5BB56-8290-00CD-B68B-14CC7C343F4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F6292FF-E1C3-4301-9E06-9EB6E32D453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182277" name="Picture 5" descr="Picture 2">
            <a:extLst>
              <a:ext uri="{FF2B5EF4-FFF2-40B4-BE49-F238E27FC236}">
                <a16:creationId xmlns:a16="http://schemas.microsoft.com/office/drawing/2014/main" id="{CD65378B-51CB-09EC-08E9-A301F9F1C05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5288" y="1130300"/>
            <a:ext cx="3743325" cy="21510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82278" name="Text Box 6" descr="TextBox 9">
            <a:extLst>
              <a:ext uri="{FF2B5EF4-FFF2-40B4-BE49-F238E27FC236}">
                <a16:creationId xmlns:a16="http://schemas.microsoft.com/office/drawing/2014/main" id="{7AB9F34C-AAAE-5B88-BDC0-EB8415D60117}"/>
              </a:ext>
            </a:extLst>
          </p:cNvPr>
          <p:cNvSpPr txBox="1">
            <a:spLocks/>
          </p:cNvSpPr>
          <p:nvPr/>
        </p:nvSpPr>
        <p:spPr bwMode="auto">
          <a:xfrm>
            <a:off x="4527550" y="5826125"/>
            <a:ext cx="224472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S1 Non-Recoverable </a:t>
            </a:r>
          </a:p>
        </p:txBody>
      </p:sp>
      <p:graphicFrame>
        <p:nvGraphicFramePr>
          <p:cNvPr id="182279" name="Group 7">
            <a:extLst>
              <a:ext uri="{FF2B5EF4-FFF2-40B4-BE49-F238E27FC236}">
                <a16:creationId xmlns:a16="http://schemas.microsoft.com/office/drawing/2014/main" id="{E4F53E2C-061E-8949-172B-6A99F864AC57}"/>
              </a:ext>
            </a:extLst>
          </p:cNvPr>
          <p:cNvGraphicFramePr>
            <a:graphicFrameLocks noGrp="1"/>
          </p:cNvGraphicFramePr>
          <p:nvPr/>
        </p:nvGraphicFramePr>
        <p:xfrm>
          <a:off x="4641850" y="2684463"/>
          <a:ext cx="1952625" cy="3419475"/>
        </p:xfrm>
        <a:graphic>
          <a:graphicData uri="http://schemas.openxmlformats.org/drawingml/2006/table">
            <a:tbl>
              <a:tblPr/>
              <a:tblGrid>
                <a:gridCol w="944563">
                  <a:extLst>
                    <a:ext uri="{9D8B030D-6E8A-4147-A177-3AD203B41FA5}">
                      <a16:colId xmlns:a16="http://schemas.microsoft.com/office/drawing/2014/main" val="1489255745"/>
                    </a:ext>
                  </a:extLst>
                </a:gridCol>
                <a:gridCol w="1008062">
                  <a:extLst>
                    <a:ext uri="{9D8B030D-6E8A-4147-A177-3AD203B41FA5}">
                      <a16:colId xmlns:a16="http://schemas.microsoft.com/office/drawing/2014/main" val="3155986826"/>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6320817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7676738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5143173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65542762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0009110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56635824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5482807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6700047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13730905"/>
                  </a:ext>
                </a:extLst>
              </a:tr>
            </a:tbl>
          </a:graphicData>
        </a:graphic>
      </p:graphicFrame>
      <p:graphicFrame>
        <p:nvGraphicFramePr>
          <p:cNvPr id="182345" name="Group 73">
            <a:extLst>
              <a:ext uri="{FF2B5EF4-FFF2-40B4-BE49-F238E27FC236}">
                <a16:creationId xmlns:a16="http://schemas.microsoft.com/office/drawing/2014/main" id="{B36C5F76-8C1E-4BC4-DCBC-83E8FA4FFA5E}"/>
              </a:ext>
            </a:extLst>
          </p:cNvPr>
          <p:cNvGraphicFramePr>
            <a:graphicFrameLocks noGrp="1"/>
          </p:cNvGraphicFramePr>
          <p:nvPr/>
        </p:nvGraphicFramePr>
        <p:xfrm>
          <a:off x="7011988" y="2649538"/>
          <a:ext cx="1952625" cy="3448050"/>
        </p:xfrm>
        <a:graphic>
          <a:graphicData uri="http://schemas.openxmlformats.org/drawingml/2006/table">
            <a:tbl>
              <a:tblPr/>
              <a:tblGrid>
                <a:gridCol w="944562">
                  <a:extLst>
                    <a:ext uri="{9D8B030D-6E8A-4147-A177-3AD203B41FA5}">
                      <a16:colId xmlns:a16="http://schemas.microsoft.com/office/drawing/2014/main" val="3648850793"/>
                    </a:ext>
                  </a:extLst>
                </a:gridCol>
                <a:gridCol w="1008063">
                  <a:extLst>
                    <a:ext uri="{9D8B030D-6E8A-4147-A177-3AD203B41FA5}">
                      <a16:colId xmlns:a16="http://schemas.microsoft.com/office/drawing/2014/main" val="1205002947"/>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7868273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82312771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6673476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75467100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632367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W2(X)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887066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W1(Y)</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41061660"/>
                  </a:ext>
                </a:extLst>
              </a:tr>
              <a:tr h="412750">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0064128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529548959"/>
                  </a:ext>
                </a:extLst>
              </a:tr>
            </a:tbl>
          </a:graphicData>
        </a:graphic>
      </p:graphicFrame>
      <p:sp>
        <p:nvSpPr>
          <p:cNvPr id="182411" name="Text Box 139" descr="TextBox 13">
            <a:extLst>
              <a:ext uri="{FF2B5EF4-FFF2-40B4-BE49-F238E27FC236}">
                <a16:creationId xmlns:a16="http://schemas.microsoft.com/office/drawing/2014/main" id="{4D1B6604-E71D-BE86-C67B-D9A0F9FE37CA}"/>
              </a:ext>
            </a:extLst>
          </p:cNvPr>
          <p:cNvSpPr txBox="1">
            <a:spLocks/>
          </p:cNvSpPr>
          <p:nvPr/>
        </p:nvSpPr>
        <p:spPr bwMode="auto">
          <a:xfrm>
            <a:off x="7162800" y="5813425"/>
            <a:ext cx="1747838"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S2 Recoverable </a:t>
            </a:r>
          </a:p>
        </p:txBody>
      </p:sp>
      <p:sp>
        <p:nvSpPr>
          <p:cNvPr id="182412" name="Text Box 140" descr="TextBox 6">
            <a:extLst>
              <a:ext uri="{FF2B5EF4-FFF2-40B4-BE49-F238E27FC236}">
                <a16:creationId xmlns:a16="http://schemas.microsoft.com/office/drawing/2014/main" id="{DC7C0AB2-9B5A-07CF-FE6A-1BCC6C8D9F2D}"/>
              </a:ext>
            </a:extLst>
          </p:cNvPr>
          <p:cNvSpPr txBox="1">
            <a:spLocks/>
          </p:cNvSpPr>
          <p:nvPr/>
        </p:nvSpPr>
        <p:spPr bwMode="auto">
          <a:xfrm>
            <a:off x="5408613" y="2338388"/>
            <a:ext cx="40640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S1</a:t>
            </a:r>
          </a:p>
        </p:txBody>
      </p:sp>
      <p:sp>
        <p:nvSpPr>
          <p:cNvPr id="182413" name="Text Box 141" descr="TextBox 15">
            <a:extLst>
              <a:ext uri="{FF2B5EF4-FFF2-40B4-BE49-F238E27FC236}">
                <a16:creationId xmlns:a16="http://schemas.microsoft.com/office/drawing/2014/main" id="{ADB11FB5-E065-F7DD-32D8-796C10A8F4B7}"/>
              </a:ext>
            </a:extLst>
          </p:cNvPr>
          <p:cNvSpPr txBox="1">
            <a:spLocks/>
          </p:cNvSpPr>
          <p:nvPr/>
        </p:nvSpPr>
        <p:spPr bwMode="auto">
          <a:xfrm>
            <a:off x="7742238" y="2301875"/>
            <a:ext cx="4048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S2</a:t>
            </a:r>
          </a:p>
        </p:txBody>
      </p:sp>
    </p:spTree>
  </p:cSld>
  <p:clrMapOvr>
    <a:masterClrMapping/>
  </p:clrMapOvr>
  <p:transition spd="med"/>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2" descr="Title 1">
            <a:extLst>
              <a:ext uri="{FF2B5EF4-FFF2-40B4-BE49-F238E27FC236}">
                <a16:creationId xmlns:a16="http://schemas.microsoft.com/office/drawing/2014/main" id="{FD35E3ED-2A5D-7780-1442-A0923173A109}"/>
              </a:ext>
            </a:extLst>
          </p:cNvPr>
          <p:cNvSpPr>
            <a:spLocks noChangeArrowheads="1"/>
          </p:cNvSpPr>
          <p:nvPr>
            <p:ph type="title"/>
          </p:nvPr>
        </p:nvSpPr>
        <p:spPr/>
        <p:txBody>
          <a:bodyPr/>
          <a:lstStyle/>
          <a:p>
            <a:r>
              <a:rPr lang="en-US" altLang="en-US" sz="2400">
                <a:solidFill>
                  <a:srgbClr val="FF0000"/>
                </a:solidFill>
              </a:rPr>
              <a:t>Problem to Solve on Recoverable Schedules</a:t>
            </a:r>
          </a:p>
        </p:txBody>
      </p:sp>
      <p:sp>
        <p:nvSpPr>
          <p:cNvPr id="184323" name="Rectangle 3" descr="Content Placeholder 2">
            <a:extLst>
              <a:ext uri="{FF2B5EF4-FFF2-40B4-BE49-F238E27FC236}">
                <a16:creationId xmlns:a16="http://schemas.microsoft.com/office/drawing/2014/main" id="{ECFB21DF-A9FF-E346-32A4-46A9234E79F5}"/>
              </a:ext>
            </a:extLst>
          </p:cNvPr>
          <p:cNvSpPr>
            <a:spLocks noChangeArrowheads="1"/>
          </p:cNvSpPr>
          <p:nvPr>
            <p:ph type="body" idx="1"/>
          </p:nvPr>
        </p:nvSpPr>
        <p:spPr/>
        <p:txBody>
          <a:bodyPr/>
          <a:lstStyle/>
          <a:p>
            <a:pPr>
              <a:spcBef>
                <a:spcPts val="400"/>
              </a:spcBef>
            </a:pPr>
            <a:r>
              <a:rPr lang="en-US" altLang="en-US" sz="2000"/>
              <a:t>Check whether the following schedule is recoverable schedule </a:t>
            </a:r>
          </a:p>
        </p:txBody>
      </p:sp>
      <p:sp>
        <p:nvSpPr>
          <p:cNvPr id="184324" name="Text Box 4" descr="Date Placeholder 3">
            <a:extLst>
              <a:ext uri="{FF2B5EF4-FFF2-40B4-BE49-F238E27FC236}">
                <a16:creationId xmlns:a16="http://schemas.microsoft.com/office/drawing/2014/main" id="{5083484B-13B6-085B-F9C8-D704D0F8302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4325" name="Text Box 5" descr="Slide Number Placeholder 5">
            <a:extLst>
              <a:ext uri="{FF2B5EF4-FFF2-40B4-BE49-F238E27FC236}">
                <a16:creationId xmlns:a16="http://schemas.microsoft.com/office/drawing/2014/main" id="{DA75308C-3A40-347B-A898-AC527168A34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CEECEDE-BF16-42D8-8F9F-4BB5C3C07B9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84326" name="Text Box 6" descr="TextBox 10">
            <a:extLst>
              <a:ext uri="{FF2B5EF4-FFF2-40B4-BE49-F238E27FC236}">
                <a16:creationId xmlns:a16="http://schemas.microsoft.com/office/drawing/2014/main" id="{277156B0-F21D-0AE8-C058-20519AB9A0E6}"/>
              </a:ext>
            </a:extLst>
          </p:cNvPr>
          <p:cNvSpPr txBox="1">
            <a:spLocks/>
          </p:cNvSpPr>
          <p:nvPr/>
        </p:nvSpPr>
        <p:spPr bwMode="auto">
          <a:xfrm>
            <a:off x="439738" y="4497388"/>
            <a:ext cx="8031162" cy="1654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47625" indent="-47625">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Recoverable schedule</a:t>
            </a:r>
            <a:r>
              <a:rPr lang="en-US" altLang="en-US" sz="1400"/>
              <a:t>: A schedule is recoverable if the following condition is satisfied:</a:t>
            </a:r>
          </a:p>
          <a:p>
            <a:pPr>
              <a:buSzPct val="100000"/>
              <a:buFontTx/>
              <a:buChar char="-"/>
            </a:pPr>
            <a:r>
              <a:rPr lang="en-US" altLang="en-US" sz="1400"/>
              <a:t>Tj should commit after Ti  if Tj has read any data item written by Ti.</a:t>
            </a:r>
          </a:p>
          <a:p>
            <a:endParaRPr lang="en-US" altLang="en-US" sz="1400"/>
          </a:p>
          <a:p>
            <a:r>
              <a:rPr lang="en-US" altLang="en-US" sz="1600"/>
              <a:t>……..</a:t>
            </a:r>
            <a:r>
              <a:rPr lang="en-US" altLang="en-US" sz="1600">
                <a:solidFill>
                  <a:srgbClr val="C00000"/>
                </a:solidFill>
              </a:rPr>
              <a:t>Wi(x)</a:t>
            </a:r>
            <a:r>
              <a:rPr lang="en-US" altLang="en-US" sz="1600"/>
              <a:t>……….</a:t>
            </a:r>
            <a:r>
              <a:rPr lang="en-US" altLang="en-US" sz="1600">
                <a:solidFill>
                  <a:srgbClr val="0000FF"/>
                </a:solidFill>
              </a:rPr>
              <a:t>Rj(x)</a:t>
            </a:r>
            <a:r>
              <a:rPr lang="en-US" altLang="en-US" sz="1600"/>
              <a:t>…………</a:t>
            </a:r>
            <a:r>
              <a:rPr lang="en-US" altLang="en-US" sz="1600">
                <a:solidFill>
                  <a:srgbClr val="C00000"/>
                </a:solidFill>
              </a:rPr>
              <a:t>Ci</a:t>
            </a:r>
            <a:r>
              <a:rPr lang="en-US" altLang="en-US" sz="1600"/>
              <a:t>………..</a:t>
            </a:r>
            <a:r>
              <a:rPr lang="en-US" altLang="en-US" sz="1600">
                <a:solidFill>
                  <a:srgbClr val="0000FF"/>
                </a:solidFill>
              </a:rPr>
              <a:t>Cj</a:t>
            </a:r>
            <a:r>
              <a:rPr lang="en-US" altLang="en-US" sz="1600"/>
              <a:t>    -&gt; This schedule is </a:t>
            </a:r>
            <a:r>
              <a:rPr lang="en-US" altLang="en-US" sz="1600">
                <a:solidFill>
                  <a:srgbClr val="FF0000"/>
                </a:solidFill>
              </a:rPr>
              <a:t>recoverable</a:t>
            </a:r>
          </a:p>
          <a:p>
            <a:r>
              <a:rPr lang="en-US" altLang="en-US" sz="1600"/>
              <a:t>……..</a:t>
            </a:r>
            <a:r>
              <a:rPr lang="en-US" altLang="en-US" sz="1600">
                <a:solidFill>
                  <a:srgbClr val="C00000"/>
                </a:solidFill>
              </a:rPr>
              <a:t>Wi(x)</a:t>
            </a:r>
            <a:r>
              <a:rPr lang="en-US" altLang="en-US" sz="1600"/>
              <a:t>……….</a:t>
            </a:r>
            <a:r>
              <a:rPr lang="en-US" altLang="en-US" sz="1600">
                <a:solidFill>
                  <a:srgbClr val="0000FF"/>
                </a:solidFill>
              </a:rPr>
              <a:t>Rj(x)</a:t>
            </a:r>
            <a:r>
              <a:rPr lang="en-US" altLang="en-US" sz="1600"/>
              <a:t>…………</a:t>
            </a:r>
            <a:r>
              <a:rPr lang="en-US" altLang="en-US" sz="1600">
                <a:solidFill>
                  <a:srgbClr val="0000FF"/>
                </a:solidFill>
              </a:rPr>
              <a:t>Cj</a:t>
            </a:r>
            <a:r>
              <a:rPr lang="en-US" altLang="en-US" sz="1600"/>
              <a:t>………..</a:t>
            </a:r>
            <a:r>
              <a:rPr lang="en-US" altLang="en-US" sz="1600">
                <a:solidFill>
                  <a:srgbClr val="C00000"/>
                </a:solidFill>
              </a:rPr>
              <a:t>Ci</a:t>
            </a:r>
            <a:r>
              <a:rPr lang="en-US" altLang="en-US" sz="1600"/>
              <a:t>    -&gt; This schedule is </a:t>
            </a:r>
            <a:r>
              <a:rPr lang="en-US" altLang="en-US" sz="1600">
                <a:solidFill>
                  <a:srgbClr val="008000"/>
                </a:solidFill>
              </a:rPr>
              <a:t>non-recoverable</a:t>
            </a:r>
          </a:p>
          <a:p>
            <a:endParaRPr lang="en-US" altLang="en-US" sz="1400"/>
          </a:p>
        </p:txBody>
      </p:sp>
      <p:pic>
        <p:nvPicPr>
          <p:cNvPr id="184327" name="Picture 7" descr="Picture 2">
            <a:extLst>
              <a:ext uri="{FF2B5EF4-FFF2-40B4-BE49-F238E27FC236}">
                <a16:creationId xmlns:a16="http://schemas.microsoft.com/office/drawing/2014/main" id="{BE54F3BC-6871-6F08-D291-BA61CD0AB46F}"/>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71550" y="2060575"/>
            <a:ext cx="6858000" cy="238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2" descr="Title 1">
            <a:extLst>
              <a:ext uri="{FF2B5EF4-FFF2-40B4-BE49-F238E27FC236}">
                <a16:creationId xmlns:a16="http://schemas.microsoft.com/office/drawing/2014/main" id="{FE4D6A7F-BE03-7301-8BBD-559462079282}"/>
              </a:ext>
            </a:extLst>
          </p:cNvPr>
          <p:cNvSpPr>
            <a:spLocks noChangeArrowheads="1"/>
          </p:cNvSpPr>
          <p:nvPr>
            <p:ph type="title"/>
          </p:nvPr>
        </p:nvSpPr>
        <p:spPr/>
        <p:txBody>
          <a:bodyPr/>
          <a:lstStyle/>
          <a:p>
            <a:r>
              <a:rPr lang="en-US" altLang="en-US" sz="2400">
                <a:solidFill>
                  <a:srgbClr val="FF0000"/>
                </a:solidFill>
              </a:rPr>
              <a:t>Problem to Solve on Recoverable Schedules</a:t>
            </a:r>
          </a:p>
        </p:txBody>
      </p:sp>
      <p:sp>
        <p:nvSpPr>
          <p:cNvPr id="185347" name="Rectangle 3" descr="Content Placeholder 2">
            <a:extLst>
              <a:ext uri="{FF2B5EF4-FFF2-40B4-BE49-F238E27FC236}">
                <a16:creationId xmlns:a16="http://schemas.microsoft.com/office/drawing/2014/main" id="{DABF0F28-BA60-F510-2D88-B42BD0BBCF7D}"/>
              </a:ext>
            </a:extLst>
          </p:cNvPr>
          <p:cNvSpPr>
            <a:spLocks noChangeArrowheads="1"/>
          </p:cNvSpPr>
          <p:nvPr>
            <p:ph type="body" idx="1"/>
          </p:nvPr>
        </p:nvSpPr>
        <p:spPr/>
        <p:txBody>
          <a:bodyPr/>
          <a:lstStyle/>
          <a:p>
            <a:pPr>
              <a:spcBef>
                <a:spcPts val="400"/>
              </a:spcBef>
            </a:pPr>
            <a:r>
              <a:rPr lang="en-US" altLang="en-US" sz="2000"/>
              <a:t>Check whether the following schedule is recoverable schedule </a:t>
            </a:r>
          </a:p>
        </p:txBody>
      </p:sp>
      <p:sp>
        <p:nvSpPr>
          <p:cNvPr id="185348" name="Text Box 4" descr="Date Placeholder 3">
            <a:extLst>
              <a:ext uri="{FF2B5EF4-FFF2-40B4-BE49-F238E27FC236}">
                <a16:creationId xmlns:a16="http://schemas.microsoft.com/office/drawing/2014/main" id="{BC0E2453-A05C-EFB1-D708-C5DE68E2FEC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5349" name="Text Box 5" descr="Slide Number Placeholder 5">
            <a:extLst>
              <a:ext uri="{FF2B5EF4-FFF2-40B4-BE49-F238E27FC236}">
                <a16:creationId xmlns:a16="http://schemas.microsoft.com/office/drawing/2014/main" id="{E902E6FA-F7E0-F155-7284-B5E004D6348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D067054-82FF-4FFF-9912-EB1544377F9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85350" name="Text Box 6" descr="TextBox 10">
            <a:extLst>
              <a:ext uri="{FF2B5EF4-FFF2-40B4-BE49-F238E27FC236}">
                <a16:creationId xmlns:a16="http://schemas.microsoft.com/office/drawing/2014/main" id="{4515888C-3D0D-7F3C-22EA-856A09BDE7A7}"/>
              </a:ext>
            </a:extLst>
          </p:cNvPr>
          <p:cNvSpPr txBox="1">
            <a:spLocks/>
          </p:cNvSpPr>
          <p:nvPr/>
        </p:nvSpPr>
        <p:spPr bwMode="auto">
          <a:xfrm>
            <a:off x="439738" y="4497388"/>
            <a:ext cx="8031162" cy="160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47625" indent="-47625">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Recoverable schedule</a:t>
            </a:r>
            <a:r>
              <a:rPr lang="en-US" altLang="en-US" sz="1400"/>
              <a:t>: A schedule is recoverable if the following condition is satisfied:</a:t>
            </a:r>
          </a:p>
          <a:p>
            <a:pPr>
              <a:buSzPct val="100000"/>
              <a:buFontTx/>
              <a:buChar char="-"/>
            </a:pPr>
            <a:r>
              <a:rPr lang="en-US" altLang="en-US" sz="1400"/>
              <a:t>Tj should commit after Ti  if Tj has read any data item written by Ti.</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0000FF"/>
                </a:solidFill>
              </a:rPr>
              <a:t>Rj(x)</a:t>
            </a:r>
            <a:r>
              <a:rPr lang="en-US" altLang="en-US" sz="1400"/>
              <a:t>…………</a:t>
            </a:r>
            <a:r>
              <a:rPr lang="en-US" altLang="en-US" sz="1400">
                <a:solidFill>
                  <a:srgbClr val="C00000"/>
                </a:solidFill>
              </a:rPr>
              <a:t>Ci</a:t>
            </a:r>
            <a:r>
              <a:rPr lang="en-US" altLang="en-US" sz="1400"/>
              <a:t>………..</a:t>
            </a:r>
            <a:r>
              <a:rPr lang="en-US" altLang="en-US" sz="1400">
                <a:solidFill>
                  <a:srgbClr val="0000FF"/>
                </a:solidFill>
              </a:rPr>
              <a:t>Cj</a:t>
            </a:r>
            <a:r>
              <a:rPr lang="en-US" altLang="en-US" sz="1400"/>
              <a:t>    -&gt; This schedule is </a:t>
            </a:r>
            <a:r>
              <a:rPr lang="en-US" altLang="en-US" sz="1400">
                <a:solidFill>
                  <a:srgbClr val="FF0000"/>
                </a:solidFill>
              </a:rPr>
              <a:t>recoverable</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a:t>
            </a:r>
            <a:r>
              <a:rPr lang="en-US" altLang="en-US" sz="1400"/>
              <a:t>…………</a:t>
            </a:r>
            <a:r>
              <a:rPr lang="en-US" altLang="en-US" sz="1400">
                <a:solidFill>
                  <a:srgbClr val="0000FF"/>
                </a:solidFill>
              </a:rPr>
              <a:t>Cj</a:t>
            </a:r>
            <a:r>
              <a:rPr lang="en-US" altLang="en-US" sz="1400"/>
              <a:t>………..</a:t>
            </a:r>
            <a:r>
              <a:rPr lang="en-US" altLang="en-US" sz="1400">
                <a:solidFill>
                  <a:srgbClr val="C00000"/>
                </a:solidFill>
              </a:rPr>
              <a:t>Ci</a:t>
            </a:r>
            <a:r>
              <a:rPr lang="en-US" altLang="en-US" sz="1400"/>
              <a:t>    -&gt; This schedule is </a:t>
            </a:r>
            <a:r>
              <a:rPr lang="en-US" altLang="en-US" sz="1400">
                <a:solidFill>
                  <a:srgbClr val="008000"/>
                </a:solidFill>
              </a:rPr>
              <a:t>non-recoverable</a:t>
            </a:r>
          </a:p>
          <a:p>
            <a:endParaRPr lang="en-US" altLang="en-US" sz="1400"/>
          </a:p>
        </p:txBody>
      </p:sp>
      <p:sp>
        <p:nvSpPr>
          <p:cNvPr id="185351" name="Text Box 7" descr="TextBox 6">
            <a:extLst>
              <a:ext uri="{FF2B5EF4-FFF2-40B4-BE49-F238E27FC236}">
                <a16:creationId xmlns:a16="http://schemas.microsoft.com/office/drawing/2014/main" id="{18DE8B9A-7A6C-0511-2534-445A46707F60}"/>
              </a:ext>
            </a:extLst>
          </p:cNvPr>
          <p:cNvSpPr txBox="1">
            <a:spLocks/>
          </p:cNvSpPr>
          <p:nvPr/>
        </p:nvSpPr>
        <p:spPr bwMode="auto">
          <a:xfrm>
            <a:off x="606425" y="2852738"/>
            <a:ext cx="2528888" cy="315912"/>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Answer: </a:t>
            </a:r>
            <a:r>
              <a:rPr lang="en-US" altLang="en-US" sz="1400"/>
              <a:t>Non-recoverable </a:t>
            </a:r>
            <a:endParaRPr lang="en-US" altLang="en-US" sz="1400" b="1"/>
          </a:p>
        </p:txBody>
      </p:sp>
      <p:pic>
        <p:nvPicPr>
          <p:cNvPr id="185352" name="Picture 8" descr="Picture 2">
            <a:extLst>
              <a:ext uri="{FF2B5EF4-FFF2-40B4-BE49-F238E27FC236}">
                <a16:creationId xmlns:a16="http://schemas.microsoft.com/office/drawing/2014/main" id="{A7BA3017-02D6-EE96-52BA-4CA1B94400E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71550" y="2060575"/>
            <a:ext cx="6858000" cy="238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85353" name="Picture 9" descr="Picture 3">
            <a:extLst>
              <a:ext uri="{FF2B5EF4-FFF2-40B4-BE49-F238E27FC236}">
                <a16:creationId xmlns:a16="http://schemas.microsoft.com/office/drawing/2014/main" id="{1001EC1E-14B7-36EC-B6E3-E9D98FCEDF3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85788" y="3355975"/>
            <a:ext cx="7972425" cy="495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2" descr="Title 1">
            <a:extLst>
              <a:ext uri="{FF2B5EF4-FFF2-40B4-BE49-F238E27FC236}">
                <a16:creationId xmlns:a16="http://schemas.microsoft.com/office/drawing/2014/main" id="{CAA655CE-46C7-E27E-D26D-E9FF7008C9A2}"/>
              </a:ext>
            </a:extLst>
          </p:cNvPr>
          <p:cNvSpPr>
            <a:spLocks noChangeArrowheads="1"/>
          </p:cNvSpPr>
          <p:nvPr>
            <p:ph type="title"/>
          </p:nvPr>
        </p:nvSpPr>
        <p:spPr/>
        <p:txBody>
          <a:bodyPr/>
          <a:lstStyle/>
          <a:p>
            <a:r>
              <a:rPr lang="en-US" altLang="en-US" sz="2400"/>
              <a:t>Characterizing Schedules based on Recoverability </a:t>
            </a:r>
          </a:p>
        </p:txBody>
      </p:sp>
      <p:sp>
        <p:nvSpPr>
          <p:cNvPr id="186371" name="Rectangle 3" descr="Content Placeholder 2">
            <a:extLst>
              <a:ext uri="{FF2B5EF4-FFF2-40B4-BE49-F238E27FC236}">
                <a16:creationId xmlns:a16="http://schemas.microsoft.com/office/drawing/2014/main" id="{308DE3FF-B8C8-534A-6553-854A38BD55BC}"/>
              </a:ext>
            </a:extLst>
          </p:cNvPr>
          <p:cNvSpPr>
            <a:spLocks noChangeArrowheads="1"/>
          </p:cNvSpPr>
          <p:nvPr>
            <p:ph type="body" idx="1"/>
          </p:nvPr>
        </p:nvSpPr>
        <p:spPr/>
        <p:txBody>
          <a:bodyPr/>
          <a:lstStyle/>
          <a:p>
            <a:pPr marL="342900" indent="-342900">
              <a:spcBef>
                <a:spcPts val="400"/>
              </a:spcBef>
              <a:buSzTx/>
              <a:buFont typeface="Wingdings" panose="05000000000000000000" pitchFamily="2" charset="2"/>
              <a:buNone/>
            </a:pPr>
            <a:r>
              <a:rPr lang="en-US" altLang="en-US" sz="2000" b="1"/>
              <a:t>Based on Recoverability </a:t>
            </a:r>
          </a:p>
          <a:p>
            <a:pPr marL="342900" indent="-342900">
              <a:spcBef>
                <a:spcPts val="400"/>
              </a:spcBef>
              <a:buFontTx/>
              <a:buAutoNum type="arabicPeriod"/>
            </a:pPr>
            <a:r>
              <a:rPr lang="en-US" altLang="en-US" sz="2000"/>
              <a:t>Recoverable Schedule </a:t>
            </a:r>
          </a:p>
          <a:p>
            <a:pPr marL="342900" indent="-342900">
              <a:spcBef>
                <a:spcPts val="400"/>
              </a:spcBef>
              <a:buFontTx/>
              <a:buAutoNum type="arabicPeriod"/>
            </a:pPr>
            <a:r>
              <a:rPr lang="en-US" altLang="en-US" sz="2000" b="1"/>
              <a:t>Cascadeless or Avoid Cascading Rollback schedule </a:t>
            </a:r>
          </a:p>
          <a:p>
            <a:pPr marL="342900" indent="-342900">
              <a:spcBef>
                <a:spcPts val="400"/>
              </a:spcBef>
              <a:buFontTx/>
              <a:buAutoNum type="arabicPeriod"/>
            </a:pPr>
            <a:r>
              <a:rPr lang="en-US" altLang="en-US" sz="2000"/>
              <a:t>Strict Schedules</a:t>
            </a:r>
          </a:p>
        </p:txBody>
      </p:sp>
      <p:sp>
        <p:nvSpPr>
          <p:cNvPr id="186372" name="Text Box 4" descr="Date Placeholder 3">
            <a:extLst>
              <a:ext uri="{FF2B5EF4-FFF2-40B4-BE49-F238E27FC236}">
                <a16:creationId xmlns:a16="http://schemas.microsoft.com/office/drawing/2014/main" id="{1AA5E29E-A199-3FD7-5AC9-3AE364896F4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6373" name="Text Box 5" descr="Slide Number Placeholder 5">
            <a:extLst>
              <a:ext uri="{FF2B5EF4-FFF2-40B4-BE49-F238E27FC236}">
                <a16:creationId xmlns:a16="http://schemas.microsoft.com/office/drawing/2014/main" id="{FB8AE91D-282E-B825-7957-5F158E93304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4952294-DECE-4C71-B507-100A74D524F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Text Box 1" descr="Footer Placeholder 4">
            <a:extLst>
              <a:ext uri="{FF2B5EF4-FFF2-40B4-BE49-F238E27FC236}">
                <a16:creationId xmlns:a16="http://schemas.microsoft.com/office/drawing/2014/main" id="{AD6BFF91-7BA8-ABD8-5051-A61A1472181D}"/>
              </a:ext>
            </a:extLst>
          </p:cNvPr>
          <p:cNvSpPr txBox="1">
            <a:spLocks/>
          </p:cNvSpPr>
          <p:nvPr/>
        </p:nvSpPr>
        <p:spPr bwMode="auto">
          <a:xfrm>
            <a:off x="3168650" y="64008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BMSCE</a:t>
            </a:r>
          </a:p>
        </p:txBody>
      </p:sp>
      <p:sp>
        <p:nvSpPr>
          <p:cNvPr id="188418" name="Rectangle 2" descr="Title 1">
            <a:extLst>
              <a:ext uri="{FF2B5EF4-FFF2-40B4-BE49-F238E27FC236}">
                <a16:creationId xmlns:a16="http://schemas.microsoft.com/office/drawing/2014/main" id="{FA416EF9-637E-AEF8-6484-4054916D4DD8}"/>
              </a:ext>
            </a:extLst>
          </p:cNvPr>
          <p:cNvSpPr>
            <a:spLocks noChangeArrowheads="1"/>
          </p:cNvSpPr>
          <p:nvPr>
            <p:ph type="title"/>
          </p:nvPr>
        </p:nvSpPr>
        <p:spPr/>
        <p:txBody>
          <a:bodyPr/>
          <a:lstStyle/>
          <a:p>
            <a:r>
              <a:rPr lang="en-US" altLang="en-US" sz="2800"/>
              <a:t>Cascading Abort</a:t>
            </a:r>
          </a:p>
        </p:txBody>
      </p:sp>
      <p:sp>
        <p:nvSpPr>
          <p:cNvPr id="188419" name="Rectangle 3" descr="Content Placeholder 2">
            <a:extLst>
              <a:ext uri="{FF2B5EF4-FFF2-40B4-BE49-F238E27FC236}">
                <a16:creationId xmlns:a16="http://schemas.microsoft.com/office/drawing/2014/main" id="{35D7B5F7-95F5-3AD8-31E8-3850BCDD2118}"/>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2000" b="1"/>
              <a:t>What is Cascading? </a:t>
            </a:r>
            <a:r>
              <a:rPr lang="en-US" altLang="en-US" sz="2000"/>
              <a:t>When effect of one thing is migrated to other and followed by another.</a:t>
            </a:r>
            <a:endParaRPr lang="en-US" altLang="en-US" sz="2000" b="1"/>
          </a:p>
        </p:txBody>
      </p:sp>
      <p:sp>
        <p:nvSpPr>
          <p:cNvPr id="188420" name="Text Box 4" descr="Date Placeholder 3">
            <a:extLst>
              <a:ext uri="{FF2B5EF4-FFF2-40B4-BE49-F238E27FC236}">
                <a16:creationId xmlns:a16="http://schemas.microsoft.com/office/drawing/2014/main" id="{AA8DDC88-EFBD-280F-4902-749F4822D39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8421" name="Text Box 5" descr="Slide Number Placeholder 5">
            <a:extLst>
              <a:ext uri="{FF2B5EF4-FFF2-40B4-BE49-F238E27FC236}">
                <a16:creationId xmlns:a16="http://schemas.microsoft.com/office/drawing/2014/main" id="{2A302038-405A-AC0E-13C2-56A9CDA694D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5DF9F91-2292-4E99-B2D1-3FE376CBB4D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88422" name="Text Box 6" descr="TextBox 7">
            <a:extLst>
              <a:ext uri="{FF2B5EF4-FFF2-40B4-BE49-F238E27FC236}">
                <a16:creationId xmlns:a16="http://schemas.microsoft.com/office/drawing/2014/main" id="{5252FD5C-D6CF-701B-1463-2A2DFC78B412}"/>
              </a:ext>
            </a:extLst>
          </p:cNvPr>
          <p:cNvSpPr txBox="1">
            <a:spLocks/>
          </p:cNvSpPr>
          <p:nvPr/>
        </p:nvSpPr>
        <p:spPr bwMode="auto">
          <a:xfrm>
            <a:off x="2808288" y="2203450"/>
            <a:ext cx="2055812"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Cascading Abort or</a:t>
            </a:r>
          </a:p>
          <a:p>
            <a:r>
              <a:rPr lang="en-US" altLang="en-US" sz="1600">
                <a:solidFill>
                  <a:srgbClr val="C00000"/>
                </a:solidFill>
              </a:rPr>
              <a:t>Cascading Rollback</a:t>
            </a:r>
          </a:p>
        </p:txBody>
      </p:sp>
      <p:graphicFrame>
        <p:nvGraphicFramePr>
          <p:cNvPr id="188423" name="Group 7">
            <a:extLst>
              <a:ext uri="{FF2B5EF4-FFF2-40B4-BE49-F238E27FC236}">
                <a16:creationId xmlns:a16="http://schemas.microsoft.com/office/drawing/2014/main" id="{DD20BA79-5774-9D6C-59E3-6FE73F7893C3}"/>
              </a:ext>
            </a:extLst>
          </p:cNvPr>
          <p:cNvGraphicFramePr>
            <a:graphicFrameLocks noGrp="1"/>
          </p:cNvGraphicFramePr>
          <p:nvPr/>
        </p:nvGraphicFramePr>
        <p:xfrm>
          <a:off x="2573338" y="2808288"/>
          <a:ext cx="2862262" cy="3803650"/>
        </p:xfrm>
        <a:graphic>
          <a:graphicData uri="http://schemas.openxmlformats.org/drawingml/2006/table">
            <a:tbl>
              <a:tblPr/>
              <a:tblGrid>
                <a:gridCol w="1050925">
                  <a:extLst>
                    <a:ext uri="{9D8B030D-6E8A-4147-A177-3AD203B41FA5}">
                      <a16:colId xmlns:a16="http://schemas.microsoft.com/office/drawing/2014/main" val="2551520431"/>
                    </a:ext>
                  </a:extLst>
                </a:gridCol>
                <a:gridCol w="874712">
                  <a:extLst>
                    <a:ext uri="{9D8B030D-6E8A-4147-A177-3AD203B41FA5}">
                      <a16:colId xmlns:a16="http://schemas.microsoft.com/office/drawing/2014/main" val="828890828"/>
                    </a:ext>
                  </a:extLst>
                </a:gridCol>
                <a:gridCol w="936625">
                  <a:extLst>
                    <a:ext uri="{9D8B030D-6E8A-4147-A177-3AD203B41FA5}">
                      <a16:colId xmlns:a16="http://schemas.microsoft.com/office/drawing/2014/main" val="1595464056"/>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1364377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529965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7315587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400704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9575412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2139276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8380607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166304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8755392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1608076"/>
                  </a:ext>
                </a:extLst>
              </a:tr>
            </a:tbl>
          </a:graphicData>
        </a:graphic>
      </p:graphicFrame>
    </p:spTree>
  </p:cSld>
  <p:clrMapOvr>
    <a:masterClrMapping/>
  </p:clrMapOvr>
  <p:transition spd="med"/>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1" name="Text Box 1" descr="Footer Placeholder 4">
            <a:extLst>
              <a:ext uri="{FF2B5EF4-FFF2-40B4-BE49-F238E27FC236}">
                <a16:creationId xmlns:a16="http://schemas.microsoft.com/office/drawing/2014/main" id="{42A65501-D5B1-392C-5513-AF5D017F04F7}"/>
              </a:ext>
            </a:extLst>
          </p:cNvPr>
          <p:cNvSpPr txBox="1">
            <a:spLocks/>
          </p:cNvSpPr>
          <p:nvPr/>
        </p:nvSpPr>
        <p:spPr bwMode="auto">
          <a:xfrm>
            <a:off x="3168650" y="64008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BMSCE</a:t>
            </a:r>
          </a:p>
        </p:txBody>
      </p:sp>
      <p:sp>
        <p:nvSpPr>
          <p:cNvPr id="189442" name="Rectangle 2" descr="Title 1">
            <a:extLst>
              <a:ext uri="{FF2B5EF4-FFF2-40B4-BE49-F238E27FC236}">
                <a16:creationId xmlns:a16="http://schemas.microsoft.com/office/drawing/2014/main" id="{FCDED2A7-E19D-6176-58A3-37FC3E4D1105}"/>
              </a:ext>
            </a:extLst>
          </p:cNvPr>
          <p:cNvSpPr>
            <a:spLocks noChangeArrowheads="1"/>
          </p:cNvSpPr>
          <p:nvPr>
            <p:ph type="title"/>
          </p:nvPr>
        </p:nvSpPr>
        <p:spPr/>
        <p:txBody>
          <a:bodyPr/>
          <a:lstStyle/>
          <a:p>
            <a:r>
              <a:rPr lang="en-US" altLang="en-US" sz="2800"/>
              <a:t>Cascading Abort</a:t>
            </a:r>
          </a:p>
        </p:txBody>
      </p:sp>
      <p:sp>
        <p:nvSpPr>
          <p:cNvPr id="189443" name="Rectangle 3" descr="Content Placeholder 2">
            <a:extLst>
              <a:ext uri="{FF2B5EF4-FFF2-40B4-BE49-F238E27FC236}">
                <a16:creationId xmlns:a16="http://schemas.microsoft.com/office/drawing/2014/main" id="{8EF2DBEE-D8E4-0B24-4716-7011A0EAAA85}"/>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2000" b="1"/>
              <a:t>What is Cascading? </a:t>
            </a:r>
            <a:r>
              <a:rPr lang="en-US" altLang="en-US" sz="2000"/>
              <a:t>When effect of one thing is migrated to other and followed by another.</a:t>
            </a:r>
            <a:endParaRPr lang="en-US" altLang="en-US" sz="2000" b="1"/>
          </a:p>
        </p:txBody>
      </p:sp>
      <p:sp>
        <p:nvSpPr>
          <p:cNvPr id="189444" name="Text Box 4" descr="Date Placeholder 3">
            <a:extLst>
              <a:ext uri="{FF2B5EF4-FFF2-40B4-BE49-F238E27FC236}">
                <a16:creationId xmlns:a16="http://schemas.microsoft.com/office/drawing/2014/main" id="{4DF45A11-7870-50D7-E9CA-8C052593B8F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89445" name="Text Box 5" descr="Slide Number Placeholder 5">
            <a:extLst>
              <a:ext uri="{FF2B5EF4-FFF2-40B4-BE49-F238E27FC236}">
                <a16:creationId xmlns:a16="http://schemas.microsoft.com/office/drawing/2014/main" id="{93331707-366E-8844-E800-04BCB1E00F6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5F8FE8B-F6F9-4F4F-973E-63EF6B8B190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89446" name="Text Box 6" descr="TextBox 7">
            <a:extLst>
              <a:ext uri="{FF2B5EF4-FFF2-40B4-BE49-F238E27FC236}">
                <a16:creationId xmlns:a16="http://schemas.microsoft.com/office/drawing/2014/main" id="{BB2EACB6-BA69-841B-F9F8-7B8853D71865}"/>
              </a:ext>
            </a:extLst>
          </p:cNvPr>
          <p:cNvSpPr txBox="1">
            <a:spLocks/>
          </p:cNvSpPr>
          <p:nvPr/>
        </p:nvSpPr>
        <p:spPr bwMode="auto">
          <a:xfrm>
            <a:off x="2808288" y="2203450"/>
            <a:ext cx="2055812"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Cascading Abort or</a:t>
            </a:r>
          </a:p>
          <a:p>
            <a:r>
              <a:rPr lang="en-US" altLang="en-US" sz="1600">
                <a:solidFill>
                  <a:srgbClr val="C00000"/>
                </a:solidFill>
              </a:rPr>
              <a:t>Cascading Rollback</a:t>
            </a:r>
          </a:p>
        </p:txBody>
      </p:sp>
      <p:graphicFrame>
        <p:nvGraphicFramePr>
          <p:cNvPr id="189447" name="Group 7">
            <a:extLst>
              <a:ext uri="{FF2B5EF4-FFF2-40B4-BE49-F238E27FC236}">
                <a16:creationId xmlns:a16="http://schemas.microsoft.com/office/drawing/2014/main" id="{201507C4-2CB6-DAFC-0465-C16A8F7D2E9A}"/>
              </a:ext>
            </a:extLst>
          </p:cNvPr>
          <p:cNvGraphicFramePr>
            <a:graphicFrameLocks noGrp="1"/>
          </p:cNvGraphicFramePr>
          <p:nvPr/>
        </p:nvGraphicFramePr>
        <p:xfrm>
          <a:off x="2573338" y="2808288"/>
          <a:ext cx="2862262" cy="3803650"/>
        </p:xfrm>
        <a:graphic>
          <a:graphicData uri="http://schemas.openxmlformats.org/drawingml/2006/table">
            <a:tbl>
              <a:tblPr/>
              <a:tblGrid>
                <a:gridCol w="1050925">
                  <a:extLst>
                    <a:ext uri="{9D8B030D-6E8A-4147-A177-3AD203B41FA5}">
                      <a16:colId xmlns:a16="http://schemas.microsoft.com/office/drawing/2014/main" val="2533533091"/>
                    </a:ext>
                  </a:extLst>
                </a:gridCol>
                <a:gridCol w="874712">
                  <a:extLst>
                    <a:ext uri="{9D8B030D-6E8A-4147-A177-3AD203B41FA5}">
                      <a16:colId xmlns:a16="http://schemas.microsoft.com/office/drawing/2014/main" val="135850145"/>
                    </a:ext>
                  </a:extLst>
                </a:gridCol>
                <a:gridCol w="936625">
                  <a:extLst>
                    <a:ext uri="{9D8B030D-6E8A-4147-A177-3AD203B41FA5}">
                      <a16:colId xmlns:a16="http://schemas.microsoft.com/office/drawing/2014/main" val="1486463387"/>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0192776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2711532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109477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7938936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402246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8609999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759164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Abort1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88640636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Abort2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55930919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Abort3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94392836"/>
                  </a:ext>
                </a:extLst>
              </a:tr>
            </a:tbl>
          </a:graphicData>
        </a:graphic>
      </p:graphicFrame>
      <p:sp>
        <p:nvSpPr>
          <p:cNvPr id="189551" name="Line 111" descr="Straight Arrow Connector 12">
            <a:extLst>
              <a:ext uri="{FF2B5EF4-FFF2-40B4-BE49-F238E27FC236}">
                <a16:creationId xmlns:a16="http://schemas.microsoft.com/office/drawing/2014/main" id="{5DB40FF6-679E-3777-50B6-C1AA81B8AC50}"/>
              </a:ext>
            </a:extLst>
          </p:cNvPr>
          <p:cNvSpPr>
            <a:spLocks noChangeShapeType="1"/>
          </p:cNvSpPr>
          <p:nvPr/>
        </p:nvSpPr>
        <p:spPr bwMode="auto">
          <a:xfrm>
            <a:off x="2266950" y="5143500"/>
            <a:ext cx="377825" cy="0"/>
          </a:xfrm>
          <a:prstGeom prst="line">
            <a:avLst/>
          </a:prstGeom>
          <a:noFill/>
          <a:ln w="2857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89552" name="Text Box 112" descr="TextBox 13">
            <a:extLst>
              <a:ext uri="{FF2B5EF4-FFF2-40B4-BE49-F238E27FC236}">
                <a16:creationId xmlns:a16="http://schemas.microsoft.com/office/drawing/2014/main" id="{BD8360AC-BA06-DFDE-9979-0E44FAD155BF}"/>
              </a:ext>
            </a:extLst>
          </p:cNvPr>
          <p:cNvSpPr txBox="1">
            <a:spLocks/>
          </p:cNvSpPr>
          <p:nvPr/>
        </p:nvSpPr>
        <p:spPr bwMode="auto">
          <a:xfrm>
            <a:off x="538163" y="4464050"/>
            <a:ext cx="1774825" cy="1397000"/>
          </a:xfrm>
          <a:prstGeom prst="rect">
            <a:avLst/>
          </a:prstGeom>
          <a:noFill/>
          <a:ln w="9525"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If system fails</a:t>
            </a:r>
          </a:p>
          <a:p>
            <a:r>
              <a:rPr lang="en-US" altLang="en-US" sz="1400"/>
              <a:t>here then </a:t>
            </a:r>
          </a:p>
          <a:p>
            <a:r>
              <a:rPr lang="en-US" altLang="en-US" sz="1400"/>
              <a:t>Transaction </a:t>
            </a:r>
          </a:p>
          <a:p>
            <a:r>
              <a:rPr lang="en-US" altLang="en-US" sz="1400"/>
              <a:t>T1 aborts similarly</a:t>
            </a:r>
          </a:p>
          <a:p>
            <a:r>
              <a:rPr lang="en-US" altLang="en-US" sz="1400"/>
              <a:t>T2 aborts and </a:t>
            </a:r>
          </a:p>
          <a:p>
            <a:r>
              <a:rPr lang="en-US" altLang="en-US" sz="1400"/>
              <a:t>T3 aborts</a:t>
            </a:r>
          </a:p>
        </p:txBody>
      </p:sp>
      <p:sp>
        <p:nvSpPr>
          <p:cNvPr id="189553" name="AutoShape 113" descr="Right Brace 6">
            <a:extLst>
              <a:ext uri="{FF2B5EF4-FFF2-40B4-BE49-F238E27FC236}">
                <a16:creationId xmlns:a16="http://schemas.microsoft.com/office/drawing/2014/main" id="{8EB2F299-706E-4842-55B1-D65361A120E8}"/>
              </a:ext>
            </a:extLst>
          </p:cNvPr>
          <p:cNvSpPr>
            <a:spLocks/>
          </p:cNvSpPr>
          <p:nvPr/>
        </p:nvSpPr>
        <p:spPr bwMode="auto">
          <a:xfrm>
            <a:off x="5507038" y="5156200"/>
            <a:ext cx="215900" cy="10080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cubicBezTo>
                  <a:pt x="5965" y="0"/>
                  <a:pt x="10800" y="173"/>
                  <a:pt x="10800" y="386"/>
                </a:cubicBezTo>
                <a:lnTo>
                  <a:pt x="10800" y="10414"/>
                </a:lnTo>
                <a:cubicBezTo>
                  <a:pt x="10800" y="10627"/>
                  <a:pt x="15635" y="10800"/>
                  <a:pt x="21600" y="10800"/>
                </a:cubicBezTo>
                <a:cubicBezTo>
                  <a:pt x="15635" y="10800"/>
                  <a:pt x="10800" y="10973"/>
                  <a:pt x="10800" y="11186"/>
                </a:cubicBezTo>
                <a:lnTo>
                  <a:pt x="10800" y="21214"/>
                </a:lnTo>
                <a:cubicBezTo>
                  <a:pt x="10800" y="21427"/>
                  <a:pt x="5965" y="21600"/>
                  <a:pt x="0" y="21600"/>
                </a:cubicBezTo>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189554" name="Text Box 114" descr="TextBox 9">
            <a:extLst>
              <a:ext uri="{FF2B5EF4-FFF2-40B4-BE49-F238E27FC236}">
                <a16:creationId xmlns:a16="http://schemas.microsoft.com/office/drawing/2014/main" id="{96410E2E-A108-9DDD-8CFA-14253E638319}"/>
              </a:ext>
            </a:extLst>
          </p:cNvPr>
          <p:cNvSpPr txBox="1">
            <a:spLocks/>
          </p:cNvSpPr>
          <p:nvPr/>
        </p:nvSpPr>
        <p:spPr bwMode="auto">
          <a:xfrm>
            <a:off x="5781675" y="5491163"/>
            <a:ext cx="26447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a:t>Cascading Rollback</a:t>
            </a:r>
          </a:p>
        </p:txBody>
      </p:sp>
    </p:spTree>
  </p:cSld>
  <p:clrMapOvr>
    <a:masterClrMapping/>
  </p:clrMapOvr>
  <p:transition spd="med"/>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Text Box 1" descr="Footer Placeholder 4">
            <a:extLst>
              <a:ext uri="{FF2B5EF4-FFF2-40B4-BE49-F238E27FC236}">
                <a16:creationId xmlns:a16="http://schemas.microsoft.com/office/drawing/2014/main" id="{2547FD27-9E9B-5F7D-0D88-04E9A8371872}"/>
              </a:ext>
            </a:extLst>
          </p:cNvPr>
          <p:cNvSpPr txBox="1">
            <a:spLocks/>
          </p:cNvSpPr>
          <p:nvPr/>
        </p:nvSpPr>
        <p:spPr bwMode="auto">
          <a:xfrm>
            <a:off x="3168650" y="6400800"/>
            <a:ext cx="28051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200">
                <a:latin typeface="Arial" panose="020B0604020202020204" pitchFamily="34" charset="0"/>
                <a:cs typeface="Arial" panose="020B0604020202020204" pitchFamily="34" charset="0"/>
                <a:sym typeface="Arial" panose="020B0604020202020204" pitchFamily="34" charset="0"/>
              </a:rPr>
              <a:t>CSE, BMSCE</a:t>
            </a:r>
          </a:p>
        </p:txBody>
      </p:sp>
      <p:sp>
        <p:nvSpPr>
          <p:cNvPr id="190466" name="Rectangle 2" descr="Title 1">
            <a:extLst>
              <a:ext uri="{FF2B5EF4-FFF2-40B4-BE49-F238E27FC236}">
                <a16:creationId xmlns:a16="http://schemas.microsoft.com/office/drawing/2014/main" id="{084C6F71-88C1-DAEE-D7D7-9EE3C08E2349}"/>
              </a:ext>
            </a:extLst>
          </p:cNvPr>
          <p:cNvSpPr>
            <a:spLocks noChangeArrowheads="1"/>
          </p:cNvSpPr>
          <p:nvPr>
            <p:ph type="title"/>
          </p:nvPr>
        </p:nvSpPr>
        <p:spPr/>
        <p:txBody>
          <a:bodyPr/>
          <a:lstStyle/>
          <a:p>
            <a:r>
              <a:rPr lang="en-US" altLang="en-US" sz="2800"/>
              <a:t>Cascadeless Schedule</a:t>
            </a:r>
          </a:p>
        </p:txBody>
      </p:sp>
      <p:sp>
        <p:nvSpPr>
          <p:cNvPr id="190467" name="Rectangle 3" descr="Content Placeholder 2">
            <a:extLst>
              <a:ext uri="{FF2B5EF4-FFF2-40B4-BE49-F238E27FC236}">
                <a16:creationId xmlns:a16="http://schemas.microsoft.com/office/drawing/2014/main" id="{0A71C89F-C5C3-73EA-63B9-5EC714668F4A}"/>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Cascadeless Schedule: Schedule that Avoids Cascading Rollbacks</a:t>
            </a:r>
          </a:p>
          <a:p>
            <a:pPr marL="234950" indent="-234950">
              <a:spcBef>
                <a:spcPts val="400"/>
              </a:spcBef>
            </a:pPr>
            <a:r>
              <a:rPr lang="en-US" altLang="en-US" sz="1800"/>
              <a:t>A schedule is said to be cascadeless schedule or avoid cascading rollback, if every transaction in the schedule reads only items that were written by committed transactions</a:t>
            </a:r>
          </a:p>
        </p:txBody>
      </p:sp>
      <p:sp>
        <p:nvSpPr>
          <p:cNvPr id="190468" name="Text Box 4" descr="Date Placeholder 3">
            <a:extLst>
              <a:ext uri="{FF2B5EF4-FFF2-40B4-BE49-F238E27FC236}">
                <a16:creationId xmlns:a16="http://schemas.microsoft.com/office/drawing/2014/main" id="{1FCEB7F3-EB33-4483-6503-9CEB4D0D12F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0469" name="Text Box 5" descr="Slide Number Placeholder 5">
            <a:extLst>
              <a:ext uri="{FF2B5EF4-FFF2-40B4-BE49-F238E27FC236}">
                <a16:creationId xmlns:a16="http://schemas.microsoft.com/office/drawing/2014/main" id="{F3EDB82F-9FA2-32DA-A0AF-5D7D6DB8AE3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E0CB70E-793C-4F6D-B1AB-0DF136E049D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0470" name="Text Box 6" descr="TextBox 9">
            <a:extLst>
              <a:ext uri="{FF2B5EF4-FFF2-40B4-BE49-F238E27FC236}">
                <a16:creationId xmlns:a16="http://schemas.microsoft.com/office/drawing/2014/main" id="{1D9A835B-558F-36C4-1069-F69172598C8A}"/>
              </a:ext>
            </a:extLst>
          </p:cNvPr>
          <p:cNvSpPr txBox="1">
            <a:spLocks/>
          </p:cNvSpPr>
          <p:nvPr/>
        </p:nvSpPr>
        <p:spPr bwMode="auto">
          <a:xfrm>
            <a:off x="3192463" y="2506663"/>
            <a:ext cx="23352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Cascadeless Schedule</a:t>
            </a:r>
          </a:p>
        </p:txBody>
      </p:sp>
      <p:graphicFrame>
        <p:nvGraphicFramePr>
          <p:cNvPr id="190471" name="Group 7">
            <a:extLst>
              <a:ext uri="{FF2B5EF4-FFF2-40B4-BE49-F238E27FC236}">
                <a16:creationId xmlns:a16="http://schemas.microsoft.com/office/drawing/2014/main" id="{35F5E728-1019-BA46-0396-65D219F8F2E8}"/>
              </a:ext>
            </a:extLst>
          </p:cNvPr>
          <p:cNvGraphicFramePr>
            <a:graphicFrameLocks noGrp="1"/>
          </p:cNvGraphicFramePr>
          <p:nvPr/>
        </p:nvGraphicFramePr>
        <p:xfrm>
          <a:off x="2771775" y="2824163"/>
          <a:ext cx="3095625" cy="3803650"/>
        </p:xfrm>
        <a:graphic>
          <a:graphicData uri="http://schemas.openxmlformats.org/drawingml/2006/table">
            <a:tbl>
              <a:tblPr/>
              <a:tblGrid>
                <a:gridCol w="1008063">
                  <a:extLst>
                    <a:ext uri="{9D8B030D-6E8A-4147-A177-3AD203B41FA5}">
                      <a16:colId xmlns:a16="http://schemas.microsoft.com/office/drawing/2014/main" val="1572318465"/>
                    </a:ext>
                  </a:extLst>
                </a:gridCol>
                <a:gridCol w="1008062">
                  <a:extLst>
                    <a:ext uri="{9D8B030D-6E8A-4147-A177-3AD203B41FA5}">
                      <a16:colId xmlns:a16="http://schemas.microsoft.com/office/drawing/2014/main" val="2955096486"/>
                    </a:ext>
                  </a:extLst>
                </a:gridCol>
                <a:gridCol w="1079500">
                  <a:extLst>
                    <a:ext uri="{9D8B030D-6E8A-4147-A177-3AD203B41FA5}">
                      <a16:colId xmlns:a16="http://schemas.microsoft.com/office/drawing/2014/main" val="2482880566"/>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662021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324687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8814116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5227955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76547582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0931991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8595694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6120292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0617290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36345716"/>
                  </a:ext>
                </a:extLst>
              </a:tr>
            </a:tbl>
          </a:graphicData>
        </a:graphic>
      </p:graphicFrame>
    </p:spTree>
  </p:cSld>
  <p:clrMapOvr>
    <a:masterClrMapping/>
  </p:clrMapOvr>
  <p:transition spd="med"/>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2" descr="Title 1">
            <a:extLst>
              <a:ext uri="{FF2B5EF4-FFF2-40B4-BE49-F238E27FC236}">
                <a16:creationId xmlns:a16="http://schemas.microsoft.com/office/drawing/2014/main" id="{71268C18-866D-24FD-6B1F-04A47BD8E277}"/>
              </a:ext>
            </a:extLst>
          </p:cNvPr>
          <p:cNvSpPr>
            <a:spLocks noChangeArrowheads="1"/>
          </p:cNvSpPr>
          <p:nvPr>
            <p:ph type="title"/>
          </p:nvPr>
        </p:nvSpPr>
        <p:spPr/>
        <p:txBody>
          <a:bodyPr/>
          <a:lstStyle/>
          <a:p>
            <a:r>
              <a:rPr lang="en-US" altLang="en-US" sz="2400">
                <a:solidFill>
                  <a:srgbClr val="FF0000"/>
                </a:solidFill>
              </a:rPr>
              <a:t>Problem to Solve on Cascadeless Schedules</a:t>
            </a:r>
          </a:p>
        </p:txBody>
      </p:sp>
      <p:sp>
        <p:nvSpPr>
          <p:cNvPr id="192515" name="Rectangle 3" descr="Content Placeholder 2">
            <a:extLst>
              <a:ext uri="{FF2B5EF4-FFF2-40B4-BE49-F238E27FC236}">
                <a16:creationId xmlns:a16="http://schemas.microsoft.com/office/drawing/2014/main" id="{E08A0AB6-D7D5-7FE1-7221-87D0AC4583B8}"/>
              </a:ext>
            </a:extLst>
          </p:cNvPr>
          <p:cNvSpPr>
            <a:spLocks noChangeArrowheads="1"/>
          </p:cNvSpPr>
          <p:nvPr>
            <p:ph type="body" idx="1"/>
          </p:nvPr>
        </p:nvSpPr>
        <p:spPr/>
        <p:txBody>
          <a:bodyPr/>
          <a:lstStyle/>
          <a:p>
            <a:pPr>
              <a:spcBef>
                <a:spcPts val="400"/>
              </a:spcBef>
            </a:pPr>
            <a:r>
              <a:rPr lang="en-US" altLang="en-US" sz="2000"/>
              <a:t>Check whether the following schedule is cascadeless schedule </a:t>
            </a:r>
          </a:p>
        </p:txBody>
      </p:sp>
      <p:sp>
        <p:nvSpPr>
          <p:cNvPr id="192516" name="Text Box 4" descr="Date Placeholder 3">
            <a:extLst>
              <a:ext uri="{FF2B5EF4-FFF2-40B4-BE49-F238E27FC236}">
                <a16:creationId xmlns:a16="http://schemas.microsoft.com/office/drawing/2014/main" id="{89777C7F-54B7-67CF-48D6-685D7B1F6F6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2517" name="Text Box 5" descr="Slide Number Placeholder 5">
            <a:extLst>
              <a:ext uri="{FF2B5EF4-FFF2-40B4-BE49-F238E27FC236}">
                <a16:creationId xmlns:a16="http://schemas.microsoft.com/office/drawing/2014/main" id="{1F4F1EC5-FEC6-CDA8-9B4E-D00717A4E82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81A5961-9ACA-4A5C-BA06-1F9E8853CE0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2518" name="Text Box 6" descr="TextBox 11">
            <a:extLst>
              <a:ext uri="{FF2B5EF4-FFF2-40B4-BE49-F238E27FC236}">
                <a16:creationId xmlns:a16="http://schemas.microsoft.com/office/drawing/2014/main" id="{FD2C05E4-6A4B-7E6A-8167-55DAECF23F4B}"/>
              </a:ext>
            </a:extLst>
          </p:cNvPr>
          <p:cNvSpPr txBox="1">
            <a:spLocks/>
          </p:cNvSpPr>
          <p:nvPr/>
        </p:nvSpPr>
        <p:spPr bwMode="auto">
          <a:xfrm>
            <a:off x="368300" y="3932238"/>
            <a:ext cx="8650288" cy="1908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Cascadeless: A schedule is said to be cascadeless, if every transaction in the </a:t>
            </a:r>
          </a:p>
          <a:p>
            <a:r>
              <a:rPr lang="en-US" altLang="en-US" sz="1400"/>
              <a:t>schedule </a:t>
            </a:r>
            <a:r>
              <a:rPr lang="en-US" altLang="en-US" sz="1400" u="sng"/>
              <a:t>reads</a:t>
            </a:r>
            <a:r>
              <a:rPr lang="en-US" altLang="en-US" sz="1400"/>
              <a:t> only items that </a:t>
            </a:r>
            <a:r>
              <a:rPr lang="en-US" altLang="en-US" sz="1400" u="sng"/>
              <a:t>were</a:t>
            </a:r>
            <a:r>
              <a:rPr lang="en-US" altLang="en-US" sz="1400"/>
              <a:t> written by commited (or aborted) transactions.</a:t>
            </a:r>
          </a:p>
          <a:p>
            <a:r>
              <a:rPr lang="en-US" altLang="en-US" sz="1400" b="1"/>
              <a:t>Cascadeless schedule</a:t>
            </a:r>
            <a:r>
              <a:rPr lang="en-US" altLang="en-US" sz="1400"/>
              <a:t>: A schedule is cascadeless if the following condition is satisfied:</a:t>
            </a:r>
          </a:p>
          <a:p>
            <a:r>
              <a:rPr lang="en-US" altLang="en-US" sz="1600"/>
              <a:t>- Tj reads X only </a:t>
            </a:r>
            <a:r>
              <a:rPr lang="en-US" altLang="en-US" sz="1600" b="1" i="1"/>
              <a:t>after </a:t>
            </a:r>
            <a:r>
              <a:rPr lang="en-US" altLang="en-US" sz="1600"/>
              <a:t>Ti has written to X and committed (aborted  or terminated).</a:t>
            </a:r>
          </a:p>
          <a:p>
            <a:endParaRPr lang="en-US" altLang="en-US" sz="1400"/>
          </a:p>
          <a:p>
            <a:r>
              <a:rPr lang="en-US" altLang="en-US"/>
              <a:t>…….</a:t>
            </a:r>
            <a:r>
              <a:rPr lang="en-US" altLang="en-US">
                <a:solidFill>
                  <a:srgbClr val="0000FF"/>
                </a:solidFill>
              </a:rPr>
              <a:t>Wi(x)</a:t>
            </a:r>
            <a:r>
              <a:rPr lang="en-US" altLang="en-US"/>
              <a:t>…………</a:t>
            </a:r>
            <a:r>
              <a:rPr lang="en-US" altLang="en-US">
                <a:solidFill>
                  <a:srgbClr val="0000FF"/>
                </a:solidFill>
              </a:rPr>
              <a:t>Ci(x)/Ai(x)</a:t>
            </a:r>
            <a:r>
              <a:rPr lang="en-US" altLang="en-US"/>
              <a:t>……….</a:t>
            </a:r>
            <a:r>
              <a:rPr lang="en-US" altLang="en-US">
                <a:solidFill>
                  <a:srgbClr val="C00000"/>
                </a:solidFill>
              </a:rPr>
              <a:t>Rj(x)</a:t>
            </a:r>
            <a:r>
              <a:rPr lang="en-US" altLang="en-US"/>
              <a:t>    -&gt; This schedule is </a:t>
            </a:r>
            <a:r>
              <a:rPr lang="en-US" altLang="en-US">
                <a:solidFill>
                  <a:srgbClr val="FF0000"/>
                </a:solidFill>
              </a:rPr>
              <a:t>Cascadeless</a:t>
            </a:r>
          </a:p>
          <a:p>
            <a:endParaRPr lang="en-US" altLang="en-US" sz="1400"/>
          </a:p>
        </p:txBody>
      </p:sp>
      <p:pic>
        <p:nvPicPr>
          <p:cNvPr id="192519" name="Picture 7" descr="Picture 2">
            <a:extLst>
              <a:ext uri="{FF2B5EF4-FFF2-40B4-BE49-F238E27FC236}">
                <a16:creationId xmlns:a16="http://schemas.microsoft.com/office/drawing/2014/main" id="{ABF2FB09-47E0-6140-DC07-E6B53835054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1987550"/>
            <a:ext cx="6361113" cy="3603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descr="Title 1">
            <a:extLst>
              <a:ext uri="{FF2B5EF4-FFF2-40B4-BE49-F238E27FC236}">
                <a16:creationId xmlns:a16="http://schemas.microsoft.com/office/drawing/2014/main" id="{8275C569-870B-56A9-88D0-194BF39761A2}"/>
              </a:ext>
            </a:extLst>
          </p:cNvPr>
          <p:cNvSpPr>
            <a:spLocks noChangeArrowheads="1"/>
          </p:cNvSpPr>
          <p:nvPr>
            <p:ph type="title"/>
          </p:nvPr>
        </p:nvSpPr>
        <p:spPr/>
        <p:txBody>
          <a:bodyPr/>
          <a:lstStyle/>
          <a:p>
            <a:r>
              <a:rPr lang="en-US" altLang="en-US" sz="2400">
                <a:solidFill>
                  <a:srgbClr val="FF0000"/>
                </a:solidFill>
              </a:rPr>
              <a:t>Problem to Solve on Cascadeless Schedules</a:t>
            </a:r>
          </a:p>
        </p:txBody>
      </p:sp>
      <p:sp>
        <p:nvSpPr>
          <p:cNvPr id="193539" name="Rectangle 3" descr="Content Placeholder 2">
            <a:extLst>
              <a:ext uri="{FF2B5EF4-FFF2-40B4-BE49-F238E27FC236}">
                <a16:creationId xmlns:a16="http://schemas.microsoft.com/office/drawing/2014/main" id="{A599D6C4-EA79-B357-766A-933A4842C948}"/>
              </a:ext>
            </a:extLst>
          </p:cNvPr>
          <p:cNvSpPr>
            <a:spLocks noChangeArrowheads="1"/>
          </p:cNvSpPr>
          <p:nvPr>
            <p:ph type="body" idx="1"/>
          </p:nvPr>
        </p:nvSpPr>
        <p:spPr/>
        <p:txBody>
          <a:bodyPr/>
          <a:lstStyle/>
          <a:p>
            <a:pPr>
              <a:spcBef>
                <a:spcPts val="400"/>
              </a:spcBef>
            </a:pPr>
            <a:r>
              <a:rPr lang="en-US" altLang="en-US" sz="2000"/>
              <a:t>Check whether the following schedule is cascadeless schedule </a:t>
            </a:r>
          </a:p>
        </p:txBody>
      </p:sp>
      <p:sp>
        <p:nvSpPr>
          <p:cNvPr id="193540" name="Text Box 4" descr="Date Placeholder 3">
            <a:extLst>
              <a:ext uri="{FF2B5EF4-FFF2-40B4-BE49-F238E27FC236}">
                <a16:creationId xmlns:a16="http://schemas.microsoft.com/office/drawing/2014/main" id="{EB870BDB-DD28-F854-C5A1-C859C527FA0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3541" name="Text Box 5" descr="Slide Number Placeholder 5">
            <a:extLst>
              <a:ext uri="{FF2B5EF4-FFF2-40B4-BE49-F238E27FC236}">
                <a16:creationId xmlns:a16="http://schemas.microsoft.com/office/drawing/2014/main" id="{FF1FD34A-4B74-E101-CE7A-B248C7BE34C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A35CCBA-394D-4CC5-BE2A-45E7576D6B3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179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3542" name="Text Box 6" descr="TextBox 6">
            <a:extLst>
              <a:ext uri="{FF2B5EF4-FFF2-40B4-BE49-F238E27FC236}">
                <a16:creationId xmlns:a16="http://schemas.microsoft.com/office/drawing/2014/main" id="{5AEDC705-0D48-6541-8D33-57360F11DD39}"/>
              </a:ext>
            </a:extLst>
          </p:cNvPr>
          <p:cNvSpPr txBox="1">
            <a:spLocks/>
          </p:cNvSpPr>
          <p:nvPr/>
        </p:nvSpPr>
        <p:spPr bwMode="auto">
          <a:xfrm>
            <a:off x="1008063" y="2617788"/>
            <a:ext cx="6605587" cy="747712"/>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Answer: </a:t>
            </a:r>
            <a:r>
              <a:rPr lang="en-US" altLang="en-US" sz="1400"/>
              <a:t>Yes, Cascadeless</a:t>
            </a:r>
            <a:endParaRPr lang="en-US" altLang="en-US" sz="1400" b="1"/>
          </a:p>
          <a:p>
            <a:r>
              <a:rPr lang="en-US" altLang="en-US" sz="1400"/>
              <a:t>T2 reads x after the last transaction that writes x i.e. T1 has committed.</a:t>
            </a:r>
          </a:p>
          <a:p>
            <a:r>
              <a:rPr lang="en-US" altLang="en-US" sz="1400"/>
              <a:t>Hence S is Cascadeless</a:t>
            </a:r>
          </a:p>
        </p:txBody>
      </p:sp>
      <p:sp>
        <p:nvSpPr>
          <p:cNvPr id="193543" name="Text Box 7" descr="TextBox 11">
            <a:extLst>
              <a:ext uri="{FF2B5EF4-FFF2-40B4-BE49-F238E27FC236}">
                <a16:creationId xmlns:a16="http://schemas.microsoft.com/office/drawing/2014/main" id="{2C7E9367-648D-F729-4DFE-80B0E2A4C426}"/>
              </a:ext>
            </a:extLst>
          </p:cNvPr>
          <p:cNvSpPr txBox="1">
            <a:spLocks/>
          </p:cNvSpPr>
          <p:nvPr/>
        </p:nvSpPr>
        <p:spPr bwMode="auto">
          <a:xfrm>
            <a:off x="368300" y="3932238"/>
            <a:ext cx="8023225" cy="1819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Cascadeless: A schedule is said to be cascadeless, if every transaction in the </a:t>
            </a:r>
          </a:p>
          <a:p>
            <a:r>
              <a:rPr lang="en-US" altLang="en-US" sz="1400"/>
              <a:t>schedule </a:t>
            </a:r>
            <a:r>
              <a:rPr lang="en-US" altLang="en-US" sz="1400" u="sng"/>
              <a:t>reads</a:t>
            </a:r>
            <a:r>
              <a:rPr lang="en-US" altLang="en-US" sz="1400"/>
              <a:t> only items that </a:t>
            </a:r>
            <a:r>
              <a:rPr lang="en-US" altLang="en-US" sz="1400" u="sng"/>
              <a:t>were</a:t>
            </a:r>
            <a:r>
              <a:rPr lang="en-US" altLang="en-US" sz="1400"/>
              <a:t> written by commited (or aborted) transactions.</a:t>
            </a:r>
          </a:p>
          <a:p>
            <a:r>
              <a:rPr lang="en-US" altLang="en-US" sz="1400" b="1"/>
              <a:t>Cascadeless schedule</a:t>
            </a:r>
            <a:r>
              <a:rPr lang="en-US" altLang="en-US" sz="1400"/>
              <a:t>: A schedule is cascadeless if the following condition is satisfied:</a:t>
            </a:r>
          </a:p>
          <a:p>
            <a:r>
              <a:rPr lang="en-US" altLang="en-US" sz="1400"/>
              <a:t>- Tj reads X only </a:t>
            </a:r>
            <a:r>
              <a:rPr lang="en-US" altLang="en-US" sz="1400" b="1" i="1"/>
              <a:t>after </a:t>
            </a:r>
            <a:r>
              <a:rPr lang="en-US" altLang="en-US" sz="1400"/>
              <a:t>Ti has written to X and committed (aborted  or terminated).</a:t>
            </a:r>
          </a:p>
          <a:p>
            <a:endParaRPr lang="en-US" altLang="en-US" sz="1400"/>
          </a:p>
          <a:p>
            <a:r>
              <a:rPr lang="en-US" altLang="en-US" sz="1400"/>
              <a:t>…….</a:t>
            </a:r>
            <a:r>
              <a:rPr lang="en-US" altLang="en-US" sz="1400">
                <a:solidFill>
                  <a:srgbClr val="0000FF"/>
                </a:solidFill>
              </a:rPr>
              <a:t>Wi(x)</a:t>
            </a:r>
            <a:r>
              <a:rPr lang="en-US" altLang="en-US" sz="1400"/>
              <a:t>…………</a:t>
            </a:r>
            <a:r>
              <a:rPr lang="en-US" altLang="en-US" sz="1400">
                <a:solidFill>
                  <a:srgbClr val="0000FF"/>
                </a:solidFill>
              </a:rPr>
              <a:t>Ci(x)/Ai(x)</a:t>
            </a:r>
            <a:r>
              <a:rPr lang="en-US" altLang="en-US" sz="1400"/>
              <a:t>……….</a:t>
            </a:r>
            <a:r>
              <a:rPr lang="en-US" altLang="en-US" sz="1400">
                <a:solidFill>
                  <a:srgbClr val="C00000"/>
                </a:solidFill>
              </a:rPr>
              <a:t>Rj(x)</a:t>
            </a:r>
            <a:r>
              <a:rPr lang="en-US" altLang="en-US" sz="1400"/>
              <a:t>    -&gt; This schedule is </a:t>
            </a:r>
            <a:r>
              <a:rPr lang="en-US" altLang="en-US" sz="1400">
                <a:solidFill>
                  <a:srgbClr val="FF0000"/>
                </a:solidFill>
              </a:rPr>
              <a:t>Cascadeless</a:t>
            </a:r>
          </a:p>
          <a:p>
            <a:endParaRPr lang="en-US" altLang="en-US" sz="1400"/>
          </a:p>
        </p:txBody>
      </p:sp>
      <p:pic>
        <p:nvPicPr>
          <p:cNvPr id="193544" name="Picture 8" descr="Picture 2">
            <a:extLst>
              <a:ext uri="{FF2B5EF4-FFF2-40B4-BE49-F238E27FC236}">
                <a16:creationId xmlns:a16="http://schemas.microsoft.com/office/drawing/2014/main" id="{6560FD4E-910E-6108-643B-7FC9CA62155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1987550"/>
            <a:ext cx="6361113" cy="3603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descr="Title 1">
            <a:extLst>
              <a:ext uri="{FF2B5EF4-FFF2-40B4-BE49-F238E27FC236}">
                <a16:creationId xmlns:a16="http://schemas.microsoft.com/office/drawing/2014/main" id="{A29941CB-EE51-020C-F2EE-4EC3F32F655D}"/>
              </a:ext>
            </a:extLst>
          </p:cNvPr>
          <p:cNvSpPr>
            <a:spLocks noChangeArrowheads="1"/>
          </p:cNvSpPr>
          <p:nvPr>
            <p:ph type="title"/>
          </p:nvPr>
        </p:nvSpPr>
        <p:spPr/>
        <p:txBody>
          <a:bodyPr/>
          <a:lstStyle/>
          <a:p>
            <a:r>
              <a:rPr lang="en-US" altLang="en-US" sz="2400"/>
              <a:t>Characterizing Schedules based on Recoverability </a:t>
            </a:r>
          </a:p>
        </p:txBody>
      </p:sp>
      <p:sp>
        <p:nvSpPr>
          <p:cNvPr id="194563" name="Rectangle 3" descr="Content Placeholder 2">
            <a:extLst>
              <a:ext uri="{FF2B5EF4-FFF2-40B4-BE49-F238E27FC236}">
                <a16:creationId xmlns:a16="http://schemas.microsoft.com/office/drawing/2014/main" id="{72A71A13-BC5D-D804-E41D-9612F190273E}"/>
              </a:ext>
            </a:extLst>
          </p:cNvPr>
          <p:cNvSpPr>
            <a:spLocks noChangeArrowheads="1"/>
          </p:cNvSpPr>
          <p:nvPr>
            <p:ph type="body" idx="1"/>
          </p:nvPr>
        </p:nvSpPr>
        <p:spPr/>
        <p:txBody>
          <a:bodyPr/>
          <a:lstStyle/>
          <a:p>
            <a:pPr marL="342900" indent="-342900">
              <a:spcBef>
                <a:spcPts val="400"/>
              </a:spcBef>
              <a:buSzTx/>
              <a:buFont typeface="Wingdings" panose="05000000000000000000" pitchFamily="2" charset="2"/>
              <a:buNone/>
            </a:pPr>
            <a:r>
              <a:rPr lang="en-US" altLang="en-US" sz="2000" b="1"/>
              <a:t>Based on Recoverability </a:t>
            </a:r>
          </a:p>
          <a:p>
            <a:pPr marL="342900" indent="-342900">
              <a:spcBef>
                <a:spcPts val="400"/>
              </a:spcBef>
              <a:buFontTx/>
              <a:buAutoNum type="arabicPeriod"/>
            </a:pPr>
            <a:r>
              <a:rPr lang="en-US" altLang="en-US" sz="2000"/>
              <a:t>Recoverable Schedule </a:t>
            </a:r>
          </a:p>
          <a:p>
            <a:pPr marL="342900" indent="-342900">
              <a:spcBef>
                <a:spcPts val="400"/>
              </a:spcBef>
              <a:buFontTx/>
              <a:buAutoNum type="arabicPeriod"/>
            </a:pPr>
            <a:r>
              <a:rPr lang="en-US" altLang="en-US" sz="2000"/>
              <a:t>Cascadeless or Avoid Cascading Rollback schedule </a:t>
            </a:r>
          </a:p>
          <a:p>
            <a:pPr marL="342900" indent="-342900">
              <a:spcBef>
                <a:spcPts val="400"/>
              </a:spcBef>
              <a:buFontTx/>
              <a:buAutoNum type="arabicPeriod"/>
            </a:pPr>
            <a:r>
              <a:rPr lang="en-US" altLang="en-US" sz="2000" b="1"/>
              <a:t>Strict Schedules</a:t>
            </a:r>
          </a:p>
        </p:txBody>
      </p:sp>
      <p:sp>
        <p:nvSpPr>
          <p:cNvPr id="194564" name="Text Box 4" descr="Date Placeholder 3">
            <a:extLst>
              <a:ext uri="{FF2B5EF4-FFF2-40B4-BE49-F238E27FC236}">
                <a16:creationId xmlns:a16="http://schemas.microsoft.com/office/drawing/2014/main" id="{155A5B7D-EADF-DD10-D576-E460C932F6F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4565" name="Text Box 5" descr="Slide Number Placeholder 5">
            <a:extLst>
              <a:ext uri="{FF2B5EF4-FFF2-40B4-BE49-F238E27FC236}">
                <a16:creationId xmlns:a16="http://schemas.microsoft.com/office/drawing/2014/main" id="{F821DAA8-81C4-3463-91C4-37C0BCB21B1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1CA0586-9743-4630-A114-D3A341904F5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2" descr="Title 1">
            <a:extLst>
              <a:ext uri="{FF2B5EF4-FFF2-40B4-BE49-F238E27FC236}">
                <a16:creationId xmlns:a16="http://schemas.microsoft.com/office/drawing/2014/main" id="{34E4DA5A-4B59-6EB8-6F65-28889C4DB034}"/>
              </a:ext>
            </a:extLst>
          </p:cNvPr>
          <p:cNvSpPr>
            <a:spLocks noChangeArrowheads="1"/>
          </p:cNvSpPr>
          <p:nvPr>
            <p:ph type="title"/>
          </p:nvPr>
        </p:nvSpPr>
        <p:spPr/>
        <p:txBody>
          <a:bodyPr/>
          <a:lstStyle/>
          <a:p>
            <a:r>
              <a:rPr lang="en-US" altLang="en-US"/>
              <a:t>Strict Schedule </a:t>
            </a:r>
          </a:p>
        </p:txBody>
      </p:sp>
      <p:sp>
        <p:nvSpPr>
          <p:cNvPr id="196611" name="Rectangle 3" descr="Content Placeholder 2">
            <a:extLst>
              <a:ext uri="{FF2B5EF4-FFF2-40B4-BE49-F238E27FC236}">
                <a16:creationId xmlns:a16="http://schemas.microsoft.com/office/drawing/2014/main" id="{AA19311C-6334-7D64-60CA-81F357144482}"/>
              </a:ext>
            </a:extLst>
          </p:cNvPr>
          <p:cNvSpPr>
            <a:spLocks noChangeArrowheads="1"/>
          </p:cNvSpPr>
          <p:nvPr>
            <p:ph type="body" idx="1"/>
          </p:nvPr>
        </p:nvSpPr>
        <p:spPr/>
        <p:txBody>
          <a:bodyPr/>
          <a:lstStyle/>
          <a:p>
            <a:pPr marL="117475" indent="-117475">
              <a:spcBef>
                <a:spcPts val="400"/>
              </a:spcBef>
            </a:pPr>
            <a:r>
              <a:rPr lang="en-US" altLang="en-US" sz="1800"/>
              <a:t>A restrictive type of schedule, called </a:t>
            </a:r>
            <a:r>
              <a:rPr lang="en-US" altLang="en-US" sz="1800" b="1"/>
              <a:t>strict schedule</a:t>
            </a:r>
            <a:r>
              <a:rPr lang="en-US" altLang="en-US" sz="1800"/>
              <a:t>, in which transaction neither read nor write an item X until the last transaction that wrote X has committed (terminated or aborted). </a:t>
            </a:r>
          </a:p>
          <a:p>
            <a:pPr marL="117475" indent="-117475">
              <a:spcBef>
                <a:spcPts val="400"/>
              </a:spcBef>
              <a:buSzTx/>
              <a:buFont typeface="Wingdings" panose="05000000000000000000" pitchFamily="2" charset="2"/>
              <a:buNone/>
            </a:pPr>
            <a:r>
              <a:rPr lang="en-US" altLang="en-US" sz="1800"/>
              <a:t>Formally, if it satisfies the following conditions:</a:t>
            </a:r>
          </a:p>
          <a:p>
            <a:pPr marL="117475" indent="-117475">
              <a:spcBef>
                <a:spcPts val="400"/>
              </a:spcBef>
              <a:buSzTx/>
              <a:buFont typeface="Wingdings" panose="05000000000000000000" pitchFamily="2" charset="2"/>
              <a:buNone/>
            </a:pPr>
            <a:r>
              <a:rPr lang="en-US" altLang="en-US" sz="1800"/>
              <a:t>–Tj </a:t>
            </a:r>
            <a:r>
              <a:rPr lang="en-US" altLang="en-US" sz="1800" b="1"/>
              <a:t>reads </a:t>
            </a:r>
            <a:r>
              <a:rPr lang="en-US" altLang="en-US" sz="1800"/>
              <a:t>a data item X </a:t>
            </a:r>
            <a:r>
              <a:rPr lang="en-US" altLang="en-US" sz="1800" b="1" i="1"/>
              <a:t>after </a:t>
            </a:r>
            <a:r>
              <a:rPr lang="en-US" altLang="en-US" sz="1800"/>
              <a:t>Ti has written to X and Ti is committed (aborted or  terminated)</a:t>
            </a:r>
          </a:p>
          <a:p>
            <a:pPr marL="117475" indent="-117475">
              <a:spcBef>
                <a:spcPts val="400"/>
              </a:spcBef>
              <a:buSzTx/>
              <a:buFont typeface="Wingdings" panose="05000000000000000000" pitchFamily="2" charset="2"/>
              <a:buNone/>
            </a:pPr>
            <a:r>
              <a:rPr lang="en-US" altLang="en-US" sz="1800"/>
              <a:t>–Tj </a:t>
            </a:r>
            <a:r>
              <a:rPr lang="en-US" altLang="en-US" sz="1800" b="1"/>
              <a:t>writes </a:t>
            </a:r>
            <a:r>
              <a:rPr lang="en-US" altLang="en-US" sz="1800"/>
              <a:t>a data item X </a:t>
            </a:r>
            <a:r>
              <a:rPr lang="en-US" altLang="en-US" sz="1800" b="1" i="1"/>
              <a:t>after </a:t>
            </a:r>
            <a:r>
              <a:rPr lang="en-US" altLang="en-US" sz="1800"/>
              <a:t>Ti has written to X and Ti is committed (aborted or  terminated)</a:t>
            </a:r>
          </a:p>
        </p:txBody>
      </p:sp>
      <p:sp>
        <p:nvSpPr>
          <p:cNvPr id="196612" name="Text Box 4" descr="Date Placeholder 3">
            <a:extLst>
              <a:ext uri="{FF2B5EF4-FFF2-40B4-BE49-F238E27FC236}">
                <a16:creationId xmlns:a16="http://schemas.microsoft.com/office/drawing/2014/main" id="{84B622F0-917C-9E0C-4163-C57DA64B85D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6613" name="Text Box 5" descr="Slide Number Placeholder 5">
            <a:extLst>
              <a:ext uri="{FF2B5EF4-FFF2-40B4-BE49-F238E27FC236}">
                <a16:creationId xmlns:a16="http://schemas.microsoft.com/office/drawing/2014/main" id="{705346B6-90EB-BCEB-A973-3436DF4BD85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BB16CF9-604E-4AA4-BC02-2BF40576E6B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6614" name="Text Box 6" descr="TextBox 6">
            <a:extLst>
              <a:ext uri="{FF2B5EF4-FFF2-40B4-BE49-F238E27FC236}">
                <a16:creationId xmlns:a16="http://schemas.microsoft.com/office/drawing/2014/main" id="{921DE8B9-C31E-FC29-ADD2-8923875347CE}"/>
              </a:ext>
            </a:extLst>
          </p:cNvPr>
          <p:cNvSpPr txBox="1">
            <a:spLocks/>
          </p:cNvSpPr>
          <p:nvPr/>
        </p:nvSpPr>
        <p:spPr bwMode="auto">
          <a:xfrm>
            <a:off x="3032125" y="3856038"/>
            <a:ext cx="1649413"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Strict Schedule</a:t>
            </a:r>
          </a:p>
        </p:txBody>
      </p:sp>
      <p:graphicFrame>
        <p:nvGraphicFramePr>
          <p:cNvPr id="196615" name="Group 7">
            <a:extLst>
              <a:ext uri="{FF2B5EF4-FFF2-40B4-BE49-F238E27FC236}">
                <a16:creationId xmlns:a16="http://schemas.microsoft.com/office/drawing/2014/main" id="{88E316CE-330B-3769-54F4-27783FEC7EBE}"/>
              </a:ext>
            </a:extLst>
          </p:cNvPr>
          <p:cNvGraphicFramePr>
            <a:graphicFrameLocks noGrp="1"/>
          </p:cNvGraphicFramePr>
          <p:nvPr/>
        </p:nvGraphicFramePr>
        <p:xfrm>
          <a:off x="2555875" y="4195763"/>
          <a:ext cx="2314575" cy="2266950"/>
        </p:xfrm>
        <a:graphic>
          <a:graphicData uri="http://schemas.openxmlformats.org/drawingml/2006/table">
            <a:tbl>
              <a:tblPr/>
              <a:tblGrid>
                <a:gridCol w="1157288">
                  <a:extLst>
                    <a:ext uri="{9D8B030D-6E8A-4147-A177-3AD203B41FA5}">
                      <a16:colId xmlns:a16="http://schemas.microsoft.com/office/drawing/2014/main" val="2048808582"/>
                    </a:ext>
                  </a:extLst>
                </a:gridCol>
                <a:gridCol w="1157287">
                  <a:extLst>
                    <a:ext uri="{9D8B030D-6E8A-4147-A177-3AD203B41FA5}">
                      <a16:colId xmlns:a16="http://schemas.microsoft.com/office/drawing/2014/main" val="1996757603"/>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6222446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299904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1821392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3659610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27413433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7332497"/>
                  </a:ext>
                </a:extLst>
              </a:tr>
            </a:tbl>
          </a:graphicData>
        </a:graphic>
      </p:graphicFrame>
    </p:spTree>
  </p:cSld>
  <p:clrMapOvr>
    <a:masterClrMapping/>
  </p:clrMapOvr>
  <p:transition spd="med"/>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2" descr="Title 1">
            <a:extLst>
              <a:ext uri="{FF2B5EF4-FFF2-40B4-BE49-F238E27FC236}">
                <a16:creationId xmlns:a16="http://schemas.microsoft.com/office/drawing/2014/main" id="{7F788F2D-5ADF-5A2F-4126-DD366E6BE5CF}"/>
              </a:ext>
            </a:extLst>
          </p:cNvPr>
          <p:cNvSpPr>
            <a:spLocks noChangeArrowheads="1"/>
          </p:cNvSpPr>
          <p:nvPr>
            <p:ph type="title"/>
          </p:nvPr>
        </p:nvSpPr>
        <p:spPr/>
        <p:txBody>
          <a:bodyPr/>
          <a:lstStyle/>
          <a:p>
            <a:r>
              <a:rPr lang="en-US" altLang="en-US" sz="2400">
                <a:solidFill>
                  <a:srgbClr val="FF0000"/>
                </a:solidFill>
              </a:rPr>
              <a:t>Problem to Solve on Strict Schedules</a:t>
            </a:r>
          </a:p>
        </p:txBody>
      </p:sp>
      <p:sp>
        <p:nvSpPr>
          <p:cNvPr id="197635" name="Rectangle 3" descr="Content Placeholder 2">
            <a:extLst>
              <a:ext uri="{FF2B5EF4-FFF2-40B4-BE49-F238E27FC236}">
                <a16:creationId xmlns:a16="http://schemas.microsoft.com/office/drawing/2014/main" id="{8AC87C31-C28F-65CA-0080-B78F72054DF9}"/>
              </a:ext>
            </a:extLst>
          </p:cNvPr>
          <p:cNvSpPr>
            <a:spLocks noChangeArrowheads="1"/>
          </p:cNvSpPr>
          <p:nvPr>
            <p:ph type="body" idx="1"/>
          </p:nvPr>
        </p:nvSpPr>
        <p:spPr/>
        <p:txBody>
          <a:bodyPr/>
          <a:lstStyle/>
          <a:p>
            <a:pPr>
              <a:spcBef>
                <a:spcPts val="400"/>
              </a:spcBef>
            </a:pPr>
            <a:r>
              <a:rPr lang="en-US" altLang="en-US" sz="2000"/>
              <a:t>Check whether the following schedule is strict schedule </a:t>
            </a:r>
          </a:p>
        </p:txBody>
      </p:sp>
      <p:sp>
        <p:nvSpPr>
          <p:cNvPr id="197636" name="Text Box 4" descr="Date Placeholder 3">
            <a:extLst>
              <a:ext uri="{FF2B5EF4-FFF2-40B4-BE49-F238E27FC236}">
                <a16:creationId xmlns:a16="http://schemas.microsoft.com/office/drawing/2014/main" id="{C5C4F3D8-78F9-09F7-4D87-6F42AEFCE58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7637" name="Text Box 5" descr="Slide Number Placeholder 5">
            <a:extLst>
              <a:ext uri="{FF2B5EF4-FFF2-40B4-BE49-F238E27FC236}">
                <a16:creationId xmlns:a16="http://schemas.microsoft.com/office/drawing/2014/main" id="{D35A9B3A-B549-08D3-D0FC-6A39FFD4E76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93B1513-78A6-436A-B7B8-6DC47041F9D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7638" name="Text Box 6" descr="TextBox 12">
            <a:extLst>
              <a:ext uri="{FF2B5EF4-FFF2-40B4-BE49-F238E27FC236}">
                <a16:creationId xmlns:a16="http://schemas.microsoft.com/office/drawing/2014/main" id="{87E5591B-81A5-4E2A-B593-F4D6E6808B75}"/>
              </a:ext>
            </a:extLst>
          </p:cNvPr>
          <p:cNvSpPr txBox="1">
            <a:spLocks/>
          </p:cNvSpPr>
          <p:nvPr/>
        </p:nvSpPr>
        <p:spPr bwMode="auto">
          <a:xfrm>
            <a:off x="657225" y="3644900"/>
            <a:ext cx="7667625" cy="2300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38100" indent="-381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Strict schedule</a:t>
            </a:r>
            <a:r>
              <a:rPr lang="en-US" altLang="en-US" sz="1400"/>
              <a:t>: A schedule is strict if it satisfies the following conditions:</a:t>
            </a:r>
          </a:p>
          <a:p>
            <a:pPr>
              <a:buSzPct val="100000"/>
              <a:buFontTx/>
              <a:buAutoNum type="arabicPeriod"/>
            </a:pPr>
            <a:r>
              <a:rPr lang="en-US" altLang="en-US" sz="1400"/>
              <a:t>Tj reads a data item X </a:t>
            </a:r>
            <a:r>
              <a:rPr lang="en-US" altLang="en-US" sz="1400" b="1" i="1"/>
              <a:t>after </a:t>
            </a:r>
            <a:r>
              <a:rPr lang="en-US" altLang="en-US" sz="1400"/>
              <a:t>Ti has written to X and Ti is committed (aborted or </a:t>
            </a:r>
          </a:p>
          <a:p>
            <a:r>
              <a:rPr lang="en-US" altLang="en-US" sz="1400"/>
              <a:t>terminated)</a:t>
            </a:r>
          </a:p>
          <a:p>
            <a:r>
              <a:rPr lang="en-US" altLang="en-US" sz="1400"/>
              <a:t>2. Tj writes a data item X </a:t>
            </a:r>
            <a:r>
              <a:rPr lang="en-US" altLang="en-US" sz="1400" b="1" i="1"/>
              <a:t>after </a:t>
            </a:r>
            <a:r>
              <a:rPr lang="en-US" altLang="en-US" sz="1400"/>
              <a:t>Ti has written to X and Ti is committed (aborted or </a:t>
            </a:r>
          </a:p>
          <a:p>
            <a:r>
              <a:rPr lang="en-US" altLang="en-US" sz="1400"/>
              <a:t>terminated)</a:t>
            </a:r>
          </a:p>
          <a:p>
            <a:endParaRPr lang="en-US" altLang="en-US" sz="1400"/>
          </a:p>
          <a:p>
            <a:r>
              <a:rPr lang="en-US" altLang="en-US" sz="1600"/>
              <a:t>……..</a:t>
            </a:r>
            <a:r>
              <a:rPr lang="en-US" altLang="en-US" sz="1600">
                <a:solidFill>
                  <a:srgbClr val="C00000"/>
                </a:solidFill>
              </a:rPr>
              <a:t>Wi(x)</a:t>
            </a:r>
            <a:r>
              <a:rPr lang="en-US" altLang="en-US" sz="1600"/>
              <a:t>…………</a:t>
            </a:r>
            <a:r>
              <a:rPr lang="en-US" altLang="en-US" sz="1600">
                <a:solidFill>
                  <a:srgbClr val="C00000"/>
                </a:solidFill>
              </a:rPr>
              <a:t>Ci(x)</a:t>
            </a:r>
            <a:r>
              <a:rPr lang="en-US" altLang="en-US" sz="1600"/>
              <a:t>………………</a:t>
            </a:r>
            <a:r>
              <a:rPr lang="en-US" altLang="en-US" sz="1600">
                <a:solidFill>
                  <a:srgbClr val="0000FF"/>
                </a:solidFill>
              </a:rPr>
              <a:t>Rj(x)/Wj(x)</a:t>
            </a:r>
            <a:r>
              <a:rPr lang="en-US" altLang="en-US" sz="1600"/>
              <a:t>   -&gt; This schedule is </a:t>
            </a:r>
            <a:r>
              <a:rPr lang="en-US" altLang="en-US" sz="1600">
                <a:solidFill>
                  <a:srgbClr val="FF0000"/>
                </a:solidFill>
              </a:rPr>
              <a:t>Strict</a:t>
            </a:r>
          </a:p>
          <a:p>
            <a:r>
              <a:rPr lang="en-US" altLang="en-US" sz="1600"/>
              <a:t>……..</a:t>
            </a:r>
            <a:r>
              <a:rPr lang="en-US" altLang="en-US" sz="1600">
                <a:solidFill>
                  <a:srgbClr val="C00000"/>
                </a:solidFill>
              </a:rPr>
              <a:t>Wi(x)</a:t>
            </a:r>
            <a:r>
              <a:rPr lang="en-US" altLang="en-US" sz="1600"/>
              <a:t>…………</a:t>
            </a:r>
            <a:r>
              <a:rPr lang="en-US" altLang="en-US" sz="1600">
                <a:solidFill>
                  <a:srgbClr val="0000FF"/>
                </a:solidFill>
              </a:rPr>
              <a:t>Rj(x)/Wj(x )</a:t>
            </a:r>
            <a:r>
              <a:rPr lang="en-US" altLang="en-US" sz="1600"/>
              <a:t>…..</a:t>
            </a:r>
            <a:r>
              <a:rPr lang="en-US" altLang="en-US" sz="1600">
                <a:solidFill>
                  <a:srgbClr val="C00000"/>
                </a:solidFill>
              </a:rPr>
              <a:t>Ci(x)</a:t>
            </a:r>
            <a:r>
              <a:rPr lang="en-US" altLang="en-US" sz="1600"/>
              <a:t>           -&gt; This schedule is </a:t>
            </a:r>
            <a:r>
              <a:rPr lang="en-US" altLang="en-US" sz="1600">
                <a:solidFill>
                  <a:srgbClr val="008000"/>
                </a:solidFill>
              </a:rPr>
              <a:t>not strict</a:t>
            </a:r>
          </a:p>
          <a:p>
            <a:endParaRPr lang="en-US" altLang="en-US" sz="1400"/>
          </a:p>
        </p:txBody>
      </p:sp>
      <p:pic>
        <p:nvPicPr>
          <p:cNvPr id="197639" name="Picture 7" descr="Picture 2">
            <a:extLst>
              <a:ext uri="{FF2B5EF4-FFF2-40B4-BE49-F238E27FC236}">
                <a16:creationId xmlns:a16="http://schemas.microsoft.com/office/drawing/2014/main" id="{458B3F29-8A32-1516-94FA-95CDB96ED1B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54063" y="1771650"/>
            <a:ext cx="6858000" cy="584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descr="Title 1">
            <a:extLst>
              <a:ext uri="{FF2B5EF4-FFF2-40B4-BE49-F238E27FC236}">
                <a16:creationId xmlns:a16="http://schemas.microsoft.com/office/drawing/2014/main" id="{143CE699-DC4F-6526-3859-FFB39574C0BB}"/>
              </a:ext>
            </a:extLst>
          </p:cNvPr>
          <p:cNvSpPr>
            <a:spLocks noChangeArrowheads="1"/>
          </p:cNvSpPr>
          <p:nvPr>
            <p:ph type="title"/>
          </p:nvPr>
        </p:nvSpPr>
        <p:spPr/>
        <p:txBody>
          <a:bodyPr/>
          <a:lstStyle/>
          <a:p>
            <a:r>
              <a:rPr lang="en-US" altLang="en-US" sz="2400">
                <a:solidFill>
                  <a:srgbClr val="FF0000"/>
                </a:solidFill>
              </a:rPr>
              <a:t>Problem to Solve on Strict Schedules</a:t>
            </a:r>
          </a:p>
        </p:txBody>
      </p:sp>
      <p:sp>
        <p:nvSpPr>
          <p:cNvPr id="198659" name="Rectangle 3" descr="Content Placeholder 2">
            <a:extLst>
              <a:ext uri="{FF2B5EF4-FFF2-40B4-BE49-F238E27FC236}">
                <a16:creationId xmlns:a16="http://schemas.microsoft.com/office/drawing/2014/main" id="{F64D7081-2CCE-F95E-6F64-C2C5352DBA8C}"/>
              </a:ext>
            </a:extLst>
          </p:cNvPr>
          <p:cNvSpPr>
            <a:spLocks noChangeArrowheads="1"/>
          </p:cNvSpPr>
          <p:nvPr>
            <p:ph type="body" idx="1"/>
          </p:nvPr>
        </p:nvSpPr>
        <p:spPr/>
        <p:txBody>
          <a:bodyPr/>
          <a:lstStyle/>
          <a:p>
            <a:pPr>
              <a:spcBef>
                <a:spcPts val="400"/>
              </a:spcBef>
            </a:pPr>
            <a:r>
              <a:rPr lang="en-US" altLang="en-US" sz="2000"/>
              <a:t>Check whether the following schedule is strict schedule </a:t>
            </a:r>
          </a:p>
        </p:txBody>
      </p:sp>
      <p:sp>
        <p:nvSpPr>
          <p:cNvPr id="198660" name="Text Box 4" descr="Date Placeholder 3">
            <a:extLst>
              <a:ext uri="{FF2B5EF4-FFF2-40B4-BE49-F238E27FC236}">
                <a16:creationId xmlns:a16="http://schemas.microsoft.com/office/drawing/2014/main" id="{2D4A6805-2219-8BD9-29BA-605A48962CF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8661" name="Text Box 5" descr="Slide Number Placeholder 5">
            <a:extLst>
              <a:ext uri="{FF2B5EF4-FFF2-40B4-BE49-F238E27FC236}">
                <a16:creationId xmlns:a16="http://schemas.microsoft.com/office/drawing/2014/main" id="{37F4423C-E941-3277-1B27-A658A80A263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F7621F0-3865-402D-9110-D9CE2D86C06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8662" name="Text Box 6" descr="TextBox 12">
            <a:extLst>
              <a:ext uri="{FF2B5EF4-FFF2-40B4-BE49-F238E27FC236}">
                <a16:creationId xmlns:a16="http://schemas.microsoft.com/office/drawing/2014/main" id="{8E60BE09-136B-4438-004A-18A7E7EE1481}"/>
              </a:ext>
            </a:extLst>
          </p:cNvPr>
          <p:cNvSpPr txBox="1">
            <a:spLocks/>
          </p:cNvSpPr>
          <p:nvPr/>
        </p:nvSpPr>
        <p:spPr bwMode="auto">
          <a:xfrm>
            <a:off x="657225" y="3644900"/>
            <a:ext cx="7667625" cy="2249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38100" indent="-381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Strict schedule</a:t>
            </a:r>
            <a:r>
              <a:rPr lang="en-US" altLang="en-US" sz="1400"/>
              <a:t>: A schedule is strict if it satisfies the following conditions:</a:t>
            </a:r>
          </a:p>
          <a:p>
            <a:pPr>
              <a:buSzPct val="100000"/>
              <a:buFontTx/>
              <a:buAutoNum type="arabicPeriod"/>
            </a:pPr>
            <a:r>
              <a:rPr lang="en-US" altLang="en-US" sz="1400"/>
              <a:t>Tj reads a data item X </a:t>
            </a:r>
            <a:r>
              <a:rPr lang="en-US" altLang="en-US" sz="1400" b="1" i="1"/>
              <a:t>after </a:t>
            </a:r>
            <a:r>
              <a:rPr lang="en-US" altLang="en-US" sz="1400"/>
              <a:t>Ti has written to X and Ti is committed (aborted or </a:t>
            </a:r>
          </a:p>
          <a:p>
            <a:r>
              <a:rPr lang="en-US" altLang="en-US" sz="1400"/>
              <a:t>terminated)</a:t>
            </a:r>
          </a:p>
          <a:p>
            <a:r>
              <a:rPr lang="en-US" altLang="en-US" sz="1400"/>
              <a:t>2. Tj writes a data item X </a:t>
            </a:r>
            <a:r>
              <a:rPr lang="en-US" altLang="en-US" sz="1400" b="1" i="1"/>
              <a:t>after </a:t>
            </a:r>
            <a:r>
              <a:rPr lang="en-US" altLang="en-US" sz="1400"/>
              <a:t>Ti has written to X and Ti is committed (aborted or </a:t>
            </a:r>
          </a:p>
          <a:p>
            <a:r>
              <a:rPr lang="en-US" altLang="en-US" sz="1400"/>
              <a:t>terminated)</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C00000"/>
                </a:solidFill>
              </a:rPr>
              <a:t>Ci(x)</a:t>
            </a:r>
            <a:r>
              <a:rPr lang="en-US" altLang="en-US" sz="1400"/>
              <a:t>………………</a:t>
            </a:r>
            <a:r>
              <a:rPr lang="en-US" altLang="en-US" sz="1400">
                <a:solidFill>
                  <a:srgbClr val="0000FF"/>
                </a:solidFill>
              </a:rPr>
              <a:t>Rj(x)/Wj(x)</a:t>
            </a:r>
            <a:r>
              <a:rPr lang="en-US" altLang="en-US" sz="1400"/>
              <a:t>   -&gt; This schedule is </a:t>
            </a:r>
            <a:r>
              <a:rPr lang="en-US" altLang="en-US" sz="1400">
                <a:solidFill>
                  <a:srgbClr val="FF0000"/>
                </a:solidFill>
              </a:rPr>
              <a:t>Strict</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Rj(x)/Wj(x )</a:t>
            </a:r>
            <a:r>
              <a:rPr lang="en-US" altLang="en-US" sz="1400"/>
              <a:t>…..</a:t>
            </a:r>
            <a:r>
              <a:rPr lang="en-US" altLang="en-US" sz="1400">
                <a:solidFill>
                  <a:srgbClr val="C00000"/>
                </a:solidFill>
              </a:rPr>
              <a:t>Ci(x)</a:t>
            </a:r>
            <a:r>
              <a:rPr lang="en-US" altLang="en-US" sz="1400"/>
              <a:t>           -&gt; This schedule is </a:t>
            </a:r>
            <a:r>
              <a:rPr lang="en-US" altLang="en-US" sz="1400">
                <a:solidFill>
                  <a:srgbClr val="008000"/>
                </a:solidFill>
              </a:rPr>
              <a:t>not strict</a:t>
            </a:r>
          </a:p>
          <a:p>
            <a:endParaRPr lang="en-US" altLang="en-US" sz="1400"/>
          </a:p>
        </p:txBody>
      </p:sp>
      <p:sp>
        <p:nvSpPr>
          <p:cNvPr id="198663" name="Text Box 7" descr="TextBox 6">
            <a:extLst>
              <a:ext uri="{FF2B5EF4-FFF2-40B4-BE49-F238E27FC236}">
                <a16:creationId xmlns:a16="http://schemas.microsoft.com/office/drawing/2014/main" id="{BD81FC05-7E58-0853-616C-B6FC73849BCC}"/>
              </a:ext>
            </a:extLst>
          </p:cNvPr>
          <p:cNvSpPr txBox="1">
            <a:spLocks/>
          </p:cNvSpPr>
          <p:nvPr/>
        </p:nvSpPr>
        <p:spPr bwMode="auto">
          <a:xfrm>
            <a:off x="914400" y="2419350"/>
            <a:ext cx="2000250" cy="317500"/>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b="1"/>
              <a:t>Answer: </a:t>
            </a:r>
            <a:r>
              <a:rPr lang="en-US" altLang="en-US" sz="1400"/>
              <a:t>Strict</a:t>
            </a:r>
            <a:endParaRPr lang="en-US" altLang="en-US" sz="1400" b="1"/>
          </a:p>
        </p:txBody>
      </p:sp>
      <p:pic>
        <p:nvPicPr>
          <p:cNvPr id="198664" name="Picture 8" descr="Picture 2">
            <a:extLst>
              <a:ext uri="{FF2B5EF4-FFF2-40B4-BE49-F238E27FC236}">
                <a16:creationId xmlns:a16="http://schemas.microsoft.com/office/drawing/2014/main" id="{618F2AFB-E294-FE9B-ABE2-71A608C574C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54063" y="1771650"/>
            <a:ext cx="6858000" cy="266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98665" name="Picture 9" descr="Picture 3">
            <a:extLst>
              <a:ext uri="{FF2B5EF4-FFF2-40B4-BE49-F238E27FC236}">
                <a16:creationId xmlns:a16="http://schemas.microsoft.com/office/drawing/2014/main" id="{502BA0C9-D3AE-3B81-1551-963613BBDB0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11188" y="2779713"/>
            <a:ext cx="7943850"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2" descr="Title 1">
            <a:extLst>
              <a:ext uri="{FF2B5EF4-FFF2-40B4-BE49-F238E27FC236}">
                <a16:creationId xmlns:a16="http://schemas.microsoft.com/office/drawing/2014/main" id="{D4BEC0E7-AF1C-AB76-1589-412A6ED82E4C}"/>
              </a:ext>
            </a:extLst>
          </p:cNvPr>
          <p:cNvSpPr>
            <a:spLocks noChangeArrowheads="1"/>
          </p:cNvSpPr>
          <p:nvPr>
            <p:ph type="title"/>
          </p:nvPr>
        </p:nvSpPr>
        <p:spPr/>
        <p:txBody>
          <a:bodyPr/>
          <a:lstStyle/>
          <a:p>
            <a:r>
              <a:rPr lang="en-US" altLang="en-US" sz="2400">
                <a:solidFill>
                  <a:srgbClr val="FF0000"/>
                </a:solidFill>
              </a:rPr>
              <a:t>Problem to Solve on Strict Schedules</a:t>
            </a:r>
          </a:p>
        </p:txBody>
      </p:sp>
      <p:sp>
        <p:nvSpPr>
          <p:cNvPr id="199683" name="Rectangle 3" descr="Content Placeholder 2">
            <a:extLst>
              <a:ext uri="{FF2B5EF4-FFF2-40B4-BE49-F238E27FC236}">
                <a16:creationId xmlns:a16="http://schemas.microsoft.com/office/drawing/2014/main" id="{C8F18C54-B944-71C1-7C23-A3650881A30E}"/>
              </a:ext>
            </a:extLst>
          </p:cNvPr>
          <p:cNvSpPr>
            <a:spLocks noChangeArrowheads="1"/>
          </p:cNvSpPr>
          <p:nvPr>
            <p:ph type="body" idx="1"/>
          </p:nvPr>
        </p:nvSpPr>
        <p:spPr/>
        <p:txBody>
          <a:bodyPr/>
          <a:lstStyle/>
          <a:p>
            <a:pPr>
              <a:spcBef>
                <a:spcPts val="400"/>
              </a:spcBef>
            </a:pPr>
            <a:r>
              <a:rPr lang="en-US" altLang="en-US" sz="2000"/>
              <a:t>Check whether the following schedule is strict schedule </a:t>
            </a:r>
          </a:p>
        </p:txBody>
      </p:sp>
      <p:sp>
        <p:nvSpPr>
          <p:cNvPr id="199684" name="Text Box 4" descr="Date Placeholder 3">
            <a:extLst>
              <a:ext uri="{FF2B5EF4-FFF2-40B4-BE49-F238E27FC236}">
                <a16:creationId xmlns:a16="http://schemas.microsoft.com/office/drawing/2014/main" id="{1F5B80AE-A9DD-1223-F024-E34DAC2EEE7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199685" name="Text Box 5" descr="Slide Number Placeholder 5">
            <a:extLst>
              <a:ext uri="{FF2B5EF4-FFF2-40B4-BE49-F238E27FC236}">
                <a16:creationId xmlns:a16="http://schemas.microsoft.com/office/drawing/2014/main" id="{20ED930D-8967-35F5-7F51-8735720A463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8ABBE38-3F61-4587-8C6B-C17B1E8FD27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199686" name="Text Box 6" descr="TextBox 12">
            <a:extLst>
              <a:ext uri="{FF2B5EF4-FFF2-40B4-BE49-F238E27FC236}">
                <a16:creationId xmlns:a16="http://schemas.microsoft.com/office/drawing/2014/main" id="{24305EC8-9A94-0967-2AB4-61AF78261575}"/>
              </a:ext>
            </a:extLst>
          </p:cNvPr>
          <p:cNvSpPr txBox="1">
            <a:spLocks/>
          </p:cNvSpPr>
          <p:nvPr/>
        </p:nvSpPr>
        <p:spPr bwMode="auto">
          <a:xfrm>
            <a:off x="657225" y="3644900"/>
            <a:ext cx="7667625" cy="2249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38100" indent="-381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Strict schedule</a:t>
            </a:r>
            <a:r>
              <a:rPr lang="en-US" altLang="en-US" sz="1400"/>
              <a:t>: A schedule is strict if it satisfies the following conditions:</a:t>
            </a:r>
          </a:p>
          <a:p>
            <a:pPr>
              <a:buSzPct val="100000"/>
              <a:buFontTx/>
              <a:buAutoNum type="arabicPeriod"/>
            </a:pPr>
            <a:r>
              <a:rPr lang="en-US" altLang="en-US" sz="1400"/>
              <a:t>Tj reads a data item X </a:t>
            </a:r>
            <a:r>
              <a:rPr lang="en-US" altLang="en-US" sz="1400" b="1" i="1"/>
              <a:t>after </a:t>
            </a:r>
            <a:r>
              <a:rPr lang="en-US" altLang="en-US" sz="1400"/>
              <a:t>Ti has written to X and Ti is committed (aborted or </a:t>
            </a:r>
          </a:p>
          <a:p>
            <a:r>
              <a:rPr lang="en-US" altLang="en-US" sz="1400"/>
              <a:t>terminated)</a:t>
            </a:r>
          </a:p>
          <a:p>
            <a:r>
              <a:rPr lang="en-US" altLang="en-US" sz="1400"/>
              <a:t>2. Tj writes a data item X </a:t>
            </a:r>
            <a:r>
              <a:rPr lang="en-US" altLang="en-US" sz="1400" b="1" i="1"/>
              <a:t>after </a:t>
            </a:r>
            <a:r>
              <a:rPr lang="en-US" altLang="en-US" sz="1400"/>
              <a:t>Ti has written to X and Ti is committed (aborted or </a:t>
            </a:r>
          </a:p>
          <a:p>
            <a:r>
              <a:rPr lang="en-US" altLang="en-US" sz="1400"/>
              <a:t>terminated)</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C00000"/>
                </a:solidFill>
              </a:rPr>
              <a:t>Ci(x)</a:t>
            </a:r>
            <a:r>
              <a:rPr lang="en-US" altLang="en-US" sz="1400"/>
              <a:t>………………</a:t>
            </a:r>
            <a:r>
              <a:rPr lang="en-US" altLang="en-US" sz="1400">
                <a:solidFill>
                  <a:srgbClr val="0000FF"/>
                </a:solidFill>
              </a:rPr>
              <a:t>Rj(x)/Wj(x)</a:t>
            </a:r>
            <a:r>
              <a:rPr lang="en-US" altLang="en-US" sz="1400"/>
              <a:t>   -&gt; This schedule is </a:t>
            </a:r>
            <a:r>
              <a:rPr lang="en-US" altLang="en-US" sz="1400">
                <a:solidFill>
                  <a:srgbClr val="FF0000"/>
                </a:solidFill>
              </a:rPr>
              <a:t>Strict</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Rj(x)/Wj(x )</a:t>
            </a:r>
            <a:r>
              <a:rPr lang="en-US" altLang="en-US" sz="1400"/>
              <a:t>…..</a:t>
            </a:r>
            <a:r>
              <a:rPr lang="en-US" altLang="en-US" sz="1400">
                <a:solidFill>
                  <a:srgbClr val="C00000"/>
                </a:solidFill>
              </a:rPr>
              <a:t>Ci(x)</a:t>
            </a:r>
            <a:r>
              <a:rPr lang="en-US" altLang="en-US" sz="1400"/>
              <a:t>           -&gt; This schedule is </a:t>
            </a:r>
            <a:r>
              <a:rPr lang="en-US" altLang="en-US" sz="1400">
                <a:solidFill>
                  <a:srgbClr val="008000"/>
                </a:solidFill>
              </a:rPr>
              <a:t>not strict</a:t>
            </a:r>
          </a:p>
          <a:p>
            <a:endParaRPr lang="en-US" altLang="en-US" sz="1400"/>
          </a:p>
        </p:txBody>
      </p:sp>
      <p:pic>
        <p:nvPicPr>
          <p:cNvPr id="199687" name="Picture 7" descr="Picture 3">
            <a:extLst>
              <a:ext uri="{FF2B5EF4-FFF2-40B4-BE49-F238E27FC236}">
                <a16:creationId xmlns:a16="http://schemas.microsoft.com/office/drawing/2014/main" id="{F8FBC7FE-F9AE-AC16-D7B2-B44E7FB184A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1712913"/>
            <a:ext cx="7316788" cy="5127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2" descr="Title 1">
            <a:extLst>
              <a:ext uri="{FF2B5EF4-FFF2-40B4-BE49-F238E27FC236}">
                <a16:creationId xmlns:a16="http://schemas.microsoft.com/office/drawing/2014/main" id="{A3AE6398-76EE-5ECA-70A3-1427064460E2}"/>
              </a:ext>
            </a:extLst>
          </p:cNvPr>
          <p:cNvSpPr>
            <a:spLocks noChangeArrowheads="1"/>
          </p:cNvSpPr>
          <p:nvPr>
            <p:ph type="title"/>
          </p:nvPr>
        </p:nvSpPr>
        <p:spPr/>
        <p:txBody>
          <a:bodyPr/>
          <a:lstStyle/>
          <a:p>
            <a:r>
              <a:rPr lang="en-US" altLang="en-US" sz="2400">
                <a:solidFill>
                  <a:srgbClr val="FF0000"/>
                </a:solidFill>
              </a:rPr>
              <a:t>Problem to Solve on Strict Schedules</a:t>
            </a:r>
          </a:p>
        </p:txBody>
      </p:sp>
      <p:sp>
        <p:nvSpPr>
          <p:cNvPr id="200707" name="Rectangle 3" descr="Content Placeholder 2">
            <a:extLst>
              <a:ext uri="{FF2B5EF4-FFF2-40B4-BE49-F238E27FC236}">
                <a16:creationId xmlns:a16="http://schemas.microsoft.com/office/drawing/2014/main" id="{9C8965CC-82BC-142C-1D04-A6F13E609801}"/>
              </a:ext>
            </a:extLst>
          </p:cNvPr>
          <p:cNvSpPr>
            <a:spLocks noChangeArrowheads="1"/>
          </p:cNvSpPr>
          <p:nvPr>
            <p:ph type="body" idx="1"/>
          </p:nvPr>
        </p:nvSpPr>
        <p:spPr/>
        <p:txBody>
          <a:bodyPr/>
          <a:lstStyle/>
          <a:p>
            <a:pPr>
              <a:spcBef>
                <a:spcPts val="400"/>
              </a:spcBef>
            </a:pPr>
            <a:r>
              <a:rPr lang="en-US" altLang="en-US" sz="2000"/>
              <a:t>Check whether the following schedule is strict schedule </a:t>
            </a:r>
          </a:p>
        </p:txBody>
      </p:sp>
      <p:sp>
        <p:nvSpPr>
          <p:cNvPr id="200708" name="Text Box 4" descr="Date Placeholder 3">
            <a:extLst>
              <a:ext uri="{FF2B5EF4-FFF2-40B4-BE49-F238E27FC236}">
                <a16:creationId xmlns:a16="http://schemas.microsoft.com/office/drawing/2014/main" id="{1222D8D2-0AF9-0857-E90D-659696356C0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0709" name="Text Box 5" descr="Slide Number Placeholder 5">
            <a:extLst>
              <a:ext uri="{FF2B5EF4-FFF2-40B4-BE49-F238E27FC236}">
                <a16:creationId xmlns:a16="http://schemas.microsoft.com/office/drawing/2014/main" id="{16E4F6B9-4B78-1EAA-AFD1-4F4DEAB91A1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2F793F3-2103-457E-9BD2-81642632885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00710" name="Text Box 6" descr="TextBox 12">
            <a:extLst>
              <a:ext uri="{FF2B5EF4-FFF2-40B4-BE49-F238E27FC236}">
                <a16:creationId xmlns:a16="http://schemas.microsoft.com/office/drawing/2014/main" id="{2BA55734-2FE9-FFCF-F2F0-BDE295ACB86B}"/>
              </a:ext>
            </a:extLst>
          </p:cNvPr>
          <p:cNvSpPr txBox="1">
            <a:spLocks/>
          </p:cNvSpPr>
          <p:nvPr/>
        </p:nvSpPr>
        <p:spPr bwMode="auto">
          <a:xfrm>
            <a:off x="657225" y="3644900"/>
            <a:ext cx="7667625" cy="2249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38100" indent="-381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Strict schedule</a:t>
            </a:r>
            <a:r>
              <a:rPr lang="en-US" altLang="en-US" sz="1400"/>
              <a:t>: A schedule is strict if it satisfies the following conditions:</a:t>
            </a:r>
          </a:p>
          <a:p>
            <a:pPr>
              <a:buSzPct val="100000"/>
              <a:buFontTx/>
              <a:buAutoNum type="arabicPeriod"/>
            </a:pPr>
            <a:r>
              <a:rPr lang="en-US" altLang="en-US" sz="1400"/>
              <a:t>Tj reads a data item X </a:t>
            </a:r>
            <a:r>
              <a:rPr lang="en-US" altLang="en-US" sz="1400" b="1" i="1"/>
              <a:t>after </a:t>
            </a:r>
            <a:r>
              <a:rPr lang="en-US" altLang="en-US" sz="1400"/>
              <a:t>Ti has written to X and Ti is committed (aborted or </a:t>
            </a:r>
          </a:p>
          <a:p>
            <a:r>
              <a:rPr lang="en-US" altLang="en-US" sz="1400"/>
              <a:t>terminated)</a:t>
            </a:r>
          </a:p>
          <a:p>
            <a:r>
              <a:rPr lang="en-US" altLang="en-US" sz="1400"/>
              <a:t>2. Tj writes a data item X </a:t>
            </a:r>
            <a:r>
              <a:rPr lang="en-US" altLang="en-US" sz="1400" b="1" i="1"/>
              <a:t>after </a:t>
            </a:r>
            <a:r>
              <a:rPr lang="en-US" altLang="en-US" sz="1400"/>
              <a:t>Ti has written to X and Ti is committed (aborted or </a:t>
            </a:r>
          </a:p>
          <a:p>
            <a:r>
              <a:rPr lang="en-US" altLang="en-US" sz="1400"/>
              <a:t>terminated)</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C00000"/>
                </a:solidFill>
              </a:rPr>
              <a:t>Ci(x)</a:t>
            </a:r>
            <a:r>
              <a:rPr lang="en-US" altLang="en-US" sz="1400"/>
              <a:t>………………</a:t>
            </a:r>
            <a:r>
              <a:rPr lang="en-US" altLang="en-US" sz="1400">
                <a:solidFill>
                  <a:srgbClr val="0000FF"/>
                </a:solidFill>
              </a:rPr>
              <a:t>Rj(x)/Wj(x)</a:t>
            </a:r>
            <a:r>
              <a:rPr lang="en-US" altLang="en-US" sz="1400"/>
              <a:t>   -&gt; This schedule is </a:t>
            </a:r>
            <a:r>
              <a:rPr lang="en-US" altLang="en-US" sz="1400">
                <a:solidFill>
                  <a:srgbClr val="FF0000"/>
                </a:solidFill>
              </a:rPr>
              <a:t>Strict</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Rj(x)/Wj(x )</a:t>
            </a:r>
            <a:r>
              <a:rPr lang="en-US" altLang="en-US" sz="1400"/>
              <a:t>…..</a:t>
            </a:r>
            <a:r>
              <a:rPr lang="en-US" altLang="en-US" sz="1400">
                <a:solidFill>
                  <a:srgbClr val="C00000"/>
                </a:solidFill>
              </a:rPr>
              <a:t>Ci(x)</a:t>
            </a:r>
            <a:r>
              <a:rPr lang="en-US" altLang="en-US" sz="1400"/>
              <a:t>           -&gt; This schedule is </a:t>
            </a:r>
            <a:r>
              <a:rPr lang="en-US" altLang="en-US" sz="1400">
                <a:solidFill>
                  <a:srgbClr val="008000"/>
                </a:solidFill>
              </a:rPr>
              <a:t>not strict</a:t>
            </a:r>
          </a:p>
          <a:p>
            <a:endParaRPr lang="en-US" altLang="en-US" sz="1400"/>
          </a:p>
        </p:txBody>
      </p:sp>
      <p:pic>
        <p:nvPicPr>
          <p:cNvPr id="200711" name="Picture 7" descr="Picture 3">
            <a:extLst>
              <a:ext uri="{FF2B5EF4-FFF2-40B4-BE49-F238E27FC236}">
                <a16:creationId xmlns:a16="http://schemas.microsoft.com/office/drawing/2014/main" id="{FF347D36-8DAE-4832-3C17-76AC0FC63D3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1916113"/>
            <a:ext cx="6848475"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200712" name="Group 8">
            <a:extLst>
              <a:ext uri="{FF2B5EF4-FFF2-40B4-BE49-F238E27FC236}">
                <a16:creationId xmlns:a16="http://schemas.microsoft.com/office/drawing/2014/main" id="{1E0853D4-E237-BB70-5806-D65BE0BAEDDC}"/>
              </a:ext>
            </a:extLst>
          </p:cNvPr>
          <p:cNvGrpSpPr>
            <a:grpSpLocks/>
          </p:cNvGrpSpPr>
          <p:nvPr/>
        </p:nvGrpSpPr>
        <p:grpSpPr bwMode="auto">
          <a:xfrm>
            <a:off x="898525" y="2762250"/>
            <a:ext cx="5184775" cy="747713"/>
            <a:chOff x="0" y="-1"/>
            <a:chExt cx="5184577" cy="748667"/>
          </a:xfrm>
        </p:grpSpPr>
        <p:sp>
          <p:nvSpPr>
            <p:cNvPr id="200713" name="Text Box 9" descr="TextBox 6">
              <a:extLst>
                <a:ext uri="{FF2B5EF4-FFF2-40B4-BE49-F238E27FC236}">
                  <a16:creationId xmlns:a16="http://schemas.microsoft.com/office/drawing/2014/main" id="{9918BE3C-FFD0-377C-2088-5DBDF14763A9}"/>
                </a:ext>
              </a:extLst>
            </p:cNvPr>
            <p:cNvSpPr txBox="1">
              <a:spLocks/>
            </p:cNvSpPr>
            <p:nvPr/>
          </p:nvSpPr>
          <p:spPr bwMode="auto">
            <a:xfrm>
              <a:off x="0" y="0"/>
              <a:ext cx="5184577" cy="748665"/>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b="1"/>
                <a:t>Answer: </a:t>
              </a:r>
              <a:r>
                <a:rPr lang="en-US" altLang="en-US" sz="1400"/>
                <a:t>Not, Strict</a:t>
              </a:r>
            </a:p>
            <a:p>
              <a:endParaRPr lang="en-US" altLang="en-US" sz="1400"/>
            </a:p>
          </p:txBody>
        </p:sp>
        <p:pic>
          <p:nvPicPr>
            <p:cNvPr id="200714" name="Picture 10" descr="Picture 4">
              <a:extLst>
                <a:ext uri="{FF2B5EF4-FFF2-40B4-BE49-F238E27FC236}">
                  <a16:creationId xmlns:a16="http://schemas.microsoft.com/office/drawing/2014/main" id="{AFB1186A-D4B7-3032-0B89-AD96C9F51AC7}"/>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4015" y="307828"/>
              <a:ext cx="4591051" cy="34024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spTree>
  </p:cSld>
  <p:clrMapOvr>
    <a:masterClrMapping/>
  </p:clrMapOvr>
  <p:transition spd="med"/>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descr="Title 1">
            <a:extLst>
              <a:ext uri="{FF2B5EF4-FFF2-40B4-BE49-F238E27FC236}">
                <a16:creationId xmlns:a16="http://schemas.microsoft.com/office/drawing/2014/main" id="{C4BB05C1-88F8-488A-EEA8-66AC63DF7732}"/>
              </a:ext>
            </a:extLst>
          </p:cNvPr>
          <p:cNvSpPr>
            <a:spLocks noChangeArrowheads="1"/>
          </p:cNvSpPr>
          <p:nvPr>
            <p:ph type="title"/>
          </p:nvPr>
        </p:nvSpPr>
        <p:spPr/>
        <p:txBody>
          <a:bodyPr/>
          <a:lstStyle/>
          <a:p>
            <a:r>
              <a:rPr lang="en-US" altLang="en-US" sz="2400">
                <a:solidFill>
                  <a:srgbClr val="FF0000"/>
                </a:solidFill>
              </a:rPr>
              <a:t>Problem to Solve on Strict Schedules</a:t>
            </a:r>
          </a:p>
        </p:txBody>
      </p:sp>
      <p:sp>
        <p:nvSpPr>
          <p:cNvPr id="201731" name="Rectangle 3" descr="Content Placeholder 2">
            <a:extLst>
              <a:ext uri="{FF2B5EF4-FFF2-40B4-BE49-F238E27FC236}">
                <a16:creationId xmlns:a16="http://schemas.microsoft.com/office/drawing/2014/main" id="{92061272-4E9A-608D-B4B4-0FD332BA25C6}"/>
              </a:ext>
            </a:extLst>
          </p:cNvPr>
          <p:cNvSpPr>
            <a:spLocks noChangeArrowheads="1"/>
          </p:cNvSpPr>
          <p:nvPr>
            <p:ph type="body" idx="1"/>
          </p:nvPr>
        </p:nvSpPr>
        <p:spPr/>
        <p:txBody>
          <a:bodyPr/>
          <a:lstStyle/>
          <a:p>
            <a:pPr>
              <a:spcBef>
                <a:spcPts val="400"/>
              </a:spcBef>
            </a:pPr>
            <a:r>
              <a:rPr lang="en-US" altLang="en-US" sz="2000"/>
              <a:t>Check whether the following schedule is strict schedule </a:t>
            </a:r>
          </a:p>
        </p:txBody>
      </p:sp>
      <p:sp>
        <p:nvSpPr>
          <p:cNvPr id="201732" name="Text Box 4" descr="Date Placeholder 3">
            <a:extLst>
              <a:ext uri="{FF2B5EF4-FFF2-40B4-BE49-F238E27FC236}">
                <a16:creationId xmlns:a16="http://schemas.microsoft.com/office/drawing/2014/main" id="{38E712E6-6E56-EFB8-7D01-73899AF8619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1733" name="Text Box 5" descr="Slide Number Placeholder 5">
            <a:extLst>
              <a:ext uri="{FF2B5EF4-FFF2-40B4-BE49-F238E27FC236}">
                <a16:creationId xmlns:a16="http://schemas.microsoft.com/office/drawing/2014/main" id="{BFDBA930-C7A6-5117-B040-1D39229068A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22A6E49-71FB-4985-977D-B1D67D7DA61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01734" name="Picture 6" descr="Picture 3">
            <a:extLst>
              <a:ext uri="{FF2B5EF4-FFF2-40B4-BE49-F238E27FC236}">
                <a16:creationId xmlns:a16="http://schemas.microsoft.com/office/drawing/2014/main" id="{A59FA047-4D51-DF21-2FA8-C630DADC567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2028825"/>
            <a:ext cx="3876675"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1735" name="Text Box 7" descr="TextBox 12">
            <a:extLst>
              <a:ext uri="{FF2B5EF4-FFF2-40B4-BE49-F238E27FC236}">
                <a16:creationId xmlns:a16="http://schemas.microsoft.com/office/drawing/2014/main" id="{086EF0C6-31F0-26EB-6FD9-AE44095AEF4A}"/>
              </a:ext>
            </a:extLst>
          </p:cNvPr>
          <p:cNvSpPr txBox="1">
            <a:spLocks/>
          </p:cNvSpPr>
          <p:nvPr/>
        </p:nvSpPr>
        <p:spPr bwMode="auto">
          <a:xfrm>
            <a:off x="657225" y="3644900"/>
            <a:ext cx="7667625" cy="2249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38100" indent="-381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Strict schedule</a:t>
            </a:r>
            <a:r>
              <a:rPr lang="en-US" altLang="en-US" sz="1400"/>
              <a:t>: A schedule is strict if it satisfies the following conditions:</a:t>
            </a:r>
          </a:p>
          <a:p>
            <a:pPr>
              <a:buSzPct val="100000"/>
              <a:buFontTx/>
              <a:buAutoNum type="arabicPeriod"/>
            </a:pPr>
            <a:r>
              <a:rPr lang="en-US" altLang="en-US" sz="1400"/>
              <a:t>Tj reads a data item X </a:t>
            </a:r>
            <a:r>
              <a:rPr lang="en-US" altLang="en-US" sz="1400" b="1" i="1"/>
              <a:t>after </a:t>
            </a:r>
            <a:r>
              <a:rPr lang="en-US" altLang="en-US" sz="1400"/>
              <a:t>Ti has written to X and Ti is committed (aborted or </a:t>
            </a:r>
          </a:p>
          <a:p>
            <a:r>
              <a:rPr lang="en-US" altLang="en-US" sz="1400"/>
              <a:t>terminated)</a:t>
            </a:r>
          </a:p>
          <a:p>
            <a:r>
              <a:rPr lang="en-US" altLang="en-US" sz="1400"/>
              <a:t>2. Tj writes a data item X </a:t>
            </a:r>
            <a:r>
              <a:rPr lang="en-US" altLang="en-US" sz="1400" b="1" i="1"/>
              <a:t>after </a:t>
            </a:r>
            <a:r>
              <a:rPr lang="en-US" altLang="en-US" sz="1400"/>
              <a:t>Ti has written to X and Ti is committed (aborted or </a:t>
            </a:r>
          </a:p>
          <a:p>
            <a:r>
              <a:rPr lang="en-US" altLang="en-US" sz="1400"/>
              <a:t>terminated)</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C00000"/>
                </a:solidFill>
              </a:rPr>
              <a:t>Ci(x)</a:t>
            </a:r>
            <a:r>
              <a:rPr lang="en-US" altLang="en-US" sz="1400"/>
              <a:t>………………</a:t>
            </a:r>
            <a:r>
              <a:rPr lang="en-US" altLang="en-US" sz="1400">
                <a:solidFill>
                  <a:srgbClr val="0000FF"/>
                </a:solidFill>
              </a:rPr>
              <a:t>Rj(x)/Wj(x)</a:t>
            </a:r>
            <a:r>
              <a:rPr lang="en-US" altLang="en-US" sz="1400"/>
              <a:t>   -&gt; This schedule is </a:t>
            </a:r>
            <a:r>
              <a:rPr lang="en-US" altLang="en-US" sz="1400">
                <a:solidFill>
                  <a:srgbClr val="FF0000"/>
                </a:solidFill>
              </a:rPr>
              <a:t>Strict</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Rj(x)/Wj(x )</a:t>
            </a:r>
            <a:r>
              <a:rPr lang="en-US" altLang="en-US" sz="1400"/>
              <a:t>…..</a:t>
            </a:r>
            <a:r>
              <a:rPr lang="en-US" altLang="en-US" sz="1400">
                <a:solidFill>
                  <a:srgbClr val="C00000"/>
                </a:solidFill>
              </a:rPr>
              <a:t>Ci(x)</a:t>
            </a:r>
            <a:r>
              <a:rPr lang="en-US" altLang="en-US" sz="1400"/>
              <a:t>           -&gt; This schedule is </a:t>
            </a:r>
            <a:r>
              <a:rPr lang="en-US" altLang="en-US" sz="1400">
                <a:solidFill>
                  <a:srgbClr val="008000"/>
                </a:solidFill>
              </a:rPr>
              <a:t>not strict</a:t>
            </a:r>
          </a:p>
          <a:p>
            <a:endParaRPr lang="en-US" altLang="en-US" sz="1400"/>
          </a:p>
        </p:txBody>
      </p:sp>
    </p:spTree>
  </p:cSld>
  <p:clrMapOvr>
    <a:masterClrMapping/>
  </p:clrMapOvr>
  <p:transition spd="med"/>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descr="Title 1">
            <a:extLst>
              <a:ext uri="{FF2B5EF4-FFF2-40B4-BE49-F238E27FC236}">
                <a16:creationId xmlns:a16="http://schemas.microsoft.com/office/drawing/2014/main" id="{026A4783-CFFD-B24D-8CFD-7796D0BB4020}"/>
              </a:ext>
            </a:extLst>
          </p:cNvPr>
          <p:cNvSpPr>
            <a:spLocks noChangeArrowheads="1"/>
          </p:cNvSpPr>
          <p:nvPr>
            <p:ph type="title"/>
          </p:nvPr>
        </p:nvSpPr>
        <p:spPr/>
        <p:txBody>
          <a:bodyPr/>
          <a:lstStyle/>
          <a:p>
            <a:r>
              <a:rPr lang="en-US" altLang="en-US" sz="2400">
                <a:solidFill>
                  <a:srgbClr val="FF0000"/>
                </a:solidFill>
              </a:rPr>
              <a:t>Problem to Solve on Strict Schedules</a:t>
            </a:r>
          </a:p>
        </p:txBody>
      </p:sp>
      <p:sp>
        <p:nvSpPr>
          <p:cNvPr id="202755" name="Rectangle 3" descr="Content Placeholder 2">
            <a:extLst>
              <a:ext uri="{FF2B5EF4-FFF2-40B4-BE49-F238E27FC236}">
                <a16:creationId xmlns:a16="http://schemas.microsoft.com/office/drawing/2014/main" id="{4AD5693B-638C-E2E0-5123-390CA047A1D4}"/>
              </a:ext>
            </a:extLst>
          </p:cNvPr>
          <p:cNvSpPr>
            <a:spLocks noChangeArrowheads="1"/>
          </p:cNvSpPr>
          <p:nvPr>
            <p:ph type="body" idx="1"/>
          </p:nvPr>
        </p:nvSpPr>
        <p:spPr/>
        <p:txBody>
          <a:bodyPr/>
          <a:lstStyle/>
          <a:p>
            <a:pPr>
              <a:spcBef>
                <a:spcPts val="400"/>
              </a:spcBef>
            </a:pPr>
            <a:r>
              <a:rPr lang="en-US" altLang="en-US" sz="2000"/>
              <a:t>Check whether the following schedule is strict schedule </a:t>
            </a:r>
          </a:p>
        </p:txBody>
      </p:sp>
      <p:sp>
        <p:nvSpPr>
          <p:cNvPr id="202756" name="Text Box 4" descr="Date Placeholder 3">
            <a:extLst>
              <a:ext uri="{FF2B5EF4-FFF2-40B4-BE49-F238E27FC236}">
                <a16:creationId xmlns:a16="http://schemas.microsoft.com/office/drawing/2014/main" id="{AC7AF796-840C-C695-24AF-22693F5D4FF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2757" name="Text Box 5" descr="Slide Number Placeholder 5">
            <a:extLst>
              <a:ext uri="{FF2B5EF4-FFF2-40B4-BE49-F238E27FC236}">
                <a16:creationId xmlns:a16="http://schemas.microsoft.com/office/drawing/2014/main" id="{45FCD75F-4488-C4F0-1A14-A1513802B864}"/>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2B5A680-B272-4679-9346-B8FB9B8550F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02758" name="Text Box 6" descr="TextBox 6">
            <a:extLst>
              <a:ext uri="{FF2B5EF4-FFF2-40B4-BE49-F238E27FC236}">
                <a16:creationId xmlns:a16="http://schemas.microsoft.com/office/drawing/2014/main" id="{3A5A7CAE-880D-AAB9-9EA7-2A115E7E3D41}"/>
              </a:ext>
            </a:extLst>
          </p:cNvPr>
          <p:cNvSpPr txBox="1">
            <a:spLocks/>
          </p:cNvSpPr>
          <p:nvPr/>
        </p:nvSpPr>
        <p:spPr bwMode="auto">
          <a:xfrm>
            <a:off x="898525" y="2852738"/>
            <a:ext cx="1900238" cy="315912"/>
          </a:xfrm>
          <a:prstGeom prst="rect">
            <a:avLst/>
          </a:pr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Answer: </a:t>
            </a:r>
            <a:r>
              <a:rPr lang="en-US" altLang="en-US" sz="1400"/>
              <a:t>Yes, Strict</a:t>
            </a:r>
            <a:endParaRPr lang="en-US" altLang="en-US" sz="1400" b="1"/>
          </a:p>
        </p:txBody>
      </p:sp>
      <p:pic>
        <p:nvPicPr>
          <p:cNvPr id="202759" name="Picture 7" descr="Picture 3">
            <a:extLst>
              <a:ext uri="{FF2B5EF4-FFF2-40B4-BE49-F238E27FC236}">
                <a16:creationId xmlns:a16="http://schemas.microsoft.com/office/drawing/2014/main" id="{8D5516F1-0FAC-B5F5-1924-F96B98B788B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98525" y="2028825"/>
            <a:ext cx="3876675"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2760" name="Text Box 8" descr="TextBox 12">
            <a:extLst>
              <a:ext uri="{FF2B5EF4-FFF2-40B4-BE49-F238E27FC236}">
                <a16:creationId xmlns:a16="http://schemas.microsoft.com/office/drawing/2014/main" id="{2953A1B1-AA66-42DD-C40F-58DE7DDD3D7D}"/>
              </a:ext>
            </a:extLst>
          </p:cNvPr>
          <p:cNvSpPr txBox="1">
            <a:spLocks/>
          </p:cNvSpPr>
          <p:nvPr/>
        </p:nvSpPr>
        <p:spPr bwMode="auto">
          <a:xfrm>
            <a:off x="657225" y="3644900"/>
            <a:ext cx="7667625" cy="2249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marL="38100" indent="-381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r>
              <a:rPr lang="en-US" altLang="en-US" sz="1400" b="1"/>
              <a:t>Strict schedule</a:t>
            </a:r>
            <a:r>
              <a:rPr lang="en-US" altLang="en-US" sz="1400"/>
              <a:t>: A schedule is strict if it satisfies the following conditions:</a:t>
            </a:r>
          </a:p>
          <a:p>
            <a:pPr>
              <a:buSzPct val="100000"/>
              <a:buFontTx/>
              <a:buAutoNum type="arabicPeriod"/>
            </a:pPr>
            <a:r>
              <a:rPr lang="en-US" altLang="en-US" sz="1400"/>
              <a:t>Tj reads a data item X </a:t>
            </a:r>
            <a:r>
              <a:rPr lang="en-US" altLang="en-US" sz="1400" b="1" i="1"/>
              <a:t>after </a:t>
            </a:r>
            <a:r>
              <a:rPr lang="en-US" altLang="en-US" sz="1400"/>
              <a:t>Ti has written to X and Ti is committed (aborted or </a:t>
            </a:r>
          </a:p>
          <a:p>
            <a:r>
              <a:rPr lang="en-US" altLang="en-US" sz="1400"/>
              <a:t>terminated)</a:t>
            </a:r>
          </a:p>
          <a:p>
            <a:r>
              <a:rPr lang="en-US" altLang="en-US" sz="1400"/>
              <a:t>2. Tj writes a data item X </a:t>
            </a:r>
            <a:r>
              <a:rPr lang="en-US" altLang="en-US" sz="1400" b="1" i="1"/>
              <a:t>after </a:t>
            </a:r>
            <a:r>
              <a:rPr lang="en-US" altLang="en-US" sz="1400"/>
              <a:t>Ti has written to X and Ti is committed (aborted or </a:t>
            </a:r>
          </a:p>
          <a:p>
            <a:r>
              <a:rPr lang="en-US" altLang="en-US" sz="1400"/>
              <a:t>terminated)</a:t>
            </a:r>
          </a:p>
          <a:p>
            <a:endParaRPr lang="en-US" altLang="en-US" sz="1400"/>
          </a:p>
          <a:p>
            <a:r>
              <a:rPr lang="en-US" altLang="en-US" sz="1400"/>
              <a:t>……..</a:t>
            </a:r>
            <a:r>
              <a:rPr lang="en-US" altLang="en-US" sz="1400">
                <a:solidFill>
                  <a:srgbClr val="C00000"/>
                </a:solidFill>
              </a:rPr>
              <a:t>Wi(x)</a:t>
            </a:r>
            <a:r>
              <a:rPr lang="en-US" altLang="en-US" sz="1400"/>
              <a:t>…………</a:t>
            </a:r>
            <a:r>
              <a:rPr lang="en-US" altLang="en-US" sz="1400">
                <a:solidFill>
                  <a:srgbClr val="C00000"/>
                </a:solidFill>
              </a:rPr>
              <a:t>Ci(x)</a:t>
            </a:r>
            <a:r>
              <a:rPr lang="en-US" altLang="en-US" sz="1400"/>
              <a:t>………………</a:t>
            </a:r>
            <a:r>
              <a:rPr lang="en-US" altLang="en-US" sz="1400">
                <a:solidFill>
                  <a:srgbClr val="0000FF"/>
                </a:solidFill>
              </a:rPr>
              <a:t>Rj(x)/Wj(x)</a:t>
            </a:r>
            <a:r>
              <a:rPr lang="en-US" altLang="en-US" sz="1400"/>
              <a:t>   -&gt; This schedule is </a:t>
            </a:r>
            <a:r>
              <a:rPr lang="en-US" altLang="en-US" sz="1400">
                <a:solidFill>
                  <a:srgbClr val="FF0000"/>
                </a:solidFill>
              </a:rPr>
              <a:t>Strict</a:t>
            </a:r>
          </a:p>
          <a:p>
            <a:r>
              <a:rPr lang="en-US" altLang="en-US" sz="1400"/>
              <a:t>……..</a:t>
            </a:r>
            <a:r>
              <a:rPr lang="en-US" altLang="en-US" sz="1400">
                <a:solidFill>
                  <a:srgbClr val="C00000"/>
                </a:solidFill>
              </a:rPr>
              <a:t>Wi(x)</a:t>
            </a:r>
            <a:r>
              <a:rPr lang="en-US" altLang="en-US" sz="1400"/>
              <a:t>…………</a:t>
            </a:r>
            <a:r>
              <a:rPr lang="en-US" altLang="en-US" sz="1400">
                <a:solidFill>
                  <a:srgbClr val="0000FF"/>
                </a:solidFill>
              </a:rPr>
              <a:t>Rj(x)/Wj(x )</a:t>
            </a:r>
            <a:r>
              <a:rPr lang="en-US" altLang="en-US" sz="1400"/>
              <a:t>…..</a:t>
            </a:r>
            <a:r>
              <a:rPr lang="en-US" altLang="en-US" sz="1400">
                <a:solidFill>
                  <a:srgbClr val="C00000"/>
                </a:solidFill>
              </a:rPr>
              <a:t>Ci(x)</a:t>
            </a:r>
            <a:r>
              <a:rPr lang="en-US" altLang="en-US" sz="1400"/>
              <a:t>           -&gt; This schedule is </a:t>
            </a:r>
            <a:r>
              <a:rPr lang="en-US" altLang="en-US" sz="1400">
                <a:solidFill>
                  <a:srgbClr val="008000"/>
                </a:solidFill>
              </a:rPr>
              <a:t>not strict</a:t>
            </a:r>
          </a:p>
          <a:p>
            <a:endParaRPr lang="en-US" altLang="en-US" sz="1400"/>
          </a:p>
        </p:txBody>
      </p:sp>
    </p:spTree>
  </p:cSld>
  <p:clrMapOvr>
    <a:masterClrMapping/>
  </p:clrMapOvr>
  <p:transition spd="med"/>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descr="Title 1">
            <a:extLst>
              <a:ext uri="{FF2B5EF4-FFF2-40B4-BE49-F238E27FC236}">
                <a16:creationId xmlns:a16="http://schemas.microsoft.com/office/drawing/2014/main" id="{22DF4F8D-E0AD-4685-108A-1E1764250D83}"/>
              </a:ext>
            </a:extLst>
          </p:cNvPr>
          <p:cNvSpPr>
            <a:spLocks noChangeArrowheads="1"/>
          </p:cNvSpPr>
          <p:nvPr>
            <p:ph type="title"/>
          </p:nvPr>
        </p:nvSpPr>
        <p:spPr/>
        <p:txBody>
          <a:bodyPr/>
          <a:lstStyle/>
          <a:p>
            <a:r>
              <a:rPr lang="en-US" altLang="en-US" sz="2400"/>
              <a:t>Summary of Schedules based on Recoverability</a:t>
            </a:r>
          </a:p>
        </p:txBody>
      </p:sp>
      <p:sp>
        <p:nvSpPr>
          <p:cNvPr id="203779" name="Text Box 3" descr="Date Placeholder 3">
            <a:extLst>
              <a:ext uri="{FF2B5EF4-FFF2-40B4-BE49-F238E27FC236}">
                <a16:creationId xmlns:a16="http://schemas.microsoft.com/office/drawing/2014/main" id="{D265A879-D616-C93F-C5CD-B62941A027D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3780" name="Text Box 4" descr="Slide Number Placeholder 5">
            <a:extLst>
              <a:ext uri="{FF2B5EF4-FFF2-40B4-BE49-F238E27FC236}">
                <a16:creationId xmlns:a16="http://schemas.microsoft.com/office/drawing/2014/main" id="{596B62E9-14B4-392B-D981-D7AD17CE6DA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7A88814-2121-4E74-A3E8-406EA61C218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203781" name="Group 5">
            <a:extLst>
              <a:ext uri="{FF2B5EF4-FFF2-40B4-BE49-F238E27FC236}">
                <a16:creationId xmlns:a16="http://schemas.microsoft.com/office/drawing/2014/main" id="{385C365E-CBD3-ECE7-AAF5-3548DAB1C3D1}"/>
              </a:ext>
            </a:extLst>
          </p:cNvPr>
          <p:cNvGrpSpPr>
            <a:grpSpLocks/>
          </p:cNvGrpSpPr>
          <p:nvPr/>
        </p:nvGrpSpPr>
        <p:grpSpPr bwMode="auto">
          <a:xfrm>
            <a:off x="754063" y="1268413"/>
            <a:ext cx="7273925" cy="3959225"/>
            <a:chOff x="-1" y="-1"/>
            <a:chExt cx="7272809" cy="3960442"/>
          </a:xfrm>
        </p:grpSpPr>
        <p:sp>
          <p:nvSpPr>
            <p:cNvPr id="203782" name="Rectangle 6" descr="Rectangle 3">
              <a:extLst>
                <a:ext uri="{FF2B5EF4-FFF2-40B4-BE49-F238E27FC236}">
                  <a16:creationId xmlns:a16="http://schemas.microsoft.com/office/drawing/2014/main" id="{205BCC50-4EFC-A634-CEA8-E70F60A83F6A}"/>
                </a:ext>
              </a:extLst>
            </p:cNvPr>
            <p:cNvSpPr>
              <a:spLocks/>
            </p:cNvSpPr>
            <p:nvPr/>
          </p:nvSpPr>
          <p:spPr bwMode="auto">
            <a:xfrm>
              <a:off x="-1" y="-1"/>
              <a:ext cx="7272809" cy="3960442"/>
            </a:xfrm>
            <a:prstGeom prst="rect">
              <a:avLst/>
            </a:prstGeom>
            <a:solidFill>
              <a:srgbClr val="FFFFFF"/>
            </a:solidFill>
            <a:ln w="9525" cap="flat" cmpd="sng">
              <a:solidFill>
                <a:srgbClr val="000000"/>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endParaRPr lang="en-US" altLang="en-US"/>
            </a:p>
          </p:txBody>
        </p:sp>
        <p:sp>
          <p:nvSpPr>
            <p:cNvPr id="203783" name="Rectangle 7" descr="Rectangle 3">
              <a:extLst>
                <a:ext uri="{FF2B5EF4-FFF2-40B4-BE49-F238E27FC236}">
                  <a16:creationId xmlns:a16="http://schemas.microsoft.com/office/drawing/2014/main" id="{8084F697-44E5-5CF9-D20B-304FAB42CD09}"/>
                </a:ext>
              </a:extLst>
            </p:cNvPr>
            <p:cNvSpPr>
              <a:spLocks/>
            </p:cNvSpPr>
            <p:nvPr/>
          </p:nvSpPr>
          <p:spPr bwMode="auto">
            <a:xfrm>
              <a:off x="366216" y="576063"/>
              <a:ext cx="6604001" cy="3162922"/>
            </a:xfrm>
            <a:prstGeom prst="rect">
              <a:avLst/>
            </a:prstGeom>
            <a:solidFill>
              <a:srgbClr val="FFFFFF"/>
            </a:solidFill>
            <a:ln w="9525" cap="flat" cmpd="sng">
              <a:solidFill>
                <a:srgbClr val="000000"/>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endParaRPr lang="en-US" altLang="en-US"/>
            </a:p>
          </p:txBody>
        </p:sp>
        <p:grpSp>
          <p:nvGrpSpPr>
            <p:cNvPr id="203784" name="Group 8">
              <a:extLst>
                <a:ext uri="{FF2B5EF4-FFF2-40B4-BE49-F238E27FC236}">
                  <a16:creationId xmlns:a16="http://schemas.microsoft.com/office/drawing/2014/main" id="{F19C6033-A749-977A-19AB-5AB13847E764}"/>
                </a:ext>
              </a:extLst>
            </p:cNvPr>
            <p:cNvGrpSpPr>
              <a:grpSpLocks/>
            </p:cNvGrpSpPr>
            <p:nvPr/>
          </p:nvGrpSpPr>
          <p:grpSpPr bwMode="auto">
            <a:xfrm>
              <a:off x="1013916" y="1275183"/>
              <a:ext cx="5295901" cy="2181201"/>
              <a:chOff x="0" y="-1"/>
              <a:chExt cx="5295900" cy="2181202"/>
            </a:xfrm>
          </p:grpSpPr>
          <p:sp>
            <p:nvSpPr>
              <p:cNvPr id="203785" name="Rectangle 9">
                <a:extLst>
                  <a:ext uri="{FF2B5EF4-FFF2-40B4-BE49-F238E27FC236}">
                    <a16:creationId xmlns:a16="http://schemas.microsoft.com/office/drawing/2014/main" id="{3A38118D-0534-6374-7C6C-7E6359305C7C}"/>
                  </a:ext>
                </a:extLst>
              </p:cNvPr>
              <p:cNvSpPr>
                <a:spLocks/>
              </p:cNvSpPr>
              <p:nvPr/>
            </p:nvSpPr>
            <p:spPr bwMode="auto">
              <a:xfrm>
                <a:off x="0" y="-1"/>
                <a:ext cx="5295900" cy="2181202"/>
              </a:xfrm>
              <a:prstGeom prst="rect">
                <a:avLst/>
              </a:prstGeom>
              <a:solidFill>
                <a:srgbClr val="FFFFFF"/>
              </a:solidFill>
              <a:ln w="9525" cap="flat" cmpd="sng">
                <a:solidFill>
                  <a:srgbClr val="000000"/>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algn="ctr"/>
                <a:endParaRPr lang="en-US" altLang="en-US"/>
              </a:p>
            </p:txBody>
          </p:sp>
          <p:sp>
            <p:nvSpPr>
              <p:cNvPr id="203786" name="Text Box 10">
                <a:extLst>
                  <a:ext uri="{FF2B5EF4-FFF2-40B4-BE49-F238E27FC236}">
                    <a16:creationId xmlns:a16="http://schemas.microsoft.com/office/drawing/2014/main" id="{BF3F523B-8774-1912-E302-8B9BE3DB3E7D}"/>
                  </a:ext>
                </a:extLst>
              </p:cNvPr>
              <p:cNvSpPr txBox="1">
                <a:spLocks/>
              </p:cNvSpPr>
              <p:nvPr/>
            </p:nvSpPr>
            <p:spPr bwMode="auto">
              <a:xfrm>
                <a:off x="1132025" y="905180"/>
                <a:ext cx="3031850"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nchor="ctr">
                <a:spAutoFit/>
              </a:bodyPr>
              <a:lstStyle/>
              <a:p>
                <a:pPr algn="ctr"/>
                <a:r>
                  <a:rPr lang="en-US" altLang="en-US"/>
                  <a:t>Avoids cascading rollback</a:t>
                </a:r>
              </a:p>
            </p:txBody>
          </p:sp>
        </p:grpSp>
        <p:sp>
          <p:nvSpPr>
            <p:cNvPr id="203787" name="Rectangle 11" descr="Rectangle 5">
              <a:extLst>
                <a:ext uri="{FF2B5EF4-FFF2-40B4-BE49-F238E27FC236}">
                  <a16:creationId xmlns:a16="http://schemas.microsoft.com/office/drawing/2014/main" id="{8EBB2E82-ED7C-6BB0-1ECE-8E5D7AA58C9F}"/>
                </a:ext>
              </a:extLst>
            </p:cNvPr>
            <p:cNvSpPr>
              <a:spLocks/>
            </p:cNvSpPr>
            <p:nvPr/>
          </p:nvSpPr>
          <p:spPr bwMode="auto">
            <a:xfrm>
              <a:off x="1521916" y="1911051"/>
              <a:ext cx="4330701" cy="1257301"/>
            </a:xfrm>
            <a:prstGeom prst="rect">
              <a:avLst/>
            </a:prstGeom>
            <a:solidFill>
              <a:srgbClr val="FFFFFF"/>
            </a:solidFill>
            <a:ln w="9525" cap="flat" cmpd="sng">
              <a:solidFill>
                <a:srgbClr val="000000"/>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endParaRPr lang="en-US" altLang="en-US"/>
            </a:p>
          </p:txBody>
        </p:sp>
        <p:sp>
          <p:nvSpPr>
            <p:cNvPr id="203788" name="Text Box 12" descr="Text Box 8">
              <a:extLst>
                <a:ext uri="{FF2B5EF4-FFF2-40B4-BE49-F238E27FC236}">
                  <a16:creationId xmlns:a16="http://schemas.microsoft.com/office/drawing/2014/main" id="{3C211679-A239-DFFD-87A9-7E1548AE9927}"/>
                </a:ext>
              </a:extLst>
            </p:cNvPr>
            <p:cNvSpPr txBox="1">
              <a:spLocks/>
            </p:cNvSpPr>
            <p:nvPr/>
          </p:nvSpPr>
          <p:spPr bwMode="auto">
            <a:xfrm>
              <a:off x="595993" y="761106"/>
              <a:ext cx="3737702" cy="396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2000"/>
                <a:t>Recoverable Schedule</a:t>
              </a:r>
            </a:p>
          </p:txBody>
        </p:sp>
        <p:sp>
          <p:nvSpPr>
            <p:cNvPr id="203789" name="Text Box 13" descr="Text Box 9">
              <a:extLst>
                <a:ext uri="{FF2B5EF4-FFF2-40B4-BE49-F238E27FC236}">
                  <a16:creationId xmlns:a16="http://schemas.microsoft.com/office/drawing/2014/main" id="{D5E00626-E5C9-9078-4DEF-BDC314EC099C}"/>
                </a:ext>
              </a:extLst>
            </p:cNvPr>
            <p:cNvSpPr txBox="1">
              <a:spLocks/>
            </p:cNvSpPr>
            <p:nvPr/>
          </p:nvSpPr>
          <p:spPr bwMode="auto">
            <a:xfrm>
              <a:off x="1246660" y="1275183"/>
              <a:ext cx="2884084" cy="396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spcBef>
                  <a:spcPts val="1200"/>
                </a:spcBef>
              </a:pPr>
              <a:r>
                <a:rPr lang="en-US" altLang="en-US" sz="2000"/>
                <a:t>Cascadeless schedule </a:t>
              </a:r>
            </a:p>
          </p:txBody>
        </p:sp>
        <p:sp>
          <p:nvSpPr>
            <p:cNvPr id="203790" name="Text Box 14" descr="Text Box 10">
              <a:extLst>
                <a:ext uri="{FF2B5EF4-FFF2-40B4-BE49-F238E27FC236}">
                  <a16:creationId xmlns:a16="http://schemas.microsoft.com/office/drawing/2014/main" id="{973EFFD1-603D-7E66-907F-331040FB9F71}"/>
                </a:ext>
              </a:extLst>
            </p:cNvPr>
            <p:cNvSpPr txBox="1">
              <a:spLocks/>
            </p:cNvSpPr>
            <p:nvPr/>
          </p:nvSpPr>
          <p:spPr bwMode="auto">
            <a:xfrm>
              <a:off x="1694634" y="2088232"/>
              <a:ext cx="2436109" cy="396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spcBef>
                  <a:spcPts val="1200"/>
                </a:spcBef>
              </a:pPr>
              <a:r>
                <a:rPr lang="en-US" altLang="en-US" sz="2000"/>
                <a:t>Strict Schedule</a:t>
              </a:r>
            </a:p>
          </p:txBody>
        </p:sp>
        <p:sp>
          <p:nvSpPr>
            <p:cNvPr id="203791" name="Text Box 15" descr="Text Box 8">
              <a:extLst>
                <a:ext uri="{FF2B5EF4-FFF2-40B4-BE49-F238E27FC236}">
                  <a16:creationId xmlns:a16="http://schemas.microsoft.com/office/drawing/2014/main" id="{C3C1CFC6-9791-EFD5-9EA4-ACBF703FE3F6}"/>
                </a:ext>
              </a:extLst>
            </p:cNvPr>
            <p:cNvSpPr txBox="1">
              <a:spLocks/>
            </p:cNvSpPr>
            <p:nvPr/>
          </p:nvSpPr>
          <p:spPr bwMode="auto">
            <a:xfrm>
              <a:off x="189736" y="21498"/>
              <a:ext cx="3737701" cy="3962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2000"/>
                <a:t>All Schedules</a:t>
              </a:r>
            </a:p>
          </p:txBody>
        </p:sp>
      </p:grpSp>
      <p:sp>
        <p:nvSpPr>
          <p:cNvPr id="203792" name="Text Box 16" descr="TextBox 18">
            <a:extLst>
              <a:ext uri="{FF2B5EF4-FFF2-40B4-BE49-F238E27FC236}">
                <a16:creationId xmlns:a16="http://schemas.microsoft.com/office/drawing/2014/main" id="{4F4C801B-5213-AFAE-9728-4AB7F530E7DD}"/>
              </a:ext>
            </a:extLst>
          </p:cNvPr>
          <p:cNvSpPr txBox="1">
            <a:spLocks/>
          </p:cNvSpPr>
          <p:nvPr/>
        </p:nvSpPr>
        <p:spPr bwMode="auto">
          <a:xfrm>
            <a:off x="728663" y="5570538"/>
            <a:ext cx="6532562" cy="738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Note:</a:t>
            </a:r>
          </a:p>
          <a:p>
            <a:r>
              <a:rPr lang="en-US" altLang="en-US" sz="1400"/>
              <a:t>- Strict schedules are Cascadeless and Recoverable schedule</a:t>
            </a:r>
          </a:p>
          <a:p>
            <a:r>
              <a:rPr lang="en-US" altLang="en-US" sz="1400"/>
              <a:t>- Cascadeless schedules are Recoverable schedule</a:t>
            </a:r>
          </a:p>
        </p:txBody>
      </p:sp>
    </p:spTree>
  </p:cSld>
  <p:clrMapOvr>
    <a:masterClrMapping/>
  </p:clrMapOvr>
  <p:transition spd="med"/>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descr="Title 1">
            <a:extLst>
              <a:ext uri="{FF2B5EF4-FFF2-40B4-BE49-F238E27FC236}">
                <a16:creationId xmlns:a16="http://schemas.microsoft.com/office/drawing/2014/main" id="{708401B6-6149-D57B-0B7D-95285E021300}"/>
              </a:ext>
            </a:extLst>
          </p:cNvPr>
          <p:cNvSpPr>
            <a:spLocks noChangeArrowheads="1"/>
          </p:cNvSpPr>
          <p:nvPr>
            <p:ph type="title"/>
          </p:nvPr>
        </p:nvSpPr>
        <p:spPr/>
        <p:txBody>
          <a:bodyPr/>
          <a:lstStyle/>
          <a:p>
            <a:r>
              <a:rPr lang="en-US" altLang="en-US"/>
              <a:t>Transactions and Schedule</a:t>
            </a:r>
          </a:p>
        </p:txBody>
      </p:sp>
      <p:sp>
        <p:nvSpPr>
          <p:cNvPr id="204803" name="Rectangle 3" descr="Content Placeholder 2">
            <a:extLst>
              <a:ext uri="{FF2B5EF4-FFF2-40B4-BE49-F238E27FC236}">
                <a16:creationId xmlns:a16="http://schemas.microsoft.com/office/drawing/2014/main" id="{BB897216-0747-96DE-8A40-4CD2C8FEF114}"/>
              </a:ext>
            </a:extLst>
          </p:cNvPr>
          <p:cNvSpPr>
            <a:spLocks noChangeArrowheads="1"/>
          </p:cNvSpPr>
          <p:nvPr>
            <p:ph type="body" idx="1"/>
          </p:nvPr>
        </p:nvSpPr>
        <p:spPr/>
        <p:txBody>
          <a:bodyPr/>
          <a:lstStyle/>
          <a:p>
            <a:pPr marL="41275" indent="-41275">
              <a:spcBef>
                <a:spcPts val="300"/>
              </a:spcBef>
            </a:pPr>
            <a:r>
              <a:rPr lang="en-US" altLang="en-US" sz="1600"/>
              <a:t>Transactions and Schedules </a:t>
            </a:r>
          </a:p>
          <a:p>
            <a:pPr marL="41275" indent="-41275">
              <a:spcBef>
                <a:spcPts val="300"/>
              </a:spcBef>
              <a:buSzTx/>
              <a:buFont typeface="Wingdings" panose="05000000000000000000" pitchFamily="2" charset="2"/>
              <a:buNone/>
            </a:pPr>
            <a:r>
              <a:rPr lang="en-US" altLang="en-US" sz="1600"/>
              <a:t>– Serial Schedule  … one after the other… </a:t>
            </a:r>
          </a:p>
          <a:p>
            <a:pPr marL="41275" indent="-41275">
              <a:spcBef>
                <a:spcPts val="300"/>
              </a:spcBef>
              <a:buSzTx/>
              <a:buFont typeface="Wingdings" panose="05000000000000000000" pitchFamily="2" charset="2"/>
              <a:buNone/>
            </a:pPr>
            <a:r>
              <a:rPr lang="en-US" altLang="en-US" sz="1600"/>
              <a:t>– Complete Schedule … with Commit, Abort </a:t>
            </a:r>
          </a:p>
          <a:p>
            <a:pPr marL="41275" indent="-41275">
              <a:spcBef>
                <a:spcPts val="300"/>
              </a:spcBef>
              <a:buSzTx/>
              <a:buFont typeface="Wingdings" panose="05000000000000000000" pitchFamily="2" charset="2"/>
              <a:buNone/>
            </a:pPr>
            <a:r>
              <a:rPr lang="en-US" altLang="en-US" sz="1600" b="1">
                <a:solidFill>
                  <a:srgbClr val="C00000"/>
                </a:solidFill>
              </a:rPr>
              <a:t>Serializability </a:t>
            </a:r>
          </a:p>
          <a:p>
            <a:pPr marL="41275" indent="-41275">
              <a:spcBef>
                <a:spcPts val="300"/>
              </a:spcBef>
              <a:buSzTx/>
              <a:buFont typeface="Wingdings" panose="05000000000000000000" pitchFamily="2" charset="2"/>
              <a:buNone/>
            </a:pPr>
            <a:r>
              <a:rPr lang="en-US" altLang="en-US" sz="1600"/>
              <a:t>– “</a:t>
            </a:r>
            <a:r>
              <a:rPr lang="en-US" altLang="en-US" sz="1600">
                <a:solidFill>
                  <a:srgbClr val="008000"/>
                </a:solidFill>
              </a:rPr>
              <a:t>Correctness Measure</a:t>
            </a:r>
            <a:r>
              <a:rPr lang="en-US" altLang="en-US" sz="1600"/>
              <a:t>” of some Schedule </a:t>
            </a:r>
          </a:p>
          <a:p>
            <a:pPr marL="41275" indent="-41275">
              <a:spcBef>
                <a:spcPts val="300"/>
              </a:spcBef>
              <a:buSzTx/>
              <a:buFont typeface="Wingdings" panose="05000000000000000000" pitchFamily="2" charset="2"/>
              <a:buNone/>
            </a:pPr>
            <a:r>
              <a:rPr lang="en-US" altLang="en-US" sz="1600"/>
              <a:t>– </a:t>
            </a:r>
            <a:r>
              <a:rPr lang="en-US" altLang="en-US" sz="1600">
                <a:solidFill>
                  <a:srgbClr val="C00000"/>
                </a:solidFill>
              </a:rPr>
              <a:t>Why is it useful? </a:t>
            </a:r>
            <a:r>
              <a:rPr lang="en-US" altLang="en-US" sz="1600"/>
              <a:t>It answers the question: “Will an interleaved schedule execute correctly </a:t>
            </a:r>
          </a:p>
          <a:p>
            <a:pPr marL="41275" indent="-41275">
              <a:spcBef>
                <a:spcPts val="300"/>
              </a:spcBef>
              <a:buSzTx/>
              <a:buFont typeface="Wingdings" panose="05000000000000000000" pitchFamily="2" charset="2"/>
              <a:buNone/>
            </a:pPr>
            <a:r>
              <a:rPr lang="en-US" altLang="en-US" sz="1600"/>
              <a:t>– i.e., a Serializable schedule will execute as correctly as serial schedule … but in an interleaved manner! </a:t>
            </a:r>
          </a:p>
          <a:p>
            <a:pPr marL="41275" indent="-41275">
              <a:spcBef>
                <a:spcPts val="300"/>
              </a:spcBef>
              <a:buSzTx/>
              <a:buFont typeface="Wingdings" panose="05000000000000000000" pitchFamily="2" charset="2"/>
              <a:buNone/>
            </a:pPr>
            <a:r>
              <a:rPr lang="en-US" altLang="en-US" sz="1600" b="1">
                <a:solidFill>
                  <a:srgbClr val="0000FF"/>
                </a:solidFill>
              </a:rPr>
              <a:t>Recoverability</a:t>
            </a:r>
            <a:r>
              <a:rPr lang="en-US" altLang="en-US" sz="1600">
                <a:solidFill>
                  <a:srgbClr val="0000FF"/>
                </a:solidFill>
              </a:rPr>
              <a:t> </a:t>
            </a:r>
          </a:p>
          <a:p>
            <a:pPr marL="41275" indent="-41275">
              <a:spcBef>
                <a:spcPts val="300"/>
              </a:spcBef>
              <a:buSzTx/>
              <a:buFont typeface="Wingdings" panose="05000000000000000000" pitchFamily="2" charset="2"/>
              <a:buNone/>
            </a:pPr>
            <a:r>
              <a:rPr lang="en-US" altLang="en-US" sz="1600"/>
              <a:t>– “</a:t>
            </a:r>
            <a:r>
              <a:rPr lang="en-US" altLang="en-US" sz="1600">
                <a:solidFill>
                  <a:srgbClr val="FF00FF"/>
                </a:solidFill>
              </a:rPr>
              <a:t>Recoverability Measure</a:t>
            </a:r>
            <a:r>
              <a:rPr lang="en-US" altLang="en-US" sz="1600"/>
              <a:t>” of some Schedule. </a:t>
            </a:r>
          </a:p>
          <a:p>
            <a:pPr marL="41275" indent="-41275">
              <a:spcBef>
                <a:spcPts val="300"/>
              </a:spcBef>
              <a:buSzTx/>
              <a:buFont typeface="Wingdings" panose="05000000000000000000" pitchFamily="2" charset="2"/>
              <a:buNone/>
            </a:pPr>
            <a:r>
              <a:rPr lang="en-US" altLang="en-US" sz="1600"/>
              <a:t>– </a:t>
            </a:r>
            <a:r>
              <a:rPr lang="en-US" altLang="en-US" sz="1600">
                <a:solidFill>
                  <a:srgbClr val="0000FF"/>
                </a:solidFill>
              </a:rPr>
              <a:t>Why is it useful? </a:t>
            </a:r>
            <a:r>
              <a:rPr lang="en-US" altLang="en-US" sz="1600"/>
              <a:t>It answers the question: “Do we need to rollback a some (or all) transactions in an interleaved schedule after some Failure (e.g., ABORT)” </a:t>
            </a:r>
          </a:p>
          <a:p>
            <a:pPr marL="41275" indent="-41275">
              <a:spcBef>
                <a:spcPts val="300"/>
              </a:spcBef>
              <a:buSzTx/>
              <a:buFont typeface="Wingdings" panose="05000000000000000000" pitchFamily="2" charset="2"/>
              <a:buNone/>
            </a:pPr>
            <a:r>
              <a:rPr lang="en-US" altLang="en-US" sz="1600"/>
              <a:t>– i.e., in a Recoverable schedule no transaction needs to be rolled back once committed!</a:t>
            </a:r>
          </a:p>
        </p:txBody>
      </p:sp>
      <p:sp>
        <p:nvSpPr>
          <p:cNvPr id="204804" name="Text Box 4" descr="Date Placeholder 3">
            <a:extLst>
              <a:ext uri="{FF2B5EF4-FFF2-40B4-BE49-F238E27FC236}">
                <a16:creationId xmlns:a16="http://schemas.microsoft.com/office/drawing/2014/main" id="{F906ECC9-E8ED-5990-9DAE-18FFB1CF230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4805" name="Text Box 5" descr="Slide Number Placeholder 5">
            <a:extLst>
              <a:ext uri="{FF2B5EF4-FFF2-40B4-BE49-F238E27FC236}">
                <a16:creationId xmlns:a16="http://schemas.microsoft.com/office/drawing/2014/main" id="{B97E05FE-B7EF-DF61-5C37-4B18422F86C4}"/>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C5CC303-EAA0-4F42-BC03-46E362A0DD5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189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2" descr="Rectangle 2">
            <a:extLst>
              <a:ext uri="{FF2B5EF4-FFF2-40B4-BE49-F238E27FC236}">
                <a16:creationId xmlns:a16="http://schemas.microsoft.com/office/drawing/2014/main" id="{DF6994B4-D0B5-0BF5-9777-C634EF7CD686}"/>
              </a:ext>
            </a:extLst>
          </p:cNvPr>
          <p:cNvSpPr>
            <a:spLocks noChangeArrowheads="1"/>
          </p:cNvSpPr>
          <p:nvPr>
            <p:ph type="title"/>
          </p:nvPr>
        </p:nvSpPr>
        <p:spPr/>
        <p:txBody>
          <a:bodyPr/>
          <a:lstStyle/>
          <a:p>
            <a:r>
              <a:rPr lang="en-US" altLang="en-US" sz="2800"/>
              <a:t>Next what you are going learn is………</a:t>
            </a:r>
          </a:p>
        </p:txBody>
      </p:sp>
      <p:sp>
        <p:nvSpPr>
          <p:cNvPr id="205827" name="Rectangle 3" descr="Rectangle 3">
            <a:extLst>
              <a:ext uri="{FF2B5EF4-FFF2-40B4-BE49-F238E27FC236}">
                <a16:creationId xmlns:a16="http://schemas.microsoft.com/office/drawing/2014/main" id="{C1D77DDA-E6D3-94C1-77FB-E7F466EA0382}"/>
              </a:ext>
            </a:extLst>
          </p:cNvPr>
          <p:cNvSpPr>
            <a:spLocks noChangeArrowheads="1"/>
          </p:cNvSpPr>
          <p:nvPr>
            <p:ph type="body" sz="half" idx="1"/>
          </p:nvPr>
        </p:nvSpPr>
        <p:spPr>
          <a:xfrm>
            <a:off x="457200" y="3200400"/>
            <a:ext cx="8382000" cy="1600200"/>
          </a:xfrm>
        </p:spPr>
        <p:txBody>
          <a:bodyPr/>
          <a:lstStyle/>
          <a:p>
            <a:pPr marL="0" indent="0">
              <a:lnSpc>
                <a:spcPct val="80000"/>
              </a:lnSpc>
              <a:spcBef>
                <a:spcPts val="400"/>
              </a:spcBef>
              <a:buClrTx/>
              <a:buSzTx/>
              <a:buFontTx/>
              <a:buNone/>
            </a:pPr>
            <a:r>
              <a:rPr lang="en-US" altLang="en-US" sz="2000" b="1"/>
              <a:t>Concurrency Control Protocols</a:t>
            </a:r>
          </a:p>
          <a:p>
            <a:pPr marL="0" indent="0">
              <a:lnSpc>
                <a:spcPct val="80000"/>
              </a:lnSpc>
              <a:spcBef>
                <a:spcPts val="400"/>
              </a:spcBef>
              <a:buClrTx/>
              <a:buSzTx/>
              <a:buFontTx/>
              <a:buNone/>
            </a:pPr>
            <a:r>
              <a:rPr lang="en-US" altLang="en-US" sz="2000"/>
              <a:t> - To ensure when to give access to data item when transactions are getting executed concurrently or in interleaved way</a:t>
            </a:r>
          </a:p>
        </p:txBody>
      </p:sp>
      <p:sp>
        <p:nvSpPr>
          <p:cNvPr id="205828" name="Text Box 4" descr="Date Placeholder 1">
            <a:extLst>
              <a:ext uri="{FF2B5EF4-FFF2-40B4-BE49-F238E27FC236}">
                <a16:creationId xmlns:a16="http://schemas.microsoft.com/office/drawing/2014/main" id="{14FEDB58-B33F-8A78-9A41-CC77E6401D05}"/>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5829" name="Text Box 5" descr="Slide Number Placeholder 2">
            <a:extLst>
              <a:ext uri="{FF2B5EF4-FFF2-40B4-BE49-F238E27FC236}">
                <a16:creationId xmlns:a16="http://schemas.microsoft.com/office/drawing/2014/main" id="{AF2AA5BD-E47D-823B-1EB8-43C506671CB1}"/>
              </a:ext>
            </a:extLst>
          </p:cNvPr>
          <p:cNvSpPr txBox="1">
            <a:spLocks/>
          </p:cNvSpPr>
          <p:nvPr/>
        </p:nvSpPr>
        <p:spPr bwMode="auto">
          <a:xfrm>
            <a:off x="8099425" y="6248400"/>
            <a:ext cx="35877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CDF14E2-E8F9-4309-AE6F-744A6F772D1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descr="Title 1">
            <a:extLst>
              <a:ext uri="{FF2B5EF4-FFF2-40B4-BE49-F238E27FC236}">
                <a16:creationId xmlns:a16="http://schemas.microsoft.com/office/drawing/2014/main" id="{946AE755-CDCE-B114-4706-92BF27EB853A}"/>
              </a:ext>
            </a:extLst>
          </p:cNvPr>
          <p:cNvSpPr>
            <a:spLocks noChangeArrowheads="1"/>
          </p:cNvSpPr>
          <p:nvPr>
            <p:ph type="title"/>
          </p:nvPr>
        </p:nvSpPr>
        <p:spPr/>
        <p:txBody>
          <a:bodyPr/>
          <a:lstStyle/>
          <a:p>
            <a:r>
              <a:rPr lang="en-US" altLang="en-US" sz="2400"/>
              <a:t>Why we need Concurrency Control Protocols ?</a:t>
            </a:r>
          </a:p>
        </p:txBody>
      </p:sp>
      <p:sp>
        <p:nvSpPr>
          <p:cNvPr id="206851" name="Text Box 3" descr="Date Placeholder 3">
            <a:extLst>
              <a:ext uri="{FF2B5EF4-FFF2-40B4-BE49-F238E27FC236}">
                <a16:creationId xmlns:a16="http://schemas.microsoft.com/office/drawing/2014/main" id="{86FA678E-0198-DA0E-EBDF-C69C4DEF8A8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6852" name="Text Box 4" descr="Slide Number Placeholder 5">
            <a:extLst>
              <a:ext uri="{FF2B5EF4-FFF2-40B4-BE49-F238E27FC236}">
                <a16:creationId xmlns:a16="http://schemas.microsoft.com/office/drawing/2014/main" id="{B2395354-3915-BC1F-BF6E-A564DF13C72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A7F43F5-06B1-454F-B129-42513CFABC6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06853" name="Picture 5" descr="Picture 3">
            <a:extLst>
              <a:ext uri="{FF2B5EF4-FFF2-40B4-BE49-F238E27FC236}">
                <a16:creationId xmlns:a16="http://schemas.microsoft.com/office/drawing/2014/main" id="{7BA709AB-FB48-F154-E650-26AA98B9FB1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19313" y="3278188"/>
            <a:ext cx="5334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6854" name="Picture 6" descr="Picture 4">
            <a:extLst>
              <a:ext uri="{FF2B5EF4-FFF2-40B4-BE49-F238E27FC236}">
                <a16:creationId xmlns:a16="http://schemas.microsoft.com/office/drawing/2014/main" id="{DA2C2FB9-5792-1D21-D994-5AFD90292D7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64300" y="3316288"/>
            <a:ext cx="457200" cy="823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206855" name="Group 7">
            <a:extLst>
              <a:ext uri="{FF2B5EF4-FFF2-40B4-BE49-F238E27FC236}">
                <a16:creationId xmlns:a16="http://schemas.microsoft.com/office/drawing/2014/main" id="{F7745D32-9009-A2D4-882F-7738A3C3DD44}"/>
              </a:ext>
            </a:extLst>
          </p:cNvPr>
          <p:cNvGrpSpPr>
            <a:grpSpLocks/>
          </p:cNvGrpSpPr>
          <p:nvPr/>
        </p:nvGrpSpPr>
        <p:grpSpPr bwMode="auto">
          <a:xfrm>
            <a:off x="3233738" y="3427413"/>
            <a:ext cx="2668587" cy="593725"/>
            <a:chOff x="0" y="0"/>
            <a:chExt cx="2668137" cy="593091"/>
          </a:xfrm>
        </p:grpSpPr>
        <p:sp>
          <p:nvSpPr>
            <p:cNvPr id="206856" name="Rectangle 8">
              <a:extLst>
                <a:ext uri="{FF2B5EF4-FFF2-40B4-BE49-F238E27FC236}">
                  <a16:creationId xmlns:a16="http://schemas.microsoft.com/office/drawing/2014/main" id="{2A572854-C552-5FF0-6680-CD929B75EEB1}"/>
                </a:ext>
              </a:extLst>
            </p:cNvPr>
            <p:cNvSpPr>
              <a:spLocks/>
            </p:cNvSpPr>
            <p:nvPr/>
          </p:nvSpPr>
          <p:spPr bwMode="auto">
            <a:xfrm>
              <a:off x="0" y="0"/>
              <a:ext cx="2668137" cy="525131"/>
            </a:xfrm>
            <a:prstGeom prst="rect">
              <a:avLst/>
            </a:prstGeom>
            <a:noFill/>
            <a:ln w="38100" cap="flat" cmpd="sng">
              <a:solidFill>
                <a:srgbClr val="FF99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pPr algn="ctr"/>
              <a:endParaRPr lang="en-US" altLang="en-US"/>
            </a:p>
          </p:txBody>
        </p:sp>
        <p:sp>
          <p:nvSpPr>
            <p:cNvPr id="206857" name="Text Box 9">
              <a:extLst>
                <a:ext uri="{FF2B5EF4-FFF2-40B4-BE49-F238E27FC236}">
                  <a16:creationId xmlns:a16="http://schemas.microsoft.com/office/drawing/2014/main" id="{53EF7434-3FA1-9346-D84B-9ACC048BBB49}"/>
                </a:ext>
              </a:extLst>
            </p:cNvPr>
            <p:cNvSpPr txBox="1">
              <a:spLocks/>
            </p:cNvSpPr>
            <p:nvPr/>
          </p:nvSpPr>
          <p:spPr bwMode="auto">
            <a:xfrm>
              <a:off x="64769" y="19050"/>
              <a:ext cx="2538598" cy="5740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algn="ctr"/>
              <a:r>
                <a:rPr lang="en-US" altLang="en-US" sz="1600"/>
                <a:t>Train Ticket Booking Software </a:t>
              </a:r>
            </a:p>
          </p:txBody>
        </p:sp>
      </p:grpSp>
      <p:sp>
        <p:nvSpPr>
          <p:cNvPr id="206858" name="Line 10" descr="Straight Arrow Connector 9">
            <a:extLst>
              <a:ext uri="{FF2B5EF4-FFF2-40B4-BE49-F238E27FC236}">
                <a16:creationId xmlns:a16="http://schemas.microsoft.com/office/drawing/2014/main" id="{BA383DAD-FDB7-0342-8EDE-23DE0DE879A0}"/>
              </a:ext>
            </a:extLst>
          </p:cNvPr>
          <p:cNvSpPr>
            <a:spLocks noChangeShapeType="1"/>
          </p:cNvSpPr>
          <p:nvPr/>
        </p:nvSpPr>
        <p:spPr bwMode="auto">
          <a:xfrm>
            <a:off x="2560638" y="3686175"/>
            <a:ext cx="635000" cy="4445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6859" name="Line 11" descr="Straight Arrow Connector 10">
            <a:extLst>
              <a:ext uri="{FF2B5EF4-FFF2-40B4-BE49-F238E27FC236}">
                <a16:creationId xmlns:a16="http://schemas.microsoft.com/office/drawing/2014/main" id="{E0F40056-F5A1-FA6A-FFB4-EEBDD252AA2E}"/>
              </a:ext>
            </a:extLst>
          </p:cNvPr>
          <p:cNvSpPr>
            <a:spLocks noChangeShapeType="1"/>
          </p:cNvSpPr>
          <p:nvPr/>
        </p:nvSpPr>
        <p:spPr bwMode="auto">
          <a:xfrm flipH="1">
            <a:off x="5902325" y="3686175"/>
            <a:ext cx="561975" cy="0"/>
          </a:xfrm>
          <a:prstGeom prst="line">
            <a:avLst/>
          </a:prstGeom>
          <a:noFill/>
          <a:ln w="38100" cap="flat" cmpd="sng">
            <a:solidFill>
              <a:srgbClr val="00B05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6860" name="Text Box 12" descr="TextBox 11">
            <a:extLst>
              <a:ext uri="{FF2B5EF4-FFF2-40B4-BE49-F238E27FC236}">
                <a16:creationId xmlns:a16="http://schemas.microsoft.com/office/drawing/2014/main" id="{08D267CE-5320-BB5C-789D-9A33949DFD0D}"/>
              </a:ext>
            </a:extLst>
          </p:cNvPr>
          <p:cNvSpPr txBox="1">
            <a:spLocks/>
          </p:cNvSpPr>
          <p:nvPr/>
        </p:nvSpPr>
        <p:spPr bwMode="auto">
          <a:xfrm>
            <a:off x="439738" y="1042988"/>
            <a:ext cx="5186362"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Consider an example of Train Reservation System</a:t>
            </a:r>
          </a:p>
        </p:txBody>
      </p:sp>
      <p:sp>
        <p:nvSpPr>
          <p:cNvPr id="206861" name="Text Box 13" descr="TextBox 12">
            <a:extLst>
              <a:ext uri="{FF2B5EF4-FFF2-40B4-BE49-F238E27FC236}">
                <a16:creationId xmlns:a16="http://schemas.microsoft.com/office/drawing/2014/main" id="{A89D81FE-297F-C6E4-1DF3-BA082B8990BC}"/>
              </a:ext>
            </a:extLst>
          </p:cNvPr>
          <p:cNvSpPr txBox="1">
            <a:spLocks/>
          </p:cNvSpPr>
          <p:nvPr/>
        </p:nvSpPr>
        <p:spPr bwMode="auto">
          <a:xfrm>
            <a:off x="1239838" y="3557588"/>
            <a:ext cx="76993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User1</a:t>
            </a:r>
          </a:p>
        </p:txBody>
      </p:sp>
      <p:sp>
        <p:nvSpPr>
          <p:cNvPr id="206862" name="Text Box 14" descr="TextBox 13">
            <a:extLst>
              <a:ext uri="{FF2B5EF4-FFF2-40B4-BE49-F238E27FC236}">
                <a16:creationId xmlns:a16="http://schemas.microsoft.com/office/drawing/2014/main" id="{197A9509-8758-F286-76B5-C083D834392B}"/>
              </a:ext>
            </a:extLst>
          </p:cNvPr>
          <p:cNvSpPr txBox="1">
            <a:spLocks/>
          </p:cNvSpPr>
          <p:nvPr/>
        </p:nvSpPr>
        <p:spPr bwMode="auto">
          <a:xfrm>
            <a:off x="6967538" y="3543300"/>
            <a:ext cx="7683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User2</a:t>
            </a:r>
          </a:p>
        </p:txBody>
      </p:sp>
      <p:sp>
        <p:nvSpPr>
          <p:cNvPr id="206863" name="AutoShape 15" descr="Down Arrow 14">
            <a:extLst>
              <a:ext uri="{FF2B5EF4-FFF2-40B4-BE49-F238E27FC236}">
                <a16:creationId xmlns:a16="http://schemas.microsoft.com/office/drawing/2014/main" id="{ED96436E-3D52-7C2D-1497-16F1FDD99584}"/>
              </a:ext>
            </a:extLst>
          </p:cNvPr>
          <p:cNvSpPr>
            <a:spLocks/>
          </p:cNvSpPr>
          <p:nvPr/>
        </p:nvSpPr>
        <p:spPr bwMode="auto">
          <a:xfrm rot="10598870">
            <a:off x="4376738" y="3078163"/>
            <a:ext cx="322262" cy="3603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1934"/>
                </a:moveTo>
                <a:lnTo>
                  <a:pt x="5400" y="11934"/>
                </a:lnTo>
                <a:lnTo>
                  <a:pt x="5400" y="0"/>
                </a:lnTo>
                <a:lnTo>
                  <a:pt x="16200" y="0"/>
                </a:lnTo>
                <a:lnTo>
                  <a:pt x="16200" y="11934"/>
                </a:lnTo>
                <a:lnTo>
                  <a:pt x="21600" y="11934"/>
                </a:lnTo>
                <a:lnTo>
                  <a:pt x="10800" y="21600"/>
                </a:lnTo>
                <a:close/>
              </a:path>
            </a:pathLst>
          </a:cu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6864" name="Text Box 16" descr="TextBox 15">
            <a:extLst>
              <a:ext uri="{FF2B5EF4-FFF2-40B4-BE49-F238E27FC236}">
                <a16:creationId xmlns:a16="http://schemas.microsoft.com/office/drawing/2014/main" id="{0AD0FC26-B641-E497-AFCE-1D94E4E06251}"/>
              </a:ext>
            </a:extLst>
          </p:cNvPr>
          <p:cNvSpPr txBox="1">
            <a:spLocks/>
          </p:cNvSpPr>
          <p:nvPr/>
        </p:nvSpPr>
        <p:spPr bwMode="auto">
          <a:xfrm>
            <a:off x="209550" y="4219575"/>
            <a:ext cx="3490913" cy="533400"/>
          </a:xfrm>
          <a:prstGeom prst="rect">
            <a:avLst/>
          </a:prstGeom>
          <a:noFill/>
          <a:ln w="952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User1: Wants to </a:t>
            </a:r>
            <a:r>
              <a:rPr lang="en-US" altLang="en-US" sz="1400" b="1"/>
              <a:t>reserve </a:t>
            </a:r>
            <a:r>
              <a:rPr lang="en-US" altLang="en-US" sz="1400"/>
              <a:t> 5 seats on </a:t>
            </a:r>
          </a:p>
          <a:p>
            <a:r>
              <a:rPr lang="en-US" altLang="en-US" sz="1400" b="1"/>
              <a:t>Tippu</a:t>
            </a:r>
            <a:r>
              <a:rPr lang="en-US" altLang="en-US" sz="1400"/>
              <a:t> express</a:t>
            </a:r>
            <a:endParaRPr lang="en-US" altLang="en-US" sz="1400" b="1"/>
          </a:p>
        </p:txBody>
      </p:sp>
      <p:sp>
        <p:nvSpPr>
          <p:cNvPr id="206865" name="Text Box 17" descr="TextBox 16">
            <a:extLst>
              <a:ext uri="{FF2B5EF4-FFF2-40B4-BE49-F238E27FC236}">
                <a16:creationId xmlns:a16="http://schemas.microsoft.com/office/drawing/2014/main" id="{4A5EF0E6-0698-7485-1B9E-EEC6CEFF00D6}"/>
              </a:ext>
            </a:extLst>
          </p:cNvPr>
          <p:cNvSpPr txBox="1">
            <a:spLocks/>
          </p:cNvSpPr>
          <p:nvPr/>
        </p:nvSpPr>
        <p:spPr bwMode="auto">
          <a:xfrm>
            <a:off x="5075238" y="4291013"/>
            <a:ext cx="3430587" cy="533400"/>
          </a:xfrm>
          <a:prstGeom prst="rect">
            <a:avLst/>
          </a:pr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User2: Wants to </a:t>
            </a:r>
            <a:r>
              <a:rPr lang="en-US" altLang="en-US" sz="1400" b="1"/>
              <a:t>reserve</a:t>
            </a:r>
            <a:r>
              <a:rPr lang="en-US" altLang="en-US" sz="1400"/>
              <a:t> 4 seats on </a:t>
            </a:r>
          </a:p>
          <a:p>
            <a:r>
              <a:rPr lang="en-US" altLang="en-US" sz="1400" b="1"/>
              <a:t>Tippu</a:t>
            </a:r>
            <a:r>
              <a:rPr lang="en-US" altLang="en-US" sz="1400"/>
              <a:t> express</a:t>
            </a:r>
            <a:endParaRPr lang="en-US" altLang="en-US" sz="1400" b="1"/>
          </a:p>
        </p:txBody>
      </p:sp>
      <p:sp>
        <p:nvSpPr>
          <p:cNvPr id="206866" name="Text Box 18" descr="TextBox 18">
            <a:extLst>
              <a:ext uri="{FF2B5EF4-FFF2-40B4-BE49-F238E27FC236}">
                <a16:creationId xmlns:a16="http://schemas.microsoft.com/office/drawing/2014/main" id="{83D60534-57DA-BA16-402E-8083A170F567}"/>
              </a:ext>
            </a:extLst>
          </p:cNvPr>
          <p:cNvSpPr txBox="1">
            <a:spLocks/>
          </p:cNvSpPr>
          <p:nvPr/>
        </p:nvSpPr>
        <p:spPr bwMode="auto">
          <a:xfrm>
            <a:off x="538163" y="5138738"/>
            <a:ext cx="2763837" cy="8239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Read(TippuSeats)</a:t>
            </a:r>
          </a:p>
          <a:p>
            <a:r>
              <a:rPr lang="en-US" altLang="en-US" sz="1600"/>
              <a:t>TippuSeats=TippuSeats-5</a:t>
            </a:r>
          </a:p>
          <a:p>
            <a:r>
              <a:rPr lang="en-US" altLang="en-US" sz="1600"/>
              <a:t>Write(TippuSeats)</a:t>
            </a:r>
          </a:p>
        </p:txBody>
      </p:sp>
      <p:sp>
        <p:nvSpPr>
          <p:cNvPr id="206867" name="Text Box 19" descr="TextBox 19">
            <a:extLst>
              <a:ext uri="{FF2B5EF4-FFF2-40B4-BE49-F238E27FC236}">
                <a16:creationId xmlns:a16="http://schemas.microsoft.com/office/drawing/2014/main" id="{B131B1F0-888F-315F-CE70-425B7D8BDDAA}"/>
              </a:ext>
            </a:extLst>
          </p:cNvPr>
          <p:cNvSpPr txBox="1">
            <a:spLocks/>
          </p:cNvSpPr>
          <p:nvPr/>
        </p:nvSpPr>
        <p:spPr bwMode="auto">
          <a:xfrm>
            <a:off x="1016000" y="4783138"/>
            <a:ext cx="16192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C3300"/>
                </a:solidFill>
              </a:rPr>
              <a:t>Transaction </a:t>
            </a:r>
            <a:r>
              <a:rPr lang="en-US" altLang="en-US" sz="1600" b="1">
                <a:solidFill>
                  <a:srgbClr val="CC3300"/>
                </a:solidFill>
              </a:rPr>
              <a:t>T1</a:t>
            </a:r>
            <a:endParaRPr lang="en-US" altLang="en-US" sz="1600">
              <a:solidFill>
                <a:srgbClr val="CC3300"/>
              </a:solidFill>
            </a:endParaRPr>
          </a:p>
        </p:txBody>
      </p:sp>
      <p:sp>
        <p:nvSpPr>
          <p:cNvPr id="206868" name="Text Box 20" descr="TextBox 20">
            <a:extLst>
              <a:ext uri="{FF2B5EF4-FFF2-40B4-BE49-F238E27FC236}">
                <a16:creationId xmlns:a16="http://schemas.microsoft.com/office/drawing/2014/main" id="{E8B7D3A8-0E70-B1E3-318D-D3A741C9A070}"/>
              </a:ext>
            </a:extLst>
          </p:cNvPr>
          <p:cNvSpPr txBox="1">
            <a:spLocks/>
          </p:cNvSpPr>
          <p:nvPr/>
        </p:nvSpPr>
        <p:spPr bwMode="auto">
          <a:xfrm>
            <a:off x="5237163" y="5197475"/>
            <a:ext cx="2763837" cy="8255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Read(TippuSeats)</a:t>
            </a:r>
          </a:p>
          <a:p>
            <a:r>
              <a:rPr lang="en-US" altLang="en-US" sz="1600"/>
              <a:t>TippuSeats=TippuSeats-4</a:t>
            </a:r>
          </a:p>
          <a:p>
            <a:r>
              <a:rPr lang="en-US" altLang="en-US" sz="1600"/>
              <a:t>Write(TippuSeats)</a:t>
            </a:r>
          </a:p>
        </p:txBody>
      </p:sp>
      <p:sp>
        <p:nvSpPr>
          <p:cNvPr id="206869" name="Text Box 21" descr="TextBox 21">
            <a:extLst>
              <a:ext uri="{FF2B5EF4-FFF2-40B4-BE49-F238E27FC236}">
                <a16:creationId xmlns:a16="http://schemas.microsoft.com/office/drawing/2014/main" id="{ECFC93BA-2B43-4484-48D9-8353C9DCBE99}"/>
              </a:ext>
            </a:extLst>
          </p:cNvPr>
          <p:cNvSpPr txBox="1">
            <a:spLocks/>
          </p:cNvSpPr>
          <p:nvPr/>
        </p:nvSpPr>
        <p:spPr bwMode="auto">
          <a:xfrm>
            <a:off x="5808663" y="4841875"/>
            <a:ext cx="16192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C3300"/>
                </a:solidFill>
              </a:rPr>
              <a:t>Transaction </a:t>
            </a:r>
            <a:r>
              <a:rPr lang="en-US" altLang="en-US" sz="1600" b="1">
                <a:solidFill>
                  <a:srgbClr val="CC3300"/>
                </a:solidFill>
              </a:rPr>
              <a:t>T2</a:t>
            </a:r>
            <a:endParaRPr lang="en-US" altLang="en-US" sz="1600">
              <a:solidFill>
                <a:srgbClr val="CC3300"/>
              </a:solidFill>
            </a:endParaRPr>
          </a:p>
        </p:txBody>
      </p:sp>
      <p:pic>
        <p:nvPicPr>
          <p:cNvPr id="206870" name="Picture 22" descr="Picture 1">
            <a:extLst>
              <a:ext uri="{FF2B5EF4-FFF2-40B4-BE49-F238E27FC236}">
                <a16:creationId xmlns:a16="http://schemas.microsoft.com/office/drawing/2014/main" id="{C4A2C82F-C870-720E-2B47-17EC4C42C582}"/>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55663" y="1352550"/>
            <a:ext cx="7412037" cy="1685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descr="Title 1">
            <a:extLst>
              <a:ext uri="{FF2B5EF4-FFF2-40B4-BE49-F238E27FC236}">
                <a16:creationId xmlns:a16="http://schemas.microsoft.com/office/drawing/2014/main" id="{F696FB5F-3D88-7564-0B41-85590BF728C7}"/>
              </a:ext>
            </a:extLst>
          </p:cNvPr>
          <p:cNvSpPr>
            <a:spLocks noChangeArrowheads="1"/>
          </p:cNvSpPr>
          <p:nvPr>
            <p:ph type="title"/>
          </p:nvPr>
        </p:nvSpPr>
        <p:spPr/>
        <p:txBody>
          <a:bodyPr/>
          <a:lstStyle/>
          <a:p>
            <a:r>
              <a:rPr lang="en-US" altLang="en-US" sz="2400"/>
              <a:t>Why we need Concurrency Control Protocols ?</a:t>
            </a:r>
          </a:p>
        </p:txBody>
      </p:sp>
      <p:sp>
        <p:nvSpPr>
          <p:cNvPr id="207875" name="Text Box 3" descr="Date Placeholder 3">
            <a:extLst>
              <a:ext uri="{FF2B5EF4-FFF2-40B4-BE49-F238E27FC236}">
                <a16:creationId xmlns:a16="http://schemas.microsoft.com/office/drawing/2014/main" id="{4F48662C-D2A0-E984-F2B3-8CFDF6CAC8F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7876" name="Text Box 4" descr="Slide Number Placeholder 5">
            <a:extLst>
              <a:ext uri="{FF2B5EF4-FFF2-40B4-BE49-F238E27FC236}">
                <a16:creationId xmlns:a16="http://schemas.microsoft.com/office/drawing/2014/main" id="{4AE67811-292F-0B23-F239-DF6AF746A43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6894B5E-ED3A-466D-8998-9E722EC0664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07877" name="Group 5">
            <a:extLst>
              <a:ext uri="{FF2B5EF4-FFF2-40B4-BE49-F238E27FC236}">
                <a16:creationId xmlns:a16="http://schemas.microsoft.com/office/drawing/2014/main" id="{221F0A30-B47D-8E79-8EC2-E5D65BDD685C}"/>
              </a:ext>
            </a:extLst>
          </p:cNvPr>
          <p:cNvGraphicFramePr>
            <a:graphicFrameLocks noGrp="1"/>
          </p:cNvGraphicFramePr>
          <p:nvPr/>
        </p:nvGraphicFramePr>
        <p:xfrm>
          <a:off x="930275" y="1916113"/>
          <a:ext cx="6954838" cy="2676525"/>
        </p:xfrm>
        <a:graphic>
          <a:graphicData uri="http://schemas.openxmlformats.org/drawingml/2006/table">
            <a:tbl>
              <a:tblPr/>
              <a:tblGrid>
                <a:gridCol w="1042988">
                  <a:extLst>
                    <a:ext uri="{9D8B030D-6E8A-4147-A177-3AD203B41FA5}">
                      <a16:colId xmlns:a16="http://schemas.microsoft.com/office/drawing/2014/main" val="914410592"/>
                    </a:ext>
                  </a:extLst>
                </a:gridCol>
                <a:gridCol w="2851150">
                  <a:extLst>
                    <a:ext uri="{9D8B030D-6E8A-4147-A177-3AD203B41FA5}">
                      <a16:colId xmlns:a16="http://schemas.microsoft.com/office/drawing/2014/main" val="1436232075"/>
                    </a:ext>
                  </a:extLst>
                </a:gridCol>
                <a:gridCol w="3060700">
                  <a:extLst>
                    <a:ext uri="{9D8B030D-6E8A-4147-A177-3AD203B41FA5}">
                      <a16:colId xmlns:a16="http://schemas.microsoft.com/office/drawing/2014/main" val="4137715151"/>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6553904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2561936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4036772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1534450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300969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0700721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3352340"/>
                  </a:ext>
                </a:extLst>
              </a:tr>
            </a:tbl>
          </a:graphicData>
        </a:graphic>
      </p:graphicFrame>
      <p:sp>
        <p:nvSpPr>
          <p:cNvPr id="207951" name="Text Box 79" descr="TextBox 22">
            <a:extLst>
              <a:ext uri="{FF2B5EF4-FFF2-40B4-BE49-F238E27FC236}">
                <a16:creationId xmlns:a16="http://schemas.microsoft.com/office/drawing/2014/main" id="{97746552-342A-417A-D589-FAA01E44991E}"/>
              </a:ext>
            </a:extLst>
          </p:cNvPr>
          <p:cNvSpPr txBox="1">
            <a:spLocks/>
          </p:cNvSpPr>
          <p:nvPr/>
        </p:nvSpPr>
        <p:spPr bwMode="auto">
          <a:xfrm>
            <a:off x="512763" y="1268413"/>
            <a:ext cx="7089775" cy="573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Case 1: When the </a:t>
            </a:r>
            <a:r>
              <a:rPr lang="en-US" altLang="en-US" sz="1600" b="1"/>
              <a:t>User1 </a:t>
            </a:r>
            <a:r>
              <a:rPr lang="en-US" altLang="en-US" sz="1600"/>
              <a:t>Logins at </a:t>
            </a:r>
            <a:r>
              <a:rPr lang="en-US" altLang="en-US" sz="1600" b="1"/>
              <a:t>4:00pm</a:t>
            </a:r>
            <a:r>
              <a:rPr lang="en-US" altLang="en-US" sz="1600"/>
              <a:t> to booking system and </a:t>
            </a:r>
          </a:p>
          <a:p>
            <a:r>
              <a:rPr lang="en-US" altLang="en-US" sz="1600" b="1"/>
              <a:t>User 2</a:t>
            </a:r>
            <a:r>
              <a:rPr lang="en-US" altLang="en-US" sz="1600"/>
              <a:t> Logins at </a:t>
            </a:r>
            <a:r>
              <a:rPr lang="en-US" altLang="en-US" sz="1600" b="1"/>
              <a:t>4:03pm</a:t>
            </a:r>
            <a:r>
              <a:rPr lang="en-US" altLang="en-US" sz="1600"/>
              <a:t> to booking system</a:t>
            </a:r>
            <a:endParaRPr lang="en-US" altLang="en-US" sz="1600" b="1"/>
          </a:p>
        </p:txBody>
      </p:sp>
      <p:sp>
        <p:nvSpPr>
          <p:cNvPr id="207952" name="AutoShape 80" descr="Flowchart: Magnetic Disk 24">
            <a:extLst>
              <a:ext uri="{FF2B5EF4-FFF2-40B4-BE49-F238E27FC236}">
                <a16:creationId xmlns:a16="http://schemas.microsoft.com/office/drawing/2014/main" id="{10BEC46C-5BF8-18F9-9746-9F3203812C66}"/>
              </a:ext>
            </a:extLst>
          </p:cNvPr>
          <p:cNvSpPr>
            <a:spLocks/>
          </p:cNvSpPr>
          <p:nvPr/>
        </p:nvSpPr>
        <p:spPr bwMode="auto">
          <a:xfrm>
            <a:off x="1403350" y="4724400"/>
            <a:ext cx="2232025"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7953" name="Text Box 81" descr="TextBox 25">
            <a:extLst>
              <a:ext uri="{FF2B5EF4-FFF2-40B4-BE49-F238E27FC236}">
                <a16:creationId xmlns:a16="http://schemas.microsoft.com/office/drawing/2014/main" id="{64DBA921-1EBB-88AD-DEF6-28C25C7BE4E7}"/>
              </a:ext>
            </a:extLst>
          </p:cNvPr>
          <p:cNvSpPr txBox="1">
            <a:spLocks/>
          </p:cNvSpPr>
          <p:nvPr/>
        </p:nvSpPr>
        <p:spPr bwMode="auto">
          <a:xfrm>
            <a:off x="1841500" y="5227638"/>
            <a:ext cx="1455738"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a:t>
            </a:r>
          </a:p>
        </p:txBody>
      </p:sp>
      <p:sp>
        <p:nvSpPr>
          <p:cNvPr id="207954" name="Text Box 82" descr="TextBox 26">
            <a:extLst>
              <a:ext uri="{FF2B5EF4-FFF2-40B4-BE49-F238E27FC236}">
                <a16:creationId xmlns:a16="http://schemas.microsoft.com/office/drawing/2014/main" id="{355204C4-064B-595B-DB0E-5BEA5A8A97F5}"/>
              </a:ext>
            </a:extLst>
          </p:cNvPr>
          <p:cNvSpPr txBox="1">
            <a:spLocks/>
          </p:cNvSpPr>
          <p:nvPr/>
        </p:nvSpPr>
        <p:spPr bwMode="auto">
          <a:xfrm>
            <a:off x="1782763" y="6019800"/>
            <a:ext cx="14668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Initial Value</a:t>
            </a:r>
          </a:p>
        </p:txBody>
      </p:sp>
      <p:sp>
        <p:nvSpPr>
          <p:cNvPr id="207955" name="AutoShape 83" descr="Flowchart: Magnetic Disk 27">
            <a:extLst>
              <a:ext uri="{FF2B5EF4-FFF2-40B4-BE49-F238E27FC236}">
                <a16:creationId xmlns:a16="http://schemas.microsoft.com/office/drawing/2014/main" id="{D165D4F6-04C1-8642-6B78-55E02CFAC568}"/>
              </a:ext>
            </a:extLst>
          </p:cNvPr>
          <p:cNvSpPr>
            <a:spLocks/>
          </p:cNvSpPr>
          <p:nvPr/>
        </p:nvSpPr>
        <p:spPr bwMode="auto">
          <a:xfrm>
            <a:off x="5435600" y="4714875"/>
            <a:ext cx="2232025" cy="12969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7956" name="Text Box 84" descr="TextBox 28">
            <a:extLst>
              <a:ext uri="{FF2B5EF4-FFF2-40B4-BE49-F238E27FC236}">
                <a16:creationId xmlns:a16="http://schemas.microsoft.com/office/drawing/2014/main" id="{A86D4F6B-6AB4-17FF-4919-284D8292ED53}"/>
              </a:ext>
            </a:extLst>
          </p:cNvPr>
          <p:cNvSpPr txBox="1">
            <a:spLocks/>
          </p:cNvSpPr>
          <p:nvPr/>
        </p:nvSpPr>
        <p:spPr bwMode="auto">
          <a:xfrm>
            <a:off x="5873750" y="5219700"/>
            <a:ext cx="1455738"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80 71</a:t>
            </a:r>
          </a:p>
        </p:txBody>
      </p:sp>
      <p:sp>
        <p:nvSpPr>
          <p:cNvPr id="207957" name="Text Box 85" descr="TextBox 29">
            <a:extLst>
              <a:ext uri="{FF2B5EF4-FFF2-40B4-BE49-F238E27FC236}">
                <a16:creationId xmlns:a16="http://schemas.microsoft.com/office/drawing/2014/main" id="{B4671105-9346-EBC1-B3F8-9EA8892DC9F7}"/>
              </a:ext>
            </a:extLst>
          </p:cNvPr>
          <p:cNvSpPr txBox="1">
            <a:spLocks/>
          </p:cNvSpPr>
          <p:nvPr/>
        </p:nvSpPr>
        <p:spPr bwMode="auto">
          <a:xfrm>
            <a:off x="5910263" y="6011863"/>
            <a:ext cx="1349375"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Final Value</a:t>
            </a:r>
          </a:p>
        </p:txBody>
      </p:sp>
      <p:sp>
        <p:nvSpPr>
          <p:cNvPr id="207958" name="Text Box 86" descr="TextBox 30">
            <a:extLst>
              <a:ext uri="{FF2B5EF4-FFF2-40B4-BE49-F238E27FC236}">
                <a16:creationId xmlns:a16="http://schemas.microsoft.com/office/drawing/2014/main" id="{B345EF58-4A67-90ED-5CC9-B27E728B8840}"/>
              </a:ext>
            </a:extLst>
          </p:cNvPr>
          <p:cNvSpPr txBox="1">
            <a:spLocks/>
          </p:cNvSpPr>
          <p:nvPr/>
        </p:nvSpPr>
        <p:spPr bwMode="auto">
          <a:xfrm>
            <a:off x="179388" y="5219700"/>
            <a:ext cx="117951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2" descr="Title 1">
            <a:extLst>
              <a:ext uri="{FF2B5EF4-FFF2-40B4-BE49-F238E27FC236}">
                <a16:creationId xmlns:a16="http://schemas.microsoft.com/office/drawing/2014/main" id="{AEF80A24-C966-47FB-80D7-4161974E9C86}"/>
              </a:ext>
            </a:extLst>
          </p:cNvPr>
          <p:cNvSpPr>
            <a:spLocks noChangeArrowheads="1"/>
          </p:cNvSpPr>
          <p:nvPr>
            <p:ph type="title"/>
          </p:nvPr>
        </p:nvSpPr>
        <p:spPr/>
        <p:txBody>
          <a:bodyPr/>
          <a:lstStyle/>
          <a:p>
            <a:r>
              <a:rPr lang="en-US" altLang="en-US" sz="2400"/>
              <a:t>Why we need Concurrency Control Protocols ?</a:t>
            </a:r>
          </a:p>
        </p:txBody>
      </p:sp>
      <p:sp>
        <p:nvSpPr>
          <p:cNvPr id="208899" name="Text Box 3" descr="Date Placeholder 3">
            <a:extLst>
              <a:ext uri="{FF2B5EF4-FFF2-40B4-BE49-F238E27FC236}">
                <a16:creationId xmlns:a16="http://schemas.microsoft.com/office/drawing/2014/main" id="{B20570CA-C0DD-0828-881E-A3084417FDD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8900" name="Text Box 4" descr="Slide Number Placeholder 5">
            <a:extLst>
              <a:ext uri="{FF2B5EF4-FFF2-40B4-BE49-F238E27FC236}">
                <a16:creationId xmlns:a16="http://schemas.microsoft.com/office/drawing/2014/main" id="{69A88B6A-B475-22B9-88D1-6C1A922C944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878E9AF-E88D-4DE7-BB5D-121BB42E4BA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08901" name="Group 5">
            <a:extLst>
              <a:ext uri="{FF2B5EF4-FFF2-40B4-BE49-F238E27FC236}">
                <a16:creationId xmlns:a16="http://schemas.microsoft.com/office/drawing/2014/main" id="{C6F1064B-FD16-C58D-76A4-3E25B67BC9F5}"/>
              </a:ext>
            </a:extLst>
          </p:cNvPr>
          <p:cNvGraphicFramePr>
            <a:graphicFrameLocks noGrp="1"/>
          </p:cNvGraphicFramePr>
          <p:nvPr/>
        </p:nvGraphicFramePr>
        <p:xfrm>
          <a:off x="930275" y="1916113"/>
          <a:ext cx="6954838" cy="2676525"/>
        </p:xfrm>
        <a:graphic>
          <a:graphicData uri="http://schemas.openxmlformats.org/drawingml/2006/table">
            <a:tbl>
              <a:tblPr/>
              <a:tblGrid>
                <a:gridCol w="1042988">
                  <a:extLst>
                    <a:ext uri="{9D8B030D-6E8A-4147-A177-3AD203B41FA5}">
                      <a16:colId xmlns:a16="http://schemas.microsoft.com/office/drawing/2014/main" val="222649165"/>
                    </a:ext>
                  </a:extLst>
                </a:gridCol>
                <a:gridCol w="2851150">
                  <a:extLst>
                    <a:ext uri="{9D8B030D-6E8A-4147-A177-3AD203B41FA5}">
                      <a16:colId xmlns:a16="http://schemas.microsoft.com/office/drawing/2014/main" val="2249877248"/>
                    </a:ext>
                  </a:extLst>
                </a:gridCol>
                <a:gridCol w="3060700">
                  <a:extLst>
                    <a:ext uri="{9D8B030D-6E8A-4147-A177-3AD203B41FA5}">
                      <a16:colId xmlns:a16="http://schemas.microsoft.com/office/drawing/2014/main" val="2281061779"/>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2548394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91095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248963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419730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8539123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4469641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64292765"/>
                  </a:ext>
                </a:extLst>
              </a:tr>
            </a:tbl>
          </a:graphicData>
        </a:graphic>
      </p:graphicFrame>
      <p:sp>
        <p:nvSpPr>
          <p:cNvPr id="208975" name="Text Box 79" descr="TextBox 22">
            <a:extLst>
              <a:ext uri="{FF2B5EF4-FFF2-40B4-BE49-F238E27FC236}">
                <a16:creationId xmlns:a16="http://schemas.microsoft.com/office/drawing/2014/main" id="{04B64640-FA7E-5F90-3717-499E9E450865}"/>
              </a:ext>
            </a:extLst>
          </p:cNvPr>
          <p:cNvSpPr txBox="1">
            <a:spLocks/>
          </p:cNvSpPr>
          <p:nvPr/>
        </p:nvSpPr>
        <p:spPr bwMode="auto">
          <a:xfrm>
            <a:off x="512763" y="1268413"/>
            <a:ext cx="7091362" cy="573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Case 2: When the </a:t>
            </a:r>
            <a:r>
              <a:rPr lang="en-US" altLang="en-US" sz="1600" b="1"/>
              <a:t>User1</a:t>
            </a:r>
            <a:r>
              <a:rPr lang="en-US" altLang="en-US" sz="1600"/>
              <a:t> Logins at </a:t>
            </a:r>
            <a:r>
              <a:rPr lang="en-US" altLang="en-US" sz="1600" b="1"/>
              <a:t>4:03pm</a:t>
            </a:r>
            <a:r>
              <a:rPr lang="en-US" altLang="en-US" sz="1600"/>
              <a:t> to booking system and </a:t>
            </a:r>
          </a:p>
          <a:p>
            <a:r>
              <a:rPr lang="en-US" altLang="en-US" sz="1600" b="1"/>
              <a:t>User 2</a:t>
            </a:r>
            <a:r>
              <a:rPr lang="en-US" altLang="en-US" sz="1600"/>
              <a:t> Logins at </a:t>
            </a:r>
            <a:r>
              <a:rPr lang="en-US" altLang="en-US" sz="1600" b="1"/>
              <a:t>4:00pm</a:t>
            </a:r>
            <a:r>
              <a:rPr lang="en-US" altLang="en-US" sz="1600"/>
              <a:t> to booking system</a:t>
            </a:r>
            <a:endParaRPr lang="en-US" altLang="en-US" sz="1600" b="1"/>
          </a:p>
        </p:txBody>
      </p:sp>
      <p:sp>
        <p:nvSpPr>
          <p:cNvPr id="208976" name="AutoShape 80" descr="Flowchart: Magnetic Disk 24">
            <a:extLst>
              <a:ext uri="{FF2B5EF4-FFF2-40B4-BE49-F238E27FC236}">
                <a16:creationId xmlns:a16="http://schemas.microsoft.com/office/drawing/2014/main" id="{64168FEF-CCE8-F6CB-BC19-3ADA62659E1E}"/>
              </a:ext>
            </a:extLst>
          </p:cNvPr>
          <p:cNvSpPr>
            <a:spLocks/>
          </p:cNvSpPr>
          <p:nvPr/>
        </p:nvSpPr>
        <p:spPr bwMode="auto">
          <a:xfrm>
            <a:off x="1403350" y="4724400"/>
            <a:ext cx="2232025"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8977" name="Text Box 81" descr="TextBox 25">
            <a:extLst>
              <a:ext uri="{FF2B5EF4-FFF2-40B4-BE49-F238E27FC236}">
                <a16:creationId xmlns:a16="http://schemas.microsoft.com/office/drawing/2014/main" id="{3A4C6B4C-BC16-360A-143D-D84B6F40D8C8}"/>
              </a:ext>
            </a:extLst>
          </p:cNvPr>
          <p:cNvSpPr txBox="1">
            <a:spLocks/>
          </p:cNvSpPr>
          <p:nvPr/>
        </p:nvSpPr>
        <p:spPr bwMode="auto">
          <a:xfrm>
            <a:off x="1841500" y="5227638"/>
            <a:ext cx="1455738"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a:t>
            </a:r>
          </a:p>
        </p:txBody>
      </p:sp>
      <p:sp>
        <p:nvSpPr>
          <p:cNvPr id="208978" name="Text Box 82" descr="TextBox 26">
            <a:extLst>
              <a:ext uri="{FF2B5EF4-FFF2-40B4-BE49-F238E27FC236}">
                <a16:creationId xmlns:a16="http://schemas.microsoft.com/office/drawing/2014/main" id="{B1A73A8C-E4D0-379E-477D-C23C31DD2FD9}"/>
              </a:ext>
            </a:extLst>
          </p:cNvPr>
          <p:cNvSpPr txBox="1">
            <a:spLocks/>
          </p:cNvSpPr>
          <p:nvPr/>
        </p:nvSpPr>
        <p:spPr bwMode="auto">
          <a:xfrm>
            <a:off x="1782763" y="6019800"/>
            <a:ext cx="14668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Initial Value</a:t>
            </a:r>
          </a:p>
        </p:txBody>
      </p:sp>
      <p:sp>
        <p:nvSpPr>
          <p:cNvPr id="208979" name="AutoShape 83" descr="Flowchart: Magnetic Disk 27">
            <a:extLst>
              <a:ext uri="{FF2B5EF4-FFF2-40B4-BE49-F238E27FC236}">
                <a16:creationId xmlns:a16="http://schemas.microsoft.com/office/drawing/2014/main" id="{587B39CD-583A-8F48-51D9-5E294DF215FE}"/>
              </a:ext>
            </a:extLst>
          </p:cNvPr>
          <p:cNvSpPr>
            <a:spLocks/>
          </p:cNvSpPr>
          <p:nvPr/>
        </p:nvSpPr>
        <p:spPr bwMode="auto">
          <a:xfrm>
            <a:off x="5435600" y="4714875"/>
            <a:ext cx="2232025" cy="12969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08980" name="Text Box 84" descr="TextBox 28">
            <a:extLst>
              <a:ext uri="{FF2B5EF4-FFF2-40B4-BE49-F238E27FC236}">
                <a16:creationId xmlns:a16="http://schemas.microsoft.com/office/drawing/2014/main" id="{24CBE50D-C5B6-7CAE-9A21-5FA9770B7DCF}"/>
              </a:ext>
            </a:extLst>
          </p:cNvPr>
          <p:cNvSpPr txBox="1">
            <a:spLocks/>
          </p:cNvSpPr>
          <p:nvPr/>
        </p:nvSpPr>
        <p:spPr bwMode="auto">
          <a:xfrm>
            <a:off x="5873750" y="5219700"/>
            <a:ext cx="1455738"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80 71</a:t>
            </a:r>
          </a:p>
        </p:txBody>
      </p:sp>
      <p:sp>
        <p:nvSpPr>
          <p:cNvPr id="208981" name="Text Box 85" descr="TextBox 29">
            <a:extLst>
              <a:ext uri="{FF2B5EF4-FFF2-40B4-BE49-F238E27FC236}">
                <a16:creationId xmlns:a16="http://schemas.microsoft.com/office/drawing/2014/main" id="{A914DE1E-D1D6-B5CB-B97E-FA5A6141E953}"/>
              </a:ext>
            </a:extLst>
          </p:cNvPr>
          <p:cNvSpPr txBox="1">
            <a:spLocks/>
          </p:cNvSpPr>
          <p:nvPr/>
        </p:nvSpPr>
        <p:spPr bwMode="auto">
          <a:xfrm>
            <a:off x="5910263" y="6011863"/>
            <a:ext cx="1349375"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Final Value</a:t>
            </a:r>
          </a:p>
        </p:txBody>
      </p:sp>
      <p:sp>
        <p:nvSpPr>
          <p:cNvPr id="208982" name="Text Box 86" descr="TextBox 6">
            <a:extLst>
              <a:ext uri="{FF2B5EF4-FFF2-40B4-BE49-F238E27FC236}">
                <a16:creationId xmlns:a16="http://schemas.microsoft.com/office/drawing/2014/main" id="{DECB91EC-AE44-CE22-EFC9-E13803EC3180}"/>
              </a:ext>
            </a:extLst>
          </p:cNvPr>
          <p:cNvSpPr txBox="1">
            <a:spLocks/>
          </p:cNvSpPr>
          <p:nvPr/>
        </p:nvSpPr>
        <p:spPr bwMode="auto">
          <a:xfrm>
            <a:off x="179388" y="5219700"/>
            <a:ext cx="117951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descr="Title 1">
            <a:extLst>
              <a:ext uri="{FF2B5EF4-FFF2-40B4-BE49-F238E27FC236}">
                <a16:creationId xmlns:a16="http://schemas.microsoft.com/office/drawing/2014/main" id="{6B4F70AB-3520-D08E-A8A4-731DCA55EAF3}"/>
              </a:ext>
            </a:extLst>
          </p:cNvPr>
          <p:cNvSpPr>
            <a:spLocks noChangeArrowheads="1"/>
          </p:cNvSpPr>
          <p:nvPr>
            <p:ph type="title"/>
          </p:nvPr>
        </p:nvSpPr>
        <p:spPr/>
        <p:txBody>
          <a:bodyPr/>
          <a:lstStyle/>
          <a:p>
            <a:r>
              <a:rPr lang="en-US" altLang="en-US" sz="2400"/>
              <a:t>Why we need Concurrency Control Protocols ?</a:t>
            </a:r>
          </a:p>
        </p:txBody>
      </p:sp>
      <p:sp>
        <p:nvSpPr>
          <p:cNvPr id="209923" name="Text Box 3" descr="Date Placeholder 3">
            <a:extLst>
              <a:ext uri="{FF2B5EF4-FFF2-40B4-BE49-F238E27FC236}">
                <a16:creationId xmlns:a16="http://schemas.microsoft.com/office/drawing/2014/main" id="{2440038C-3CE4-D5BE-C551-D03813898CF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09924" name="Text Box 4" descr="Slide Number Placeholder 5">
            <a:extLst>
              <a:ext uri="{FF2B5EF4-FFF2-40B4-BE49-F238E27FC236}">
                <a16:creationId xmlns:a16="http://schemas.microsoft.com/office/drawing/2014/main" id="{76D4B110-6109-A121-AC82-695C6832C67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E92040A-C5FC-400F-8649-61FA72C7913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09925" name="Group 5">
            <a:extLst>
              <a:ext uri="{FF2B5EF4-FFF2-40B4-BE49-F238E27FC236}">
                <a16:creationId xmlns:a16="http://schemas.microsoft.com/office/drawing/2014/main" id="{B39F31DA-FA15-C315-2A72-472E3FBDCB57}"/>
              </a:ext>
            </a:extLst>
          </p:cNvPr>
          <p:cNvGraphicFramePr>
            <a:graphicFrameLocks noGrp="1"/>
          </p:cNvGraphicFramePr>
          <p:nvPr/>
        </p:nvGraphicFramePr>
        <p:xfrm>
          <a:off x="930275" y="1916113"/>
          <a:ext cx="6954838" cy="2651125"/>
        </p:xfrm>
        <a:graphic>
          <a:graphicData uri="http://schemas.openxmlformats.org/drawingml/2006/table">
            <a:tbl>
              <a:tblPr/>
              <a:tblGrid>
                <a:gridCol w="1042988">
                  <a:extLst>
                    <a:ext uri="{9D8B030D-6E8A-4147-A177-3AD203B41FA5}">
                      <a16:colId xmlns:a16="http://schemas.microsoft.com/office/drawing/2014/main" val="2776757271"/>
                    </a:ext>
                  </a:extLst>
                </a:gridCol>
                <a:gridCol w="2851150">
                  <a:extLst>
                    <a:ext uri="{9D8B030D-6E8A-4147-A177-3AD203B41FA5}">
                      <a16:colId xmlns:a16="http://schemas.microsoft.com/office/drawing/2014/main" val="1146236149"/>
                    </a:ext>
                  </a:extLst>
                </a:gridCol>
                <a:gridCol w="3060700">
                  <a:extLst>
                    <a:ext uri="{9D8B030D-6E8A-4147-A177-3AD203B41FA5}">
                      <a16:colId xmlns:a16="http://schemas.microsoft.com/office/drawing/2014/main" val="2262935961"/>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0038794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43690382"/>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49572617"/>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221369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9032986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7799211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99109490"/>
                  </a:ext>
                </a:extLst>
              </a:tr>
            </a:tbl>
          </a:graphicData>
        </a:graphic>
      </p:graphicFrame>
      <p:sp>
        <p:nvSpPr>
          <p:cNvPr id="209999" name="Text Box 79" descr="TextBox 22">
            <a:extLst>
              <a:ext uri="{FF2B5EF4-FFF2-40B4-BE49-F238E27FC236}">
                <a16:creationId xmlns:a16="http://schemas.microsoft.com/office/drawing/2014/main" id="{5CE8E5E7-6D91-D3B2-41A4-8840EA45F0CA}"/>
              </a:ext>
            </a:extLst>
          </p:cNvPr>
          <p:cNvSpPr txBox="1">
            <a:spLocks/>
          </p:cNvSpPr>
          <p:nvPr/>
        </p:nvSpPr>
        <p:spPr bwMode="auto">
          <a:xfrm>
            <a:off x="512763" y="1268413"/>
            <a:ext cx="7058025" cy="573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Case 3: When the </a:t>
            </a:r>
            <a:r>
              <a:rPr lang="en-US" altLang="en-US" sz="1600" b="1"/>
              <a:t>User1</a:t>
            </a:r>
            <a:r>
              <a:rPr lang="en-US" altLang="en-US" sz="1600"/>
              <a:t> Logins at </a:t>
            </a:r>
            <a:r>
              <a:rPr lang="en-US" altLang="en-US" sz="1600" b="1"/>
              <a:t>4:00</a:t>
            </a:r>
            <a:r>
              <a:rPr lang="en-US" altLang="en-US" sz="1600"/>
              <a:t>pm to booking system and </a:t>
            </a:r>
          </a:p>
          <a:p>
            <a:r>
              <a:rPr lang="en-US" altLang="en-US" sz="1600" b="1"/>
              <a:t>User 2</a:t>
            </a:r>
            <a:r>
              <a:rPr lang="en-US" altLang="en-US" sz="1600"/>
              <a:t> Logins at </a:t>
            </a:r>
            <a:r>
              <a:rPr lang="en-US" altLang="en-US" sz="1600" b="1"/>
              <a:t>4:01</a:t>
            </a:r>
            <a:r>
              <a:rPr lang="en-US" altLang="en-US" sz="1600"/>
              <a:t>pm to booking system</a:t>
            </a:r>
            <a:endParaRPr lang="en-US" altLang="en-US" sz="1600" b="1"/>
          </a:p>
        </p:txBody>
      </p:sp>
      <p:sp>
        <p:nvSpPr>
          <p:cNvPr id="210000" name="AutoShape 80" descr="Flowchart: Magnetic Disk 24">
            <a:extLst>
              <a:ext uri="{FF2B5EF4-FFF2-40B4-BE49-F238E27FC236}">
                <a16:creationId xmlns:a16="http://schemas.microsoft.com/office/drawing/2014/main" id="{96D2D354-1816-24F6-9A51-5B7E8350E22C}"/>
              </a:ext>
            </a:extLst>
          </p:cNvPr>
          <p:cNvSpPr>
            <a:spLocks/>
          </p:cNvSpPr>
          <p:nvPr/>
        </p:nvSpPr>
        <p:spPr bwMode="auto">
          <a:xfrm>
            <a:off x="1403350" y="4724400"/>
            <a:ext cx="2232025"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0001" name="Text Box 81" descr="TextBox 25">
            <a:extLst>
              <a:ext uri="{FF2B5EF4-FFF2-40B4-BE49-F238E27FC236}">
                <a16:creationId xmlns:a16="http://schemas.microsoft.com/office/drawing/2014/main" id="{4C2549F9-CE97-9EC6-FB84-96F909461E6E}"/>
              </a:ext>
            </a:extLst>
          </p:cNvPr>
          <p:cNvSpPr txBox="1">
            <a:spLocks/>
          </p:cNvSpPr>
          <p:nvPr/>
        </p:nvSpPr>
        <p:spPr bwMode="auto">
          <a:xfrm>
            <a:off x="1841500" y="5227638"/>
            <a:ext cx="1455738"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a:t>
            </a:r>
          </a:p>
        </p:txBody>
      </p:sp>
      <p:sp>
        <p:nvSpPr>
          <p:cNvPr id="210002" name="Text Box 82" descr="TextBox 26">
            <a:extLst>
              <a:ext uri="{FF2B5EF4-FFF2-40B4-BE49-F238E27FC236}">
                <a16:creationId xmlns:a16="http://schemas.microsoft.com/office/drawing/2014/main" id="{6567E8A8-7570-4FA7-AF0E-322FA4EEAFFF}"/>
              </a:ext>
            </a:extLst>
          </p:cNvPr>
          <p:cNvSpPr txBox="1">
            <a:spLocks/>
          </p:cNvSpPr>
          <p:nvPr/>
        </p:nvSpPr>
        <p:spPr bwMode="auto">
          <a:xfrm>
            <a:off x="1782763" y="6019800"/>
            <a:ext cx="14668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Initial Value</a:t>
            </a:r>
          </a:p>
        </p:txBody>
      </p:sp>
      <p:sp>
        <p:nvSpPr>
          <p:cNvPr id="210003" name="Text Box 83" descr="TextBox 6">
            <a:extLst>
              <a:ext uri="{FF2B5EF4-FFF2-40B4-BE49-F238E27FC236}">
                <a16:creationId xmlns:a16="http://schemas.microsoft.com/office/drawing/2014/main" id="{EF7E8F92-4EB7-BD20-29CD-0E5DA5622665}"/>
              </a:ext>
            </a:extLst>
          </p:cNvPr>
          <p:cNvSpPr txBox="1">
            <a:spLocks/>
          </p:cNvSpPr>
          <p:nvPr/>
        </p:nvSpPr>
        <p:spPr bwMode="auto">
          <a:xfrm>
            <a:off x="179388" y="5219700"/>
            <a:ext cx="1179512"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
        <p:nvSpPr>
          <p:cNvPr id="210004" name="Text Box 84" descr="TextBox 8">
            <a:extLst>
              <a:ext uri="{FF2B5EF4-FFF2-40B4-BE49-F238E27FC236}">
                <a16:creationId xmlns:a16="http://schemas.microsoft.com/office/drawing/2014/main" id="{9A6F1298-7D37-55EF-D2CD-C25D9225C2C6}"/>
              </a:ext>
            </a:extLst>
          </p:cNvPr>
          <p:cNvSpPr txBox="1">
            <a:spLocks/>
          </p:cNvSpPr>
          <p:nvPr/>
        </p:nvSpPr>
        <p:spPr bwMode="auto">
          <a:xfrm>
            <a:off x="4545013" y="4868863"/>
            <a:ext cx="4157662" cy="1208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FF0000"/>
                </a:solidFill>
              </a:rPr>
              <a:t>Question:</a:t>
            </a:r>
          </a:p>
          <a:p>
            <a:r>
              <a:rPr lang="en-US" altLang="en-US">
                <a:solidFill>
                  <a:srgbClr val="FF0000"/>
                </a:solidFill>
              </a:rPr>
              <a:t>What will be the final value Of TippuSeats when above  Transactions are executed ?</a:t>
            </a:r>
          </a:p>
        </p:txBody>
      </p:sp>
    </p:spTree>
  </p:cSld>
  <p:clrMapOvr>
    <a:masterClrMapping/>
  </p:clrMapOvr>
  <p:transition spd="med"/>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2" descr="Title 1">
            <a:extLst>
              <a:ext uri="{FF2B5EF4-FFF2-40B4-BE49-F238E27FC236}">
                <a16:creationId xmlns:a16="http://schemas.microsoft.com/office/drawing/2014/main" id="{6A2E9067-EC65-B86E-8F98-DA56E51D0CDA}"/>
              </a:ext>
            </a:extLst>
          </p:cNvPr>
          <p:cNvSpPr>
            <a:spLocks noChangeArrowheads="1"/>
          </p:cNvSpPr>
          <p:nvPr>
            <p:ph type="title"/>
          </p:nvPr>
        </p:nvSpPr>
        <p:spPr/>
        <p:txBody>
          <a:bodyPr/>
          <a:lstStyle/>
          <a:p>
            <a:r>
              <a:rPr lang="en-US" altLang="en-US" sz="2400"/>
              <a:t>Why we need Concurrency Control Protocols ?</a:t>
            </a:r>
          </a:p>
        </p:txBody>
      </p:sp>
      <p:sp>
        <p:nvSpPr>
          <p:cNvPr id="210947" name="Text Box 3" descr="Date Placeholder 3">
            <a:extLst>
              <a:ext uri="{FF2B5EF4-FFF2-40B4-BE49-F238E27FC236}">
                <a16:creationId xmlns:a16="http://schemas.microsoft.com/office/drawing/2014/main" id="{375FE94E-95C2-E48E-0092-4D6E1044517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0948" name="Text Box 4" descr="Slide Number Placeholder 5">
            <a:extLst>
              <a:ext uri="{FF2B5EF4-FFF2-40B4-BE49-F238E27FC236}">
                <a16:creationId xmlns:a16="http://schemas.microsoft.com/office/drawing/2014/main" id="{7ED08738-F2AE-DD40-91A9-25AF87FC71D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CF1A9B6-9CF7-43AC-908A-84ABB9128B7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10949" name="Text Box 5" descr="TextBox 22">
            <a:extLst>
              <a:ext uri="{FF2B5EF4-FFF2-40B4-BE49-F238E27FC236}">
                <a16:creationId xmlns:a16="http://schemas.microsoft.com/office/drawing/2014/main" id="{CAE5B3AB-0C71-AB4D-77F3-30059194D7E0}"/>
              </a:ext>
            </a:extLst>
          </p:cNvPr>
          <p:cNvSpPr txBox="1">
            <a:spLocks/>
          </p:cNvSpPr>
          <p:nvPr/>
        </p:nvSpPr>
        <p:spPr bwMode="auto">
          <a:xfrm>
            <a:off x="512763" y="1141413"/>
            <a:ext cx="6948487"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Case 3: When the User1 Logins at 4:00pm to booking system and </a:t>
            </a:r>
          </a:p>
          <a:p>
            <a:r>
              <a:rPr lang="en-US" altLang="en-US" sz="1600"/>
              <a:t>User 2 Logins at 4:01pm to booking system</a:t>
            </a:r>
          </a:p>
        </p:txBody>
      </p:sp>
      <p:sp>
        <p:nvSpPr>
          <p:cNvPr id="210950" name="AutoShape 6" descr="Flowchart: Magnetic Disk 24">
            <a:extLst>
              <a:ext uri="{FF2B5EF4-FFF2-40B4-BE49-F238E27FC236}">
                <a16:creationId xmlns:a16="http://schemas.microsoft.com/office/drawing/2014/main" id="{55B3BEC0-D5CB-9A0A-7FAC-EFAA2312D1DF}"/>
              </a:ext>
            </a:extLst>
          </p:cNvPr>
          <p:cNvSpPr>
            <a:spLocks/>
          </p:cNvSpPr>
          <p:nvPr/>
        </p:nvSpPr>
        <p:spPr bwMode="auto">
          <a:xfrm>
            <a:off x="1231900" y="4013200"/>
            <a:ext cx="2233613" cy="12969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0951" name="Text Box 7" descr="TextBox 25">
            <a:extLst>
              <a:ext uri="{FF2B5EF4-FFF2-40B4-BE49-F238E27FC236}">
                <a16:creationId xmlns:a16="http://schemas.microsoft.com/office/drawing/2014/main" id="{BE997A82-0FD0-A572-F5D0-FC99BA38FBBF}"/>
              </a:ext>
            </a:extLst>
          </p:cNvPr>
          <p:cNvSpPr txBox="1">
            <a:spLocks/>
          </p:cNvSpPr>
          <p:nvPr/>
        </p:nvSpPr>
        <p:spPr bwMode="auto">
          <a:xfrm>
            <a:off x="1670050" y="4518025"/>
            <a:ext cx="14573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a:t>
            </a:r>
          </a:p>
        </p:txBody>
      </p:sp>
      <p:sp>
        <p:nvSpPr>
          <p:cNvPr id="210952" name="Text Box 8" descr="TextBox 26">
            <a:extLst>
              <a:ext uri="{FF2B5EF4-FFF2-40B4-BE49-F238E27FC236}">
                <a16:creationId xmlns:a16="http://schemas.microsoft.com/office/drawing/2014/main" id="{E664E110-D7AD-86F6-18CA-27181B94F718}"/>
              </a:ext>
            </a:extLst>
          </p:cNvPr>
          <p:cNvSpPr txBox="1">
            <a:spLocks/>
          </p:cNvSpPr>
          <p:nvPr/>
        </p:nvSpPr>
        <p:spPr bwMode="auto">
          <a:xfrm>
            <a:off x="1612900" y="5310188"/>
            <a:ext cx="146685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Initial Value</a:t>
            </a:r>
          </a:p>
        </p:txBody>
      </p:sp>
      <p:sp>
        <p:nvSpPr>
          <p:cNvPr id="210953" name="AutoShape 9" descr="Flowchart: Magnetic Disk 27">
            <a:extLst>
              <a:ext uri="{FF2B5EF4-FFF2-40B4-BE49-F238E27FC236}">
                <a16:creationId xmlns:a16="http://schemas.microsoft.com/office/drawing/2014/main" id="{2E14F033-E947-8646-2738-067DDF959B91}"/>
              </a:ext>
            </a:extLst>
          </p:cNvPr>
          <p:cNvSpPr>
            <a:spLocks/>
          </p:cNvSpPr>
          <p:nvPr/>
        </p:nvSpPr>
        <p:spPr bwMode="auto">
          <a:xfrm>
            <a:off x="4040188" y="4003675"/>
            <a:ext cx="2233612" cy="12969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0954" name="Text Box 10" descr="TextBox 28">
            <a:extLst>
              <a:ext uri="{FF2B5EF4-FFF2-40B4-BE49-F238E27FC236}">
                <a16:creationId xmlns:a16="http://schemas.microsoft.com/office/drawing/2014/main" id="{4C32CD5E-C75E-170A-C17E-6ABCAC22F554}"/>
              </a:ext>
            </a:extLst>
          </p:cNvPr>
          <p:cNvSpPr txBox="1">
            <a:spLocks/>
          </p:cNvSpPr>
          <p:nvPr/>
        </p:nvSpPr>
        <p:spPr bwMode="auto">
          <a:xfrm>
            <a:off x="4478338" y="4508500"/>
            <a:ext cx="14573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 </a:t>
            </a:r>
            <a:r>
              <a:rPr lang="en-US" altLang="en-US">
                <a:solidFill>
                  <a:srgbClr val="FF0000"/>
                </a:solidFill>
              </a:rPr>
              <a:t>76</a:t>
            </a:r>
            <a:endParaRPr lang="en-US" altLang="en-US">
              <a:solidFill>
                <a:srgbClr val="0000FF"/>
              </a:solidFill>
            </a:endParaRPr>
          </a:p>
        </p:txBody>
      </p:sp>
      <p:sp>
        <p:nvSpPr>
          <p:cNvPr id="210955" name="Text Box 11" descr="TextBox 29">
            <a:extLst>
              <a:ext uri="{FF2B5EF4-FFF2-40B4-BE49-F238E27FC236}">
                <a16:creationId xmlns:a16="http://schemas.microsoft.com/office/drawing/2014/main" id="{34CAAAA6-4BC9-DEC7-6937-2A4AECE4AD62}"/>
              </a:ext>
            </a:extLst>
          </p:cNvPr>
          <p:cNvSpPr txBox="1">
            <a:spLocks/>
          </p:cNvSpPr>
          <p:nvPr/>
        </p:nvSpPr>
        <p:spPr bwMode="auto">
          <a:xfrm>
            <a:off x="4516438" y="5300663"/>
            <a:ext cx="1349375"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Final Value</a:t>
            </a:r>
          </a:p>
        </p:txBody>
      </p:sp>
      <p:sp>
        <p:nvSpPr>
          <p:cNvPr id="210956" name="Text Box 12" descr="TextBox 6">
            <a:extLst>
              <a:ext uri="{FF2B5EF4-FFF2-40B4-BE49-F238E27FC236}">
                <a16:creationId xmlns:a16="http://schemas.microsoft.com/office/drawing/2014/main" id="{ACD72914-6B24-750B-16DA-3B79DDFACF9C}"/>
              </a:ext>
            </a:extLst>
          </p:cNvPr>
          <p:cNvSpPr txBox="1">
            <a:spLocks/>
          </p:cNvSpPr>
          <p:nvPr/>
        </p:nvSpPr>
        <p:spPr bwMode="auto">
          <a:xfrm>
            <a:off x="7938" y="4508500"/>
            <a:ext cx="118110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
        <p:nvSpPr>
          <p:cNvPr id="210957" name="Text Box 13" descr="TextBox 7">
            <a:extLst>
              <a:ext uri="{FF2B5EF4-FFF2-40B4-BE49-F238E27FC236}">
                <a16:creationId xmlns:a16="http://schemas.microsoft.com/office/drawing/2014/main" id="{B41C0343-2B6A-6E1C-CB79-0B1834D4C204}"/>
              </a:ext>
            </a:extLst>
          </p:cNvPr>
          <p:cNvSpPr txBox="1">
            <a:spLocks/>
          </p:cNvSpPr>
          <p:nvPr/>
        </p:nvSpPr>
        <p:spPr bwMode="auto">
          <a:xfrm>
            <a:off x="6435725" y="4154488"/>
            <a:ext cx="2582863"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Database is in</a:t>
            </a:r>
          </a:p>
          <a:p>
            <a:r>
              <a:rPr lang="en-US" altLang="en-US" sz="1600">
                <a:solidFill>
                  <a:srgbClr val="FF0000"/>
                </a:solidFill>
              </a:rPr>
              <a:t>Inconsistent state</a:t>
            </a:r>
          </a:p>
          <a:p>
            <a:r>
              <a:rPr lang="en-US" altLang="en-US" sz="1600">
                <a:solidFill>
                  <a:srgbClr val="FF0000"/>
                </a:solidFill>
              </a:rPr>
              <a:t>WRONG value </a:t>
            </a:r>
            <a:r>
              <a:rPr lang="en-US" altLang="en-US" sz="1600" b="1">
                <a:solidFill>
                  <a:srgbClr val="FF0000"/>
                </a:solidFill>
              </a:rPr>
              <a:t>76</a:t>
            </a:r>
          </a:p>
          <a:p>
            <a:r>
              <a:rPr lang="en-US" altLang="en-US" sz="1600">
                <a:solidFill>
                  <a:srgbClr val="FF0000"/>
                </a:solidFill>
              </a:rPr>
              <a:t>Updated for Tippu Seats</a:t>
            </a:r>
          </a:p>
        </p:txBody>
      </p:sp>
      <p:pic>
        <p:nvPicPr>
          <p:cNvPr id="210958" name="Picture 14" descr="Picture 2">
            <a:extLst>
              <a:ext uri="{FF2B5EF4-FFF2-40B4-BE49-F238E27FC236}">
                <a16:creationId xmlns:a16="http://schemas.microsoft.com/office/drawing/2014/main" id="{B834A308-9E77-B98A-64A5-679A273055C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90613" y="1822450"/>
            <a:ext cx="5568950" cy="2109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descr="Title 1">
            <a:extLst>
              <a:ext uri="{FF2B5EF4-FFF2-40B4-BE49-F238E27FC236}">
                <a16:creationId xmlns:a16="http://schemas.microsoft.com/office/drawing/2014/main" id="{B8746109-0252-344D-55DB-5625F4847388}"/>
              </a:ext>
            </a:extLst>
          </p:cNvPr>
          <p:cNvSpPr>
            <a:spLocks noChangeArrowheads="1"/>
          </p:cNvSpPr>
          <p:nvPr>
            <p:ph type="title"/>
          </p:nvPr>
        </p:nvSpPr>
        <p:spPr/>
        <p:txBody>
          <a:bodyPr/>
          <a:lstStyle/>
          <a:p>
            <a:r>
              <a:rPr lang="en-US" altLang="en-US" sz="2400"/>
              <a:t>Why we need Concurrency Control Protocols ?</a:t>
            </a:r>
          </a:p>
        </p:txBody>
      </p:sp>
      <p:sp>
        <p:nvSpPr>
          <p:cNvPr id="211971" name="Text Box 3" descr="Date Placeholder 3">
            <a:extLst>
              <a:ext uri="{FF2B5EF4-FFF2-40B4-BE49-F238E27FC236}">
                <a16:creationId xmlns:a16="http://schemas.microsoft.com/office/drawing/2014/main" id="{255F0764-01C5-45EB-AD62-C22DB391A6D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1972" name="Text Box 4" descr="Slide Number Placeholder 5">
            <a:extLst>
              <a:ext uri="{FF2B5EF4-FFF2-40B4-BE49-F238E27FC236}">
                <a16:creationId xmlns:a16="http://schemas.microsoft.com/office/drawing/2014/main" id="{B857F4AF-977E-31D0-219E-5DFA4B22437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9FD9D8E-FF37-42B1-9F50-135FE6D4813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11973" name="Text Box 5" descr="TextBox 22">
            <a:extLst>
              <a:ext uri="{FF2B5EF4-FFF2-40B4-BE49-F238E27FC236}">
                <a16:creationId xmlns:a16="http://schemas.microsoft.com/office/drawing/2014/main" id="{85385253-38C8-12AD-CF85-2BF92D3F774B}"/>
              </a:ext>
            </a:extLst>
          </p:cNvPr>
          <p:cNvSpPr txBox="1">
            <a:spLocks/>
          </p:cNvSpPr>
          <p:nvPr/>
        </p:nvSpPr>
        <p:spPr bwMode="auto">
          <a:xfrm>
            <a:off x="512763" y="1141413"/>
            <a:ext cx="6948487"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Case 3: When the User1 Logins at 4:00pm to booking system and </a:t>
            </a:r>
          </a:p>
          <a:p>
            <a:r>
              <a:rPr lang="en-US" altLang="en-US" sz="1600"/>
              <a:t>User 2 Logins at 4:01pm to booking system</a:t>
            </a:r>
          </a:p>
        </p:txBody>
      </p:sp>
      <p:sp>
        <p:nvSpPr>
          <p:cNvPr id="211974" name="AutoShape 6" descr="Flowchart: Magnetic Disk 24">
            <a:extLst>
              <a:ext uri="{FF2B5EF4-FFF2-40B4-BE49-F238E27FC236}">
                <a16:creationId xmlns:a16="http://schemas.microsoft.com/office/drawing/2014/main" id="{9EC0CA25-8349-B2F7-CC3D-0F6DA3430F0E}"/>
              </a:ext>
            </a:extLst>
          </p:cNvPr>
          <p:cNvSpPr>
            <a:spLocks/>
          </p:cNvSpPr>
          <p:nvPr/>
        </p:nvSpPr>
        <p:spPr bwMode="auto">
          <a:xfrm>
            <a:off x="1231900" y="4013200"/>
            <a:ext cx="2233613" cy="12969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1975" name="Text Box 7" descr="TextBox 25">
            <a:extLst>
              <a:ext uri="{FF2B5EF4-FFF2-40B4-BE49-F238E27FC236}">
                <a16:creationId xmlns:a16="http://schemas.microsoft.com/office/drawing/2014/main" id="{15C20160-2929-C721-0768-97070F6ED760}"/>
              </a:ext>
            </a:extLst>
          </p:cNvPr>
          <p:cNvSpPr txBox="1">
            <a:spLocks/>
          </p:cNvSpPr>
          <p:nvPr/>
        </p:nvSpPr>
        <p:spPr bwMode="auto">
          <a:xfrm>
            <a:off x="1670050" y="4518025"/>
            <a:ext cx="14573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a:t>
            </a:r>
          </a:p>
        </p:txBody>
      </p:sp>
      <p:sp>
        <p:nvSpPr>
          <p:cNvPr id="211976" name="Text Box 8" descr="TextBox 26">
            <a:extLst>
              <a:ext uri="{FF2B5EF4-FFF2-40B4-BE49-F238E27FC236}">
                <a16:creationId xmlns:a16="http://schemas.microsoft.com/office/drawing/2014/main" id="{005516EE-F883-F48E-E580-29E7016C176B}"/>
              </a:ext>
            </a:extLst>
          </p:cNvPr>
          <p:cNvSpPr txBox="1">
            <a:spLocks/>
          </p:cNvSpPr>
          <p:nvPr/>
        </p:nvSpPr>
        <p:spPr bwMode="auto">
          <a:xfrm>
            <a:off x="1612900" y="5310188"/>
            <a:ext cx="146685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Initial Value</a:t>
            </a:r>
          </a:p>
        </p:txBody>
      </p:sp>
      <p:sp>
        <p:nvSpPr>
          <p:cNvPr id="211977" name="AutoShape 9" descr="Flowchart: Magnetic Disk 27">
            <a:extLst>
              <a:ext uri="{FF2B5EF4-FFF2-40B4-BE49-F238E27FC236}">
                <a16:creationId xmlns:a16="http://schemas.microsoft.com/office/drawing/2014/main" id="{E4B4A890-9295-8588-7F7B-81F5B342C42D}"/>
              </a:ext>
            </a:extLst>
          </p:cNvPr>
          <p:cNvSpPr>
            <a:spLocks/>
          </p:cNvSpPr>
          <p:nvPr/>
        </p:nvSpPr>
        <p:spPr bwMode="auto">
          <a:xfrm>
            <a:off x="4040188" y="4003675"/>
            <a:ext cx="2233612" cy="12969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1978" name="Text Box 10" descr="TextBox 28">
            <a:extLst>
              <a:ext uri="{FF2B5EF4-FFF2-40B4-BE49-F238E27FC236}">
                <a16:creationId xmlns:a16="http://schemas.microsoft.com/office/drawing/2014/main" id="{B3A96603-A89F-90BB-05CC-D1F60A225154}"/>
              </a:ext>
            </a:extLst>
          </p:cNvPr>
          <p:cNvSpPr txBox="1">
            <a:spLocks/>
          </p:cNvSpPr>
          <p:nvPr/>
        </p:nvSpPr>
        <p:spPr bwMode="auto">
          <a:xfrm>
            <a:off x="4478338" y="4508500"/>
            <a:ext cx="14573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Tippu Seats</a:t>
            </a:r>
          </a:p>
          <a:p>
            <a:r>
              <a:rPr lang="en-US" altLang="en-US">
                <a:solidFill>
                  <a:srgbClr val="0000FF"/>
                </a:solidFill>
              </a:rPr>
              <a:t>     80 </a:t>
            </a:r>
            <a:r>
              <a:rPr lang="en-US" altLang="en-US">
                <a:solidFill>
                  <a:srgbClr val="FF0000"/>
                </a:solidFill>
              </a:rPr>
              <a:t>76</a:t>
            </a:r>
            <a:endParaRPr lang="en-US" altLang="en-US">
              <a:solidFill>
                <a:srgbClr val="0000FF"/>
              </a:solidFill>
            </a:endParaRPr>
          </a:p>
        </p:txBody>
      </p:sp>
      <p:sp>
        <p:nvSpPr>
          <p:cNvPr id="211979" name="Text Box 11" descr="TextBox 29">
            <a:extLst>
              <a:ext uri="{FF2B5EF4-FFF2-40B4-BE49-F238E27FC236}">
                <a16:creationId xmlns:a16="http://schemas.microsoft.com/office/drawing/2014/main" id="{AB65DF3B-BE35-A741-5623-86992805FA38}"/>
              </a:ext>
            </a:extLst>
          </p:cNvPr>
          <p:cNvSpPr txBox="1">
            <a:spLocks/>
          </p:cNvSpPr>
          <p:nvPr/>
        </p:nvSpPr>
        <p:spPr bwMode="auto">
          <a:xfrm>
            <a:off x="4516438" y="5300663"/>
            <a:ext cx="1349375"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Final Value</a:t>
            </a:r>
          </a:p>
        </p:txBody>
      </p:sp>
      <p:sp>
        <p:nvSpPr>
          <p:cNvPr id="211980" name="Text Box 12" descr="TextBox 6">
            <a:extLst>
              <a:ext uri="{FF2B5EF4-FFF2-40B4-BE49-F238E27FC236}">
                <a16:creationId xmlns:a16="http://schemas.microsoft.com/office/drawing/2014/main" id="{2802A71D-862D-7F25-E641-0A1FDFFE0718}"/>
              </a:ext>
            </a:extLst>
          </p:cNvPr>
          <p:cNvSpPr txBox="1">
            <a:spLocks/>
          </p:cNvSpPr>
          <p:nvPr/>
        </p:nvSpPr>
        <p:spPr bwMode="auto">
          <a:xfrm>
            <a:off x="7938" y="4508500"/>
            <a:ext cx="1181100"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
        <p:nvSpPr>
          <p:cNvPr id="211981" name="Text Box 13" descr="TextBox 7">
            <a:extLst>
              <a:ext uri="{FF2B5EF4-FFF2-40B4-BE49-F238E27FC236}">
                <a16:creationId xmlns:a16="http://schemas.microsoft.com/office/drawing/2014/main" id="{A294D2A5-BBE9-6CEE-834C-28E834BE070E}"/>
              </a:ext>
            </a:extLst>
          </p:cNvPr>
          <p:cNvSpPr txBox="1">
            <a:spLocks/>
          </p:cNvSpPr>
          <p:nvPr/>
        </p:nvSpPr>
        <p:spPr bwMode="auto">
          <a:xfrm>
            <a:off x="6318250" y="4154488"/>
            <a:ext cx="2503488"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Database is in</a:t>
            </a:r>
          </a:p>
          <a:p>
            <a:r>
              <a:rPr lang="en-US" altLang="en-US" sz="1600">
                <a:solidFill>
                  <a:srgbClr val="FF0000"/>
                </a:solidFill>
              </a:rPr>
              <a:t>Inconsistent state</a:t>
            </a:r>
          </a:p>
          <a:p>
            <a:r>
              <a:rPr lang="en-US" altLang="en-US" sz="1600">
                <a:solidFill>
                  <a:srgbClr val="FF0000"/>
                </a:solidFill>
              </a:rPr>
              <a:t>WRONG value </a:t>
            </a:r>
            <a:r>
              <a:rPr lang="en-US" altLang="en-US" sz="1600" b="1">
                <a:solidFill>
                  <a:srgbClr val="FF0000"/>
                </a:solidFill>
              </a:rPr>
              <a:t>76</a:t>
            </a:r>
          </a:p>
          <a:p>
            <a:r>
              <a:rPr lang="en-US" altLang="en-US" sz="1600">
                <a:solidFill>
                  <a:srgbClr val="FF0000"/>
                </a:solidFill>
              </a:rPr>
              <a:t>Updaed for Tippu Seats</a:t>
            </a:r>
          </a:p>
        </p:txBody>
      </p:sp>
      <p:pic>
        <p:nvPicPr>
          <p:cNvPr id="211982" name="Picture 14" descr="Picture 2">
            <a:extLst>
              <a:ext uri="{FF2B5EF4-FFF2-40B4-BE49-F238E27FC236}">
                <a16:creationId xmlns:a16="http://schemas.microsoft.com/office/drawing/2014/main" id="{82594801-7CD5-5AD5-408F-0E4311AD686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90613" y="1822450"/>
            <a:ext cx="5568950" cy="2109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11983" name="Text Box 15" descr="TextBox 8">
            <a:extLst>
              <a:ext uri="{FF2B5EF4-FFF2-40B4-BE49-F238E27FC236}">
                <a16:creationId xmlns:a16="http://schemas.microsoft.com/office/drawing/2014/main" id="{E9A12464-4D78-A21D-ABBD-F0B81D6E82A4}"/>
              </a:ext>
            </a:extLst>
          </p:cNvPr>
          <p:cNvSpPr txBox="1">
            <a:spLocks/>
          </p:cNvSpPr>
          <p:nvPr/>
        </p:nvSpPr>
        <p:spPr bwMode="auto">
          <a:xfrm>
            <a:off x="6308725" y="5284788"/>
            <a:ext cx="2673350"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6600"/>
                </a:solidFill>
              </a:rPr>
              <a:t>To avoid this type of</a:t>
            </a:r>
          </a:p>
          <a:p>
            <a:r>
              <a:rPr lang="en-US" altLang="en-US" sz="1600" b="1">
                <a:solidFill>
                  <a:srgbClr val="006600"/>
                </a:solidFill>
              </a:rPr>
              <a:t>Problems Concurrency</a:t>
            </a:r>
          </a:p>
          <a:p>
            <a:r>
              <a:rPr lang="en-US" altLang="en-US" sz="1600" b="1">
                <a:solidFill>
                  <a:srgbClr val="006600"/>
                </a:solidFill>
              </a:rPr>
              <a:t>Control Protocols</a:t>
            </a:r>
          </a:p>
          <a:p>
            <a:r>
              <a:rPr lang="en-US" altLang="en-US" sz="1600" b="1">
                <a:solidFill>
                  <a:srgbClr val="006600"/>
                </a:solidFill>
              </a:rPr>
              <a:t>will be used</a:t>
            </a:r>
          </a:p>
        </p:txBody>
      </p:sp>
    </p:spTree>
  </p:cSld>
  <p:clrMapOvr>
    <a:masterClrMapping/>
  </p:clrMapOvr>
  <p:transition spd="med"/>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2" descr="Title 1">
            <a:extLst>
              <a:ext uri="{FF2B5EF4-FFF2-40B4-BE49-F238E27FC236}">
                <a16:creationId xmlns:a16="http://schemas.microsoft.com/office/drawing/2014/main" id="{CC99480B-51BA-BE4F-406C-8499D9383D03}"/>
              </a:ext>
            </a:extLst>
          </p:cNvPr>
          <p:cNvSpPr>
            <a:spLocks noChangeArrowheads="1"/>
          </p:cNvSpPr>
          <p:nvPr>
            <p:ph type="title"/>
          </p:nvPr>
        </p:nvSpPr>
        <p:spPr/>
        <p:txBody>
          <a:bodyPr/>
          <a:lstStyle/>
          <a:p>
            <a:r>
              <a:rPr lang="en-US" altLang="en-US" sz="2400"/>
              <a:t>Why we need Concurrency Control Protocols ?</a:t>
            </a:r>
          </a:p>
        </p:txBody>
      </p:sp>
      <p:sp>
        <p:nvSpPr>
          <p:cNvPr id="212995" name="Rectangle 3" descr="Content Placeholder 2">
            <a:extLst>
              <a:ext uri="{FF2B5EF4-FFF2-40B4-BE49-F238E27FC236}">
                <a16:creationId xmlns:a16="http://schemas.microsoft.com/office/drawing/2014/main" id="{7ED2A6B5-07C5-3520-A707-2247A132CA08}"/>
              </a:ext>
            </a:extLst>
          </p:cNvPr>
          <p:cNvSpPr>
            <a:spLocks noChangeArrowheads="1"/>
          </p:cNvSpPr>
          <p:nvPr>
            <p:ph type="body" idx="1"/>
          </p:nvPr>
        </p:nvSpPr>
        <p:spPr/>
        <p:txBody>
          <a:bodyPr/>
          <a:lstStyle/>
          <a:p>
            <a:pPr algn="just">
              <a:spcBef>
                <a:spcPts val="400"/>
              </a:spcBef>
            </a:pPr>
            <a:r>
              <a:rPr lang="en-US" altLang="en-US" sz="2000"/>
              <a:t>When two or more users or transactions wants to access the </a:t>
            </a:r>
            <a:r>
              <a:rPr lang="en-US" altLang="en-US" sz="2000" b="1"/>
              <a:t>same data item </a:t>
            </a:r>
            <a:r>
              <a:rPr lang="en-US" altLang="en-US" sz="2000"/>
              <a:t>then concurrency control protocols should be followed to leave database to a consistent state after completion of executing transactions.</a:t>
            </a:r>
          </a:p>
          <a:p>
            <a:pPr algn="just">
              <a:spcBef>
                <a:spcPts val="400"/>
              </a:spcBef>
            </a:pPr>
            <a:r>
              <a:rPr lang="en-US" altLang="en-US" sz="2000"/>
              <a:t> One type of Concurrency protocols are </a:t>
            </a:r>
            <a:r>
              <a:rPr lang="en-US" altLang="en-US" sz="2000" b="1"/>
              <a:t>LOCK based protocols</a:t>
            </a:r>
          </a:p>
          <a:p>
            <a:pPr algn="just">
              <a:spcBef>
                <a:spcPts val="400"/>
              </a:spcBef>
            </a:pPr>
            <a:r>
              <a:rPr lang="en-US" altLang="en-US" sz="2000"/>
              <a:t>Under LOCK based protocol any transaction that needs to access the data item should first obtain the LOCK on the data item</a:t>
            </a:r>
          </a:p>
        </p:txBody>
      </p:sp>
      <p:sp>
        <p:nvSpPr>
          <p:cNvPr id="212996" name="Text Box 4" descr="Date Placeholder 3">
            <a:extLst>
              <a:ext uri="{FF2B5EF4-FFF2-40B4-BE49-F238E27FC236}">
                <a16:creationId xmlns:a16="http://schemas.microsoft.com/office/drawing/2014/main" id="{A723721F-83BB-C220-BE80-942B436D462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2997" name="Text Box 5" descr="Slide Number Placeholder 5">
            <a:extLst>
              <a:ext uri="{FF2B5EF4-FFF2-40B4-BE49-F238E27FC236}">
                <a16:creationId xmlns:a16="http://schemas.microsoft.com/office/drawing/2014/main" id="{000E962A-4370-2D85-0359-C3C180CDDE5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F456869-9A6D-4BE2-9F29-8B45905AD0F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2" descr="Title 1">
            <a:extLst>
              <a:ext uri="{FF2B5EF4-FFF2-40B4-BE49-F238E27FC236}">
                <a16:creationId xmlns:a16="http://schemas.microsoft.com/office/drawing/2014/main" id="{0110E8F3-4C43-67A9-8B2C-37F7002C86FA}"/>
              </a:ext>
            </a:extLst>
          </p:cNvPr>
          <p:cNvSpPr>
            <a:spLocks noChangeArrowheads="1"/>
          </p:cNvSpPr>
          <p:nvPr>
            <p:ph type="title"/>
          </p:nvPr>
        </p:nvSpPr>
        <p:spPr/>
        <p:txBody>
          <a:bodyPr/>
          <a:lstStyle/>
          <a:p>
            <a:r>
              <a:rPr lang="en-US" altLang="en-US" sz="2400"/>
              <a:t>Concurrency Control Protocol: LOCK based</a:t>
            </a:r>
          </a:p>
        </p:txBody>
      </p:sp>
      <p:sp>
        <p:nvSpPr>
          <p:cNvPr id="214019" name="Text Box 3" descr="Date Placeholder 3">
            <a:extLst>
              <a:ext uri="{FF2B5EF4-FFF2-40B4-BE49-F238E27FC236}">
                <a16:creationId xmlns:a16="http://schemas.microsoft.com/office/drawing/2014/main" id="{22145094-37FA-67F3-9CE5-1C79B2174F3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4020" name="Text Box 4" descr="Slide Number Placeholder 5">
            <a:extLst>
              <a:ext uri="{FF2B5EF4-FFF2-40B4-BE49-F238E27FC236}">
                <a16:creationId xmlns:a16="http://schemas.microsoft.com/office/drawing/2014/main" id="{A49037DA-F1F0-1704-C3D7-810320475D5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BC6A834-74D4-4246-8001-BAEC76A415A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14021" name="AutoShape 5" descr="Flowchart: Magnetic Disk 24">
            <a:extLst>
              <a:ext uri="{FF2B5EF4-FFF2-40B4-BE49-F238E27FC236}">
                <a16:creationId xmlns:a16="http://schemas.microsoft.com/office/drawing/2014/main" id="{C558998C-981D-75D3-B0B1-0908F5B248DB}"/>
              </a:ext>
            </a:extLst>
          </p:cNvPr>
          <p:cNvSpPr>
            <a:spLocks/>
          </p:cNvSpPr>
          <p:nvPr/>
        </p:nvSpPr>
        <p:spPr bwMode="auto">
          <a:xfrm>
            <a:off x="1403350" y="4818063"/>
            <a:ext cx="2592388"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4022" name="Text Box 6" descr="TextBox 25">
            <a:extLst>
              <a:ext uri="{FF2B5EF4-FFF2-40B4-BE49-F238E27FC236}">
                <a16:creationId xmlns:a16="http://schemas.microsoft.com/office/drawing/2014/main" id="{647CC72C-090A-CC29-2236-1A2FB5B41D0C}"/>
              </a:ext>
            </a:extLst>
          </p:cNvPr>
          <p:cNvSpPr txBox="1">
            <a:spLocks/>
          </p:cNvSpPr>
          <p:nvPr/>
        </p:nvSpPr>
        <p:spPr bwMode="auto">
          <a:xfrm>
            <a:off x="1619250" y="5321300"/>
            <a:ext cx="1316038" cy="5842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Tippu Seats</a:t>
            </a:r>
          </a:p>
          <a:p>
            <a:r>
              <a:rPr lang="en-US" altLang="en-US" sz="1600">
                <a:solidFill>
                  <a:srgbClr val="0000FF"/>
                </a:solidFill>
              </a:rPr>
              <a:t>     80</a:t>
            </a:r>
          </a:p>
        </p:txBody>
      </p:sp>
      <p:sp>
        <p:nvSpPr>
          <p:cNvPr id="214023" name="Text Box 7" descr="TextBox 26">
            <a:extLst>
              <a:ext uri="{FF2B5EF4-FFF2-40B4-BE49-F238E27FC236}">
                <a16:creationId xmlns:a16="http://schemas.microsoft.com/office/drawing/2014/main" id="{EEE537C2-9BC0-FCF3-F249-8C0C20E94726}"/>
              </a:ext>
            </a:extLst>
          </p:cNvPr>
          <p:cNvSpPr txBox="1">
            <a:spLocks/>
          </p:cNvSpPr>
          <p:nvPr/>
        </p:nvSpPr>
        <p:spPr bwMode="auto">
          <a:xfrm>
            <a:off x="2032000" y="6088063"/>
            <a:ext cx="1314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Initial Value</a:t>
            </a:r>
          </a:p>
        </p:txBody>
      </p:sp>
      <p:sp>
        <p:nvSpPr>
          <p:cNvPr id="214024" name="Text Box 8" descr="TextBox 6">
            <a:extLst>
              <a:ext uri="{FF2B5EF4-FFF2-40B4-BE49-F238E27FC236}">
                <a16:creationId xmlns:a16="http://schemas.microsoft.com/office/drawing/2014/main" id="{AE08EFB7-DF57-FC9F-3C8B-0F8E0F9F0D15}"/>
              </a:ext>
            </a:extLst>
          </p:cNvPr>
          <p:cNvSpPr txBox="1">
            <a:spLocks/>
          </p:cNvSpPr>
          <p:nvPr/>
        </p:nvSpPr>
        <p:spPr bwMode="auto">
          <a:xfrm>
            <a:off x="179388" y="5313363"/>
            <a:ext cx="1060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a:t>
            </a:r>
          </a:p>
        </p:txBody>
      </p:sp>
      <p:sp>
        <p:nvSpPr>
          <p:cNvPr id="214025" name="Text Box 9" descr="TextBox 13">
            <a:extLst>
              <a:ext uri="{FF2B5EF4-FFF2-40B4-BE49-F238E27FC236}">
                <a16:creationId xmlns:a16="http://schemas.microsoft.com/office/drawing/2014/main" id="{92C8D0AA-175D-D90E-C817-5328F6EA484D}"/>
              </a:ext>
            </a:extLst>
          </p:cNvPr>
          <p:cNvSpPr txBox="1">
            <a:spLocks/>
          </p:cNvSpPr>
          <p:nvPr/>
        </p:nvSpPr>
        <p:spPr bwMode="auto">
          <a:xfrm>
            <a:off x="3027363" y="5313363"/>
            <a:ext cx="719137" cy="5826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6600"/>
                </a:solidFill>
              </a:rPr>
              <a:t>LOCK</a:t>
            </a:r>
          </a:p>
          <a:p>
            <a:r>
              <a:rPr lang="en-US" altLang="en-US" sz="1600">
                <a:solidFill>
                  <a:srgbClr val="0000FF"/>
                </a:solidFill>
              </a:rPr>
              <a:t>    0</a:t>
            </a:r>
          </a:p>
        </p:txBody>
      </p:sp>
      <p:pic>
        <p:nvPicPr>
          <p:cNvPr id="214026" name="Picture 10" descr="Picture 2">
            <a:extLst>
              <a:ext uri="{FF2B5EF4-FFF2-40B4-BE49-F238E27FC236}">
                <a16:creationId xmlns:a16="http://schemas.microsoft.com/office/drawing/2014/main" id="{02792757-F006-8E31-50FA-FDBAAA07E01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27100" y="2389188"/>
            <a:ext cx="5570538" cy="2111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14027" name="Text Box 11" descr="TextBox 12">
            <a:extLst>
              <a:ext uri="{FF2B5EF4-FFF2-40B4-BE49-F238E27FC236}">
                <a16:creationId xmlns:a16="http://schemas.microsoft.com/office/drawing/2014/main" id="{CC82C37A-5423-C09E-5133-DB1CBF68312C}"/>
              </a:ext>
            </a:extLst>
          </p:cNvPr>
          <p:cNvSpPr txBox="1">
            <a:spLocks/>
          </p:cNvSpPr>
          <p:nvPr/>
        </p:nvSpPr>
        <p:spPr bwMode="auto">
          <a:xfrm>
            <a:off x="544513" y="1141413"/>
            <a:ext cx="8069262"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For the following transactions schedule we will see by using </a:t>
            </a:r>
          </a:p>
          <a:p>
            <a:r>
              <a:rPr lang="en-US" altLang="en-US"/>
              <a:t>LOCK based protocol, how to obtain correct value i.e., leaving the</a:t>
            </a:r>
          </a:p>
          <a:p>
            <a:r>
              <a:rPr lang="en-US" altLang="en-US"/>
              <a:t>Database system in a consistent state after execution of transactions</a:t>
            </a:r>
          </a:p>
        </p:txBody>
      </p:sp>
    </p:spTree>
  </p:cSld>
  <p:clrMapOvr>
    <a:masterClrMapping/>
  </p:clrMapOvr>
  <p:transition spd="med"/>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descr="Title 1">
            <a:extLst>
              <a:ext uri="{FF2B5EF4-FFF2-40B4-BE49-F238E27FC236}">
                <a16:creationId xmlns:a16="http://schemas.microsoft.com/office/drawing/2014/main" id="{0ACEC723-7833-DDFF-4EFA-692F987C7FC1}"/>
              </a:ext>
            </a:extLst>
          </p:cNvPr>
          <p:cNvSpPr>
            <a:spLocks noChangeArrowheads="1"/>
          </p:cNvSpPr>
          <p:nvPr>
            <p:ph type="title"/>
          </p:nvPr>
        </p:nvSpPr>
        <p:spPr/>
        <p:txBody>
          <a:bodyPr/>
          <a:lstStyle/>
          <a:p>
            <a:r>
              <a:rPr lang="en-US" altLang="en-US" sz="2400"/>
              <a:t>Concurrency Control Protocol: LOCK based</a:t>
            </a:r>
          </a:p>
        </p:txBody>
      </p:sp>
      <p:sp>
        <p:nvSpPr>
          <p:cNvPr id="215043" name="Text Box 3" descr="Date Placeholder 3">
            <a:extLst>
              <a:ext uri="{FF2B5EF4-FFF2-40B4-BE49-F238E27FC236}">
                <a16:creationId xmlns:a16="http://schemas.microsoft.com/office/drawing/2014/main" id="{A271E805-39E6-D0B6-C86C-3115ABCDD19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5044" name="Text Box 4" descr="Slide Number Placeholder 5">
            <a:extLst>
              <a:ext uri="{FF2B5EF4-FFF2-40B4-BE49-F238E27FC236}">
                <a16:creationId xmlns:a16="http://schemas.microsoft.com/office/drawing/2014/main" id="{69DD4A45-3020-0536-4DF2-55FFE717304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49C0820-00AC-4BA8-AE9C-194A281B6A3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199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15045" name="Group 5">
            <a:extLst>
              <a:ext uri="{FF2B5EF4-FFF2-40B4-BE49-F238E27FC236}">
                <a16:creationId xmlns:a16="http://schemas.microsoft.com/office/drawing/2014/main" id="{618B95AB-A374-008E-0569-4C7477DA1C99}"/>
              </a:ext>
            </a:extLst>
          </p:cNvPr>
          <p:cNvGraphicFramePr>
            <a:graphicFrameLocks noGrp="1"/>
          </p:cNvGraphicFramePr>
          <p:nvPr/>
        </p:nvGraphicFramePr>
        <p:xfrm>
          <a:off x="277813" y="1085850"/>
          <a:ext cx="8424862" cy="2879725"/>
        </p:xfrm>
        <a:graphic>
          <a:graphicData uri="http://schemas.openxmlformats.org/drawingml/2006/table">
            <a:tbl>
              <a:tblPr/>
              <a:tblGrid>
                <a:gridCol w="1008062">
                  <a:extLst>
                    <a:ext uri="{9D8B030D-6E8A-4147-A177-3AD203B41FA5}">
                      <a16:colId xmlns:a16="http://schemas.microsoft.com/office/drawing/2014/main" val="1503559961"/>
                    </a:ext>
                  </a:extLst>
                </a:gridCol>
                <a:gridCol w="3240088">
                  <a:extLst>
                    <a:ext uri="{9D8B030D-6E8A-4147-A177-3AD203B41FA5}">
                      <a16:colId xmlns:a16="http://schemas.microsoft.com/office/drawing/2014/main" val="1597720934"/>
                    </a:ext>
                  </a:extLst>
                </a:gridCol>
                <a:gridCol w="4176712">
                  <a:extLst>
                    <a:ext uri="{9D8B030D-6E8A-4147-A177-3AD203B41FA5}">
                      <a16:colId xmlns:a16="http://schemas.microsoft.com/office/drawing/2014/main" val="2001298444"/>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55372188"/>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0322950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9585537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353249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846955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9183567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99830767"/>
                  </a:ext>
                </a:extLst>
              </a:tr>
            </a:tbl>
          </a:graphicData>
        </a:graphic>
      </p:graphicFrame>
      <p:sp>
        <p:nvSpPr>
          <p:cNvPr id="215119" name="AutoShape 79" descr="Flowchart: Magnetic Disk 24">
            <a:extLst>
              <a:ext uri="{FF2B5EF4-FFF2-40B4-BE49-F238E27FC236}">
                <a16:creationId xmlns:a16="http://schemas.microsoft.com/office/drawing/2014/main" id="{F2D86F99-D44A-B421-1985-DA260DC4167F}"/>
              </a:ext>
            </a:extLst>
          </p:cNvPr>
          <p:cNvSpPr>
            <a:spLocks/>
          </p:cNvSpPr>
          <p:nvPr/>
        </p:nvSpPr>
        <p:spPr bwMode="auto">
          <a:xfrm>
            <a:off x="1403350" y="4818063"/>
            <a:ext cx="2592388"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5120" name="Text Box 80" descr="TextBox 25">
            <a:extLst>
              <a:ext uri="{FF2B5EF4-FFF2-40B4-BE49-F238E27FC236}">
                <a16:creationId xmlns:a16="http://schemas.microsoft.com/office/drawing/2014/main" id="{55B77175-063E-5CA4-EE77-8E3D791713AC}"/>
              </a:ext>
            </a:extLst>
          </p:cNvPr>
          <p:cNvSpPr txBox="1">
            <a:spLocks/>
          </p:cNvSpPr>
          <p:nvPr/>
        </p:nvSpPr>
        <p:spPr bwMode="auto">
          <a:xfrm>
            <a:off x="1619250" y="5321300"/>
            <a:ext cx="1316038" cy="5842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Tippu Seats</a:t>
            </a:r>
          </a:p>
          <a:p>
            <a:r>
              <a:rPr lang="en-US" altLang="en-US" sz="1600">
                <a:solidFill>
                  <a:srgbClr val="0000FF"/>
                </a:solidFill>
              </a:rPr>
              <a:t>     80</a:t>
            </a:r>
          </a:p>
        </p:txBody>
      </p:sp>
      <p:sp>
        <p:nvSpPr>
          <p:cNvPr id="215121" name="Text Box 81" descr="TextBox 6">
            <a:extLst>
              <a:ext uri="{FF2B5EF4-FFF2-40B4-BE49-F238E27FC236}">
                <a16:creationId xmlns:a16="http://schemas.microsoft.com/office/drawing/2014/main" id="{1230A7D2-C3B5-2838-9EA5-09F321A644CE}"/>
              </a:ext>
            </a:extLst>
          </p:cNvPr>
          <p:cNvSpPr txBox="1">
            <a:spLocks/>
          </p:cNvSpPr>
          <p:nvPr/>
        </p:nvSpPr>
        <p:spPr bwMode="auto">
          <a:xfrm>
            <a:off x="179388" y="5313363"/>
            <a:ext cx="1060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a:t>
            </a:r>
          </a:p>
        </p:txBody>
      </p:sp>
      <p:sp>
        <p:nvSpPr>
          <p:cNvPr id="215122" name="Text Box 82" descr="TextBox 13">
            <a:extLst>
              <a:ext uri="{FF2B5EF4-FFF2-40B4-BE49-F238E27FC236}">
                <a16:creationId xmlns:a16="http://schemas.microsoft.com/office/drawing/2014/main" id="{56CD3368-D4A1-F620-301E-BF7C8150953F}"/>
              </a:ext>
            </a:extLst>
          </p:cNvPr>
          <p:cNvSpPr txBox="1">
            <a:spLocks/>
          </p:cNvSpPr>
          <p:nvPr/>
        </p:nvSpPr>
        <p:spPr bwMode="auto">
          <a:xfrm>
            <a:off x="3027363" y="5313363"/>
            <a:ext cx="719137" cy="5826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6600"/>
                </a:solidFill>
              </a:rPr>
              <a:t>LOCK</a:t>
            </a:r>
          </a:p>
          <a:p>
            <a:r>
              <a:rPr lang="en-US" altLang="en-US" sz="1600">
                <a:solidFill>
                  <a:srgbClr val="0000FF"/>
                </a:solidFill>
              </a:rPr>
              <a:t>  0</a:t>
            </a:r>
            <a:r>
              <a:rPr lang="en-US" altLang="en-US" sz="1600" b="1">
                <a:solidFill>
                  <a:srgbClr val="0000FF"/>
                </a:solidFill>
              </a:rPr>
              <a:t>1</a:t>
            </a:r>
            <a:endParaRPr lang="en-US" altLang="en-US" sz="1600">
              <a:solidFill>
                <a:srgbClr val="0000FF"/>
              </a:solidFill>
            </a:endParaRPr>
          </a:p>
        </p:txBody>
      </p:sp>
      <p:sp>
        <p:nvSpPr>
          <p:cNvPr id="215123" name="Text Box 83" descr="TextBox 7">
            <a:extLst>
              <a:ext uri="{FF2B5EF4-FFF2-40B4-BE49-F238E27FC236}">
                <a16:creationId xmlns:a16="http://schemas.microsoft.com/office/drawing/2014/main" id="{DF98A20A-6B1C-F7FE-B26C-A53844C4F93F}"/>
              </a:ext>
            </a:extLst>
          </p:cNvPr>
          <p:cNvSpPr txBox="1">
            <a:spLocks/>
          </p:cNvSpPr>
          <p:nvPr/>
        </p:nvSpPr>
        <p:spPr bwMode="auto">
          <a:xfrm>
            <a:off x="4284663" y="5229225"/>
            <a:ext cx="4667250" cy="814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When Transaction T1 executes, </a:t>
            </a:r>
          </a:p>
          <a:p>
            <a:r>
              <a:rPr lang="en-US" altLang="en-US" sz="1600"/>
              <a:t>LOCK(TippuSeats), LOCK variable value of </a:t>
            </a:r>
          </a:p>
          <a:p>
            <a:r>
              <a:rPr lang="en-US" altLang="en-US" sz="1600"/>
              <a:t>TippuSeats will be changed from zero to one</a:t>
            </a:r>
          </a:p>
        </p:txBody>
      </p:sp>
    </p:spTree>
  </p:cSld>
  <p:clrMapOvr>
    <a:masterClrMapping/>
  </p:clrMapOvr>
  <p:transition spd="med"/>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2" descr="Title 1">
            <a:extLst>
              <a:ext uri="{FF2B5EF4-FFF2-40B4-BE49-F238E27FC236}">
                <a16:creationId xmlns:a16="http://schemas.microsoft.com/office/drawing/2014/main" id="{9DD6DD29-0A0B-BE92-4681-AD814787B4B1}"/>
              </a:ext>
            </a:extLst>
          </p:cNvPr>
          <p:cNvSpPr>
            <a:spLocks noChangeArrowheads="1"/>
          </p:cNvSpPr>
          <p:nvPr>
            <p:ph type="title"/>
          </p:nvPr>
        </p:nvSpPr>
        <p:spPr/>
        <p:txBody>
          <a:bodyPr/>
          <a:lstStyle/>
          <a:p>
            <a:r>
              <a:rPr lang="en-US" altLang="en-US" sz="2400"/>
              <a:t>Concurrency Control Protocol: LOCK based</a:t>
            </a:r>
          </a:p>
        </p:txBody>
      </p:sp>
      <p:sp>
        <p:nvSpPr>
          <p:cNvPr id="216067" name="Text Box 3" descr="Date Placeholder 3">
            <a:extLst>
              <a:ext uri="{FF2B5EF4-FFF2-40B4-BE49-F238E27FC236}">
                <a16:creationId xmlns:a16="http://schemas.microsoft.com/office/drawing/2014/main" id="{23D82989-1750-245A-53C6-98956767A49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6068" name="Text Box 4" descr="Slide Number Placeholder 5">
            <a:extLst>
              <a:ext uri="{FF2B5EF4-FFF2-40B4-BE49-F238E27FC236}">
                <a16:creationId xmlns:a16="http://schemas.microsoft.com/office/drawing/2014/main" id="{3303F9DE-89D6-AAE3-7CE8-1595D0C8824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6755B75-2992-4E17-A5BE-17574DF51ED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16069" name="Group 5">
            <a:extLst>
              <a:ext uri="{FF2B5EF4-FFF2-40B4-BE49-F238E27FC236}">
                <a16:creationId xmlns:a16="http://schemas.microsoft.com/office/drawing/2014/main" id="{90048901-DFE3-9C02-F982-690393A10B46}"/>
              </a:ext>
            </a:extLst>
          </p:cNvPr>
          <p:cNvGraphicFramePr>
            <a:graphicFrameLocks noGrp="1"/>
          </p:cNvGraphicFramePr>
          <p:nvPr/>
        </p:nvGraphicFramePr>
        <p:xfrm>
          <a:off x="277813" y="1085850"/>
          <a:ext cx="8424862" cy="3082925"/>
        </p:xfrm>
        <a:graphic>
          <a:graphicData uri="http://schemas.openxmlformats.org/drawingml/2006/table">
            <a:tbl>
              <a:tblPr/>
              <a:tblGrid>
                <a:gridCol w="1008062">
                  <a:extLst>
                    <a:ext uri="{9D8B030D-6E8A-4147-A177-3AD203B41FA5}">
                      <a16:colId xmlns:a16="http://schemas.microsoft.com/office/drawing/2014/main" val="3533223443"/>
                    </a:ext>
                  </a:extLst>
                </a:gridCol>
                <a:gridCol w="3240088">
                  <a:extLst>
                    <a:ext uri="{9D8B030D-6E8A-4147-A177-3AD203B41FA5}">
                      <a16:colId xmlns:a16="http://schemas.microsoft.com/office/drawing/2014/main" val="2867359138"/>
                    </a:ext>
                  </a:extLst>
                </a:gridCol>
                <a:gridCol w="4176712">
                  <a:extLst>
                    <a:ext uri="{9D8B030D-6E8A-4147-A177-3AD203B41FA5}">
                      <a16:colId xmlns:a16="http://schemas.microsoft.com/office/drawing/2014/main" val="759688160"/>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92050576"/>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22750111"/>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 will</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WAIT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because it cannot obtain LOCK on data item 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2276974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9904524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0352859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1205990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3274297"/>
                  </a:ext>
                </a:extLst>
              </a:tr>
            </a:tbl>
          </a:graphicData>
        </a:graphic>
      </p:graphicFrame>
      <p:sp>
        <p:nvSpPr>
          <p:cNvPr id="216143" name="AutoShape 79" descr="Flowchart: Magnetic Disk 24">
            <a:extLst>
              <a:ext uri="{FF2B5EF4-FFF2-40B4-BE49-F238E27FC236}">
                <a16:creationId xmlns:a16="http://schemas.microsoft.com/office/drawing/2014/main" id="{BF0ADDFC-6AF7-0D65-483C-E1112799F776}"/>
              </a:ext>
            </a:extLst>
          </p:cNvPr>
          <p:cNvSpPr>
            <a:spLocks/>
          </p:cNvSpPr>
          <p:nvPr/>
        </p:nvSpPr>
        <p:spPr bwMode="auto">
          <a:xfrm>
            <a:off x="1403350" y="4818063"/>
            <a:ext cx="2592388"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6144" name="Text Box 80" descr="TextBox 25">
            <a:extLst>
              <a:ext uri="{FF2B5EF4-FFF2-40B4-BE49-F238E27FC236}">
                <a16:creationId xmlns:a16="http://schemas.microsoft.com/office/drawing/2014/main" id="{8D78898F-B418-121E-A44E-0D6FCD29473E}"/>
              </a:ext>
            </a:extLst>
          </p:cNvPr>
          <p:cNvSpPr txBox="1">
            <a:spLocks/>
          </p:cNvSpPr>
          <p:nvPr/>
        </p:nvSpPr>
        <p:spPr bwMode="auto">
          <a:xfrm>
            <a:off x="1619250" y="5321300"/>
            <a:ext cx="1316038" cy="5842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Tippu Seats</a:t>
            </a:r>
          </a:p>
          <a:p>
            <a:r>
              <a:rPr lang="en-US" altLang="en-US" sz="1600">
                <a:solidFill>
                  <a:srgbClr val="0000FF"/>
                </a:solidFill>
              </a:rPr>
              <a:t>     80</a:t>
            </a:r>
          </a:p>
        </p:txBody>
      </p:sp>
      <p:sp>
        <p:nvSpPr>
          <p:cNvPr id="216145" name="Text Box 81" descr="TextBox 6">
            <a:extLst>
              <a:ext uri="{FF2B5EF4-FFF2-40B4-BE49-F238E27FC236}">
                <a16:creationId xmlns:a16="http://schemas.microsoft.com/office/drawing/2014/main" id="{822FA685-AB22-92AA-EF60-6F603E5ACDE4}"/>
              </a:ext>
            </a:extLst>
          </p:cNvPr>
          <p:cNvSpPr txBox="1">
            <a:spLocks/>
          </p:cNvSpPr>
          <p:nvPr/>
        </p:nvSpPr>
        <p:spPr bwMode="auto">
          <a:xfrm>
            <a:off x="179388" y="5313363"/>
            <a:ext cx="1060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a:t>
            </a:r>
          </a:p>
        </p:txBody>
      </p:sp>
      <p:sp>
        <p:nvSpPr>
          <p:cNvPr id="216146" name="Text Box 82" descr="TextBox 13">
            <a:extLst>
              <a:ext uri="{FF2B5EF4-FFF2-40B4-BE49-F238E27FC236}">
                <a16:creationId xmlns:a16="http://schemas.microsoft.com/office/drawing/2014/main" id="{5F0FBEB8-6E09-977A-45F1-FDACC76FD216}"/>
              </a:ext>
            </a:extLst>
          </p:cNvPr>
          <p:cNvSpPr txBox="1">
            <a:spLocks/>
          </p:cNvSpPr>
          <p:nvPr/>
        </p:nvSpPr>
        <p:spPr bwMode="auto">
          <a:xfrm>
            <a:off x="3027363" y="5313363"/>
            <a:ext cx="742950" cy="5826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6600"/>
                </a:solidFill>
              </a:rPr>
              <a:t>LOCK</a:t>
            </a:r>
          </a:p>
          <a:p>
            <a:r>
              <a:rPr lang="en-US" altLang="en-US" sz="1600">
                <a:solidFill>
                  <a:srgbClr val="0000FF"/>
                </a:solidFill>
              </a:rPr>
              <a:t>    0</a:t>
            </a:r>
            <a:r>
              <a:rPr lang="en-US" altLang="en-US" sz="1600" b="1">
                <a:solidFill>
                  <a:srgbClr val="0000FF"/>
                </a:solidFill>
              </a:rPr>
              <a:t> 1</a:t>
            </a:r>
            <a:endParaRPr lang="en-US" altLang="en-US" sz="1600">
              <a:solidFill>
                <a:srgbClr val="0000FF"/>
              </a:solidFill>
            </a:endParaRPr>
          </a:p>
        </p:txBody>
      </p:sp>
      <p:sp>
        <p:nvSpPr>
          <p:cNvPr id="216147" name="Text Box 83" descr="TextBox 7">
            <a:extLst>
              <a:ext uri="{FF2B5EF4-FFF2-40B4-BE49-F238E27FC236}">
                <a16:creationId xmlns:a16="http://schemas.microsoft.com/office/drawing/2014/main" id="{0E529014-DC3E-401F-A085-F1DCB82ECD76}"/>
              </a:ext>
            </a:extLst>
          </p:cNvPr>
          <p:cNvSpPr txBox="1">
            <a:spLocks/>
          </p:cNvSpPr>
          <p:nvPr/>
        </p:nvSpPr>
        <p:spPr bwMode="auto">
          <a:xfrm>
            <a:off x="4329113" y="5189538"/>
            <a:ext cx="4462462"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When transaction T2 comes at 4:01pm,</a:t>
            </a:r>
          </a:p>
          <a:p>
            <a:r>
              <a:rPr lang="en-US" altLang="en-US" sz="1600"/>
              <a:t>Then T2 will check for LOCK variable value</a:t>
            </a:r>
          </a:p>
          <a:p>
            <a:r>
              <a:rPr lang="en-US" altLang="en-US" sz="1600"/>
              <a:t>Of TippuSeats it is </a:t>
            </a:r>
            <a:r>
              <a:rPr lang="en-US" altLang="en-US" sz="1600" b="1"/>
              <a:t>ONE</a:t>
            </a:r>
            <a:r>
              <a:rPr lang="en-US" altLang="en-US" sz="1600"/>
              <a:t> so T2 </a:t>
            </a:r>
            <a:r>
              <a:rPr lang="en-US" altLang="en-US" sz="1600" b="1"/>
              <a:t>WAITS</a:t>
            </a:r>
            <a:endParaRPr lang="en-US" altLang="en-US" sz="1600"/>
          </a:p>
        </p:txBody>
      </p:sp>
    </p:spTree>
  </p:cSld>
  <p:clrMapOvr>
    <a:masterClrMapping/>
  </p:clrMapOvr>
  <p:transition spd="med"/>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descr="Title 1">
            <a:extLst>
              <a:ext uri="{FF2B5EF4-FFF2-40B4-BE49-F238E27FC236}">
                <a16:creationId xmlns:a16="http://schemas.microsoft.com/office/drawing/2014/main" id="{1DD0B9AC-9287-6440-AF6B-B475ED93FFD9}"/>
              </a:ext>
            </a:extLst>
          </p:cNvPr>
          <p:cNvSpPr>
            <a:spLocks noChangeArrowheads="1"/>
          </p:cNvSpPr>
          <p:nvPr>
            <p:ph type="title"/>
          </p:nvPr>
        </p:nvSpPr>
        <p:spPr/>
        <p:txBody>
          <a:bodyPr/>
          <a:lstStyle/>
          <a:p>
            <a:r>
              <a:rPr lang="en-US" altLang="en-US" sz="2400"/>
              <a:t>Concurrency Control Protocol: LOCK based</a:t>
            </a:r>
          </a:p>
        </p:txBody>
      </p:sp>
      <p:sp>
        <p:nvSpPr>
          <p:cNvPr id="217091" name="Text Box 3" descr="Date Placeholder 3">
            <a:extLst>
              <a:ext uri="{FF2B5EF4-FFF2-40B4-BE49-F238E27FC236}">
                <a16:creationId xmlns:a16="http://schemas.microsoft.com/office/drawing/2014/main" id="{7FD251A2-526B-86DF-DB6A-1C4DAC8632C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7092" name="Text Box 4" descr="Slide Number Placeholder 5">
            <a:extLst>
              <a:ext uri="{FF2B5EF4-FFF2-40B4-BE49-F238E27FC236}">
                <a16:creationId xmlns:a16="http://schemas.microsoft.com/office/drawing/2014/main" id="{1F29092E-6330-3A2B-7512-17AC66CC942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07FC352-3B45-4B25-8855-24F13F61D03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17093" name="Group 5">
            <a:extLst>
              <a:ext uri="{FF2B5EF4-FFF2-40B4-BE49-F238E27FC236}">
                <a16:creationId xmlns:a16="http://schemas.microsoft.com/office/drawing/2014/main" id="{47676FE8-F94A-8F15-54B7-42CAA6803172}"/>
              </a:ext>
            </a:extLst>
          </p:cNvPr>
          <p:cNvGraphicFramePr>
            <a:graphicFrameLocks noGrp="1"/>
          </p:cNvGraphicFramePr>
          <p:nvPr/>
        </p:nvGraphicFramePr>
        <p:xfrm>
          <a:off x="277813" y="1085850"/>
          <a:ext cx="8424862" cy="3286125"/>
        </p:xfrm>
        <a:graphic>
          <a:graphicData uri="http://schemas.openxmlformats.org/drawingml/2006/table">
            <a:tbl>
              <a:tblPr/>
              <a:tblGrid>
                <a:gridCol w="1008062">
                  <a:extLst>
                    <a:ext uri="{9D8B030D-6E8A-4147-A177-3AD203B41FA5}">
                      <a16:colId xmlns:a16="http://schemas.microsoft.com/office/drawing/2014/main" val="4020970527"/>
                    </a:ext>
                  </a:extLst>
                </a:gridCol>
                <a:gridCol w="3240088">
                  <a:extLst>
                    <a:ext uri="{9D8B030D-6E8A-4147-A177-3AD203B41FA5}">
                      <a16:colId xmlns:a16="http://schemas.microsoft.com/office/drawing/2014/main" val="481012675"/>
                    </a:ext>
                  </a:extLst>
                </a:gridCol>
                <a:gridCol w="4176712">
                  <a:extLst>
                    <a:ext uri="{9D8B030D-6E8A-4147-A177-3AD203B41FA5}">
                      <a16:colId xmlns:a16="http://schemas.microsoft.com/office/drawing/2014/main" val="4193709404"/>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15548684"/>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54743785"/>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 will</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WAIT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because it cannot obtain LOCK on data item 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12293002"/>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UNLOCK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a:t>
                      </a:r>
                      <a:endPar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2235450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600657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524566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32054637"/>
                  </a:ext>
                </a:extLst>
              </a:tr>
            </a:tbl>
          </a:graphicData>
        </a:graphic>
      </p:graphicFrame>
      <p:sp>
        <p:nvSpPr>
          <p:cNvPr id="217167" name="AutoShape 79" descr="Flowchart: Magnetic Disk 24">
            <a:extLst>
              <a:ext uri="{FF2B5EF4-FFF2-40B4-BE49-F238E27FC236}">
                <a16:creationId xmlns:a16="http://schemas.microsoft.com/office/drawing/2014/main" id="{9CD6DA61-2606-FC3F-1B56-772DF5D1523D}"/>
              </a:ext>
            </a:extLst>
          </p:cNvPr>
          <p:cNvSpPr>
            <a:spLocks/>
          </p:cNvSpPr>
          <p:nvPr/>
        </p:nvSpPr>
        <p:spPr bwMode="auto">
          <a:xfrm>
            <a:off x="1403350" y="4818063"/>
            <a:ext cx="2592388"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7168" name="Text Box 80" descr="TextBox 25">
            <a:extLst>
              <a:ext uri="{FF2B5EF4-FFF2-40B4-BE49-F238E27FC236}">
                <a16:creationId xmlns:a16="http://schemas.microsoft.com/office/drawing/2014/main" id="{B4E0E823-0781-7A6D-381C-8D9D7F821D60}"/>
              </a:ext>
            </a:extLst>
          </p:cNvPr>
          <p:cNvSpPr txBox="1">
            <a:spLocks/>
          </p:cNvSpPr>
          <p:nvPr/>
        </p:nvSpPr>
        <p:spPr bwMode="auto">
          <a:xfrm>
            <a:off x="1619250" y="5321300"/>
            <a:ext cx="1316038" cy="5842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Tippu Seats</a:t>
            </a:r>
          </a:p>
          <a:p>
            <a:r>
              <a:rPr lang="en-US" altLang="en-US" sz="1600">
                <a:solidFill>
                  <a:srgbClr val="0000FF"/>
                </a:solidFill>
              </a:rPr>
              <a:t>     80 75</a:t>
            </a:r>
          </a:p>
        </p:txBody>
      </p:sp>
      <p:sp>
        <p:nvSpPr>
          <p:cNvPr id="217169" name="Text Box 81" descr="TextBox 6">
            <a:extLst>
              <a:ext uri="{FF2B5EF4-FFF2-40B4-BE49-F238E27FC236}">
                <a16:creationId xmlns:a16="http://schemas.microsoft.com/office/drawing/2014/main" id="{3A5D559F-FFBA-98A7-E3DE-CDD4E5E47584}"/>
              </a:ext>
            </a:extLst>
          </p:cNvPr>
          <p:cNvSpPr txBox="1">
            <a:spLocks/>
          </p:cNvSpPr>
          <p:nvPr/>
        </p:nvSpPr>
        <p:spPr bwMode="auto">
          <a:xfrm>
            <a:off x="179388" y="5313363"/>
            <a:ext cx="1060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a:t>
            </a:r>
          </a:p>
        </p:txBody>
      </p:sp>
      <p:sp>
        <p:nvSpPr>
          <p:cNvPr id="217170" name="Text Box 82" descr="TextBox 13">
            <a:extLst>
              <a:ext uri="{FF2B5EF4-FFF2-40B4-BE49-F238E27FC236}">
                <a16:creationId xmlns:a16="http://schemas.microsoft.com/office/drawing/2014/main" id="{382C346C-8D8E-592E-29F8-39E23132D61D}"/>
              </a:ext>
            </a:extLst>
          </p:cNvPr>
          <p:cNvSpPr txBox="1">
            <a:spLocks/>
          </p:cNvSpPr>
          <p:nvPr/>
        </p:nvSpPr>
        <p:spPr bwMode="auto">
          <a:xfrm>
            <a:off x="3027363" y="5313363"/>
            <a:ext cx="742950" cy="5826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6600"/>
                </a:solidFill>
              </a:rPr>
              <a:t>LOCK</a:t>
            </a:r>
          </a:p>
          <a:p>
            <a:r>
              <a:rPr lang="en-US" altLang="en-US" sz="1600">
                <a:solidFill>
                  <a:srgbClr val="0000FF"/>
                </a:solidFill>
              </a:rPr>
              <a:t> 0</a:t>
            </a:r>
            <a:r>
              <a:rPr lang="en-US" altLang="en-US" sz="1600" b="1">
                <a:solidFill>
                  <a:srgbClr val="0000FF"/>
                </a:solidFill>
              </a:rPr>
              <a:t> 1 0</a:t>
            </a:r>
            <a:endParaRPr lang="en-US" altLang="en-US" sz="1600">
              <a:solidFill>
                <a:srgbClr val="0000FF"/>
              </a:solidFill>
            </a:endParaRPr>
          </a:p>
        </p:txBody>
      </p:sp>
      <p:sp>
        <p:nvSpPr>
          <p:cNvPr id="217171" name="Text Box 83" descr="TextBox 7">
            <a:extLst>
              <a:ext uri="{FF2B5EF4-FFF2-40B4-BE49-F238E27FC236}">
                <a16:creationId xmlns:a16="http://schemas.microsoft.com/office/drawing/2014/main" id="{ED2744E3-5750-B751-8FD3-789A7287453B}"/>
              </a:ext>
            </a:extLst>
          </p:cNvPr>
          <p:cNvSpPr txBox="1">
            <a:spLocks/>
          </p:cNvSpPr>
          <p:nvPr/>
        </p:nvSpPr>
        <p:spPr bwMode="auto">
          <a:xfrm>
            <a:off x="4329113" y="5084763"/>
            <a:ext cx="4022725" cy="1055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When transaction T1 executes </a:t>
            </a:r>
          </a:p>
          <a:p>
            <a:r>
              <a:rPr lang="en-US" altLang="en-US" sz="1600"/>
              <a:t>UNLOCK(TippuSeats), LOCK value of </a:t>
            </a:r>
          </a:p>
          <a:p>
            <a:r>
              <a:rPr lang="en-US" altLang="en-US" sz="1600"/>
              <a:t>TippuSeats will be changed from ONE </a:t>
            </a:r>
          </a:p>
          <a:p>
            <a:r>
              <a:rPr lang="en-US" altLang="en-US" sz="1600"/>
              <a:t>to ZERO</a:t>
            </a:r>
          </a:p>
        </p:txBody>
      </p:sp>
    </p:spTree>
  </p:cSld>
  <p:clrMapOvr>
    <a:masterClrMapping/>
  </p:clrMapOvr>
  <p:transition spd="med"/>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descr="Title 1">
            <a:extLst>
              <a:ext uri="{FF2B5EF4-FFF2-40B4-BE49-F238E27FC236}">
                <a16:creationId xmlns:a16="http://schemas.microsoft.com/office/drawing/2014/main" id="{2953431C-AB8F-B8F0-CFC5-A60A83A0B11E}"/>
              </a:ext>
            </a:extLst>
          </p:cNvPr>
          <p:cNvSpPr>
            <a:spLocks noChangeArrowheads="1"/>
          </p:cNvSpPr>
          <p:nvPr>
            <p:ph type="title"/>
          </p:nvPr>
        </p:nvSpPr>
        <p:spPr/>
        <p:txBody>
          <a:bodyPr/>
          <a:lstStyle/>
          <a:p>
            <a:r>
              <a:rPr lang="en-US" altLang="en-US" sz="2400"/>
              <a:t>Concurrency Control Protocol: LOCK based</a:t>
            </a:r>
          </a:p>
        </p:txBody>
      </p:sp>
      <p:sp>
        <p:nvSpPr>
          <p:cNvPr id="218115" name="Text Box 3" descr="Date Placeholder 3">
            <a:extLst>
              <a:ext uri="{FF2B5EF4-FFF2-40B4-BE49-F238E27FC236}">
                <a16:creationId xmlns:a16="http://schemas.microsoft.com/office/drawing/2014/main" id="{DF59BC16-1082-F0B0-1F43-298D34DF55D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8116" name="Text Box 4" descr="Slide Number Placeholder 5">
            <a:extLst>
              <a:ext uri="{FF2B5EF4-FFF2-40B4-BE49-F238E27FC236}">
                <a16:creationId xmlns:a16="http://schemas.microsoft.com/office/drawing/2014/main" id="{7AC2F7AA-222F-3814-A323-92CC6B4D0AD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F70F147-8B3A-4D03-9936-48E2E37B419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18117" name="Group 5">
            <a:extLst>
              <a:ext uri="{FF2B5EF4-FFF2-40B4-BE49-F238E27FC236}">
                <a16:creationId xmlns:a16="http://schemas.microsoft.com/office/drawing/2014/main" id="{82B635CB-8B15-A081-41CD-ACA80A69E00D}"/>
              </a:ext>
            </a:extLst>
          </p:cNvPr>
          <p:cNvGraphicFramePr>
            <a:graphicFrameLocks noGrp="1"/>
          </p:cNvGraphicFramePr>
          <p:nvPr/>
        </p:nvGraphicFramePr>
        <p:xfrm>
          <a:off x="277813" y="1085850"/>
          <a:ext cx="8424862" cy="3489325"/>
        </p:xfrm>
        <a:graphic>
          <a:graphicData uri="http://schemas.openxmlformats.org/drawingml/2006/table">
            <a:tbl>
              <a:tblPr/>
              <a:tblGrid>
                <a:gridCol w="1008062">
                  <a:extLst>
                    <a:ext uri="{9D8B030D-6E8A-4147-A177-3AD203B41FA5}">
                      <a16:colId xmlns:a16="http://schemas.microsoft.com/office/drawing/2014/main" val="1729450322"/>
                    </a:ext>
                  </a:extLst>
                </a:gridCol>
                <a:gridCol w="3240088">
                  <a:extLst>
                    <a:ext uri="{9D8B030D-6E8A-4147-A177-3AD203B41FA5}">
                      <a16:colId xmlns:a16="http://schemas.microsoft.com/office/drawing/2014/main" val="2221254467"/>
                    </a:ext>
                  </a:extLst>
                </a:gridCol>
                <a:gridCol w="4176712">
                  <a:extLst>
                    <a:ext uri="{9D8B030D-6E8A-4147-A177-3AD203B41FA5}">
                      <a16:colId xmlns:a16="http://schemas.microsoft.com/office/drawing/2014/main" val="3620502948"/>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27194539"/>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31953965"/>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 will</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WAIT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because it cannot obtain LOCK on data item 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0596416"/>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UNLOCK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a:t>
                      </a:r>
                      <a:endPar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63391409"/>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34893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613387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35140754"/>
                  </a:ext>
                </a:extLst>
              </a:tr>
            </a:tbl>
          </a:graphicData>
        </a:graphic>
      </p:graphicFrame>
      <p:sp>
        <p:nvSpPr>
          <p:cNvPr id="218191" name="AutoShape 79" descr="Flowchart: Magnetic Disk 24">
            <a:extLst>
              <a:ext uri="{FF2B5EF4-FFF2-40B4-BE49-F238E27FC236}">
                <a16:creationId xmlns:a16="http://schemas.microsoft.com/office/drawing/2014/main" id="{4CED79E2-8F23-F776-D83E-0A4C3C62D99E}"/>
              </a:ext>
            </a:extLst>
          </p:cNvPr>
          <p:cNvSpPr>
            <a:spLocks/>
          </p:cNvSpPr>
          <p:nvPr/>
        </p:nvSpPr>
        <p:spPr bwMode="auto">
          <a:xfrm>
            <a:off x="1403350" y="4818063"/>
            <a:ext cx="2592388"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8192" name="Text Box 80" descr="TextBox 25">
            <a:extLst>
              <a:ext uri="{FF2B5EF4-FFF2-40B4-BE49-F238E27FC236}">
                <a16:creationId xmlns:a16="http://schemas.microsoft.com/office/drawing/2014/main" id="{7914C72E-9A87-9FC8-8380-3F3D493F222C}"/>
              </a:ext>
            </a:extLst>
          </p:cNvPr>
          <p:cNvSpPr txBox="1">
            <a:spLocks/>
          </p:cNvSpPr>
          <p:nvPr/>
        </p:nvSpPr>
        <p:spPr bwMode="auto">
          <a:xfrm>
            <a:off x="1441450" y="5321300"/>
            <a:ext cx="1316038" cy="5842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Tippu Seats</a:t>
            </a:r>
          </a:p>
          <a:p>
            <a:r>
              <a:rPr lang="en-US" altLang="en-US" sz="1600">
                <a:solidFill>
                  <a:srgbClr val="0000FF"/>
                </a:solidFill>
              </a:rPr>
              <a:t>     80 75</a:t>
            </a:r>
          </a:p>
        </p:txBody>
      </p:sp>
      <p:sp>
        <p:nvSpPr>
          <p:cNvPr id="218193" name="Text Box 81" descr="TextBox 6">
            <a:extLst>
              <a:ext uri="{FF2B5EF4-FFF2-40B4-BE49-F238E27FC236}">
                <a16:creationId xmlns:a16="http://schemas.microsoft.com/office/drawing/2014/main" id="{457E5B52-79E7-FFCA-7AFB-EA32CC01F725}"/>
              </a:ext>
            </a:extLst>
          </p:cNvPr>
          <p:cNvSpPr txBox="1">
            <a:spLocks/>
          </p:cNvSpPr>
          <p:nvPr/>
        </p:nvSpPr>
        <p:spPr bwMode="auto">
          <a:xfrm>
            <a:off x="179388" y="5313363"/>
            <a:ext cx="1060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a:t>
            </a:r>
          </a:p>
        </p:txBody>
      </p:sp>
      <p:sp>
        <p:nvSpPr>
          <p:cNvPr id="218194" name="Text Box 82" descr="TextBox 13">
            <a:extLst>
              <a:ext uri="{FF2B5EF4-FFF2-40B4-BE49-F238E27FC236}">
                <a16:creationId xmlns:a16="http://schemas.microsoft.com/office/drawing/2014/main" id="{AE4FC235-2CCB-6C17-5391-4D54FA5FD18E}"/>
              </a:ext>
            </a:extLst>
          </p:cNvPr>
          <p:cNvSpPr txBox="1">
            <a:spLocks/>
          </p:cNvSpPr>
          <p:nvPr/>
        </p:nvSpPr>
        <p:spPr bwMode="auto">
          <a:xfrm>
            <a:off x="2851150" y="5313363"/>
            <a:ext cx="1144588" cy="5826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solidFill>
                  <a:srgbClr val="006600"/>
                </a:solidFill>
              </a:rPr>
              <a:t>LOCK</a:t>
            </a:r>
          </a:p>
          <a:p>
            <a:r>
              <a:rPr lang="en-US" altLang="en-US" sz="1600">
                <a:solidFill>
                  <a:srgbClr val="0000FF"/>
                </a:solidFill>
              </a:rPr>
              <a:t> 0</a:t>
            </a:r>
            <a:r>
              <a:rPr lang="en-US" altLang="en-US" sz="1600" b="1">
                <a:solidFill>
                  <a:srgbClr val="0000FF"/>
                </a:solidFill>
              </a:rPr>
              <a:t> 1 0 1</a:t>
            </a:r>
            <a:endParaRPr lang="en-US" altLang="en-US" sz="1600">
              <a:solidFill>
                <a:srgbClr val="0000FF"/>
              </a:solidFill>
            </a:endParaRPr>
          </a:p>
        </p:txBody>
      </p:sp>
      <p:sp>
        <p:nvSpPr>
          <p:cNvPr id="218195" name="Text Box 83" descr="TextBox 7">
            <a:extLst>
              <a:ext uri="{FF2B5EF4-FFF2-40B4-BE49-F238E27FC236}">
                <a16:creationId xmlns:a16="http://schemas.microsoft.com/office/drawing/2014/main" id="{201917CA-44D4-8D4B-20C2-F8622A0E4A4A}"/>
              </a:ext>
            </a:extLst>
          </p:cNvPr>
          <p:cNvSpPr txBox="1">
            <a:spLocks/>
          </p:cNvSpPr>
          <p:nvPr/>
        </p:nvSpPr>
        <p:spPr bwMode="auto">
          <a:xfrm>
            <a:off x="4329113" y="5189538"/>
            <a:ext cx="4079875"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When transaction T2 executes </a:t>
            </a:r>
          </a:p>
          <a:p>
            <a:r>
              <a:rPr lang="en-US" altLang="en-US" sz="1600"/>
              <a:t>LOCK(TippuSeats), LOCK value of </a:t>
            </a:r>
          </a:p>
          <a:p>
            <a:r>
              <a:rPr lang="en-US" altLang="en-US" sz="1600"/>
              <a:t>TippuSeats will be changed from ZERO</a:t>
            </a:r>
          </a:p>
          <a:p>
            <a:r>
              <a:rPr lang="en-US" altLang="en-US" sz="1600"/>
              <a:t>to ONE</a:t>
            </a:r>
          </a:p>
        </p:txBody>
      </p:sp>
    </p:spTree>
  </p:cSld>
  <p:clrMapOvr>
    <a:masterClrMapping/>
  </p:clrMapOvr>
  <p:transition spd="med"/>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descr="Title 1">
            <a:extLst>
              <a:ext uri="{FF2B5EF4-FFF2-40B4-BE49-F238E27FC236}">
                <a16:creationId xmlns:a16="http://schemas.microsoft.com/office/drawing/2014/main" id="{71504CE0-5D36-5371-1ADA-D5DE46C0FC2A}"/>
              </a:ext>
            </a:extLst>
          </p:cNvPr>
          <p:cNvSpPr>
            <a:spLocks noChangeArrowheads="1"/>
          </p:cNvSpPr>
          <p:nvPr>
            <p:ph type="title"/>
          </p:nvPr>
        </p:nvSpPr>
        <p:spPr/>
        <p:txBody>
          <a:bodyPr/>
          <a:lstStyle/>
          <a:p>
            <a:r>
              <a:rPr lang="en-US" altLang="en-US" sz="2400"/>
              <a:t>Concurrency Control Protocol: LOCK based</a:t>
            </a:r>
          </a:p>
        </p:txBody>
      </p:sp>
      <p:sp>
        <p:nvSpPr>
          <p:cNvPr id="219139" name="Text Box 3" descr="Date Placeholder 3">
            <a:extLst>
              <a:ext uri="{FF2B5EF4-FFF2-40B4-BE49-F238E27FC236}">
                <a16:creationId xmlns:a16="http://schemas.microsoft.com/office/drawing/2014/main" id="{27FF61A9-68C1-1A5C-0975-E5003F5AFEA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19140" name="Text Box 4" descr="Slide Number Placeholder 5">
            <a:extLst>
              <a:ext uri="{FF2B5EF4-FFF2-40B4-BE49-F238E27FC236}">
                <a16:creationId xmlns:a16="http://schemas.microsoft.com/office/drawing/2014/main" id="{2DC9B5F6-2D6F-9CE3-8981-D791AD57266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974E1B8-5D3C-4502-8ECD-025E99247AD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19141" name="Group 5">
            <a:extLst>
              <a:ext uri="{FF2B5EF4-FFF2-40B4-BE49-F238E27FC236}">
                <a16:creationId xmlns:a16="http://schemas.microsoft.com/office/drawing/2014/main" id="{FFA4098E-0B08-B8FE-5639-9DA93F275413}"/>
              </a:ext>
            </a:extLst>
          </p:cNvPr>
          <p:cNvGraphicFramePr>
            <a:graphicFrameLocks noGrp="1"/>
          </p:cNvGraphicFramePr>
          <p:nvPr/>
        </p:nvGraphicFramePr>
        <p:xfrm>
          <a:off x="277813" y="1085850"/>
          <a:ext cx="8424862" cy="3692525"/>
        </p:xfrm>
        <a:graphic>
          <a:graphicData uri="http://schemas.openxmlformats.org/drawingml/2006/table">
            <a:tbl>
              <a:tblPr/>
              <a:tblGrid>
                <a:gridCol w="1008062">
                  <a:extLst>
                    <a:ext uri="{9D8B030D-6E8A-4147-A177-3AD203B41FA5}">
                      <a16:colId xmlns:a16="http://schemas.microsoft.com/office/drawing/2014/main" val="1261543958"/>
                    </a:ext>
                  </a:extLst>
                </a:gridCol>
                <a:gridCol w="3240088">
                  <a:extLst>
                    <a:ext uri="{9D8B030D-6E8A-4147-A177-3AD203B41FA5}">
                      <a16:colId xmlns:a16="http://schemas.microsoft.com/office/drawing/2014/main" val="3768305826"/>
                    </a:ext>
                  </a:extLst>
                </a:gridCol>
                <a:gridCol w="4176712">
                  <a:extLst>
                    <a:ext uri="{9D8B030D-6E8A-4147-A177-3AD203B41FA5}">
                      <a16:colId xmlns:a16="http://schemas.microsoft.com/office/drawing/2014/main" val="2169694386"/>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Time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14184678"/>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15163203"/>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4:01pm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T2 will</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WAIT </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because it cannot obtain LOCK on data item 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68482839"/>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4:02pm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UNLOCK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a:t>
                      </a:r>
                      <a:endPar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WAIT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16614513"/>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4:03pm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 </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Read(TippuSeats)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7731977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4:04pm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TippuSeats=TippuSeats-4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04308410"/>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Write(TippuSeats),</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UNLOCK</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(TippuSeats)</a:t>
                      </a:r>
                      <a:endPar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37617398"/>
                  </a:ext>
                </a:extLst>
              </a:tr>
            </a:tbl>
          </a:graphicData>
        </a:graphic>
      </p:graphicFrame>
      <p:sp>
        <p:nvSpPr>
          <p:cNvPr id="219215" name="AutoShape 79" descr="Flowchart: Magnetic Disk 24">
            <a:extLst>
              <a:ext uri="{FF2B5EF4-FFF2-40B4-BE49-F238E27FC236}">
                <a16:creationId xmlns:a16="http://schemas.microsoft.com/office/drawing/2014/main" id="{0C7CDD12-09A1-D61C-85DC-740768EC1B92}"/>
              </a:ext>
            </a:extLst>
          </p:cNvPr>
          <p:cNvSpPr>
            <a:spLocks/>
          </p:cNvSpPr>
          <p:nvPr/>
        </p:nvSpPr>
        <p:spPr bwMode="auto">
          <a:xfrm>
            <a:off x="1403350" y="4818063"/>
            <a:ext cx="2951163" cy="1295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19216" name="Text Box 80" descr="TextBox 25">
            <a:extLst>
              <a:ext uri="{FF2B5EF4-FFF2-40B4-BE49-F238E27FC236}">
                <a16:creationId xmlns:a16="http://schemas.microsoft.com/office/drawing/2014/main" id="{BB6A8A21-7453-AB4B-B56C-FFA27A8A2AE9}"/>
              </a:ext>
            </a:extLst>
          </p:cNvPr>
          <p:cNvSpPr txBox="1">
            <a:spLocks/>
          </p:cNvSpPr>
          <p:nvPr/>
        </p:nvSpPr>
        <p:spPr bwMode="auto">
          <a:xfrm>
            <a:off x="1441450" y="5321300"/>
            <a:ext cx="1419225" cy="5842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Tippu Seats</a:t>
            </a:r>
          </a:p>
          <a:p>
            <a:r>
              <a:rPr lang="en-US" altLang="en-US" sz="1600">
                <a:solidFill>
                  <a:srgbClr val="0000FF"/>
                </a:solidFill>
              </a:rPr>
              <a:t>     80 75 </a:t>
            </a:r>
            <a:r>
              <a:rPr lang="en-US" altLang="en-US" sz="1600" b="1">
                <a:solidFill>
                  <a:srgbClr val="0000FF"/>
                </a:solidFill>
              </a:rPr>
              <a:t>71</a:t>
            </a:r>
            <a:endParaRPr lang="en-US" altLang="en-US" sz="1600">
              <a:solidFill>
                <a:srgbClr val="0000FF"/>
              </a:solidFill>
            </a:endParaRPr>
          </a:p>
        </p:txBody>
      </p:sp>
      <p:sp>
        <p:nvSpPr>
          <p:cNvPr id="219217" name="Text Box 81" descr="TextBox 6">
            <a:extLst>
              <a:ext uri="{FF2B5EF4-FFF2-40B4-BE49-F238E27FC236}">
                <a16:creationId xmlns:a16="http://schemas.microsoft.com/office/drawing/2014/main" id="{87247645-D01A-C0AB-E796-F56DF47138FE}"/>
              </a:ext>
            </a:extLst>
          </p:cNvPr>
          <p:cNvSpPr txBox="1">
            <a:spLocks/>
          </p:cNvSpPr>
          <p:nvPr/>
        </p:nvSpPr>
        <p:spPr bwMode="auto">
          <a:xfrm>
            <a:off x="179388" y="5313363"/>
            <a:ext cx="106045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a:t>
            </a:r>
          </a:p>
        </p:txBody>
      </p:sp>
      <p:sp>
        <p:nvSpPr>
          <p:cNvPr id="219218" name="Text Box 82" descr="TextBox 13">
            <a:extLst>
              <a:ext uri="{FF2B5EF4-FFF2-40B4-BE49-F238E27FC236}">
                <a16:creationId xmlns:a16="http://schemas.microsoft.com/office/drawing/2014/main" id="{ADCABDB1-A00D-6F3B-50D4-C1D09AB65969}"/>
              </a:ext>
            </a:extLst>
          </p:cNvPr>
          <p:cNvSpPr txBox="1">
            <a:spLocks/>
          </p:cNvSpPr>
          <p:nvPr/>
        </p:nvSpPr>
        <p:spPr bwMode="auto">
          <a:xfrm>
            <a:off x="2922588" y="5313363"/>
            <a:ext cx="1289050" cy="5826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600" b="1">
                <a:solidFill>
                  <a:srgbClr val="006600"/>
                </a:solidFill>
              </a:rPr>
              <a:t>LOCK</a:t>
            </a:r>
          </a:p>
          <a:p>
            <a:r>
              <a:rPr lang="en-US" altLang="en-US" sz="1600">
                <a:solidFill>
                  <a:srgbClr val="0000FF"/>
                </a:solidFill>
              </a:rPr>
              <a:t> 0</a:t>
            </a:r>
            <a:r>
              <a:rPr lang="en-US" altLang="en-US" sz="1600" b="1">
                <a:solidFill>
                  <a:srgbClr val="0000FF"/>
                </a:solidFill>
              </a:rPr>
              <a:t> </a:t>
            </a:r>
            <a:r>
              <a:rPr lang="en-US" altLang="en-US" sz="1600">
                <a:solidFill>
                  <a:srgbClr val="0000FF"/>
                </a:solidFill>
              </a:rPr>
              <a:t>1 0</a:t>
            </a:r>
            <a:r>
              <a:rPr lang="en-US" altLang="en-US" sz="1600" b="1">
                <a:solidFill>
                  <a:srgbClr val="0000FF"/>
                </a:solidFill>
              </a:rPr>
              <a:t> </a:t>
            </a:r>
            <a:r>
              <a:rPr lang="en-US" altLang="en-US" sz="1600">
                <a:solidFill>
                  <a:srgbClr val="0000FF"/>
                </a:solidFill>
              </a:rPr>
              <a:t>1</a:t>
            </a:r>
            <a:r>
              <a:rPr lang="en-US" altLang="en-US" sz="1600" b="1">
                <a:solidFill>
                  <a:srgbClr val="0000FF"/>
                </a:solidFill>
              </a:rPr>
              <a:t> 0</a:t>
            </a:r>
            <a:endParaRPr lang="en-US" altLang="en-US" sz="1600">
              <a:solidFill>
                <a:srgbClr val="0000FF"/>
              </a:solidFill>
            </a:endParaRPr>
          </a:p>
        </p:txBody>
      </p:sp>
      <p:sp>
        <p:nvSpPr>
          <p:cNvPr id="219219" name="Text Box 83" descr="TextBox 8">
            <a:extLst>
              <a:ext uri="{FF2B5EF4-FFF2-40B4-BE49-F238E27FC236}">
                <a16:creationId xmlns:a16="http://schemas.microsoft.com/office/drawing/2014/main" id="{A9CF82A9-2F84-FFD8-D67D-6D979A7A5DEE}"/>
              </a:ext>
            </a:extLst>
          </p:cNvPr>
          <p:cNvSpPr txBox="1">
            <a:spLocks/>
          </p:cNvSpPr>
          <p:nvPr/>
        </p:nvSpPr>
        <p:spPr bwMode="auto">
          <a:xfrm>
            <a:off x="4760913" y="5291138"/>
            <a:ext cx="3133725"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Now final value of TippuSeats</a:t>
            </a:r>
          </a:p>
          <a:p>
            <a:r>
              <a:rPr lang="en-US" altLang="en-US" sz="1600"/>
              <a:t>is </a:t>
            </a:r>
            <a:r>
              <a:rPr lang="en-US" altLang="en-US" sz="1600">
                <a:solidFill>
                  <a:srgbClr val="0000FF"/>
                </a:solidFill>
              </a:rPr>
              <a:t>71, </a:t>
            </a:r>
            <a:r>
              <a:rPr lang="en-US" altLang="en-US" sz="1600"/>
              <a:t>which is CORRECT</a:t>
            </a:r>
          </a:p>
        </p:txBody>
      </p:sp>
    </p:spTree>
  </p:cSld>
  <p:clrMapOvr>
    <a:masterClrMapping/>
  </p:clrMapOvr>
  <p:transition spd="med"/>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descr="Title 1">
            <a:extLst>
              <a:ext uri="{FF2B5EF4-FFF2-40B4-BE49-F238E27FC236}">
                <a16:creationId xmlns:a16="http://schemas.microsoft.com/office/drawing/2014/main" id="{80539704-5AFC-0ACB-1ABD-A8F94B2AB67A}"/>
              </a:ext>
            </a:extLst>
          </p:cNvPr>
          <p:cNvSpPr>
            <a:spLocks noChangeArrowheads="1"/>
          </p:cNvSpPr>
          <p:nvPr>
            <p:ph type="title"/>
          </p:nvPr>
        </p:nvSpPr>
        <p:spPr/>
        <p:txBody>
          <a:bodyPr/>
          <a:lstStyle/>
          <a:p>
            <a:r>
              <a:rPr lang="en-US" altLang="en-US"/>
              <a:t>Lock-based Protocols</a:t>
            </a:r>
          </a:p>
        </p:txBody>
      </p:sp>
      <p:sp>
        <p:nvSpPr>
          <p:cNvPr id="220163" name="Rectangle 3" descr="Content Placeholder 2">
            <a:extLst>
              <a:ext uri="{FF2B5EF4-FFF2-40B4-BE49-F238E27FC236}">
                <a16:creationId xmlns:a16="http://schemas.microsoft.com/office/drawing/2014/main" id="{CD13C79D-71C0-8D3F-300E-7EE7F7450187}"/>
              </a:ext>
            </a:extLst>
          </p:cNvPr>
          <p:cNvSpPr>
            <a:spLocks noChangeArrowheads="1"/>
          </p:cNvSpPr>
          <p:nvPr>
            <p:ph type="body" idx="1"/>
          </p:nvPr>
        </p:nvSpPr>
        <p:spPr/>
        <p:txBody>
          <a:bodyPr/>
          <a:lstStyle/>
          <a:p>
            <a:pPr>
              <a:spcBef>
                <a:spcPts val="400"/>
              </a:spcBef>
            </a:pPr>
            <a:r>
              <a:rPr lang="en-US" altLang="en-US" sz="2000"/>
              <a:t>A transaction </a:t>
            </a:r>
            <a:r>
              <a:rPr lang="en-US" altLang="en-US" sz="2000" i="1"/>
              <a:t>must</a:t>
            </a:r>
            <a:r>
              <a:rPr lang="en-US" altLang="en-US" sz="2000"/>
              <a:t> get a </a:t>
            </a:r>
            <a:r>
              <a:rPr lang="en-US" altLang="en-US" sz="2000" i="1"/>
              <a:t>lock </a:t>
            </a:r>
            <a:r>
              <a:rPr lang="en-US" altLang="en-US" sz="2000"/>
              <a:t>before operating on the data. LOCKS are used to ensure concurrency.</a:t>
            </a:r>
          </a:p>
          <a:p>
            <a:pPr>
              <a:lnSpc>
                <a:spcPct val="130000"/>
              </a:lnSpc>
              <a:spcBef>
                <a:spcPts val="400"/>
              </a:spcBef>
            </a:pPr>
            <a:r>
              <a:rPr lang="en-US" altLang="en-US" sz="2000"/>
              <a:t>Two types of locks:</a:t>
            </a:r>
          </a:p>
          <a:p>
            <a:pPr marL="908050" lvl="1" indent="-438150">
              <a:spcBef>
                <a:spcPts val="400"/>
              </a:spcBef>
            </a:pPr>
            <a:r>
              <a:rPr lang="en-US" altLang="en-US" sz="1800" b="1" i="1"/>
              <a:t>Shared</a:t>
            </a:r>
            <a:r>
              <a:rPr lang="en-US" altLang="en-US" sz="1800" b="1"/>
              <a:t> </a:t>
            </a:r>
            <a:r>
              <a:rPr lang="en-US" altLang="en-US" sz="1800"/>
              <a:t>(S) locks (also called </a:t>
            </a:r>
            <a:r>
              <a:rPr lang="en-US" altLang="en-US" sz="1800" b="1" i="1"/>
              <a:t>read</a:t>
            </a:r>
            <a:r>
              <a:rPr lang="en-US" altLang="en-US" sz="1800" i="1"/>
              <a:t> locks)</a:t>
            </a:r>
            <a:endParaRPr lang="en-US" altLang="en-US" sz="2600" b="1" i="1"/>
          </a:p>
          <a:p>
            <a:pPr marL="1304925" lvl="2" indent="-396875">
              <a:spcBef>
                <a:spcPts val="300"/>
              </a:spcBef>
            </a:pPr>
            <a:r>
              <a:rPr lang="en-US" altLang="en-US" sz="1600"/>
              <a:t>Obtained if transactions want to only read an item</a:t>
            </a:r>
            <a:endParaRPr lang="en-US" altLang="en-US" sz="2300"/>
          </a:p>
          <a:p>
            <a:pPr marL="908050" lvl="1" indent="-438150">
              <a:spcBef>
                <a:spcPts val="400"/>
              </a:spcBef>
            </a:pPr>
            <a:r>
              <a:rPr lang="en-US" altLang="en-US" sz="1800" b="1" i="1"/>
              <a:t>Exclusive</a:t>
            </a:r>
            <a:r>
              <a:rPr lang="en-US" altLang="en-US" sz="1800"/>
              <a:t> (X) locks (also called </a:t>
            </a:r>
            <a:r>
              <a:rPr lang="en-US" altLang="en-US" sz="1800" b="1" i="1"/>
              <a:t>write</a:t>
            </a:r>
            <a:r>
              <a:rPr lang="en-US" altLang="en-US" sz="1800" i="1"/>
              <a:t> locks)</a:t>
            </a:r>
            <a:endParaRPr lang="en-US" altLang="en-US" sz="2600" b="1" i="1"/>
          </a:p>
          <a:p>
            <a:pPr marL="1304925" lvl="2" indent="-396875">
              <a:spcBef>
                <a:spcPts val="300"/>
              </a:spcBef>
            </a:pPr>
            <a:r>
              <a:rPr lang="en-US" altLang="en-US" sz="1600"/>
              <a:t>Obtained for updating a data item</a:t>
            </a:r>
          </a:p>
        </p:txBody>
      </p:sp>
      <p:sp>
        <p:nvSpPr>
          <p:cNvPr id="220164" name="Text Box 4" descr="Date Placeholder 3">
            <a:extLst>
              <a:ext uri="{FF2B5EF4-FFF2-40B4-BE49-F238E27FC236}">
                <a16:creationId xmlns:a16="http://schemas.microsoft.com/office/drawing/2014/main" id="{C21259A3-1569-C19C-47B6-842E528AABE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0165" name="Text Box 5" descr="Slide Number Placeholder 5">
            <a:extLst>
              <a:ext uri="{FF2B5EF4-FFF2-40B4-BE49-F238E27FC236}">
                <a16:creationId xmlns:a16="http://schemas.microsoft.com/office/drawing/2014/main" id="{665A124C-1B00-15D0-52E1-008929063AE4}"/>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D2B903D-9460-46B2-9A56-01D7C69688A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descr="Title 1">
            <a:extLst>
              <a:ext uri="{FF2B5EF4-FFF2-40B4-BE49-F238E27FC236}">
                <a16:creationId xmlns:a16="http://schemas.microsoft.com/office/drawing/2014/main" id="{323BEAE7-016C-4B7C-13E9-F1B21E67A576}"/>
              </a:ext>
            </a:extLst>
          </p:cNvPr>
          <p:cNvSpPr>
            <a:spLocks noChangeArrowheads="1"/>
          </p:cNvSpPr>
          <p:nvPr>
            <p:ph type="title"/>
          </p:nvPr>
        </p:nvSpPr>
        <p:spPr/>
        <p:txBody>
          <a:bodyPr/>
          <a:lstStyle/>
          <a:p>
            <a:r>
              <a:rPr lang="en-US" altLang="en-US"/>
              <a:t>Lock-based Protocols</a:t>
            </a:r>
          </a:p>
        </p:txBody>
      </p:sp>
      <p:sp>
        <p:nvSpPr>
          <p:cNvPr id="221187" name="Rectangle 3" descr="Content Placeholder 2">
            <a:extLst>
              <a:ext uri="{FF2B5EF4-FFF2-40B4-BE49-F238E27FC236}">
                <a16:creationId xmlns:a16="http://schemas.microsoft.com/office/drawing/2014/main" id="{E7CB3782-4266-F73C-D906-46CCD23C6F5B}"/>
              </a:ext>
            </a:extLst>
          </p:cNvPr>
          <p:cNvSpPr>
            <a:spLocks noChangeArrowheads="1"/>
          </p:cNvSpPr>
          <p:nvPr>
            <p:ph type="body" idx="1"/>
          </p:nvPr>
        </p:nvSpPr>
        <p:spPr/>
        <p:txBody>
          <a:bodyPr/>
          <a:lstStyle/>
          <a:p>
            <a:pPr>
              <a:spcBef>
                <a:spcPts val="400"/>
              </a:spcBef>
            </a:pPr>
            <a:r>
              <a:rPr lang="en-US" altLang="en-US" sz="2000"/>
              <a:t>A transaction </a:t>
            </a:r>
            <a:r>
              <a:rPr lang="en-US" altLang="en-US" sz="2000" i="1"/>
              <a:t>must</a:t>
            </a:r>
            <a:r>
              <a:rPr lang="en-US" altLang="en-US" sz="2000"/>
              <a:t> get a </a:t>
            </a:r>
            <a:r>
              <a:rPr lang="en-US" altLang="en-US" sz="2000" i="1"/>
              <a:t>lock </a:t>
            </a:r>
            <a:r>
              <a:rPr lang="en-US" altLang="en-US" sz="2000"/>
              <a:t>before operating on the data. LOCKS are used to ensure concurrency.</a:t>
            </a:r>
          </a:p>
          <a:p>
            <a:pPr>
              <a:lnSpc>
                <a:spcPct val="130000"/>
              </a:lnSpc>
              <a:spcBef>
                <a:spcPts val="400"/>
              </a:spcBef>
            </a:pPr>
            <a:r>
              <a:rPr lang="en-US" altLang="en-US" sz="2000"/>
              <a:t>Two types of locks:</a:t>
            </a:r>
          </a:p>
          <a:p>
            <a:pPr marL="908050" lvl="1" indent="-438150">
              <a:spcBef>
                <a:spcPts val="400"/>
              </a:spcBef>
            </a:pPr>
            <a:r>
              <a:rPr lang="en-US" altLang="en-US" sz="1800" b="1" i="1"/>
              <a:t>Shared</a:t>
            </a:r>
            <a:r>
              <a:rPr lang="en-US" altLang="en-US" sz="1800" b="1"/>
              <a:t> </a:t>
            </a:r>
            <a:r>
              <a:rPr lang="en-US" altLang="en-US" sz="1800"/>
              <a:t>(S) locks (also called </a:t>
            </a:r>
            <a:r>
              <a:rPr lang="en-US" altLang="en-US" sz="1800" b="1" i="1"/>
              <a:t>read</a:t>
            </a:r>
            <a:r>
              <a:rPr lang="en-US" altLang="en-US" sz="1800" i="1"/>
              <a:t> locks)</a:t>
            </a:r>
            <a:endParaRPr lang="en-US" altLang="en-US" sz="2600" b="1" i="1"/>
          </a:p>
          <a:p>
            <a:pPr marL="1304925" lvl="2" indent="-396875">
              <a:spcBef>
                <a:spcPts val="300"/>
              </a:spcBef>
            </a:pPr>
            <a:r>
              <a:rPr lang="en-US" altLang="en-US" sz="1600"/>
              <a:t>Obtained if transactions want to only read an item</a:t>
            </a:r>
            <a:endParaRPr lang="en-US" altLang="en-US" sz="2300"/>
          </a:p>
          <a:p>
            <a:pPr marL="908050" lvl="1" indent="-438150">
              <a:spcBef>
                <a:spcPts val="400"/>
              </a:spcBef>
            </a:pPr>
            <a:r>
              <a:rPr lang="en-US" altLang="en-US" sz="1800" b="1" i="1"/>
              <a:t>Exclusive</a:t>
            </a:r>
            <a:r>
              <a:rPr lang="en-US" altLang="en-US" sz="1800"/>
              <a:t> (X) locks (also called </a:t>
            </a:r>
            <a:r>
              <a:rPr lang="en-US" altLang="en-US" sz="1800" b="1" i="1"/>
              <a:t>write</a:t>
            </a:r>
            <a:r>
              <a:rPr lang="en-US" altLang="en-US" sz="1800" i="1"/>
              <a:t> locks)</a:t>
            </a:r>
            <a:endParaRPr lang="en-US" altLang="en-US" sz="2600" b="1" i="1"/>
          </a:p>
          <a:p>
            <a:pPr marL="1304925" lvl="2" indent="-396875">
              <a:spcBef>
                <a:spcPts val="300"/>
              </a:spcBef>
            </a:pPr>
            <a:r>
              <a:rPr lang="en-US" altLang="en-US" sz="1600"/>
              <a:t>Obtained for updating a data item</a:t>
            </a:r>
          </a:p>
        </p:txBody>
      </p:sp>
      <p:sp>
        <p:nvSpPr>
          <p:cNvPr id="221188" name="Text Box 4" descr="Date Placeholder 3">
            <a:extLst>
              <a:ext uri="{FF2B5EF4-FFF2-40B4-BE49-F238E27FC236}">
                <a16:creationId xmlns:a16="http://schemas.microsoft.com/office/drawing/2014/main" id="{626F69F5-5824-D262-6E8D-9F81E9F80CA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1189" name="Text Box 5" descr="Slide Number Placeholder 5">
            <a:extLst>
              <a:ext uri="{FF2B5EF4-FFF2-40B4-BE49-F238E27FC236}">
                <a16:creationId xmlns:a16="http://schemas.microsoft.com/office/drawing/2014/main" id="{609F02F9-893F-82F7-865F-F10B7903D44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B9B46B3-337A-4C8E-A103-C0E9A371B76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21190" name="Group 6">
            <a:extLst>
              <a:ext uri="{FF2B5EF4-FFF2-40B4-BE49-F238E27FC236}">
                <a16:creationId xmlns:a16="http://schemas.microsoft.com/office/drawing/2014/main" id="{897D6644-8B27-EAC5-104C-8AAA23309A26}"/>
              </a:ext>
            </a:extLst>
          </p:cNvPr>
          <p:cNvGraphicFramePr>
            <a:graphicFrameLocks noGrp="1"/>
          </p:cNvGraphicFramePr>
          <p:nvPr/>
        </p:nvGraphicFramePr>
        <p:xfrm>
          <a:off x="323850" y="3671888"/>
          <a:ext cx="8424863" cy="2387600"/>
        </p:xfrm>
        <a:graphic>
          <a:graphicData uri="http://schemas.openxmlformats.org/drawingml/2006/table">
            <a:tbl>
              <a:tblPr/>
              <a:tblGrid>
                <a:gridCol w="1804988">
                  <a:extLst>
                    <a:ext uri="{9D8B030D-6E8A-4147-A177-3AD203B41FA5}">
                      <a16:colId xmlns:a16="http://schemas.microsoft.com/office/drawing/2014/main" val="3072901782"/>
                    </a:ext>
                  </a:extLst>
                </a:gridCol>
                <a:gridCol w="1795462">
                  <a:extLst>
                    <a:ext uri="{9D8B030D-6E8A-4147-A177-3AD203B41FA5}">
                      <a16:colId xmlns:a16="http://schemas.microsoft.com/office/drawing/2014/main" val="987978623"/>
                    </a:ext>
                  </a:extLst>
                </a:gridCol>
                <a:gridCol w="2808288">
                  <a:extLst>
                    <a:ext uri="{9D8B030D-6E8A-4147-A177-3AD203B41FA5}">
                      <a16:colId xmlns:a16="http://schemas.microsoft.com/office/drawing/2014/main" val="2090750834"/>
                    </a:ext>
                  </a:extLst>
                </a:gridCol>
                <a:gridCol w="2016125">
                  <a:extLst>
                    <a:ext uri="{9D8B030D-6E8A-4147-A177-3AD203B41FA5}">
                      <a16:colId xmlns:a16="http://schemas.microsoft.com/office/drawing/2014/main" val="419168503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cap="flat">
                      <a:noFill/>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noFill/>
                  </a:tcPr>
                </a:tc>
                <a:tc grid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 1, HOLDER of the LOCK on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IN"/>
                    </a:p>
                  </a:txBody>
                  <a:tcPr/>
                </a:tc>
                <a:extLst>
                  <a:ext uri="{0D108BD9-81ED-4DB2-BD59-A6C34878D82A}">
                    <a16:rowId xmlns:a16="http://schemas.microsoft.com/office/drawing/2014/main" val="1104878238"/>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34053886"/>
                  </a:ext>
                </a:extLst>
              </a:tr>
              <a:tr h="587375">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User2,
REQUESTOR of LOCK for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0685087"/>
                  </a:ext>
                </a:extLst>
              </a:tr>
              <a:tr h="828675">
                <a:tc vMerge="1">
                  <a:txBody>
                    <a:bodyPr/>
                    <a:lstStyle/>
                    <a:p>
                      <a:endParaRPr lang="en-IN"/>
                    </a:p>
                  </a:txBody>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78380074"/>
                  </a:ext>
                </a:extLst>
              </a:tr>
            </a:tbl>
          </a:graphicData>
        </a:graphic>
      </p:graphicFrame>
    </p:spTree>
  </p:cSld>
  <p:clrMapOvr>
    <a:masterClrMapping/>
  </p:clrMapOvr>
  <p:transition spd="med"/>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2" descr="Title 1">
            <a:extLst>
              <a:ext uri="{FF2B5EF4-FFF2-40B4-BE49-F238E27FC236}">
                <a16:creationId xmlns:a16="http://schemas.microsoft.com/office/drawing/2014/main" id="{27E283C3-ABD6-69CF-78FF-E34BA48726D6}"/>
              </a:ext>
            </a:extLst>
          </p:cNvPr>
          <p:cNvSpPr>
            <a:spLocks noChangeArrowheads="1"/>
          </p:cNvSpPr>
          <p:nvPr>
            <p:ph type="title"/>
          </p:nvPr>
        </p:nvSpPr>
        <p:spPr/>
        <p:txBody>
          <a:bodyPr/>
          <a:lstStyle/>
          <a:p>
            <a:r>
              <a:rPr lang="en-US" altLang="en-US"/>
              <a:t>Lock-based Protocols</a:t>
            </a:r>
          </a:p>
        </p:txBody>
      </p:sp>
      <p:sp>
        <p:nvSpPr>
          <p:cNvPr id="222211" name="Rectangle 3" descr="Content Placeholder 2">
            <a:extLst>
              <a:ext uri="{FF2B5EF4-FFF2-40B4-BE49-F238E27FC236}">
                <a16:creationId xmlns:a16="http://schemas.microsoft.com/office/drawing/2014/main" id="{4719AAF0-DB14-AF4A-8BD9-CCB474F9A1E5}"/>
              </a:ext>
            </a:extLst>
          </p:cNvPr>
          <p:cNvSpPr>
            <a:spLocks noChangeArrowheads="1"/>
          </p:cNvSpPr>
          <p:nvPr>
            <p:ph type="body" idx="1"/>
          </p:nvPr>
        </p:nvSpPr>
        <p:spPr/>
        <p:txBody>
          <a:bodyPr/>
          <a:lstStyle/>
          <a:p>
            <a:pPr>
              <a:spcBef>
                <a:spcPts val="400"/>
              </a:spcBef>
            </a:pPr>
            <a:r>
              <a:rPr lang="en-US" altLang="en-US" sz="2000"/>
              <a:t>A transaction </a:t>
            </a:r>
            <a:r>
              <a:rPr lang="en-US" altLang="en-US" sz="2000" i="1"/>
              <a:t>must</a:t>
            </a:r>
            <a:r>
              <a:rPr lang="en-US" altLang="en-US" sz="2000"/>
              <a:t> get a </a:t>
            </a:r>
            <a:r>
              <a:rPr lang="en-US" altLang="en-US" sz="2000" i="1"/>
              <a:t>lock </a:t>
            </a:r>
            <a:r>
              <a:rPr lang="en-US" altLang="en-US" sz="2000"/>
              <a:t>before operating on the data</a:t>
            </a:r>
          </a:p>
          <a:p>
            <a:pPr>
              <a:lnSpc>
                <a:spcPct val="130000"/>
              </a:lnSpc>
              <a:spcBef>
                <a:spcPts val="400"/>
              </a:spcBef>
            </a:pPr>
            <a:r>
              <a:rPr lang="en-US" altLang="en-US" sz="2000"/>
              <a:t>Two types of locks:</a:t>
            </a:r>
          </a:p>
          <a:p>
            <a:pPr marL="908050" lvl="1" indent="-438150">
              <a:spcBef>
                <a:spcPts val="400"/>
              </a:spcBef>
            </a:pPr>
            <a:r>
              <a:rPr lang="en-US" altLang="en-US" sz="1800" b="1" i="1"/>
              <a:t>Shared</a:t>
            </a:r>
            <a:r>
              <a:rPr lang="en-US" altLang="en-US" sz="1800" b="1"/>
              <a:t> </a:t>
            </a:r>
            <a:r>
              <a:rPr lang="en-US" altLang="en-US" sz="1800"/>
              <a:t>(S) locks (also called </a:t>
            </a:r>
            <a:r>
              <a:rPr lang="en-US" altLang="en-US" sz="1800" b="1" i="1"/>
              <a:t>read</a:t>
            </a:r>
            <a:r>
              <a:rPr lang="en-US" altLang="en-US" sz="1800" i="1"/>
              <a:t> locks)</a:t>
            </a:r>
            <a:endParaRPr lang="en-US" altLang="en-US" sz="2600" b="1" i="1"/>
          </a:p>
          <a:p>
            <a:pPr marL="1304925" lvl="2" indent="-396875">
              <a:spcBef>
                <a:spcPts val="300"/>
              </a:spcBef>
            </a:pPr>
            <a:r>
              <a:rPr lang="en-US" altLang="en-US" sz="1600"/>
              <a:t>Obtained if we want to only read an item</a:t>
            </a:r>
            <a:endParaRPr lang="en-US" altLang="en-US" sz="2300"/>
          </a:p>
          <a:p>
            <a:pPr marL="908050" lvl="1" indent="-438150">
              <a:spcBef>
                <a:spcPts val="400"/>
              </a:spcBef>
            </a:pPr>
            <a:r>
              <a:rPr lang="en-US" altLang="en-US" sz="1800" b="1" i="1"/>
              <a:t>Exclusive</a:t>
            </a:r>
            <a:r>
              <a:rPr lang="en-US" altLang="en-US" sz="1800"/>
              <a:t> (X) locks (also called </a:t>
            </a:r>
            <a:r>
              <a:rPr lang="en-US" altLang="en-US" sz="1800" b="1" i="1"/>
              <a:t>write</a:t>
            </a:r>
            <a:r>
              <a:rPr lang="en-US" altLang="en-US" sz="1800" i="1"/>
              <a:t> locks)</a:t>
            </a:r>
            <a:endParaRPr lang="en-US" altLang="en-US" sz="2600" b="1" i="1"/>
          </a:p>
          <a:p>
            <a:pPr marL="1304925" lvl="2" indent="-396875">
              <a:spcBef>
                <a:spcPts val="300"/>
              </a:spcBef>
            </a:pPr>
            <a:r>
              <a:rPr lang="en-US" altLang="en-US" sz="1600"/>
              <a:t>Obtained for updating a data item</a:t>
            </a:r>
          </a:p>
        </p:txBody>
      </p:sp>
      <p:sp>
        <p:nvSpPr>
          <p:cNvPr id="222212" name="Text Box 4" descr="Date Placeholder 3">
            <a:extLst>
              <a:ext uri="{FF2B5EF4-FFF2-40B4-BE49-F238E27FC236}">
                <a16:creationId xmlns:a16="http://schemas.microsoft.com/office/drawing/2014/main" id="{ED2906E9-2585-6B4D-F5E8-E49454C3105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2213" name="Text Box 5" descr="Slide Number Placeholder 5">
            <a:extLst>
              <a:ext uri="{FF2B5EF4-FFF2-40B4-BE49-F238E27FC236}">
                <a16:creationId xmlns:a16="http://schemas.microsoft.com/office/drawing/2014/main" id="{E10D9D47-147B-F03A-A4A2-FA5F62F09B0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A6CC773-B07F-4628-8693-4296311C931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22214" name="Group 6">
            <a:extLst>
              <a:ext uri="{FF2B5EF4-FFF2-40B4-BE49-F238E27FC236}">
                <a16:creationId xmlns:a16="http://schemas.microsoft.com/office/drawing/2014/main" id="{ED7A3A33-5ED5-AD24-F20D-8E5E8B58624A}"/>
              </a:ext>
            </a:extLst>
          </p:cNvPr>
          <p:cNvGraphicFramePr>
            <a:graphicFrameLocks noGrp="1"/>
          </p:cNvGraphicFramePr>
          <p:nvPr/>
        </p:nvGraphicFramePr>
        <p:xfrm>
          <a:off x="323850" y="3671888"/>
          <a:ext cx="8424863" cy="2387600"/>
        </p:xfrm>
        <a:graphic>
          <a:graphicData uri="http://schemas.openxmlformats.org/drawingml/2006/table">
            <a:tbl>
              <a:tblPr/>
              <a:tblGrid>
                <a:gridCol w="1804988">
                  <a:extLst>
                    <a:ext uri="{9D8B030D-6E8A-4147-A177-3AD203B41FA5}">
                      <a16:colId xmlns:a16="http://schemas.microsoft.com/office/drawing/2014/main" val="1641077956"/>
                    </a:ext>
                  </a:extLst>
                </a:gridCol>
                <a:gridCol w="1795462">
                  <a:extLst>
                    <a:ext uri="{9D8B030D-6E8A-4147-A177-3AD203B41FA5}">
                      <a16:colId xmlns:a16="http://schemas.microsoft.com/office/drawing/2014/main" val="2753900122"/>
                    </a:ext>
                  </a:extLst>
                </a:gridCol>
                <a:gridCol w="2808288">
                  <a:extLst>
                    <a:ext uri="{9D8B030D-6E8A-4147-A177-3AD203B41FA5}">
                      <a16:colId xmlns:a16="http://schemas.microsoft.com/office/drawing/2014/main" val="1154605847"/>
                    </a:ext>
                  </a:extLst>
                </a:gridCol>
                <a:gridCol w="2016125">
                  <a:extLst>
                    <a:ext uri="{9D8B030D-6E8A-4147-A177-3AD203B41FA5}">
                      <a16:colId xmlns:a16="http://schemas.microsoft.com/office/drawing/2014/main" val="307559143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cap="flat">
                      <a:noFill/>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noFill/>
                  </a:tcPr>
                </a:tc>
                <a:tc grid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 1, HOLDER of the LOCK on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IN"/>
                    </a:p>
                  </a:txBody>
                  <a:tcPr/>
                </a:tc>
                <a:extLst>
                  <a:ext uri="{0D108BD9-81ED-4DB2-BD59-A6C34878D82A}">
                    <a16:rowId xmlns:a16="http://schemas.microsoft.com/office/drawing/2014/main" val="147518707"/>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05021812"/>
                  </a:ext>
                </a:extLst>
              </a:tr>
              <a:tr h="587375">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User2,
REQUESTOR of LOCK for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YES</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94990762"/>
                  </a:ext>
                </a:extLst>
              </a:tr>
              <a:tr h="828675">
                <a:tc vMerge="1">
                  <a:txBody>
                    <a:bodyPr/>
                    <a:lstStyle/>
                    <a:p>
                      <a:endParaRPr lang="en-IN"/>
                    </a:p>
                  </a:txBody>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84316260"/>
                  </a:ext>
                </a:extLst>
              </a:tr>
            </a:tbl>
          </a:graphicData>
        </a:graphic>
      </p:graphicFrame>
    </p:spTree>
  </p:cSld>
  <p:clrMapOvr>
    <a:masterClrMapping/>
  </p:clrMapOvr>
  <p:transition spd="med"/>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2" descr="Title 1">
            <a:extLst>
              <a:ext uri="{FF2B5EF4-FFF2-40B4-BE49-F238E27FC236}">
                <a16:creationId xmlns:a16="http://schemas.microsoft.com/office/drawing/2014/main" id="{14609B1B-6D6D-896D-E46E-6EC34F07250C}"/>
              </a:ext>
            </a:extLst>
          </p:cNvPr>
          <p:cNvSpPr>
            <a:spLocks noChangeArrowheads="1"/>
          </p:cNvSpPr>
          <p:nvPr>
            <p:ph type="title"/>
          </p:nvPr>
        </p:nvSpPr>
        <p:spPr/>
        <p:txBody>
          <a:bodyPr/>
          <a:lstStyle/>
          <a:p>
            <a:r>
              <a:rPr lang="en-US" altLang="en-US"/>
              <a:t>Lock-based Protocols</a:t>
            </a:r>
          </a:p>
        </p:txBody>
      </p:sp>
      <p:sp>
        <p:nvSpPr>
          <p:cNvPr id="223235" name="Rectangle 3" descr="Content Placeholder 2">
            <a:extLst>
              <a:ext uri="{FF2B5EF4-FFF2-40B4-BE49-F238E27FC236}">
                <a16:creationId xmlns:a16="http://schemas.microsoft.com/office/drawing/2014/main" id="{7E80FA5E-052C-7D7F-1675-B0E91A6EFC44}"/>
              </a:ext>
            </a:extLst>
          </p:cNvPr>
          <p:cNvSpPr>
            <a:spLocks noChangeArrowheads="1"/>
          </p:cNvSpPr>
          <p:nvPr>
            <p:ph type="body" idx="1"/>
          </p:nvPr>
        </p:nvSpPr>
        <p:spPr/>
        <p:txBody>
          <a:bodyPr/>
          <a:lstStyle/>
          <a:p>
            <a:pPr>
              <a:spcBef>
                <a:spcPts val="400"/>
              </a:spcBef>
            </a:pPr>
            <a:r>
              <a:rPr lang="en-US" altLang="en-US" sz="2000"/>
              <a:t>A transaction </a:t>
            </a:r>
            <a:r>
              <a:rPr lang="en-US" altLang="en-US" sz="2000" i="1"/>
              <a:t>must</a:t>
            </a:r>
            <a:r>
              <a:rPr lang="en-US" altLang="en-US" sz="2000"/>
              <a:t> get a </a:t>
            </a:r>
            <a:r>
              <a:rPr lang="en-US" altLang="en-US" sz="2000" i="1"/>
              <a:t>lock </a:t>
            </a:r>
            <a:r>
              <a:rPr lang="en-US" altLang="en-US" sz="2000"/>
              <a:t>before operating on the data</a:t>
            </a:r>
          </a:p>
          <a:p>
            <a:pPr>
              <a:lnSpc>
                <a:spcPct val="130000"/>
              </a:lnSpc>
              <a:spcBef>
                <a:spcPts val="400"/>
              </a:spcBef>
            </a:pPr>
            <a:r>
              <a:rPr lang="en-US" altLang="en-US" sz="2000"/>
              <a:t>Two types of locks:</a:t>
            </a:r>
          </a:p>
          <a:p>
            <a:pPr marL="908050" lvl="1" indent="-438150">
              <a:spcBef>
                <a:spcPts val="400"/>
              </a:spcBef>
            </a:pPr>
            <a:r>
              <a:rPr lang="en-US" altLang="en-US" sz="1800" b="1" i="1"/>
              <a:t>Shared</a:t>
            </a:r>
            <a:r>
              <a:rPr lang="en-US" altLang="en-US" sz="1800" b="1"/>
              <a:t> </a:t>
            </a:r>
            <a:r>
              <a:rPr lang="en-US" altLang="en-US" sz="1800"/>
              <a:t>(S) locks (also called </a:t>
            </a:r>
            <a:r>
              <a:rPr lang="en-US" altLang="en-US" sz="1800" b="1" i="1"/>
              <a:t>read</a:t>
            </a:r>
            <a:r>
              <a:rPr lang="en-US" altLang="en-US" sz="1800" i="1"/>
              <a:t> locks)</a:t>
            </a:r>
            <a:endParaRPr lang="en-US" altLang="en-US" sz="2600" b="1" i="1"/>
          </a:p>
          <a:p>
            <a:pPr marL="1304925" lvl="2" indent="-396875">
              <a:spcBef>
                <a:spcPts val="300"/>
              </a:spcBef>
            </a:pPr>
            <a:r>
              <a:rPr lang="en-US" altLang="en-US" sz="1600"/>
              <a:t>Obtained if transactions want to only read an item</a:t>
            </a:r>
            <a:endParaRPr lang="en-US" altLang="en-US" sz="2300"/>
          </a:p>
          <a:p>
            <a:pPr marL="908050" lvl="1" indent="-438150">
              <a:spcBef>
                <a:spcPts val="400"/>
              </a:spcBef>
            </a:pPr>
            <a:r>
              <a:rPr lang="en-US" altLang="en-US" sz="1800" b="1" i="1"/>
              <a:t>Exclusive</a:t>
            </a:r>
            <a:r>
              <a:rPr lang="en-US" altLang="en-US" sz="1800"/>
              <a:t> (X) locks (also called </a:t>
            </a:r>
            <a:r>
              <a:rPr lang="en-US" altLang="en-US" sz="1800" b="1" i="1"/>
              <a:t>write</a:t>
            </a:r>
            <a:r>
              <a:rPr lang="en-US" altLang="en-US" sz="1800" i="1"/>
              <a:t> locks)</a:t>
            </a:r>
            <a:endParaRPr lang="en-US" altLang="en-US" sz="2600" b="1" i="1"/>
          </a:p>
          <a:p>
            <a:pPr marL="1304925" lvl="2" indent="-396875">
              <a:spcBef>
                <a:spcPts val="300"/>
              </a:spcBef>
            </a:pPr>
            <a:r>
              <a:rPr lang="en-US" altLang="en-US" sz="1600"/>
              <a:t>Obtained for updating a data item</a:t>
            </a:r>
          </a:p>
        </p:txBody>
      </p:sp>
      <p:sp>
        <p:nvSpPr>
          <p:cNvPr id="223236" name="Text Box 4" descr="Date Placeholder 3">
            <a:extLst>
              <a:ext uri="{FF2B5EF4-FFF2-40B4-BE49-F238E27FC236}">
                <a16:creationId xmlns:a16="http://schemas.microsoft.com/office/drawing/2014/main" id="{C90E8D32-ADEA-7986-00B5-81288C326E1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3237" name="Text Box 5" descr="Slide Number Placeholder 5">
            <a:extLst>
              <a:ext uri="{FF2B5EF4-FFF2-40B4-BE49-F238E27FC236}">
                <a16:creationId xmlns:a16="http://schemas.microsoft.com/office/drawing/2014/main" id="{685E6752-7C3E-4D21-C1B0-E786E56D5C6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E9D97FB-7C6F-4733-BD00-3A1F5D4B812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23238" name="Group 6">
            <a:extLst>
              <a:ext uri="{FF2B5EF4-FFF2-40B4-BE49-F238E27FC236}">
                <a16:creationId xmlns:a16="http://schemas.microsoft.com/office/drawing/2014/main" id="{3E3E5A39-ACE3-566E-C73C-994F052695D5}"/>
              </a:ext>
            </a:extLst>
          </p:cNvPr>
          <p:cNvGraphicFramePr>
            <a:graphicFrameLocks noGrp="1"/>
          </p:cNvGraphicFramePr>
          <p:nvPr/>
        </p:nvGraphicFramePr>
        <p:xfrm>
          <a:off x="323850" y="3671888"/>
          <a:ext cx="8424863" cy="2628900"/>
        </p:xfrm>
        <a:graphic>
          <a:graphicData uri="http://schemas.openxmlformats.org/drawingml/2006/table">
            <a:tbl>
              <a:tblPr/>
              <a:tblGrid>
                <a:gridCol w="1804988">
                  <a:extLst>
                    <a:ext uri="{9D8B030D-6E8A-4147-A177-3AD203B41FA5}">
                      <a16:colId xmlns:a16="http://schemas.microsoft.com/office/drawing/2014/main" val="3787067223"/>
                    </a:ext>
                  </a:extLst>
                </a:gridCol>
                <a:gridCol w="1795462">
                  <a:extLst>
                    <a:ext uri="{9D8B030D-6E8A-4147-A177-3AD203B41FA5}">
                      <a16:colId xmlns:a16="http://schemas.microsoft.com/office/drawing/2014/main" val="3527028944"/>
                    </a:ext>
                  </a:extLst>
                </a:gridCol>
                <a:gridCol w="2808288">
                  <a:extLst>
                    <a:ext uri="{9D8B030D-6E8A-4147-A177-3AD203B41FA5}">
                      <a16:colId xmlns:a16="http://schemas.microsoft.com/office/drawing/2014/main" val="1896843662"/>
                    </a:ext>
                  </a:extLst>
                </a:gridCol>
                <a:gridCol w="2016125">
                  <a:extLst>
                    <a:ext uri="{9D8B030D-6E8A-4147-A177-3AD203B41FA5}">
                      <a16:colId xmlns:a16="http://schemas.microsoft.com/office/drawing/2014/main" val="266518290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cap="flat">
                      <a:noFill/>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noFill/>
                  </a:tcPr>
                </a:tc>
                <a:tc grid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 1, HOLDER of the LOCK on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IN"/>
                    </a:p>
                  </a:txBody>
                  <a:tcPr/>
                </a:tc>
                <a:extLst>
                  <a:ext uri="{0D108BD9-81ED-4DB2-BD59-A6C34878D82A}">
                    <a16:rowId xmlns:a16="http://schemas.microsoft.com/office/drawing/2014/main" val="2309116587"/>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37680831"/>
                  </a:ext>
                </a:extLst>
              </a:tr>
              <a:tr h="828675">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User2,
REQUESTOR of LOCK for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YES</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not be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47766470"/>
                  </a:ext>
                </a:extLst>
              </a:tr>
              <a:tr h="828675">
                <a:tc vMerge="1">
                  <a:txBody>
                    <a:bodyPr/>
                    <a:lstStyle/>
                    <a:p>
                      <a:endParaRPr lang="en-IN"/>
                    </a:p>
                  </a:txBody>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0712040"/>
                  </a:ext>
                </a:extLst>
              </a:tr>
            </a:tbl>
          </a:graphicData>
        </a:graphic>
      </p:graphicFrame>
    </p:spTree>
  </p:cSld>
  <p:clrMapOvr>
    <a:masterClrMapping/>
  </p:clrMapOvr>
  <p:transition spd="med"/>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descr="Title 1">
            <a:extLst>
              <a:ext uri="{FF2B5EF4-FFF2-40B4-BE49-F238E27FC236}">
                <a16:creationId xmlns:a16="http://schemas.microsoft.com/office/drawing/2014/main" id="{B9AC3CE2-B38D-EA59-3685-89C7810FC501}"/>
              </a:ext>
            </a:extLst>
          </p:cNvPr>
          <p:cNvSpPr>
            <a:spLocks noChangeArrowheads="1"/>
          </p:cNvSpPr>
          <p:nvPr>
            <p:ph type="title"/>
          </p:nvPr>
        </p:nvSpPr>
        <p:spPr/>
        <p:txBody>
          <a:bodyPr/>
          <a:lstStyle/>
          <a:p>
            <a:r>
              <a:rPr lang="en-US" altLang="en-US"/>
              <a:t>Lock-based Protocols</a:t>
            </a:r>
          </a:p>
        </p:txBody>
      </p:sp>
      <p:sp>
        <p:nvSpPr>
          <p:cNvPr id="224259" name="Rectangle 3" descr="Content Placeholder 2">
            <a:extLst>
              <a:ext uri="{FF2B5EF4-FFF2-40B4-BE49-F238E27FC236}">
                <a16:creationId xmlns:a16="http://schemas.microsoft.com/office/drawing/2014/main" id="{FA22C527-62B1-B724-29B6-4032B9FB42CD}"/>
              </a:ext>
            </a:extLst>
          </p:cNvPr>
          <p:cNvSpPr>
            <a:spLocks noChangeArrowheads="1"/>
          </p:cNvSpPr>
          <p:nvPr>
            <p:ph type="body" idx="1"/>
          </p:nvPr>
        </p:nvSpPr>
        <p:spPr/>
        <p:txBody>
          <a:bodyPr/>
          <a:lstStyle/>
          <a:p>
            <a:pPr>
              <a:spcBef>
                <a:spcPts val="400"/>
              </a:spcBef>
            </a:pPr>
            <a:r>
              <a:rPr lang="en-US" altLang="en-US" sz="2000"/>
              <a:t>A transaction </a:t>
            </a:r>
            <a:r>
              <a:rPr lang="en-US" altLang="en-US" sz="2000" i="1"/>
              <a:t>must</a:t>
            </a:r>
            <a:r>
              <a:rPr lang="en-US" altLang="en-US" sz="2000"/>
              <a:t> get a </a:t>
            </a:r>
            <a:r>
              <a:rPr lang="en-US" altLang="en-US" sz="2000" i="1"/>
              <a:t>lock </a:t>
            </a:r>
            <a:r>
              <a:rPr lang="en-US" altLang="en-US" sz="2000"/>
              <a:t>before operating on the data</a:t>
            </a:r>
          </a:p>
          <a:p>
            <a:pPr>
              <a:lnSpc>
                <a:spcPct val="130000"/>
              </a:lnSpc>
              <a:spcBef>
                <a:spcPts val="400"/>
              </a:spcBef>
            </a:pPr>
            <a:r>
              <a:rPr lang="en-US" altLang="en-US" sz="2000"/>
              <a:t>Two types of locks:</a:t>
            </a:r>
          </a:p>
          <a:p>
            <a:pPr marL="908050" lvl="1" indent="-438150">
              <a:spcBef>
                <a:spcPts val="400"/>
              </a:spcBef>
            </a:pPr>
            <a:r>
              <a:rPr lang="en-US" altLang="en-US" sz="1800" b="1" i="1"/>
              <a:t>Shared</a:t>
            </a:r>
            <a:r>
              <a:rPr lang="en-US" altLang="en-US" sz="1800" b="1"/>
              <a:t> </a:t>
            </a:r>
            <a:r>
              <a:rPr lang="en-US" altLang="en-US" sz="1800"/>
              <a:t>(S) locks (also called </a:t>
            </a:r>
            <a:r>
              <a:rPr lang="en-US" altLang="en-US" sz="1800" b="1" i="1"/>
              <a:t>read</a:t>
            </a:r>
            <a:r>
              <a:rPr lang="en-US" altLang="en-US" sz="1800" i="1"/>
              <a:t> locks)</a:t>
            </a:r>
            <a:endParaRPr lang="en-US" altLang="en-US" sz="2600" b="1" i="1"/>
          </a:p>
          <a:p>
            <a:pPr marL="1304925" lvl="2" indent="-396875">
              <a:spcBef>
                <a:spcPts val="300"/>
              </a:spcBef>
            </a:pPr>
            <a:r>
              <a:rPr lang="en-US" altLang="en-US" sz="1600"/>
              <a:t>Obtained if transactions want to only read an item</a:t>
            </a:r>
            <a:endParaRPr lang="en-US" altLang="en-US" sz="2300"/>
          </a:p>
          <a:p>
            <a:pPr marL="908050" lvl="1" indent="-438150">
              <a:spcBef>
                <a:spcPts val="400"/>
              </a:spcBef>
            </a:pPr>
            <a:r>
              <a:rPr lang="en-US" altLang="en-US" sz="1800" b="1" i="1"/>
              <a:t>Exclusive</a:t>
            </a:r>
            <a:r>
              <a:rPr lang="en-US" altLang="en-US" sz="1800"/>
              <a:t> (X) locks (also called </a:t>
            </a:r>
            <a:r>
              <a:rPr lang="en-US" altLang="en-US" sz="1800" b="1" i="1"/>
              <a:t>write</a:t>
            </a:r>
            <a:r>
              <a:rPr lang="en-US" altLang="en-US" sz="1800" i="1"/>
              <a:t> locks)</a:t>
            </a:r>
            <a:endParaRPr lang="en-US" altLang="en-US" sz="2600" b="1" i="1"/>
          </a:p>
          <a:p>
            <a:pPr marL="1304925" lvl="2" indent="-396875">
              <a:spcBef>
                <a:spcPts val="300"/>
              </a:spcBef>
            </a:pPr>
            <a:r>
              <a:rPr lang="en-US" altLang="en-US" sz="1600"/>
              <a:t>Obtained for updating a data item</a:t>
            </a:r>
          </a:p>
        </p:txBody>
      </p:sp>
      <p:sp>
        <p:nvSpPr>
          <p:cNvPr id="224260" name="Text Box 4" descr="Date Placeholder 3">
            <a:extLst>
              <a:ext uri="{FF2B5EF4-FFF2-40B4-BE49-F238E27FC236}">
                <a16:creationId xmlns:a16="http://schemas.microsoft.com/office/drawing/2014/main" id="{FF95174E-8799-9382-1A67-4F9E5D7E5E7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4261" name="Text Box 5" descr="Slide Number Placeholder 5">
            <a:extLst>
              <a:ext uri="{FF2B5EF4-FFF2-40B4-BE49-F238E27FC236}">
                <a16:creationId xmlns:a16="http://schemas.microsoft.com/office/drawing/2014/main" id="{E92D3790-72A3-3865-7AB5-A46F59A22CA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C6588FE-FB41-4691-B7C0-6AA96B50A6E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24262" name="Group 6">
            <a:extLst>
              <a:ext uri="{FF2B5EF4-FFF2-40B4-BE49-F238E27FC236}">
                <a16:creationId xmlns:a16="http://schemas.microsoft.com/office/drawing/2014/main" id="{2B253CF7-8856-9DA8-1ED5-78656C3B5AF5}"/>
              </a:ext>
            </a:extLst>
          </p:cNvPr>
          <p:cNvGraphicFramePr>
            <a:graphicFrameLocks noGrp="1"/>
          </p:cNvGraphicFramePr>
          <p:nvPr/>
        </p:nvGraphicFramePr>
        <p:xfrm>
          <a:off x="323850" y="3671888"/>
          <a:ext cx="8424863" cy="2628900"/>
        </p:xfrm>
        <a:graphic>
          <a:graphicData uri="http://schemas.openxmlformats.org/drawingml/2006/table">
            <a:tbl>
              <a:tblPr/>
              <a:tblGrid>
                <a:gridCol w="1804988">
                  <a:extLst>
                    <a:ext uri="{9D8B030D-6E8A-4147-A177-3AD203B41FA5}">
                      <a16:colId xmlns:a16="http://schemas.microsoft.com/office/drawing/2014/main" val="3851524112"/>
                    </a:ext>
                  </a:extLst>
                </a:gridCol>
                <a:gridCol w="1795462">
                  <a:extLst>
                    <a:ext uri="{9D8B030D-6E8A-4147-A177-3AD203B41FA5}">
                      <a16:colId xmlns:a16="http://schemas.microsoft.com/office/drawing/2014/main" val="3722395646"/>
                    </a:ext>
                  </a:extLst>
                </a:gridCol>
                <a:gridCol w="2808288">
                  <a:extLst>
                    <a:ext uri="{9D8B030D-6E8A-4147-A177-3AD203B41FA5}">
                      <a16:colId xmlns:a16="http://schemas.microsoft.com/office/drawing/2014/main" val="148567770"/>
                    </a:ext>
                  </a:extLst>
                </a:gridCol>
                <a:gridCol w="2016125">
                  <a:extLst>
                    <a:ext uri="{9D8B030D-6E8A-4147-A177-3AD203B41FA5}">
                      <a16:colId xmlns:a16="http://schemas.microsoft.com/office/drawing/2014/main" val="49089257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cap="flat">
                      <a:noFill/>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noFill/>
                  </a:tcPr>
                </a:tc>
                <a:tc grid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 1, HOLDER of the LOCK on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IN"/>
                    </a:p>
                  </a:txBody>
                  <a:tcPr/>
                </a:tc>
                <a:extLst>
                  <a:ext uri="{0D108BD9-81ED-4DB2-BD59-A6C34878D82A}">
                    <a16:rowId xmlns:a16="http://schemas.microsoft.com/office/drawing/2014/main" val="399112071"/>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39386889"/>
                  </a:ext>
                </a:extLst>
              </a:tr>
              <a:tr h="828675">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User2,
REQUESTOR of LOCK for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YES</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not be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5363196"/>
                  </a:ext>
                </a:extLst>
              </a:tr>
              <a:tr h="828675">
                <a:tc vMerge="1">
                  <a:txBody>
                    <a:bodyPr/>
                    <a:lstStyle/>
                    <a:p>
                      <a:endParaRPr lang="en-IN"/>
                    </a:p>
                  </a:txBody>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endParaRPr kumimoji="0" lang="en-US" altLang="en-US" sz="1600" b="1"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endParaRPr kumimoji="0" lang="en-US" altLang="en-US" sz="1600" b="1"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25077093"/>
                  </a:ext>
                </a:extLst>
              </a:tr>
            </a:tbl>
          </a:graphicData>
        </a:graphic>
      </p:graphicFrame>
    </p:spTree>
  </p:cSld>
  <p:clrMapOvr>
    <a:masterClrMapping/>
  </p:clrMapOvr>
  <p:transition spd="med"/>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descr="Title 1">
            <a:extLst>
              <a:ext uri="{FF2B5EF4-FFF2-40B4-BE49-F238E27FC236}">
                <a16:creationId xmlns:a16="http://schemas.microsoft.com/office/drawing/2014/main" id="{7FCFC64E-CE25-F71C-5D4D-426F08B93BB3}"/>
              </a:ext>
            </a:extLst>
          </p:cNvPr>
          <p:cNvSpPr>
            <a:spLocks noChangeArrowheads="1"/>
          </p:cNvSpPr>
          <p:nvPr>
            <p:ph type="title"/>
          </p:nvPr>
        </p:nvSpPr>
        <p:spPr/>
        <p:txBody>
          <a:bodyPr/>
          <a:lstStyle/>
          <a:p>
            <a:r>
              <a:rPr lang="en-US" altLang="en-US"/>
              <a:t>Lock-based Protocols</a:t>
            </a:r>
          </a:p>
        </p:txBody>
      </p:sp>
      <p:sp>
        <p:nvSpPr>
          <p:cNvPr id="225283" name="Rectangle 3" descr="Content Placeholder 2">
            <a:extLst>
              <a:ext uri="{FF2B5EF4-FFF2-40B4-BE49-F238E27FC236}">
                <a16:creationId xmlns:a16="http://schemas.microsoft.com/office/drawing/2014/main" id="{87B972F7-217C-02B4-6133-4BA667363BDE}"/>
              </a:ext>
            </a:extLst>
          </p:cNvPr>
          <p:cNvSpPr>
            <a:spLocks noChangeArrowheads="1"/>
          </p:cNvSpPr>
          <p:nvPr>
            <p:ph type="body" idx="1"/>
          </p:nvPr>
        </p:nvSpPr>
        <p:spPr/>
        <p:txBody>
          <a:bodyPr/>
          <a:lstStyle/>
          <a:p>
            <a:pPr>
              <a:spcBef>
                <a:spcPts val="400"/>
              </a:spcBef>
            </a:pPr>
            <a:r>
              <a:rPr lang="en-US" altLang="en-US" sz="2000"/>
              <a:t>A transaction </a:t>
            </a:r>
            <a:r>
              <a:rPr lang="en-US" altLang="en-US" sz="2000" i="1"/>
              <a:t>must</a:t>
            </a:r>
            <a:r>
              <a:rPr lang="en-US" altLang="en-US" sz="2000"/>
              <a:t> get a </a:t>
            </a:r>
            <a:r>
              <a:rPr lang="en-US" altLang="en-US" sz="2000" i="1"/>
              <a:t>lock </a:t>
            </a:r>
            <a:r>
              <a:rPr lang="en-US" altLang="en-US" sz="2000"/>
              <a:t>before operating on the data</a:t>
            </a:r>
          </a:p>
          <a:p>
            <a:pPr>
              <a:lnSpc>
                <a:spcPct val="130000"/>
              </a:lnSpc>
              <a:spcBef>
                <a:spcPts val="400"/>
              </a:spcBef>
            </a:pPr>
            <a:r>
              <a:rPr lang="en-US" altLang="en-US" sz="2000"/>
              <a:t>Two types of locks:</a:t>
            </a:r>
          </a:p>
          <a:p>
            <a:pPr marL="908050" lvl="1" indent="-438150">
              <a:spcBef>
                <a:spcPts val="400"/>
              </a:spcBef>
            </a:pPr>
            <a:r>
              <a:rPr lang="en-US" altLang="en-US" sz="1800" b="1" i="1"/>
              <a:t>Shared</a:t>
            </a:r>
            <a:r>
              <a:rPr lang="en-US" altLang="en-US" sz="1800" b="1"/>
              <a:t> </a:t>
            </a:r>
            <a:r>
              <a:rPr lang="en-US" altLang="en-US" sz="1800"/>
              <a:t>(S) locks (also called </a:t>
            </a:r>
            <a:r>
              <a:rPr lang="en-US" altLang="en-US" sz="1800" b="1" i="1"/>
              <a:t>read</a:t>
            </a:r>
            <a:r>
              <a:rPr lang="en-US" altLang="en-US" sz="1800" i="1"/>
              <a:t> locks)</a:t>
            </a:r>
            <a:endParaRPr lang="en-US" altLang="en-US" sz="2600" b="1" i="1"/>
          </a:p>
          <a:p>
            <a:pPr marL="1304925" lvl="2" indent="-396875">
              <a:spcBef>
                <a:spcPts val="300"/>
              </a:spcBef>
            </a:pPr>
            <a:r>
              <a:rPr lang="en-US" altLang="en-US" sz="1600"/>
              <a:t>Obtained if transactions want to only read an item</a:t>
            </a:r>
            <a:endParaRPr lang="en-US" altLang="en-US" sz="2300"/>
          </a:p>
          <a:p>
            <a:pPr marL="908050" lvl="1" indent="-438150">
              <a:spcBef>
                <a:spcPts val="400"/>
              </a:spcBef>
            </a:pPr>
            <a:r>
              <a:rPr lang="en-US" altLang="en-US" sz="1800" b="1" i="1"/>
              <a:t>Exclusive</a:t>
            </a:r>
            <a:r>
              <a:rPr lang="en-US" altLang="en-US" sz="1800"/>
              <a:t> (X) locks (also called </a:t>
            </a:r>
            <a:r>
              <a:rPr lang="en-US" altLang="en-US" sz="1800" b="1" i="1"/>
              <a:t>write</a:t>
            </a:r>
            <a:r>
              <a:rPr lang="en-US" altLang="en-US" sz="1800" i="1"/>
              <a:t> locks)</a:t>
            </a:r>
            <a:endParaRPr lang="en-US" altLang="en-US" sz="2600" b="1" i="1"/>
          </a:p>
          <a:p>
            <a:pPr marL="1304925" lvl="2" indent="-396875">
              <a:spcBef>
                <a:spcPts val="300"/>
              </a:spcBef>
            </a:pPr>
            <a:r>
              <a:rPr lang="en-US" altLang="en-US" sz="1600"/>
              <a:t>Obtained for updating a data item</a:t>
            </a:r>
          </a:p>
        </p:txBody>
      </p:sp>
      <p:sp>
        <p:nvSpPr>
          <p:cNvPr id="225284" name="Text Box 4" descr="Date Placeholder 3">
            <a:extLst>
              <a:ext uri="{FF2B5EF4-FFF2-40B4-BE49-F238E27FC236}">
                <a16:creationId xmlns:a16="http://schemas.microsoft.com/office/drawing/2014/main" id="{62442CC8-A318-4BB3-D2E7-AB8E6EE1555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5285" name="Text Box 5" descr="Slide Number Placeholder 5">
            <a:extLst>
              <a:ext uri="{FF2B5EF4-FFF2-40B4-BE49-F238E27FC236}">
                <a16:creationId xmlns:a16="http://schemas.microsoft.com/office/drawing/2014/main" id="{C8DD36BB-F6C3-E4B0-6E4E-9D0D30D0BE0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5A8BC3B-C1C3-47CB-A4EB-1C6BD5C09AC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209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25286" name="Group 6">
            <a:extLst>
              <a:ext uri="{FF2B5EF4-FFF2-40B4-BE49-F238E27FC236}">
                <a16:creationId xmlns:a16="http://schemas.microsoft.com/office/drawing/2014/main" id="{1160ABB6-BEF9-9D95-4066-EE4FA052B326}"/>
              </a:ext>
            </a:extLst>
          </p:cNvPr>
          <p:cNvGraphicFramePr>
            <a:graphicFrameLocks noGrp="1"/>
          </p:cNvGraphicFramePr>
          <p:nvPr/>
        </p:nvGraphicFramePr>
        <p:xfrm>
          <a:off x="323850" y="3671888"/>
          <a:ext cx="8424863" cy="2628900"/>
        </p:xfrm>
        <a:graphic>
          <a:graphicData uri="http://schemas.openxmlformats.org/drawingml/2006/table">
            <a:tbl>
              <a:tblPr/>
              <a:tblGrid>
                <a:gridCol w="1804988">
                  <a:extLst>
                    <a:ext uri="{9D8B030D-6E8A-4147-A177-3AD203B41FA5}">
                      <a16:colId xmlns:a16="http://schemas.microsoft.com/office/drawing/2014/main" val="2548557786"/>
                    </a:ext>
                  </a:extLst>
                </a:gridCol>
                <a:gridCol w="1795462">
                  <a:extLst>
                    <a:ext uri="{9D8B030D-6E8A-4147-A177-3AD203B41FA5}">
                      <a16:colId xmlns:a16="http://schemas.microsoft.com/office/drawing/2014/main" val="1843897728"/>
                    </a:ext>
                  </a:extLst>
                </a:gridCol>
                <a:gridCol w="2808288">
                  <a:extLst>
                    <a:ext uri="{9D8B030D-6E8A-4147-A177-3AD203B41FA5}">
                      <a16:colId xmlns:a16="http://schemas.microsoft.com/office/drawing/2014/main" val="3549024200"/>
                    </a:ext>
                  </a:extLst>
                </a:gridCol>
                <a:gridCol w="2016125">
                  <a:extLst>
                    <a:ext uri="{9D8B030D-6E8A-4147-A177-3AD203B41FA5}">
                      <a16:colId xmlns:a16="http://schemas.microsoft.com/office/drawing/2014/main" val="89413877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cap="flat">
                      <a:noFill/>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1" i="0" u="none" strike="noStrike" cap="none" normalizeH="0" baseline="0">
                        <a:ln>
                          <a:noFill/>
                        </a:ln>
                        <a:solidFill>
                          <a:srgbClr val="FFFF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cap="flat">
                      <a:noFill/>
                    </a:lnB>
                    <a:lnTlToBr>
                      <a:noFill/>
                    </a:lnTlToBr>
                    <a:lnBlToTr>
                      <a:noFill/>
                    </a:lnBlToTr>
                    <a:noFill/>
                  </a:tcPr>
                </a:tc>
                <a:tc grid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 1, HOLDER of the LOCK on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IN"/>
                    </a:p>
                  </a:txBody>
                  <a:tcPr/>
                </a:tc>
                <a:extLst>
                  <a:ext uri="{0D108BD9-81ED-4DB2-BD59-A6C34878D82A}">
                    <a16:rowId xmlns:a16="http://schemas.microsoft.com/office/drawing/2014/main" val="4092460326"/>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cap="flat">
                      <a:noFill/>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cap="flat">
                      <a:noFill/>
                    </a:lnL>
                    <a:lnR w="12700" cap="flat" cmpd="sng" algn="ctr">
                      <a:solidFill>
                        <a:srgbClr val="000000"/>
                      </a:solidFill>
                      <a:prstDash val="solid"/>
                      <a:round/>
                      <a:headEnd type="none" w="med" len="med"/>
                      <a:tailEnd type="none" w="med" len="med"/>
                    </a:lnR>
                    <a:lnT cap="fla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19911175"/>
                  </a:ext>
                </a:extLst>
              </a:tr>
              <a:tr h="828675">
                <a:tc rowSpan="2">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User2,
REQUESTOR of LOCK for data item X</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Shared or Read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YES</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not be granted with Read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68143263"/>
                  </a:ext>
                </a:extLst>
              </a:tr>
              <a:tr h="828675">
                <a:tc vMerge="1">
                  <a:txBody>
                    <a:bodyPr/>
                    <a:lstStyle/>
                    <a:p>
                      <a:endParaRPr lang="en-IN"/>
                    </a:p>
                  </a:txBody>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or Exclusive
Lock</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not be granted with Write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NO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USER 2 will not be granted with Write lock</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83522192"/>
                  </a:ext>
                </a:extLst>
              </a:tr>
            </a:tbl>
          </a:graphicData>
        </a:graphic>
      </p:graphicFrame>
    </p:spTree>
  </p:cSld>
  <p:clrMapOvr>
    <a:masterClrMapping/>
  </p:clrMapOvr>
  <p:transition spd="med"/>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descr="Title 1">
            <a:extLst>
              <a:ext uri="{FF2B5EF4-FFF2-40B4-BE49-F238E27FC236}">
                <a16:creationId xmlns:a16="http://schemas.microsoft.com/office/drawing/2014/main" id="{7B206912-C46C-1E0C-F0BD-6F8A21514E2F}"/>
              </a:ext>
            </a:extLst>
          </p:cNvPr>
          <p:cNvSpPr>
            <a:spLocks noChangeArrowheads="1"/>
          </p:cNvSpPr>
          <p:nvPr>
            <p:ph type="title"/>
          </p:nvPr>
        </p:nvSpPr>
        <p:spPr/>
        <p:txBody>
          <a:bodyPr/>
          <a:lstStyle/>
          <a:p>
            <a:r>
              <a:rPr lang="en-US" altLang="en-US"/>
              <a:t>Lock instructions</a:t>
            </a:r>
          </a:p>
        </p:txBody>
      </p:sp>
      <p:sp>
        <p:nvSpPr>
          <p:cNvPr id="226307" name="Rectangle 3" descr="Content Placeholder 2">
            <a:extLst>
              <a:ext uri="{FF2B5EF4-FFF2-40B4-BE49-F238E27FC236}">
                <a16:creationId xmlns:a16="http://schemas.microsoft.com/office/drawing/2014/main" id="{37F98456-6318-6E41-B487-C26B5FE37288}"/>
              </a:ext>
            </a:extLst>
          </p:cNvPr>
          <p:cNvSpPr>
            <a:spLocks noChangeArrowheads="1"/>
          </p:cNvSpPr>
          <p:nvPr>
            <p:ph type="body" idx="1"/>
          </p:nvPr>
        </p:nvSpPr>
        <p:spPr/>
        <p:txBody>
          <a:bodyPr/>
          <a:lstStyle/>
          <a:p>
            <a:r>
              <a:rPr lang="en-US" altLang="en-US"/>
              <a:t>New LOCK instructions</a:t>
            </a:r>
          </a:p>
          <a:p>
            <a:pPr marL="436563" lvl="1" indent="33338">
              <a:spcBef>
                <a:spcPts val="600"/>
              </a:spcBef>
              <a:buSzTx/>
              <a:buFont typeface="Wingdings" panose="05000000000000000000" pitchFamily="2" charset="2"/>
              <a:buNone/>
            </a:pPr>
            <a:r>
              <a:rPr lang="en-US" altLang="en-US" sz="2600"/>
              <a:t>-</a:t>
            </a:r>
            <a:r>
              <a:rPr lang="en-US" altLang="en-US" sz="2600">
                <a:solidFill>
                  <a:srgbClr val="FF0000"/>
                </a:solidFill>
              </a:rPr>
              <a:t> Lock-S</a:t>
            </a:r>
            <a:r>
              <a:rPr lang="en-US" altLang="en-US" sz="2600"/>
              <a:t>: shared (or read) lock request</a:t>
            </a:r>
          </a:p>
          <a:p>
            <a:pPr marL="436563" lvl="1" indent="33338">
              <a:spcBef>
                <a:spcPts val="600"/>
              </a:spcBef>
              <a:buSzTx/>
              <a:buFont typeface="Wingdings" panose="05000000000000000000" pitchFamily="2" charset="2"/>
              <a:buNone/>
            </a:pPr>
            <a:r>
              <a:rPr lang="en-US" altLang="en-US" sz="2600"/>
              <a:t>- </a:t>
            </a:r>
            <a:r>
              <a:rPr lang="en-US" altLang="en-US" sz="2600">
                <a:solidFill>
                  <a:srgbClr val="006600"/>
                </a:solidFill>
              </a:rPr>
              <a:t>Lock-X</a:t>
            </a:r>
            <a:r>
              <a:rPr lang="en-US" altLang="en-US" sz="2600"/>
              <a:t>: exclusive (or write) lock request</a:t>
            </a:r>
          </a:p>
          <a:p>
            <a:pPr marL="436563" lvl="1" indent="33338">
              <a:spcBef>
                <a:spcPts val="600"/>
              </a:spcBef>
              <a:buSzTx/>
              <a:buFont typeface="Wingdings" panose="05000000000000000000" pitchFamily="2" charset="2"/>
              <a:buNone/>
            </a:pPr>
            <a:r>
              <a:rPr lang="en-US" altLang="en-US" sz="2600"/>
              <a:t>- </a:t>
            </a:r>
            <a:r>
              <a:rPr lang="en-US" altLang="en-US" sz="2600">
                <a:solidFill>
                  <a:srgbClr val="0000FF"/>
                </a:solidFill>
              </a:rPr>
              <a:t>Unlock</a:t>
            </a:r>
            <a:r>
              <a:rPr lang="en-US" altLang="en-US" sz="2600"/>
              <a:t>: release previously held lock</a:t>
            </a:r>
          </a:p>
          <a:p>
            <a:r>
              <a:rPr lang="en-US" altLang="en-US"/>
              <a:t>Example schedule:</a:t>
            </a:r>
          </a:p>
        </p:txBody>
      </p:sp>
      <p:sp>
        <p:nvSpPr>
          <p:cNvPr id="226308" name="Text Box 4" descr="Date Placeholder 3">
            <a:extLst>
              <a:ext uri="{FF2B5EF4-FFF2-40B4-BE49-F238E27FC236}">
                <a16:creationId xmlns:a16="http://schemas.microsoft.com/office/drawing/2014/main" id="{852CFEAE-05DA-2B3D-ED3B-DF2DB2603B3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6309" name="Text Box 5" descr="Slide Number Placeholder 5">
            <a:extLst>
              <a:ext uri="{FF2B5EF4-FFF2-40B4-BE49-F238E27FC236}">
                <a16:creationId xmlns:a16="http://schemas.microsoft.com/office/drawing/2014/main" id="{CD3A5B04-C8CF-25D8-E42E-FA6CB15199A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0D6F7AF-2883-4068-B498-DD107B46B40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226310" name="Group 6">
            <a:extLst>
              <a:ext uri="{FF2B5EF4-FFF2-40B4-BE49-F238E27FC236}">
                <a16:creationId xmlns:a16="http://schemas.microsoft.com/office/drawing/2014/main" id="{8CE6E363-6A8E-E39B-9004-9BA2BC502384}"/>
              </a:ext>
            </a:extLst>
          </p:cNvPr>
          <p:cNvGrpSpPr>
            <a:grpSpLocks/>
          </p:cNvGrpSpPr>
          <p:nvPr/>
        </p:nvGrpSpPr>
        <p:grpSpPr bwMode="auto">
          <a:xfrm>
            <a:off x="3871913" y="3913188"/>
            <a:ext cx="4040187" cy="2297112"/>
            <a:chOff x="0" y="-1"/>
            <a:chExt cx="4041460" cy="2296479"/>
          </a:xfrm>
        </p:grpSpPr>
        <p:sp>
          <p:nvSpPr>
            <p:cNvPr id="226311" name="Text Box 7" descr="Text Box 10">
              <a:extLst>
                <a:ext uri="{FF2B5EF4-FFF2-40B4-BE49-F238E27FC236}">
                  <a16:creationId xmlns:a16="http://schemas.microsoft.com/office/drawing/2014/main" id="{C36FAD4C-D8EE-0D2D-B03A-9A9F05623A20}"/>
                </a:ext>
              </a:extLst>
            </p:cNvPr>
            <p:cNvSpPr txBox="1">
              <a:spLocks/>
            </p:cNvSpPr>
            <p:nvPr/>
          </p:nvSpPr>
          <p:spPr bwMode="auto">
            <a:xfrm>
              <a:off x="0" y="366712"/>
              <a:ext cx="1467505" cy="1929766"/>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read(B)</a:t>
              </a:r>
            </a:p>
            <a:p>
              <a:r>
                <a:rPr lang="en-US" altLang="en-US" sz="2000"/>
                <a:t>B =B-50</a:t>
              </a:r>
            </a:p>
            <a:p>
              <a:r>
                <a:rPr lang="en-US" altLang="en-US" sz="2000">
                  <a:solidFill>
                    <a:srgbClr val="006600"/>
                  </a:solidFill>
                </a:rPr>
                <a:t>write</a:t>
              </a:r>
              <a:r>
                <a:rPr lang="en-US" altLang="en-US" sz="2000"/>
                <a:t>(B)</a:t>
              </a:r>
            </a:p>
            <a:p>
              <a:r>
                <a:rPr lang="en-US" altLang="en-US" sz="2000"/>
                <a:t>read(A)</a:t>
              </a:r>
            </a:p>
            <a:p>
              <a:r>
                <a:rPr lang="en-US" altLang="en-US" sz="2000"/>
                <a:t>A =A + 50</a:t>
              </a:r>
            </a:p>
            <a:p>
              <a:r>
                <a:rPr lang="en-US" altLang="en-US" sz="2000">
                  <a:solidFill>
                    <a:srgbClr val="006600"/>
                  </a:solidFill>
                </a:rPr>
                <a:t>write</a:t>
              </a:r>
              <a:r>
                <a:rPr lang="en-US" altLang="en-US" sz="2000"/>
                <a:t>(A)</a:t>
              </a:r>
              <a:endParaRPr lang="en-US" altLang="en-US" sz="2000">
                <a:solidFill>
                  <a:srgbClr val="006600"/>
                </a:solidFill>
              </a:endParaRPr>
            </a:p>
          </p:txBody>
        </p:sp>
        <p:sp>
          <p:nvSpPr>
            <p:cNvPr id="226312" name="Text Box 8" descr="Text Box 11">
              <a:extLst>
                <a:ext uri="{FF2B5EF4-FFF2-40B4-BE49-F238E27FC236}">
                  <a16:creationId xmlns:a16="http://schemas.microsoft.com/office/drawing/2014/main" id="{29719BA5-9FF1-FFB8-A130-D748A8924D01}"/>
                </a:ext>
              </a:extLst>
            </p:cNvPr>
            <p:cNvSpPr txBox="1">
              <a:spLocks/>
            </p:cNvSpPr>
            <p:nvPr/>
          </p:nvSpPr>
          <p:spPr bwMode="auto">
            <a:xfrm>
              <a:off x="2252362" y="400050"/>
              <a:ext cx="1789098" cy="1015366"/>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solidFill>
                    <a:srgbClr val="FF0000"/>
                  </a:solidFill>
                </a:rPr>
                <a:t>read</a:t>
              </a:r>
              <a:r>
                <a:rPr lang="en-US" altLang="en-US" sz="2000"/>
                <a:t>(A)</a:t>
              </a:r>
            </a:p>
            <a:p>
              <a:r>
                <a:rPr lang="en-US" altLang="en-US" sz="2000">
                  <a:solidFill>
                    <a:srgbClr val="FF0000"/>
                  </a:solidFill>
                </a:rPr>
                <a:t>read</a:t>
              </a:r>
              <a:r>
                <a:rPr lang="en-US" altLang="en-US" sz="2000"/>
                <a:t>(B)</a:t>
              </a:r>
            </a:p>
            <a:p>
              <a:r>
                <a:rPr lang="en-US" altLang="en-US" sz="2000"/>
                <a:t>display(A+B)</a:t>
              </a:r>
            </a:p>
          </p:txBody>
        </p:sp>
        <p:sp>
          <p:nvSpPr>
            <p:cNvPr id="226313" name="Text Box 9" descr="Text Box 12">
              <a:extLst>
                <a:ext uri="{FF2B5EF4-FFF2-40B4-BE49-F238E27FC236}">
                  <a16:creationId xmlns:a16="http://schemas.microsoft.com/office/drawing/2014/main" id="{0D17B0D7-143C-881D-4055-46AD1102AB3B}"/>
                </a:ext>
              </a:extLst>
            </p:cNvPr>
            <p:cNvSpPr txBox="1">
              <a:spLocks/>
            </p:cNvSpPr>
            <p:nvPr/>
          </p:nvSpPr>
          <p:spPr bwMode="auto">
            <a:xfrm>
              <a:off x="385804" y="0"/>
              <a:ext cx="390337"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T1</a:t>
              </a:r>
            </a:p>
          </p:txBody>
        </p:sp>
        <p:sp>
          <p:nvSpPr>
            <p:cNvPr id="226314" name="Text Box 10" descr="Text Box 13">
              <a:extLst>
                <a:ext uri="{FF2B5EF4-FFF2-40B4-BE49-F238E27FC236}">
                  <a16:creationId xmlns:a16="http://schemas.microsoft.com/office/drawing/2014/main" id="{3D87D953-7C45-0603-88D8-4C35A46DBD49}"/>
                </a:ext>
              </a:extLst>
            </p:cNvPr>
            <p:cNvSpPr txBox="1">
              <a:spLocks/>
            </p:cNvSpPr>
            <p:nvPr/>
          </p:nvSpPr>
          <p:spPr bwMode="auto">
            <a:xfrm>
              <a:off x="2716218" y="33337"/>
              <a:ext cx="390337" cy="3708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T2</a:t>
              </a:r>
            </a:p>
          </p:txBody>
        </p:sp>
      </p:grpSp>
    </p:spTree>
  </p:cSld>
  <p:clrMapOvr>
    <a:masterClrMapping/>
  </p:clrMapOvr>
  <p:transition spd="med"/>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descr="Title 1">
            <a:extLst>
              <a:ext uri="{FF2B5EF4-FFF2-40B4-BE49-F238E27FC236}">
                <a16:creationId xmlns:a16="http://schemas.microsoft.com/office/drawing/2014/main" id="{11385F3C-AEA7-17B7-C3A6-11248608C9D6}"/>
              </a:ext>
            </a:extLst>
          </p:cNvPr>
          <p:cNvSpPr>
            <a:spLocks noChangeArrowheads="1"/>
          </p:cNvSpPr>
          <p:nvPr>
            <p:ph type="title"/>
          </p:nvPr>
        </p:nvSpPr>
        <p:spPr/>
        <p:txBody>
          <a:bodyPr/>
          <a:lstStyle/>
          <a:p>
            <a:r>
              <a:rPr lang="en-US" altLang="en-US"/>
              <a:t>Lock instructions</a:t>
            </a:r>
          </a:p>
        </p:txBody>
      </p:sp>
      <p:sp>
        <p:nvSpPr>
          <p:cNvPr id="227331" name="Rectangle 3" descr="Content Placeholder 2">
            <a:extLst>
              <a:ext uri="{FF2B5EF4-FFF2-40B4-BE49-F238E27FC236}">
                <a16:creationId xmlns:a16="http://schemas.microsoft.com/office/drawing/2014/main" id="{9BD15C2B-EDE8-C771-8EC6-865677B8E7E6}"/>
              </a:ext>
            </a:extLst>
          </p:cNvPr>
          <p:cNvSpPr>
            <a:spLocks noChangeArrowheads="1"/>
          </p:cNvSpPr>
          <p:nvPr>
            <p:ph type="body" idx="1"/>
          </p:nvPr>
        </p:nvSpPr>
        <p:spPr/>
        <p:txBody>
          <a:bodyPr/>
          <a:lstStyle/>
          <a:p>
            <a:pPr>
              <a:spcBef>
                <a:spcPts val="500"/>
              </a:spcBef>
            </a:pPr>
            <a:r>
              <a:rPr lang="en-US" altLang="en-US" sz="2400"/>
              <a:t>New LOCK instructions</a:t>
            </a:r>
          </a:p>
          <a:p>
            <a:pPr marL="436563" lvl="1" indent="33338">
              <a:spcBef>
                <a:spcPts val="400"/>
              </a:spcBef>
              <a:buSzTx/>
              <a:buFont typeface="Wingdings" panose="05000000000000000000" pitchFamily="2" charset="2"/>
              <a:buNone/>
            </a:pPr>
            <a:r>
              <a:rPr lang="en-US" altLang="en-US" sz="2000"/>
              <a:t>-</a:t>
            </a:r>
            <a:r>
              <a:rPr lang="en-US" altLang="en-US" sz="2000">
                <a:solidFill>
                  <a:srgbClr val="006600"/>
                </a:solidFill>
              </a:rPr>
              <a:t> </a:t>
            </a:r>
            <a:r>
              <a:rPr lang="en-US" altLang="en-US" sz="2000">
                <a:solidFill>
                  <a:srgbClr val="FF0000"/>
                </a:solidFill>
              </a:rPr>
              <a:t>Lock-S</a:t>
            </a:r>
            <a:r>
              <a:rPr lang="en-US" altLang="en-US" sz="2000"/>
              <a:t>: shared (or read) lock request</a:t>
            </a:r>
            <a:endParaRPr lang="en-US" altLang="en-US" sz="2600"/>
          </a:p>
          <a:p>
            <a:pPr marL="436563" lvl="1" indent="33338">
              <a:spcBef>
                <a:spcPts val="400"/>
              </a:spcBef>
              <a:buSzTx/>
              <a:buFont typeface="Wingdings" panose="05000000000000000000" pitchFamily="2" charset="2"/>
              <a:buNone/>
            </a:pPr>
            <a:r>
              <a:rPr lang="en-US" altLang="en-US" sz="2000"/>
              <a:t>- </a:t>
            </a:r>
            <a:r>
              <a:rPr lang="en-US" altLang="en-US" sz="2000">
                <a:solidFill>
                  <a:srgbClr val="006600"/>
                </a:solidFill>
              </a:rPr>
              <a:t>Lock-X</a:t>
            </a:r>
            <a:r>
              <a:rPr lang="en-US" altLang="en-US" sz="2000"/>
              <a:t>: exclusive (or write) lock request</a:t>
            </a:r>
            <a:endParaRPr lang="en-US" altLang="en-US" sz="2600"/>
          </a:p>
          <a:p>
            <a:pPr marL="436563" lvl="1" indent="33338">
              <a:spcBef>
                <a:spcPts val="400"/>
              </a:spcBef>
              <a:buSzTx/>
              <a:buFont typeface="Wingdings" panose="05000000000000000000" pitchFamily="2" charset="2"/>
              <a:buNone/>
            </a:pPr>
            <a:r>
              <a:rPr lang="en-US" altLang="en-US" sz="2000"/>
              <a:t>- </a:t>
            </a:r>
            <a:r>
              <a:rPr lang="en-US" altLang="en-US" sz="2000">
                <a:solidFill>
                  <a:srgbClr val="0000FF"/>
                </a:solidFill>
              </a:rPr>
              <a:t>Unlock</a:t>
            </a:r>
            <a:r>
              <a:rPr lang="en-US" altLang="en-US" sz="2000"/>
              <a:t>: release previously held lock</a:t>
            </a:r>
            <a:endParaRPr lang="en-US" altLang="en-US" sz="2600"/>
          </a:p>
          <a:p>
            <a:pPr>
              <a:spcBef>
                <a:spcPts val="500"/>
              </a:spcBef>
            </a:pPr>
            <a:r>
              <a:rPr lang="en-US" altLang="en-US" sz="2400"/>
              <a:t>Example schedule:</a:t>
            </a:r>
          </a:p>
        </p:txBody>
      </p:sp>
      <p:sp>
        <p:nvSpPr>
          <p:cNvPr id="227332" name="Text Box 4" descr="Date Placeholder 3">
            <a:extLst>
              <a:ext uri="{FF2B5EF4-FFF2-40B4-BE49-F238E27FC236}">
                <a16:creationId xmlns:a16="http://schemas.microsoft.com/office/drawing/2014/main" id="{FE81B6A3-DF21-A3EE-EE78-1F331478E82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7333" name="Text Box 5" descr="Slide Number Placeholder 5">
            <a:extLst>
              <a:ext uri="{FF2B5EF4-FFF2-40B4-BE49-F238E27FC236}">
                <a16:creationId xmlns:a16="http://schemas.microsoft.com/office/drawing/2014/main" id="{B77F0E48-327D-1DC5-3529-187C199EC367}"/>
              </a:ext>
            </a:extLst>
          </p:cNvPr>
          <p:cNvSpPr txBox="1">
            <a:spLocks/>
          </p:cNvSpPr>
          <p:nvPr/>
        </p:nvSpPr>
        <p:spPr bwMode="auto">
          <a:xfrm>
            <a:off x="8186738" y="6400800"/>
            <a:ext cx="347662"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694EFE1-ABAD-4688-832C-20F05C70471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227334" name="Group 6">
            <a:extLst>
              <a:ext uri="{FF2B5EF4-FFF2-40B4-BE49-F238E27FC236}">
                <a16:creationId xmlns:a16="http://schemas.microsoft.com/office/drawing/2014/main" id="{99A4B9F7-0371-A3A9-F3E9-2F6CBA787B3B}"/>
              </a:ext>
            </a:extLst>
          </p:cNvPr>
          <p:cNvGrpSpPr>
            <a:grpSpLocks/>
          </p:cNvGrpSpPr>
          <p:nvPr/>
        </p:nvGrpSpPr>
        <p:grpSpPr bwMode="auto">
          <a:xfrm>
            <a:off x="3871913" y="3062288"/>
            <a:ext cx="3770312" cy="3190875"/>
            <a:chOff x="0" y="-1"/>
            <a:chExt cx="3771899" cy="3191829"/>
          </a:xfrm>
        </p:grpSpPr>
        <p:sp>
          <p:nvSpPr>
            <p:cNvPr id="227335" name="Text Box 7" descr="Text Box 5">
              <a:extLst>
                <a:ext uri="{FF2B5EF4-FFF2-40B4-BE49-F238E27FC236}">
                  <a16:creationId xmlns:a16="http://schemas.microsoft.com/office/drawing/2014/main" id="{26E40BB4-104B-5C8A-2EEF-28EF85E529D2}"/>
                </a:ext>
              </a:extLst>
            </p:cNvPr>
            <p:cNvSpPr txBox="1">
              <a:spLocks/>
            </p:cNvSpPr>
            <p:nvPr/>
          </p:nvSpPr>
          <p:spPr bwMode="auto">
            <a:xfrm>
              <a:off x="0" y="296862"/>
              <a:ext cx="1332121" cy="2894966"/>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6600"/>
                  </a:solidFill>
                </a:rPr>
                <a:t>Lock-X</a:t>
              </a:r>
              <a:r>
                <a:rPr lang="en-US" altLang="en-US"/>
                <a:t>(B)</a:t>
              </a:r>
            </a:p>
            <a:p>
              <a:r>
                <a:rPr lang="en-US" altLang="en-US"/>
                <a:t>read(B)</a:t>
              </a:r>
            </a:p>
            <a:p>
              <a:r>
                <a:rPr lang="en-US" altLang="en-US"/>
                <a:t>B = B-50</a:t>
              </a:r>
            </a:p>
            <a:p>
              <a:r>
                <a:rPr lang="en-US" altLang="en-US">
                  <a:solidFill>
                    <a:srgbClr val="006600"/>
                  </a:solidFill>
                </a:rPr>
                <a:t>write(</a:t>
              </a:r>
              <a:r>
                <a:rPr lang="en-US" altLang="en-US"/>
                <a:t>B)</a:t>
              </a:r>
            </a:p>
            <a:p>
              <a:r>
                <a:rPr lang="en-US" altLang="en-US">
                  <a:solidFill>
                    <a:srgbClr val="0000FF"/>
                  </a:solidFill>
                </a:rPr>
                <a:t>Unlock</a:t>
              </a:r>
              <a:r>
                <a:rPr lang="en-US" altLang="en-US"/>
                <a:t>(B)</a:t>
              </a:r>
            </a:p>
            <a:p>
              <a:r>
                <a:rPr lang="en-US" altLang="en-US">
                  <a:solidFill>
                    <a:srgbClr val="006600"/>
                  </a:solidFill>
                </a:rPr>
                <a:t>Lock-X</a:t>
              </a:r>
              <a:r>
                <a:rPr lang="en-US" altLang="en-US"/>
                <a:t>(A)</a:t>
              </a:r>
            </a:p>
            <a:p>
              <a:r>
                <a:rPr lang="en-US" altLang="en-US"/>
                <a:t>read(A)</a:t>
              </a:r>
            </a:p>
            <a:p>
              <a:r>
                <a:rPr lang="en-US" altLang="en-US"/>
                <a:t>A =A + 50</a:t>
              </a:r>
            </a:p>
            <a:p>
              <a:r>
                <a:rPr lang="en-US" altLang="en-US">
                  <a:solidFill>
                    <a:srgbClr val="006600"/>
                  </a:solidFill>
                </a:rPr>
                <a:t>write</a:t>
              </a:r>
              <a:r>
                <a:rPr lang="en-US" altLang="en-US"/>
                <a:t>(A)</a:t>
              </a:r>
            </a:p>
            <a:p>
              <a:r>
                <a:rPr lang="en-US" altLang="en-US">
                  <a:solidFill>
                    <a:srgbClr val="0000FF"/>
                  </a:solidFill>
                </a:rPr>
                <a:t>Unlock</a:t>
              </a:r>
              <a:r>
                <a:rPr lang="en-US" altLang="en-US"/>
                <a:t>(A)</a:t>
              </a:r>
              <a:endParaRPr lang="en-US" altLang="en-US">
                <a:solidFill>
                  <a:srgbClr val="0000FF"/>
                </a:solidFill>
              </a:endParaRPr>
            </a:p>
          </p:txBody>
        </p:sp>
        <p:sp>
          <p:nvSpPr>
            <p:cNvPr id="227336" name="Text Box 8" descr="Text Box 6">
              <a:extLst>
                <a:ext uri="{FF2B5EF4-FFF2-40B4-BE49-F238E27FC236}">
                  <a16:creationId xmlns:a16="http://schemas.microsoft.com/office/drawing/2014/main" id="{B6C92BFD-879A-C7E4-981A-0FA0AA63569B}"/>
                </a:ext>
              </a:extLst>
            </p:cNvPr>
            <p:cNvSpPr txBox="1">
              <a:spLocks/>
            </p:cNvSpPr>
            <p:nvPr/>
          </p:nvSpPr>
          <p:spPr bwMode="auto">
            <a:xfrm>
              <a:off x="1924049" y="320675"/>
              <a:ext cx="1847850" cy="2056766"/>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solidFill>
                    <a:srgbClr val="FF0000"/>
                  </a:solidFill>
                </a:rPr>
                <a:t>Lock-S</a:t>
              </a:r>
              <a:r>
                <a:rPr lang="en-US" altLang="en-US"/>
                <a:t>(A)</a:t>
              </a:r>
            </a:p>
            <a:p>
              <a:r>
                <a:rPr lang="en-US" altLang="en-US">
                  <a:solidFill>
                    <a:srgbClr val="FF0000"/>
                  </a:solidFill>
                </a:rPr>
                <a:t>read</a:t>
              </a:r>
              <a:r>
                <a:rPr lang="en-US" altLang="en-US"/>
                <a:t>(A)</a:t>
              </a:r>
            </a:p>
            <a:p>
              <a:r>
                <a:rPr lang="en-US" altLang="en-US"/>
                <a:t>Unlock(A)</a:t>
              </a:r>
            </a:p>
            <a:p>
              <a:r>
                <a:rPr lang="en-US" altLang="en-US">
                  <a:solidFill>
                    <a:srgbClr val="FF0000"/>
                  </a:solidFill>
                </a:rPr>
                <a:t>Lock-S</a:t>
              </a:r>
              <a:r>
                <a:rPr lang="en-US" altLang="en-US"/>
                <a:t>(B)</a:t>
              </a:r>
            </a:p>
            <a:p>
              <a:r>
                <a:rPr lang="en-US" altLang="en-US">
                  <a:solidFill>
                    <a:srgbClr val="FF0000"/>
                  </a:solidFill>
                </a:rPr>
                <a:t>read</a:t>
              </a:r>
              <a:r>
                <a:rPr lang="en-US" altLang="en-US"/>
                <a:t>(B)</a:t>
              </a:r>
            </a:p>
            <a:p>
              <a:r>
                <a:rPr lang="en-US" altLang="en-US">
                  <a:solidFill>
                    <a:srgbClr val="0000FF"/>
                  </a:solidFill>
                </a:rPr>
                <a:t>Unlock</a:t>
              </a:r>
              <a:r>
                <a:rPr lang="en-US" altLang="en-US"/>
                <a:t>(B)</a:t>
              </a:r>
            </a:p>
            <a:p>
              <a:r>
                <a:rPr lang="en-US" altLang="en-US"/>
                <a:t>display(A+B)</a:t>
              </a:r>
            </a:p>
          </p:txBody>
        </p:sp>
        <p:sp>
          <p:nvSpPr>
            <p:cNvPr id="227337" name="Text Box 9" descr="Text Box 7">
              <a:extLst>
                <a:ext uri="{FF2B5EF4-FFF2-40B4-BE49-F238E27FC236}">
                  <a16:creationId xmlns:a16="http://schemas.microsoft.com/office/drawing/2014/main" id="{67CCD20D-6B54-8032-6918-CF67F35F7A79}"/>
                </a:ext>
              </a:extLst>
            </p:cNvPr>
            <p:cNvSpPr txBox="1">
              <a:spLocks/>
            </p:cNvSpPr>
            <p:nvPr/>
          </p:nvSpPr>
          <p:spPr bwMode="auto">
            <a:xfrm>
              <a:off x="336232" y="0"/>
              <a:ext cx="390337"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T1</a:t>
              </a:r>
            </a:p>
          </p:txBody>
        </p:sp>
        <p:sp>
          <p:nvSpPr>
            <p:cNvPr id="227338" name="Text Box 10" descr="Text Box 8">
              <a:extLst>
                <a:ext uri="{FF2B5EF4-FFF2-40B4-BE49-F238E27FC236}">
                  <a16:creationId xmlns:a16="http://schemas.microsoft.com/office/drawing/2014/main" id="{464C0096-CE31-E5DA-BB75-494118CF812E}"/>
                </a:ext>
              </a:extLst>
            </p:cNvPr>
            <p:cNvSpPr txBox="1">
              <a:spLocks/>
            </p:cNvSpPr>
            <p:nvPr/>
          </p:nvSpPr>
          <p:spPr bwMode="auto">
            <a:xfrm>
              <a:off x="2326956" y="0"/>
              <a:ext cx="390338" cy="3708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T2</a:t>
              </a:r>
            </a:p>
          </p:txBody>
        </p:sp>
      </p:grpSp>
    </p:spTree>
  </p:cSld>
  <p:clrMapOvr>
    <a:masterClrMapping/>
  </p:clrMapOvr>
  <p:transition spd="med"/>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2" descr="Title 1">
            <a:extLst>
              <a:ext uri="{FF2B5EF4-FFF2-40B4-BE49-F238E27FC236}">
                <a16:creationId xmlns:a16="http://schemas.microsoft.com/office/drawing/2014/main" id="{3D2F669E-6CEE-3B5D-5F0D-3D2420B1C03E}"/>
              </a:ext>
            </a:extLst>
          </p:cNvPr>
          <p:cNvSpPr>
            <a:spLocks noChangeArrowheads="1"/>
          </p:cNvSpPr>
          <p:nvPr>
            <p:ph type="title"/>
          </p:nvPr>
        </p:nvSpPr>
        <p:spPr/>
        <p:txBody>
          <a:bodyPr/>
          <a:lstStyle/>
          <a:p>
            <a:r>
              <a:rPr lang="en-US" altLang="en-US"/>
              <a:t>Lock-based Protocols</a:t>
            </a:r>
          </a:p>
        </p:txBody>
      </p:sp>
      <p:sp>
        <p:nvSpPr>
          <p:cNvPr id="228355" name="Rectangle 3" descr="Content Placeholder 2">
            <a:extLst>
              <a:ext uri="{FF2B5EF4-FFF2-40B4-BE49-F238E27FC236}">
                <a16:creationId xmlns:a16="http://schemas.microsoft.com/office/drawing/2014/main" id="{75FD5ECE-41C9-2DC6-8DDA-03329A8C4A66}"/>
              </a:ext>
            </a:extLst>
          </p:cNvPr>
          <p:cNvSpPr>
            <a:spLocks noChangeArrowheads="1"/>
          </p:cNvSpPr>
          <p:nvPr>
            <p:ph type="body" idx="1"/>
          </p:nvPr>
        </p:nvSpPr>
        <p:spPr/>
        <p:txBody>
          <a:bodyPr/>
          <a:lstStyle/>
          <a:p>
            <a:pPr>
              <a:lnSpc>
                <a:spcPct val="140000"/>
              </a:lnSpc>
              <a:spcBef>
                <a:spcPts val="300"/>
              </a:spcBef>
            </a:pPr>
            <a:r>
              <a:rPr lang="en-US" altLang="en-US" sz="1600"/>
              <a:t>Lock requests are made to the </a:t>
            </a:r>
            <a:r>
              <a:rPr lang="en-US" altLang="en-US" sz="1600" i="1"/>
              <a:t>concurrency control manager</a:t>
            </a:r>
          </a:p>
          <a:p>
            <a:pPr marL="908050" lvl="1" indent="-438150">
              <a:lnSpc>
                <a:spcPct val="140000"/>
              </a:lnSpc>
              <a:spcBef>
                <a:spcPts val="300"/>
              </a:spcBef>
            </a:pPr>
            <a:r>
              <a:rPr lang="en-US" altLang="en-US" sz="1400"/>
              <a:t>It decides whether to </a:t>
            </a:r>
            <a:r>
              <a:rPr lang="en-US" altLang="en-US" sz="1400" i="1"/>
              <a:t>grant </a:t>
            </a:r>
            <a:r>
              <a:rPr lang="en-US" altLang="en-US" sz="1400"/>
              <a:t>a lock request</a:t>
            </a:r>
            <a:endParaRPr lang="en-US" altLang="en-US" sz="2600"/>
          </a:p>
          <a:p>
            <a:pPr>
              <a:lnSpc>
                <a:spcPct val="140000"/>
              </a:lnSpc>
              <a:spcBef>
                <a:spcPts val="300"/>
              </a:spcBef>
            </a:pPr>
            <a:r>
              <a:rPr lang="en-US" altLang="en-US" sz="1600"/>
              <a:t>T1 asks for a lock on data item A, and T2 currently has a lock on it ?</a:t>
            </a:r>
          </a:p>
          <a:p>
            <a:pPr marL="908050" lvl="1" indent="-438150">
              <a:spcBef>
                <a:spcPts val="300"/>
              </a:spcBef>
            </a:pPr>
            <a:r>
              <a:rPr lang="en-US" altLang="en-US" sz="1400"/>
              <a:t>Depends </a:t>
            </a:r>
            <a:endParaRPr lang="en-US" altLang="en-US" sz="26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600"/>
              </a:spcBef>
            </a:pPr>
            <a:endParaRPr lang="en-US" altLang="en-US" sz="1400"/>
          </a:p>
          <a:p>
            <a:pPr marL="908050" lvl="1" indent="-438150">
              <a:spcBef>
                <a:spcPts val="300"/>
              </a:spcBef>
            </a:pPr>
            <a:r>
              <a:rPr lang="en-US" altLang="en-US" sz="1400"/>
              <a:t>If </a:t>
            </a:r>
            <a:r>
              <a:rPr lang="en-US" altLang="en-US" sz="1400" i="1"/>
              <a:t>compatible, </a:t>
            </a:r>
            <a:r>
              <a:rPr lang="en-US" altLang="en-US" sz="1400"/>
              <a:t>grant the lock, otherwise T1 waits in a </a:t>
            </a:r>
            <a:r>
              <a:rPr lang="en-US" altLang="en-US" sz="1400" i="1"/>
              <a:t>queue.</a:t>
            </a:r>
            <a:endParaRPr lang="en-US" altLang="en-US" sz="1400"/>
          </a:p>
        </p:txBody>
      </p:sp>
      <p:sp>
        <p:nvSpPr>
          <p:cNvPr id="228356" name="Text Box 4" descr="Date Placeholder 3">
            <a:extLst>
              <a:ext uri="{FF2B5EF4-FFF2-40B4-BE49-F238E27FC236}">
                <a16:creationId xmlns:a16="http://schemas.microsoft.com/office/drawing/2014/main" id="{93E0CB4E-2120-3091-49A2-3B276091612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8357" name="Text Box 5" descr="Slide Number Placeholder 5">
            <a:extLst>
              <a:ext uri="{FF2B5EF4-FFF2-40B4-BE49-F238E27FC236}">
                <a16:creationId xmlns:a16="http://schemas.microsoft.com/office/drawing/2014/main" id="{CF410620-62C4-D9C8-9454-DAB6F0F94EE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33E2EF3-A625-46FF-A115-F39850AC288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28358" name="Group 6">
            <a:extLst>
              <a:ext uri="{FF2B5EF4-FFF2-40B4-BE49-F238E27FC236}">
                <a16:creationId xmlns:a16="http://schemas.microsoft.com/office/drawing/2014/main" id="{14ED2BEA-88D6-A399-638A-073E8DD9BF1E}"/>
              </a:ext>
            </a:extLst>
          </p:cNvPr>
          <p:cNvGraphicFramePr>
            <a:graphicFrameLocks noGrp="1"/>
          </p:cNvGraphicFramePr>
          <p:nvPr/>
        </p:nvGraphicFramePr>
        <p:xfrm>
          <a:off x="1619250" y="2852738"/>
          <a:ext cx="6342063" cy="1684339"/>
        </p:xfrm>
        <a:graphic>
          <a:graphicData uri="http://schemas.openxmlformats.org/drawingml/2006/table">
            <a:tbl>
              <a:tblPr/>
              <a:tblGrid>
                <a:gridCol w="2114550">
                  <a:extLst>
                    <a:ext uri="{9D8B030D-6E8A-4147-A177-3AD203B41FA5}">
                      <a16:colId xmlns:a16="http://schemas.microsoft.com/office/drawing/2014/main" val="2025413883"/>
                    </a:ext>
                  </a:extLst>
                </a:gridCol>
                <a:gridCol w="2112963">
                  <a:extLst>
                    <a:ext uri="{9D8B030D-6E8A-4147-A177-3AD203B41FA5}">
                      <a16:colId xmlns:a16="http://schemas.microsoft.com/office/drawing/2014/main" val="4043188935"/>
                    </a:ext>
                  </a:extLst>
                </a:gridCol>
                <a:gridCol w="2114550">
                  <a:extLst>
                    <a:ext uri="{9D8B030D-6E8A-4147-A177-3AD203B41FA5}">
                      <a16:colId xmlns:a16="http://schemas.microsoft.com/office/drawing/2014/main" val="3960338237"/>
                    </a:ext>
                  </a:extLst>
                </a:gridCol>
              </a:tblGrid>
              <a:tr h="4206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1" i="0" u="sng" strike="noStrike" cap="none" normalizeH="0" baseline="0">
                          <a:ln>
                            <a:noFill/>
                          </a:ln>
                          <a:solidFill>
                            <a:srgbClr val="00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T2 lock type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1" i="0" u="sng" strike="noStrike" cap="none" normalizeH="0" baseline="0">
                          <a:ln>
                            <a:noFill/>
                          </a:ln>
                          <a:solidFill>
                            <a:srgbClr val="00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T1 lock type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1" i="0" u="sng" strike="noStrike" cap="none" normalizeH="0" baseline="0">
                          <a:ln>
                            <a:noFill/>
                          </a:ln>
                          <a:solidFill>
                            <a:srgbClr val="00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Should allow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57836235"/>
                  </a:ext>
                </a:extLst>
              </a:tr>
              <a:tr h="4222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FF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Shared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FF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Shared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FF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 YES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42977562"/>
                  </a:ext>
                </a:extLst>
              </a:tr>
              <a:tr h="4206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FF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Shared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0066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Exclusive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0066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2108350"/>
                  </a:ext>
                </a:extLst>
              </a:tr>
              <a:tr h="4206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0066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Exclusive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0000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ts val="700"/>
                        </a:spcBef>
                        <a:spcAft>
                          <a:spcPct val="0"/>
                        </a:spcAft>
                        <a:buClrTx/>
                        <a:buSzTx/>
                        <a:buFontTx/>
                        <a:buNone/>
                        <a:tabLst/>
                      </a:pPr>
                      <a:r>
                        <a:rPr kumimoji="0" lang="en-US" altLang="en-US" sz="1800" b="0" i="0" u="none" strike="noStrike" cap="none" normalizeH="0" baseline="0">
                          <a:ln>
                            <a:noFill/>
                          </a:ln>
                          <a:solidFill>
                            <a:srgbClr val="006600"/>
                          </a:solidFill>
                          <a:effectLst/>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80764319"/>
                  </a:ext>
                </a:extLst>
              </a:tr>
            </a:tbl>
          </a:graphicData>
        </a:graphic>
      </p:graphicFrame>
    </p:spTree>
  </p:cSld>
  <p:clrMapOvr>
    <a:masterClrMapping/>
  </p:clrMapOvr>
  <p:transition spd="med"/>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descr="Title 1">
            <a:extLst>
              <a:ext uri="{FF2B5EF4-FFF2-40B4-BE49-F238E27FC236}">
                <a16:creationId xmlns:a16="http://schemas.microsoft.com/office/drawing/2014/main" id="{E994BF09-E1F2-55BC-E5CD-3778B2F5CD0E}"/>
              </a:ext>
            </a:extLst>
          </p:cNvPr>
          <p:cNvSpPr>
            <a:spLocks noChangeArrowheads="1"/>
          </p:cNvSpPr>
          <p:nvPr>
            <p:ph type="title"/>
          </p:nvPr>
        </p:nvSpPr>
        <p:spPr/>
        <p:txBody>
          <a:bodyPr/>
          <a:lstStyle/>
          <a:p>
            <a:r>
              <a:rPr lang="en-US" altLang="en-US"/>
              <a:t>Lock-based Protocols</a:t>
            </a:r>
          </a:p>
        </p:txBody>
      </p:sp>
      <p:sp>
        <p:nvSpPr>
          <p:cNvPr id="229379" name="Rectangle 3" descr="Content Placeholder 2">
            <a:extLst>
              <a:ext uri="{FF2B5EF4-FFF2-40B4-BE49-F238E27FC236}">
                <a16:creationId xmlns:a16="http://schemas.microsoft.com/office/drawing/2014/main" id="{A85F7FA6-A798-54C7-C21F-91CE6DAB86F3}"/>
              </a:ext>
            </a:extLst>
          </p:cNvPr>
          <p:cNvSpPr>
            <a:spLocks noChangeArrowheads="1"/>
          </p:cNvSpPr>
          <p:nvPr>
            <p:ph type="body" idx="1"/>
          </p:nvPr>
        </p:nvSpPr>
        <p:spPr/>
        <p:txBody>
          <a:bodyPr/>
          <a:lstStyle/>
          <a:p>
            <a:pPr>
              <a:spcBef>
                <a:spcPts val="300"/>
              </a:spcBef>
            </a:pPr>
            <a:r>
              <a:rPr lang="en-US" altLang="en-US" sz="1600"/>
              <a:t>How do we actually use this to guarantee serializability/recoverability ?</a:t>
            </a:r>
          </a:p>
          <a:p>
            <a:pPr marL="908050" lvl="1" indent="-438150">
              <a:spcBef>
                <a:spcPts val="300"/>
              </a:spcBef>
            </a:pPr>
            <a:r>
              <a:rPr lang="en-US" altLang="en-US" sz="1400"/>
              <a:t>Not enough just to take locks when you need to read/write something</a:t>
            </a:r>
          </a:p>
        </p:txBody>
      </p:sp>
      <p:sp>
        <p:nvSpPr>
          <p:cNvPr id="229380" name="Text Box 4" descr="Date Placeholder 3">
            <a:extLst>
              <a:ext uri="{FF2B5EF4-FFF2-40B4-BE49-F238E27FC236}">
                <a16:creationId xmlns:a16="http://schemas.microsoft.com/office/drawing/2014/main" id="{637A0ED0-AE7F-5C13-C4D8-8BCCDB05FC4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29381" name="Text Box 5" descr="Slide Number Placeholder 5">
            <a:extLst>
              <a:ext uri="{FF2B5EF4-FFF2-40B4-BE49-F238E27FC236}">
                <a16:creationId xmlns:a16="http://schemas.microsoft.com/office/drawing/2014/main" id="{A17464FA-7851-BA90-791D-CD139373567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6866232-B534-4A5B-A151-9094B029B6F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pSp>
        <p:nvGrpSpPr>
          <p:cNvPr id="229382" name="Group 6">
            <a:extLst>
              <a:ext uri="{FF2B5EF4-FFF2-40B4-BE49-F238E27FC236}">
                <a16:creationId xmlns:a16="http://schemas.microsoft.com/office/drawing/2014/main" id="{FC92E9FF-FA39-EEBB-3A82-3A5D273D080B}"/>
              </a:ext>
            </a:extLst>
          </p:cNvPr>
          <p:cNvGrpSpPr>
            <a:grpSpLocks/>
          </p:cNvGrpSpPr>
          <p:nvPr/>
        </p:nvGrpSpPr>
        <p:grpSpPr bwMode="auto">
          <a:xfrm>
            <a:off x="1390650" y="1771650"/>
            <a:ext cx="1785938" cy="4651375"/>
            <a:chOff x="0" y="-1"/>
            <a:chExt cx="1787387" cy="4651337"/>
          </a:xfrm>
        </p:grpSpPr>
        <p:sp>
          <p:nvSpPr>
            <p:cNvPr id="229383" name="Text Box 7" descr="Text Box 27">
              <a:extLst>
                <a:ext uri="{FF2B5EF4-FFF2-40B4-BE49-F238E27FC236}">
                  <a16:creationId xmlns:a16="http://schemas.microsoft.com/office/drawing/2014/main" id="{DF1C3D68-3D68-0D28-DC60-7F9BC3AA854D}"/>
                </a:ext>
              </a:extLst>
            </p:cNvPr>
            <p:cNvSpPr txBox="1">
              <a:spLocks/>
            </p:cNvSpPr>
            <p:nvPr/>
          </p:nvSpPr>
          <p:spPr bwMode="auto">
            <a:xfrm>
              <a:off x="0" y="498475"/>
              <a:ext cx="1787387" cy="4152861"/>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Lock-X(B)</a:t>
              </a:r>
            </a:p>
            <a:p>
              <a:r>
                <a:rPr lang="en-US" altLang="en-US" sz="2400"/>
                <a:t>read(B)</a:t>
              </a:r>
            </a:p>
            <a:p>
              <a:r>
                <a:rPr lang="en-US" altLang="en-US" sz="2400"/>
                <a:t>B </a:t>
              </a:r>
              <a:r>
                <a:rPr lang="en-US" altLang="en-US" sz="2400">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sz="2400"/>
                <a:t>B-50</a:t>
              </a:r>
            </a:p>
            <a:p>
              <a:r>
                <a:rPr lang="en-US" altLang="en-US" sz="2400"/>
                <a:t>write(B)</a:t>
              </a:r>
            </a:p>
            <a:p>
              <a:r>
                <a:rPr lang="en-US" altLang="en-US" sz="2400"/>
                <a:t>Unlock(B)</a:t>
              </a:r>
            </a:p>
            <a:p>
              <a:endParaRPr lang="en-US" altLang="en-US" sz="2400"/>
            </a:p>
            <a:p>
              <a:r>
                <a:rPr lang="en-US" altLang="en-US" sz="2400"/>
                <a:t>Lock-X(A)</a:t>
              </a:r>
            </a:p>
            <a:p>
              <a:r>
                <a:rPr lang="en-US" altLang="en-US" sz="2400"/>
                <a:t>read(A)</a:t>
              </a:r>
            </a:p>
            <a:p>
              <a:r>
                <a:rPr lang="en-US" altLang="en-US" sz="2400"/>
                <a:t>A </a:t>
              </a:r>
              <a:r>
                <a:rPr lang="en-US" altLang="en-US" sz="2400">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sz="2400"/>
                <a:t>A + 50</a:t>
              </a:r>
            </a:p>
            <a:p>
              <a:r>
                <a:rPr lang="en-US" altLang="en-US" sz="2400"/>
                <a:t>write(A)</a:t>
              </a:r>
            </a:p>
            <a:p>
              <a:r>
                <a:rPr lang="en-US" altLang="en-US" sz="2400"/>
                <a:t>Unlock(A)</a:t>
              </a:r>
            </a:p>
          </p:txBody>
        </p:sp>
        <p:sp>
          <p:nvSpPr>
            <p:cNvPr id="229384" name="Text Box 8" descr="Text Box 29">
              <a:extLst>
                <a:ext uri="{FF2B5EF4-FFF2-40B4-BE49-F238E27FC236}">
                  <a16:creationId xmlns:a16="http://schemas.microsoft.com/office/drawing/2014/main" id="{197C1783-3A11-5E24-E782-BF0257F86F6F}"/>
                </a:ext>
              </a:extLst>
            </p:cNvPr>
            <p:cNvSpPr txBox="1">
              <a:spLocks/>
            </p:cNvSpPr>
            <p:nvPr/>
          </p:nvSpPr>
          <p:spPr bwMode="auto">
            <a:xfrm>
              <a:off x="336232" y="0"/>
              <a:ext cx="485736" cy="4597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T1</a:t>
              </a:r>
            </a:p>
          </p:txBody>
        </p:sp>
      </p:grpSp>
      <p:grpSp>
        <p:nvGrpSpPr>
          <p:cNvPr id="229385" name="Group 9">
            <a:extLst>
              <a:ext uri="{FF2B5EF4-FFF2-40B4-BE49-F238E27FC236}">
                <a16:creationId xmlns:a16="http://schemas.microsoft.com/office/drawing/2014/main" id="{7F29535D-9595-285F-7278-333911593661}"/>
              </a:ext>
            </a:extLst>
          </p:cNvPr>
          <p:cNvGrpSpPr>
            <a:grpSpLocks/>
          </p:cNvGrpSpPr>
          <p:nvPr/>
        </p:nvGrpSpPr>
        <p:grpSpPr bwMode="auto">
          <a:xfrm>
            <a:off x="2509838" y="3344863"/>
            <a:ext cx="4776787" cy="1219200"/>
            <a:chOff x="-1" y="0"/>
            <a:chExt cx="4775202" cy="1218565"/>
          </a:xfrm>
        </p:grpSpPr>
        <p:sp>
          <p:nvSpPr>
            <p:cNvPr id="229386" name="Line 10" descr="Line 32">
              <a:extLst>
                <a:ext uri="{FF2B5EF4-FFF2-40B4-BE49-F238E27FC236}">
                  <a16:creationId xmlns:a16="http://schemas.microsoft.com/office/drawing/2014/main" id="{5C09F41F-D866-ADC4-51D7-753C83A31144}"/>
                </a:ext>
              </a:extLst>
            </p:cNvPr>
            <p:cNvSpPr>
              <a:spLocks noChangeShapeType="1"/>
            </p:cNvSpPr>
            <p:nvPr/>
          </p:nvSpPr>
          <p:spPr bwMode="auto">
            <a:xfrm flipH="1">
              <a:off x="-1" y="573087"/>
              <a:ext cx="2046290" cy="434976"/>
            </a:xfrm>
            <a:prstGeom prst="line">
              <a:avLst/>
            </a:prstGeom>
            <a:noFill/>
            <a:ln w="76200"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29387" name="Text Box 11" descr="Text Box 33">
              <a:extLst>
                <a:ext uri="{FF2B5EF4-FFF2-40B4-BE49-F238E27FC236}">
                  <a16:creationId xmlns:a16="http://schemas.microsoft.com/office/drawing/2014/main" id="{4860E675-CEFA-A465-D0FF-528DF29F46E0}"/>
                </a:ext>
              </a:extLst>
            </p:cNvPr>
            <p:cNvSpPr txBox="1">
              <a:spLocks/>
            </p:cNvSpPr>
            <p:nvPr/>
          </p:nvSpPr>
          <p:spPr bwMode="auto">
            <a:xfrm>
              <a:off x="2157412" y="0"/>
              <a:ext cx="2617789" cy="1218565"/>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Lock-X(A), Lock-X(B)</a:t>
              </a:r>
            </a:p>
            <a:p>
              <a:r>
                <a:rPr lang="en-US" altLang="en-US"/>
                <a:t>A = A-50</a:t>
              </a:r>
            </a:p>
            <a:p>
              <a:r>
                <a:rPr lang="en-US" altLang="en-US"/>
                <a:t>B = B+50</a:t>
              </a:r>
            </a:p>
            <a:p>
              <a:r>
                <a:rPr lang="en-US" altLang="en-US"/>
                <a:t>Unlock(A), Unlock(B)</a:t>
              </a:r>
            </a:p>
          </p:txBody>
        </p:sp>
      </p:grpSp>
      <p:sp>
        <p:nvSpPr>
          <p:cNvPr id="229388" name="Text Box 12" descr="Text Box 29">
            <a:extLst>
              <a:ext uri="{FF2B5EF4-FFF2-40B4-BE49-F238E27FC236}">
                <a16:creationId xmlns:a16="http://schemas.microsoft.com/office/drawing/2014/main" id="{9E87931F-9D52-51FC-03EA-FF718AA8B651}"/>
              </a:ext>
            </a:extLst>
          </p:cNvPr>
          <p:cNvSpPr txBox="1">
            <a:spLocks/>
          </p:cNvSpPr>
          <p:nvPr/>
        </p:nvSpPr>
        <p:spPr bwMode="auto">
          <a:xfrm>
            <a:off x="5473700" y="2855913"/>
            <a:ext cx="485775" cy="460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T2</a:t>
            </a:r>
          </a:p>
        </p:txBody>
      </p:sp>
    </p:spTree>
  </p:cSld>
  <p:clrMapOvr>
    <a:masterClrMapping/>
  </p:clrMapOvr>
  <p:transition spd="med"/>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2" descr="Title 1">
            <a:extLst>
              <a:ext uri="{FF2B5EF4-FFF2-40B4-BE49-F238E27FC236}">
                <a16:creationId xmlns:a16="http://schemas.microsoft.com/office/drawing/2014/main" id="{0808464A-E1DD-33F2-FB85-549F523FD616}"/>
              </a:ext>
            </a:extLst>
          </p:cNvPr>
          <p:cNvSpPr>
            <a:spLocks noChangeArrowheads="1"/>
          </p:cNvSpPr>
          <p:nvPr>
            <p:ph type="title"/>
          </p:nvPr>
        </p:nvSpPr>
        <p:spPr/>
        <p:txBody>
          <a:bodyPr/>
          <a:lstStyle/>
          <a:p>
            <a:r>
              <a:rPr lang="en-US" altLang="en-US"/>
              <a:t>Two-Phase Locking Protocol (2PL)</a:t>
            </a:r>
          </a:p>
        </p:txBody>
      </p:sp>
      <p:sp>
        <p:nvSpPr>
          <p:cNvPr id="230403" name="Text Box 3" descr="Date Placeholder 3">
            <a:extLst>
              <a:ext uri="{FF2B5EF4-FFF2-40B4-BE49-F238E27FC236}">
                <a16:creationId xmlns:a16="http://schemas.microsoft.com/office/drawing/2014/main" id="{0B41305D-3689-F0D8-ACA2-19BD53DDAD8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0404" name="Text Box 4" descr="Slide Number Placeholder 5">
            <a:extLst>
              <a:ext uri="{FF2B5EF4-FFF2-40B4-BE49-F238E27FC236}">
                <a16:creationId xmlns:a16="http://schemas.microsoft.com/office/drawing/2014/main" id="{67DBD48B-63BB-22EF-DE07-27EF7D15CD3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E208D12-9B12-4410-93A6-1EE276B2FA3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30405" name="Text Box 5" descr="Rectangle 3">
            <a:extLst>
              <a:ext uri="{FF2B5EF4-FFF2-40B4-BE49-F238E27FC236}">
                <a16:creationId xmlns:a16="http://schemas.microsoft.com/office/drawing/2014/main" id="{2B4AAD41-A53E-57AD-DF04-CA9AB0B57C51}"/>
              </a:ext>
            </a:extLst>
          </p:cNvPr>
          <p:cNvSpPr txBox="1">
            <a:spLocks/>
          </p:cNvSpPr>
          <p:nvPr/>
        </p:nvSpPr>
        <p:spPr bwMode="auto">
          <a:xfrm>
            <a:off x="615950" y="1114425"/>
            <a:ext cx="7981950" cy="3384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marL="469900" indent="-4699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08050" indent="-43815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algn="just">
              <a:spcBef>
                <a:spcPts val="400"/>
              </a:spcBef>
            </a:pPr>
            <a:r>
              <a:rPr lang="en-US" altLang="en-US">
                <a:solidFill>
                  <a:srgbClr val="003366"/>
                </a:solidFill>
              </a:rPr>
              <a:t>A transaction is said to follow two phase locking protocol if all </a:t>
            </a:r>
            <a:endParaRPr lang="en-US" altLang="en-US" sz="3000">
              <a:solidFill>
                <a:srgbClr val="003366"/>
              </a:solidFill>
            </a:endParaRPr>
          </a:p>
          <a:p>
            <a:pPr algn="just">
              <a:spcBef>
                <a:spcPts val="400"/>
              </a:spcBef>
            </a:pPr>
            <a:r>
              <a:rPr lang="en-US" altLang="en-US">
                <a:solidFill>
                  <a:srgbClr val="003366"/>
                </a:solidFill>
              </a:rPr>
              <a:t>locking operations (read-lock or shared lock, write-lock or </a:t>
            </a:r>
            <a:endParaRPr lang="en-US" altLang="en-US" sz="3000">
              <a:solidFill>
                <a:srgbClr val="003366"/>
              </a:solidFill>
            </a:endParaRPr>
          </a:p>
          <a:p>
            <a:pPr algn="just">
              <a:spcBef>
                <a:spcPts val="400"/>
              </a:spcBef>
            </a:pPr>
            <a:r>
              <a:rPr lang="en-US" altLang="en-US">
                <a:solidFill>
                  <a:srgbClr val="003366"/>
                </a:solidFill>
              </a:rPr>
              <a:t>Exclusive- lock) precede the first Unlock operation in the </a:t>
            </a:r>
            <a:endParaRPr lang="en-US" altLang="en-US" sz="3000">
              <a:solidFill>
                <a:srgbClr val="003366"/>
              </a:solidFill>
            </a:endParaRPr>
          </a:p>
          <a:p>
            <a:pPr algn="just">
              <a:spcBef>
                <a:spcPts val="400"/>
              </a:spcBef>
            </a:pPr>
            <a:r>
              <a:rPr lang="en-US" altLang="en-US">
                <a:solidFill>
                  <a:srgbClr val="003366"/>
                </a:solidFill>
              </a:rPr>
              <a:t>transaction. Such  transaction can be divided into two phases</a:t>
            </a:r>
            <a:endParaRPr lang="en-US" altLang="en-US" sz="3000">
              <a:solidFill>
                <a:srgbClr val="003366"/>
              </a:solidFill>
            </a:endParaRPr>
          </a:p>
          <a:p>
            <a:pPr algn="just">
              <a:spcBef>
                <a:spcPts val="400"/>
              </a:spcBef>
              <a:buClr>
                <a:schemeClr val="accent2"/>
              </a:buClr>
              <a:buSzPct val="100000"/>
              <a:buFontTx/>
              <a:buChar char="□"/>
            </a:pPr>
            <a:r>
              <a:rPr lang="en-US" altLang="en-US">
                <a:solidFill>
                  <a:srgbClr val="003366"/>
                </a:solidFill>
              </a:rPr>
              <a:t>Phase 1: Growing (or Lock Acquiring) phase </a:t>
            </a:r>
            <a:endParaRPr lang="en-US" altLang="en-US" sz="3000">
              <a:solidFill>
                <a:srgbClr val="003366"/>
              </a:solidFill>
            </a:endParaRPr>
          </a:p>
          <a:p>
            <a:pPr lvl="1" algn="just">
              <a:spcBef>
                <a:spcPts val="300"/>
              </a:spcBef>
              <a:buClr>
                <a:schemeClr val="accent2"/>
              </a:buClr>
              <a:buSzPct val="100000"/>
              <a:buFontTx/>
              <a:buChar char="■"/>
            </a:pPr>
            <a:r>
              <a:rPr lang="en-US" altLang="en-US" sz="1600">
                <a:solidFill>
                  <a:srgbClr val="003366"/>
                </a:solidFill>
              </a:rPr>
              <a:t>Transaction may obtain locks</a:t>
            </a:r>
            <a:endParaRPr lang="en-US" altLang="en-US" sz="2600">
              <a:solidFill>
                <a:srgbClr val="003366"/>
              </a:solidFill>
            </a:endParaRPr>
          </a:p>
          <a:p>
            <a:pPr lvl="1" algn="just">
              <a:spcBef>
                <a:spcPts val="300"/>
              </a:spcBef>
              <a:buClr>
                <a:schemeClr val="accent2"/>
              </a:buClr>
              <a:buSzPct val="100000"/>
              <a:buFontTx/>
              <a:buChar char="■"/>
            </a:pPr>
            <a:r>
              <a:rPr lang="en-US" altLang="en-US" sz="1600">
                <a:solidFill>
                  <a:srgbClr val="003366"/>
                </a:solidFill>
              </a:rPr>
              <a:t>But may not release them</a:t>
            </a:r>
            <a:endParaRPr lang="en-US" altLang="en-US" sz="2600">
              <a:solidFill>
                <a:srgbClr val="003366"/>
              </a:solidFill>
            </a:endParaRPr>
          </a:p>
          <a:p>
            <a:pPr algn="just">
              <a:spcBef>
                <a:spcPts val="400"/>
              </a:spcBef>
              <a:buClr>
                <a:schemeClr val="accent2"/>
              </a:buClr>
              <a:buSzPct val="100000"/>
              <a:buFontTx/>
              <a:buChar char="□"/>
            </a:pPr>
            <a:r>
              <a:rPr lang="en-US" altLang="en-US">
                <a:solidFill>
                  <a:srgbClr val="003366"/>
                </a:solidFill>
              </a:rPr>
              <a:t>Phase 2: Shrinking (or Lock Releasing) phase</a:t>
            </a:r>
            <a:endParaRPr lang="en-US" altLang="en-US" sz="3000">
              <a:solidFill>
                <a:srgbClr val="003366"/>
              </a:solidFill>
            </a:endParaRPr>
          </a:p>
          <a:p>
            <a:pPr lvl="1" algn="just">
              <a:spcBef>
                <a:spcPts val="300"/>
              </a:spcBef>
              <a:buClr>
                <a:schemeClr val="accent2"/>
              </a:buClr>
              <a:buSzPct val="100000"/>
              <a:buFontTx/>
              <a:buChar char="■"/>
            </a:pPr>
            <a:r>
              <a:rPr lang="en-US" altLang="en-US" sz="1600">
                <a:solidFill>
                  <a:srgbClr val="003366"/>
                </a:solidFill>
              </a:rPr>
              <a:t>Transaction may only release locks</a:t>
            </a:r>
            <a:endParaRPr lang="en-US" altLang="en-US" sz="2600">
              <a:solidFill>
                <a:srgbClr val="003366"/>
              </a:solidFill>
            </a:endParaRPr>
          </a:p>
        </p:txBody>
      </p:sp>
    </p:spTree>
  </p:cSld>
  <p:clrMapOvr>
    <a:masterClrMapping/>
  </p:clrMapOvr>
  <p:transition spd="med"/>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2" descr="Title 1">
            <a:extLst>
              <a:ext uri="{FF2B5EF4-FFF2-40B4-BE49-F238E27FC236}">
                <a16:creationId xmlns:a16="http://schemas.microsoft.com/office/drawing/2014/main" id="{D480DCDE-C93A-611A-05AD-66D80096DF3C}"/>
              </a:ext>
            </a:extLst>
          </p:cNvPr>
          <p:cNvSpPr>
            <a:spLocks noChangeArrowheads="1"/>
          </p:cNvSpPr>
          <p:nvPr>
            <p:ph type="title"/>
          </p:nvPr>
        </p:nvSpPr>
        <p:spPr/>
        <p:txBody>
          <a:bodyPr/>
          <a:lstStyle/>
          <a:p>
            <a:r>
              <a:rPr lang="en-US" altLang="en-US"/>
              <a:t>Two-Phase Locking Protocol (2PL)</a:t>
            </a:r>
          </a:p>
        </p:txBody>
      </p:sp>
      <p:sp>
        <p:nvSpPr>
          <p:cNvPr id="231427" name="Text Box 3" descr="Date Placeholder 3">
            <a:extLst>
              <a:ext uri="{FF2B5EF4-FFF2-40B4-BE49-F238E27FC236}">
                <a16:creationId xmlns:a16="http://schemas.microsoft.com/office/drawing/2014/main" id="{3D68007C-D208-D393-5F61-50EF93A6953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1428" name="Text Box 4" descr="Slide Number Placeholder 5">
            <a:extLst>
              <a:ext uri="{FF2B5EF4-FFF2-40B4-BE49-F238E27FC236}">
                <a16:creationId xmlns:a16="http://schemas.microsoft.com/office/drawing/2014/main" id="{ABC61A2A-1ACE-3715-478F-F77610AC2E1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4B61F58-EA96-4F8B-B136-8D28DD6EEDE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31429" name="Text Box 5" descr="Rectangle 3">
            <a:extLst>
              <a:ext uri="{FF2B5EF4-FFF2-40B4-BE49-F238E27FC236}">
                <a16:creationId xmlns:a16="http://schemas.microsoft.com/office/drawing/2014/main" id="{B5018A1C-C577-9DB1-FF41-AEE736044D73}"/>
              </a:ext>
            </a:extLst>
          </p:cNvPr>
          <p:cNvSpPr txBox="1">
            <a:spLocks/>
          </p:cNvSpPr>
          <p:nvPr/>
        </p:nvSpPr>
        <p:spPr bwMode="auto">
          <a:xfrm>
            <a:off x="615950" y="1114425"/>
            <a:ext cx="7981950" cy="1870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marL="469900" indent="-4699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08050" indent="-43815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algn="just">
              <a:spcBef>
                <a:spcPts val="300"/>
              </a:spcBef>
              <a:buClr>
                <a:schemeClr val="accent2"/>
              </a:buClr>
              <a:buSzPct val="100000"/>
              <a:buFontTx/>
              <a:buChar char="□"/>
            </a:pPr>
            <a:r>
              <a:rPr lang="en-US" altLang="en-US" sz="1600">
                <a:solidFill>
                  <a:srgbClr val="003366"/>
                </a:solidFill>
              </a:rPr>
              <a:t>Phase 1: Growing (or Lock Acquiring) phase </a:t>
            </a:r>
            <a:endParaRPr lang="en-US" altLang="en-US" sz="3000">
              <a:solidFill>
                <a:srgbClr val="003366"/>
              </a:solidFill>
            </a:endParaRPr>
          </a:p>
          <a:p>
            <a:pPr lvl="1" algn="just">
              <a:spcBef>
                <a:spcPts val="300"/>
              </a:spcBef>
              <a:buClr>
                <a:schemeClr val="accent2"/>
              </a:buClr>
              <a:buSzPct val="100000"/>
              <a:buFontTx/>
              <a:buChar char="■"/>
            </a:pPr>
            <a:r>
              <a:rPr lang="en-US" altLang="en-US" sz="1400">
                <a:solidFill>
                  <a:srgbClr val="003366"/>
                </a:solidFill>
              </a:rPr>
              <a:t>Transaction may obtain locks</a:t>
            </a:r>
            <a:endParaRPr lang="en-US" altLang="en-US" sz="2600">
              <a:solidFill>
                <a:srgbClr val="003366"/>
              </a:solidFill>
            </a:endParaRPr>
          </a:p>
          <a:p>
            <a:pPr lvl="1" algn="just">
              <a:spcBef>
                <a:spcPts val="300"/>
              </a:spcBef>
              <a:buClr>
                <a:schemeClr val="accent2"/>
              </a:buClr>
              <a:buSzPct val="100000"/>
              <a:buFontTx/>
              <a:buChar char="■"/>
            </a:pPr>
            <a:r>
              <a:rPr lang="en-US" altLang="en-US" sz="1400">
                <a:solidFill>
                  <a:srgbClr val="003366"/>
                </a:solidFill>
              </a:rPr>
              <a:t>But may not release them</a:t>
            </a:r>
            <a:endParaRPr lang="en-US" altLang="en-US" sz="2600">
              <a:solidFill>
                <a:srgbClr val="003366"/>
              </a:solidFill>
            </a:endParaRPr>
          </a:p>
          <a:p>
            <a:pPr algn="just">
              <a:spcBef>
                <a:spcPts val="300"/>
              </a:spcBef>
              <a:buClr>
                <a:schemeClr val="accent2"/>
              </a:buClr>
              <a:buSzPct val="100000"/>
              <a:buFontTx/>
              <a:buChar char="□"/>
            </a:pPr>
            <a:r>
              <a:rPr lang="en-US" altLang="en-US" sz="1600">
                <a:solidFill>
                  <a:srgbClr val="003366"/>
                </a:solidFill>
              </a:rPr>
              <a:t>Phase 2: Shrinking (or Lock Releasing) phase</a:t>
            </a:r>
            <a:endParaRPr lang="en-US" altLang="en-US" sz="3000">
              <a:solidFill>
                <a:srgbClr val="003366"/>
              </a:solidFill>
            </a:endParaRPr>
          </a:p>
          <a:p>
            <a:pPr lvl="1" algn="just">
              <a:spcBef>
                <a:spcPts val="300"/>
              </a:spcBef>
              <a:buClr>
                <a:schemeClr val="accent2"/>
              </a:buClr>
              <a:buSzPct val="100000"/>
              <a:buFontTx/>
              <a:buChar char="■"/>
            </a:pPr>
            <a:r>
              <a:rPr lang="en-US" altLang="en-US" sz="1400">
                <a:solidFill>
                  <a:srgbClr val="003366"/>
                </a:solidFill>
              </a:rPr>
              <a:t>Transaction may only release locks</a:t>
            </a:r>
            <a:endParaRPr lang="en-US" altLang="en-US" sz="2600">
              <a:solidFill>
                <a:srgbClr val="003366"/>
              </a:solidFill>
            </a:endParaRPr>
          </a:p>
        </p:txBody>
      </p:sp>
      <p:grpSp>
        <p:nvGrpSpPr>
          <p:cNvPr id="231430" name="Group 6">
            <a:extLst>
              <a:ext uri="{FF2B5EF4-FFF2-40B4-BE49-F238E27FC236}">
                <a16:creationId xmlns:a16="http://schemas.microsoft.com/office/drawing/2014/main" id="{A3301E02-DC44-7992-BFE7-AA870928A5F5}"/>
              </a:ext>
            </a:extLst>
          </p:cNvPr>
          <p:cNvGrpSpPr>
            <a:grpSpLocks/>
          </p:cNvGrpSpPr>
          <p:nvPr/>
        </p:nvGrpSpPr>
        <p:grpSpPr bwMode="auto">
          <a:xfrm>
            <a:off x="544513" y="2641600"/>
            <a:ext cx="2840037" cy="3602038"/>
            <a:chOff x="0" y="-1"/>
            <a:chExt cx="2839229" cy="3601851"/>
          </a:xfrm>
        </p:grpSpPr>
        <p:sp>
          <p:nvSpPr>
            <p:cNvPr id="231431" name="Text Box 7" descr="Text Box 11">
              <a:extLst>
                <a:ext uri="{FF2B5EF4-FFF2-40B4-BE49-F238E27FC236}">
                  <a16:creationId xmlns:a16="http://schemas.microsoft.com/office/drawing/2014/main" id="{EB1386F8-2457-07AF-DFC5-F96ECB084E4F}"/>
                </a:ext>
              </a:extLst>
            </p:cNvPr>
            <p:cNvSpPr txBox="1">
              <a:spLocks/>
            </p:cNvSpPr>
            <p:nvPr/>
          </p:nvSpPr>
          <p:spPr bwMode="auto">
            <a:xfrm>
              <a:off x="240030" y="427037"/>
              <a:ext cx="1368956" cy="31748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6600"/>
                  </a:solidFill>
                </a:rPr>
                <a:t>Lock-X</a:t>
              </a:r>
              <a:r>
                <a:rPr lang="en-US" altLang="en-US"/>
                <a:t>(B)</a:t>
              </a:r>
            </a:p>
            <a:p>
              <a:r>
                <a:rPr lang="en-US" altLang="en-US"/>
                <a:t>read(B)</a:t>
              </a:r>
            </a:p>
            <a:p>
              <a:r>
                <a:rPr lang="en-US" altLang="en-US"/>
                <a:t>B </a:t>
              </a:r>
              <a:r>
                <a:rPr lang="en-US" altLang="en-US">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a:t>B-50</a:t>
              </a:r>
            </a:p>
            <a:p>
              <a:r>
                <a:rPr lang="en-US" altLang="en-US"/>
                <a:t>write(B)</a:t>
              </a:r>
            </a:p>
            <a:p>
              <a:r>
                <a:rPr lang="en-US" altLang="en-US">
                  <a:solidFill>
                    <a:srgbClr val="0000FF"/>
                  </a:solidFill>
                </a:rPr>
                <a:t>Unlock</a:t>
              </a:r>
              <a:r>
                <a:rPr lang="en-US" altLang="en-US"/>
                <a:t>(B)</a:t>
              </a:r>
            </a:p>
            <a:p>
              <a:endParaRPr lang="en-US" altLang="en-US"/>
            </a:p>
            <a:p>
              <a:r>
                <a:rPr lang="en-US" altLang="en-US">
                  <a:solidFill>
                    <a:srgbClr val="006600"/>
                  </a:solidFill>
                </a:rPr>
                <a:t>Lock-X</a:t>
              </a:r>
              <a:r>
                <a:rPr lang="en-US" altLang="en-US"/>
                <a:t>(A)</a:t>
              </a:r>
            </a:p>
            <a:p>
              <a:r>
                <a:rPr lang="en-US" altLang="en-US"/>
                <a:t>read(A)</a:t>
              </a:r>
            </a:p>
            <a:p>
              <a:r>
                <a:rPr lang="en-US" altLang="en-US"/>
                <a:t>A </a:t>
              </a:r>
              <a:r>
                <a:rPr lang="en-US" altLang="en-US">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a:t>A + 50</a:t>
              </a:r>
            </a:p>
            <a:p>
              <a:r>
                <a:rPr lang="en-US" altLang="en-US"/>
                <a:t>write(A)</a:t>
              </a:r>
            </a:p>
            <a:p>
              <a:r>
                <a:rPr lang="en-US" altLang="en-US">
                  <a:solidFill>
                    <a:srgbClr val="0000FF"/>
                  </a:solidFill>
                </a:rPr>
                <a:t>Unlock</a:t>
              </a:r>
              <a:r>
                <a:rPr lang="en-US" altLang="en-US"/>
                <a:t>(A)</a:t>
              </a:r>
              <a:endParaRPr lang="en-US" altLang="en-US">
                <a:solidFill>
                  <a:srgbClr val="0000FF"/>
                </a:solidFill>
              </a:endParaRPr>
            </a:p>
          </p:txBody>
        </p:sp>
        <p:sp>
          <p:nvSpPr>
            <p:cNvPr id="231432" name="Text Box 8" descr="Text Box 12">
              <a:extLst>
                <a:ext uri="{FF2B5EF4-FFF2-40B4-BE49-F238E27FC236}">
                  <a16:creationId xmlns:a16="http://schemas.microsoft.com/office/drawing/2014/main" id="{5D1DECD5-455C-03B7-D39D-D45983DE4858}"/>
                </a:ext>
              </a:extLst>
            </p:cNvPr>
            <p:cNvSpPr txBox="1">
              <a:spLocks/>
            </p:cNvSpPr>
            <p:nvPr/>
          </p:nvSpPr>
          <p:spPr bwMode="auto">
            <a:xfrm>
              <a:off x="0" y="0"/>
              <a:ext cx="2839229" cy="396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T1: Not following 2PL</a:t>
              </a:r>
            </a:p>
          </p:txBody>
        </p:sp>
      </p:grpSp>
    </p:spTree>
  </p:cSld>
  <p:clrMapOvr>
    <a:masterClrMapping/>
  </p:clrMapOvr>
  <p:transition spd="med"/>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descr="Title 1">
            <a:extLst>
              <a:ext uri="{FF2B5EF4-FFF2-40B4-BE49-F238E27FC236}">
                <a16:creationId xmlns:a16="http://schemas.microsoft.com/office/drawing/2014/main" id="{AB627A4A-211B-8326-1901-F4CE9C6BB85B}"/>
              </a:ext>
            </a:extLst>
          </p:cNvPr>
          <p:cNvSpPr>
            <a:spLocks noChangeArrowheads="1"/>
          </p:cNvSpPr>
          <p:nvPr>
            <p:ph type="title"/>
          </p:nvPr>
        </p:nvSpPr>
        <p:spPr/>
        <p:txBody>
          <a:bodyPr/>
          <a:lstStyle/>
          <a:p>
            <a:r>
              <a:rPr lang="en-US" altLang="en-US"/>
              <a:t>Two-Phase Locking Protocol (2PL)</a:t>
            </a:r>
          </a:p>
        </p:txBody>
      </p:sp>
      <p:sp>
        <p:nvSpPr>
          <p:cNvPr id="232451" name="Text Box 3" descr="Date Placeholder 3">
            <a:extLst>
              <a:ext uri="{FF2B5EF4-FFF2-40B4-BE49-F238E27FC236}">
                <a16:creationId xmlns:a16="http://schemas.microsoft.com/office/drawing/2014/main" id="{AE6E7B0A-470B-2F7A-3240-A92A3FF5717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2452" name="Text Box 4" descr="Slide Number Placeholder 5">
            <a:extLst>
              <a:ext uri="{FF2B5EF4-FFF2-40B4-BE49-F238E27FC236}">
                <a16:creationId xmlns:a16="http://schemas.microsoft.com/office/drawing/2014/main" id="{69B4BF75-8A7F-9198-2837-6EBB4DB04A7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373D5B2-7905-417C-9737-7E9F85DC512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32453" name="Text Box 5" descr="Rectangle 3">
            <a:extLst>
              <a:ext uri="{FF2B5EF4-FFF2-40B4-BE49-F238E27FC236}">
                <a16:creationId xmlns:a16="http://schemas.microsoft.com/office/drawing/2014/main" id="{0946BA31-7E1F-EE1D-7FA0-CBEB95F101EA}"/>
              </a:ext>
            </a:extLst>
          </p:cNvPr>
          <p:cNvSpPr txBox="1">
            <a:spLocks/>
          </p:cNvSpPr>
          <p:nvPr/>
        </p:nvSpPr>
        <p:spPr bwMode="auto">
          <a:xfrm>
            <a:off x="615950" y="1114425"/>
            <a:ext cx="7981950" cy="1870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marL="469900" indent="-4699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08050" indent="-43815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algn="just">
              <a:spcBef>
                <a:spcPts val="300"/>
              </a:spcBef>
              <a:buClr>
                <a:schemeClr val="accent2"/>
              </a:buClr>
              <a:buSzPct val="100000"/>
              <a:buFontTx/>
              <a:buChar char="□"/>
            </a:pPr>
            <a:r>
              <a:rPr lang="en-US" altLang="en-US" sz="1600">
                <a:solidFill>
                  <a:srgbClr val="003366"/>
                </a:solidFill>
              </a:rPr>
              <a:t>Phase 1: Growing (or Lock Acquiring) phase </a:t>
            </a:r>
            <a:endParaRPr lang="en-US" altLang="en-US" sz="3000">
              <a:solidFill>
                <a:srgbClr val="003366"/>
              </a:solidFill>
            </a:endParaRPr>
          </a:p>
          <a:p>
            <a:pPr lvl="1" algn="just">
              <a:spcBef>
                <a:spcPts val="300"/>
              </a:spcBef>
              <a:buClr>
                <a:schemeClr val="accent2"/>
              </a:buClr>
              <a:buSzPct val="100000"/>
              <a:buFontTx/>
              <a:buChar char="■"/>
            </a:pPr>
            <a:r>
              <a:rPr lang="en-US" altLang="en-US" sz="1400">
                <a:solidFill>
                  <a:srgbClr val="003366"/>
                </a:solidFill>
              </a:rPr>
              <a:t>Transaction may obtain locks</a:t>
            </a:r>
            <a:endParaRPr lang="en-US" altLang="en-US" sz="2600">
              <a:solidFill>
                <a:srgbClr val="003366"/>
              </a:solidFill>
            </a:endParaRPr>
          </a:p>
          <a:p>
            <a:pPr lvl="1" algn="just">
              <a:spcBef>
                <a:spcPts val="300"/>
              </a:spcBef>
              <a:buClr>
                <a:schemeClr val="accent2"/>
              </a:buClr>
              <a:buSzPct val="100000"/>
              <a:buFontTx/>
              <a:buChar char="■"/>
            </a:pPr>
            <a:r>
              <a:rPr lang="en-US" altLang="en-US" sz="1400">
                <a:solidFill>
                  <a:srgbClr val="003366"/>
                </a:solidFill>
              </a:rPr>
              <a:t>But may not release them</a:t>
            </a:r>
            <a:endParaRPr lang="en-US" altLang="en-US" sz="2600">
              <a:solidFill>
                <a:srgbClr val="003366"/>
              </a:solidFill>
            </a:endParaRPr>
          </a:p>
          <a:p>
            <a:pPr algn="just">
              <a:spcBef>
                <a:spcPts val="300"/>
              </a:spcBef>
              <a:buClr>
                <a:schemeClr val="accent2"/>
              </a:buClr>
              <a:buSzPct val="100000"/>
              <a:buFontTx/>
              <a:buChar char="□"/>
            </a:pPr>
            <a:r>
              <a:rPr lang="en-US" altLang="en-US" sz="1600">
                <a:solidFill>
                  <a:srgbClr val="003366"/>
                </a:solidFill>
              </a:rPr>
              <a:t>Phase 2: Shrinking (or Lock Releasing) phase</a:t>
            </a:r>
            <a:endParaRPr lang="en-US" altLang="en-US" sz="3000">
              <a:solidFill>
                <a:srgbClr val="003366"/>
              </a:solidFill>
            </a:endParaRPr>
          </a:p>
          <a:p>
            <a:pPr lvl="1" algn="just">
              <a:spcBef>
                <a:spcPts val="300"/>
              </a:spcBef>
              <a:buClr>
                <a:schemeClr val="accent2"/>
              </a:buClr>
              <a:buSzPct val="100000"/>
              <a:buFontTx/>
              <a:buChar char="■"/>
            </a:pPr>
            <a:r>
              <a:rPr lang="en-US" altLang="en-US" sz="1400">
                <a:solidFill>
                  <a:srgbClr val="003366"/>
                </a:solidFill>
              </a:rPr>
              <a:t>Transaction may only release locks</a:t>
            </a:r>
            <a:endParaRPr lang="en-US" altLang="en-US" sz="2600">
              <a:solidFill>
                <a:srgbClr val="003366"/>
              </a:solidFill>
            </a:endParaRPr>
          </a:p>
        </p:txBody>
      </p:sp>
      <p:grpSp>
        <p:nvGrpSpPr>
          <p:cNvPr id="232454" name="Group 6">
            <a:extLst>
              <a:ext uri="{FF2B5EF4-FFF2-40B4-BE49-F238E27FC236}">
                <a16:creationId xmlns:a16="http://schemas.microsoft.com/office/drawing/2014/main" id="{DB674FD4-9A19-1299-F726-C40A39313C46}"/>
              </a:ext>
            </a:extLst>
          </p:cNvPr>
          <p:cNvGrpSpPr>
            <a:grpSpLocks/>
          </p:cNvGrpSpPr>
          <p:nvPr/>
        </p:nvGrpSpPr>
        <p:grpSpPr bwMode="auto">
          <a:xfrm>
            <a:off x="544513" y="2641600"/>
            <a:ext cx="2840037" cy="3602038"/>
            <a:chOff x="0" y="-1"/>
            <a:chExt cx="2839229" cy="3601851"/>
          </a:xfrm>
        </p:grpSpPr>
        <p:sp>
          <p:nvSpPr>
            <p:cNvPr id="232455" name="Text Box 7" descr="Text Box 11">
              <a:extLst>
                <a:ext uri="{FF2B5EF4-FFF2-40B4-BE49-F238E27FC236}">
                  <a16:creationId xmlns:a16="http://schemas.microsoft.com/office/drawing/2014/main" id="{6156DE04-D23E-B2CA-7DBF-7B9428064830}"/>
                </a:ext>
              </a:extLst>
            </p:cNvPr>
            <p:cNvSpPr txBox="1">
              <a:spLocks/>
            </p:cNvSpPr>
            <p:nvPr/>
          </p:nvSpPr>
          <p:spPr bwMode="auto">
            <a:xfrm>
              <a:off x="240030" y="427037"/>
              <a:ext cx="1368956" cy="31748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6600"/>
                  </a:solidFill>
                </a:rPr>
                <a:t>Lock-X</a:t>
              </a:r>
              <a:r>
                <a:rPr lang="en-US" altLang="en-US"/>
                <a:t>(B)</a:t>
              </a:r>
            </a:p>
            <a:p>
              <a:r>
                <a:rPr lang="en-US" altLang="en-US"/>
                <a:t>read(B)</a:t>
              </a:r>
            </a:p>
            <a:p>
              <a:r>
                <a:rPr lang="en-US" altLang="en-US"/>
                <a:t>B </a:t>
              </a:r>
              <a:r>
                <a:rPr lang="en-US" altLang="en-US">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a:t>B-50</a:t>
              </a:r>
            </a:p>
            <a:p>
              <a:r>
                <a:rPr lang="en-US" altLang="en-US"/>
                <a:t>write(B)</a:t>
              </a:r>
            </a:p>
            <a:p>
              <a:r>
                <a:rPr lang="en-US" altLang="en-US">
                  <a:solidFill>
                    <a:srgbClr val="0000FF"/>
                  </a:solidFill>
                </a:rPr>
                <a:t>Unlock</a:t>
              </a:r>
              <a:r>
                <a:rPr lang="en-US" altLang="en-US"/>
                <a:t>(B)</a:t>
              </a:r>
            </a:p>
            <a:p>
              <a:endParaRPr lang="en-US" altLang="en-US"/>
            </a:p>
            <a:p>
              <a:r>
                <a:rPr lang="en-US" altLang="en-US">
                  <a:solidFill>
                    <a:srgbClr val="006600"/>
                  </a:solidFill>
                </a:rPr>
                <a:t>Lock-X</a:t>
              </a:r>
              <a:r>
                <a:rPr lang="en-US" altLang="en-US"/>
                <a:t>(A)</a:t>
              </a:r>
            </a:p>
            <a:p>
              <a:r>
                <a:rPr lang="en-US" altLang="en-US"/>
                <a:t>read(A)</a:t>
              </a:r>
            </a:p>
            <a:p>
              <a:r>
                <a:rPr lang="en-US" altLang="en-US"/>
                <a:t>A </a:t>
              </a:r>
              <a:r>
                <a:rPr lang="en-US" altLang="en-US">
                  <a:latin typeface="Wingdings" panose="05000000000000000000" pitchFamily="2" charset="2"/>
                  <a:ea typeface="Wingdings" panose="05000000000000000000" pitchFamily="2" charset="2"/>
                  <a:cs typeface="Wingdings" panose="05000000000000000000" pitchFamily="2" charset="2"/>
                  <a:sym typeface="Wingdings" panose="05000000000000000000" pitchFamily="2" charset="2"/>
                </a:rPr>
                <a:t></a:t>
              </a:r>
              <a:r>
                <a:rPr lang="en-US" altLang="en-US"/>
                <a:t>A + 50</a:t>
              </a:r>
            </a:p>
            <a:p>
              <a:r>
                <a:rPr lang="en-US" altLang="en-US"/>
                <a:t>write(A)</a:t>
              </a:r>
            </a:p>
            <a:p>
              <a:r>
                <a:rPr lang="en-US" altLang="en-US">
                  <a:solidFill>
                    <a:srgbClr val="0000FF"/>
                  </a:solidFill>
                </a:rPr>
                <a:t>Unlock</a:t>
              </a:r>
              <a:r>
                <a:rPr lang="en-US" altLang="en-US"/>
                <a:t>(A)</a:t>
              </a:r>
              <a:endParaRPr lang="en-US" altLang="en-US">
                <a:solidFill>
                  <a:srgbClr val="0000FF"/>
                </a:solidFill>
              </a:endParaRPr>
            </a:p>
          </p:txBody>
        </p:sp>
        <p:sp>
          <p:nvSpPr>
            <p:cNvPr id="232456" name="Text Box 8" descr="Text Box 12">
              <a:extLst>
                <a:ext uri="{FF2B5EF4-FFF2-40B4-BE49-F238E27FC236}">
                  <a16:creationId xmlns:a16="http://schemas.microsoft.com/office/drawing/2014/main" id="{DE19B982-EA96-E2CD-C297-0DFED78EBC93}"/>
                </a:ext>
              </a:extLst>
            </p:cNvPr>
            <p:cNvSpPr txBox="1">
              <a:spLocks/>
            </p:cNvSpPr>
            <p:nvPr/>
          </p:nvSpPr>
          <p:spPr bwMode="auto">
            <a:xfrm>
              <a:off x="0" y="0"/>
              <a:ext cx="2839229" cy="396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T1: Not following 2PL</a:t>
              </a:r>
            </a:p>
          </p:txBody>
        </p:sp>
      </p:grpSp>
      <p:sp>
        <p:nvSpPr>
          <p:cNvPr id="232457" name="Rectangle 9" descr="Rectangle 10">
            <a:extLst>
              <a:ext uri="{FF2B5EF4-FFF2-40B4-BE49-F238E27FC236}">
                <a16:creationId xmlns:a16="http://schemas.microsoft.com/office/drawing/2014/main" id="{E8146C51-9E12-972F-BF00-495099A0FB50}"/>
              </a:ext>
            </a:extLst>
          </p:cNvPr>
          <p:cNvSpPr>
            <a:spLocks/>
          </p:cNvSpPr>
          <p:nvPr/>
        </p:nvSpPr>
        <p:spPr bwMode="auto">
          <a:xfrm>
            <a:off x="538163" y="4187825"/>
            <a:ext cx="1785937" cy="869950"/>
          </a:xfrm>
          <a:prstGeom prst="rect">
            <a:avLst/>
          </a:prstGeom>
          <a:noFill/>
          <a:ln w="38100"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descr="Title 1">
            <a:extLst>
              <a:ext uri="{FF2B5EF4-FFF2-40B4-BE49-F238E27FC236}">
                <a16:creationId xmlns:a16="http://schemas.microsoft.com/office/drawing/2014/main" id="{3786CD9C-4A30-4C5C-0C53-2A9A59B9A62E}"/>
              </a:ext>
            </a:extLst>
          </p:cNvPr>
          <p:cNvSpPr>
            <a:spLocks noChangeArrowheads="1"/>
          </p:cNvSpPr>
          <p:nvPr>
            <p:ph type="title"/>
          </p:nvPr>
        </p:nvSpPr>
        <p:spPr/>
        <p:txBody>
          <a:bodyPr/>
          <a:lstStyle/>
          <a:p>
            <a:r>
              <a:rPr lang="en-US" altLang="en-US"/>
              <a:t>Two-Phase Locking Protocol (2PL)</a:t>
            </a:r>
          </a:p>
        </p:txBody>
      </p:sp>
      <p:sp>
        <p:nvSpPr>
          <p:cNvPr id="233475" name="Text Box 3" descr="Date Placeholder 3">
            <a:extLst>
              <a:ext uri="{FF2B5EF4-FFF2-40B4-BE49-F238E27FC236}">
                <a16:creationId xmlns:a16="http://schemas.microsoft.com/office/drawing/2014/main" id="{66A5D874-4B6A-EF59-152A-B824F3C27A6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3476" name="Text Box 4" descr="Slide Number Placeholder 5">
            <a:extLst>
              <a:ext uri="{FF2B5EF4-FFF2-40B4-BE49-F238E27FC236}">
                <a16:creationId xmlns:a16="http://schemas.microsoft.com/office/drawing/2014/main" id="{6D0B6E2E-4C91-EB20-1B88-25B1D367352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D2C4588-3507-4F57-9A48-BFDF6FACF40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33477" name="Text Box 5" descr="Rectangle 3">
            <a:extLst>
              <a:ext uri="{FF2B5EF4-FFF2-40B4-BE49-F238E27FC236}">
                <a16:creationId xmlns:a16="http://schemas.microsoft.com/office/drawing/2014/main" id="{D1D37750-787A-F058-6E41-506F1DA36667}"/>
              </a:ext>
            </a:extLst>
          </p:cNvPr>
          <p:cNvSpPr txBox="1">
            <a:spLocks/>
          </p:cNvSpPr>
          <p:nvPr/>
        </p:nvSpPr>
        <p:spPr bwMode="auto">
          <a:xfrm>
            <a:off x="615950" y="1114425"/>
            <a:ext cx="7981950" cy="1870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marL="469900" indent="-46990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08050" indent="-438150">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4572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9144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13716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1828800" indent="1828800" fontAlgn="base" hangingPunct="0">
              <a:spcBef>
                <a:spcPct val="0"/>
              </a:spcBef>
              <a:spcAft>
                <a:spcPct val="0"/>
              </a:spcAft>
              <a:defRPr>
                <a:solidFill>
                  <a:srgbClr val="000000"/>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algn="just">
              <a:spcBef>
                <a:spcPts val="300"/>
              </a:spcBef>
              <a:buClr>
                <a:schemeClr val="accent2"/>
              </a:buClr>
              <a:buSzPct val="100000"/>
              <a:buFontTx/>
              <a:buChar char="□"/>
            </a:pPr>
            <a:r>
              <a:rPr lang="en-US" altLang="en-US" sz="1600">
                <a:solidFill>
                  <a:srgbClr val="003366"/>
                </a:solidFill>
              </a:rPr>
              <a:t>Phase 1: </a:t>
            </a:r>
            <a:r>
              <a:rPr lang="en-US" altLang="en-US" sz="1600">
                <a:solidFill>
                  <a:srgbClr val="C00000"/>
                </a:solidFill>
              </a:rPr>
              <a:t>Growing (or Lock Acquiring) phase </a:t>
            </a:r>
            <a:endParaRPr lang="en-US" altLang="en-US" sz="3000">
              <a:solidFill>
                <a:srgbClr val="003366"/>
              </a:solidFill>
            </a:endParaRPr>
          </a:p>
          <a:p>
            <a:pPr lvl="1" algn="just">
              <a:spcBef>
                <a:spcPts val="300"/>
              </a:spcBef>
              <a:buClr>
                <a:schemeClr val="accent2"/>
              </a:buClr>
              <a:buSzPct val="100000"/>
              <a:buFontTx/>
              <a:buChar char="■"/>
            </a:pPr>
            <a:r>
              <a:rPr lang="en-US" altLang="en-US" sz="1400">
                <a:solidFill>
                  <a:srgbClr val="003366"/>
                </a:solidFill>
              </a:rPr>
              <a:t>Transaction may obtain locks</a:t>
            </a:r>
            <a:endParaRPr lang="en-US" altLang="en-US" sz="2600">
              <a:solidFill>
                <a:srgbClr val="003366"/>
              </a:solidFill>
            </a:endParaRPr>
          </a:p>
          <a:p>
            <a:pPr lvl="1" algn="just">
              <a:spcBef>
                <a:spcPts val="300"/>
              </a:spcBef>
              <a:buClr>
                <a:schemeClr val="accent2"/>
              </a:buClr>
              <a:buSzPct val="100000"/>
              <a:buFontTx/>
              <a:buChar char="■"/>
            </a:pPr>
            <a:r>
              <a:rPr lang="en-US" altLang="en-US" sz="1400">
                <a:solidFill>
                  <a:srgbClr val="003366"/>
                </a:solidFill>
              </a:rPr>
              <a:t>But may not release them</a:t>
            </a:r>
            <a:endParaRPr lang="en-US" altLang="en-US" sz="2600">
              <a:solidFill>
                <a:srgbClr val="003366"/>
              </a:solidFill>
            </a:endParaRPr>
          </a:p>
          <a:p>
            <a:pPr algn="just">
              <a:spcBef>
                <a:spcPts val="300"/>
              </a:spcBef>
              <a:buClr>
                <a:schemeClr val="accent2"/>
              </a:buClr>
              <a:buSzPct val="100000"/>
              <a:buFontTx/>
              <a:buChar char="□"/>
            </a:pPr>
            <a:r>
              <a:rPr lang="en-US" altLang="en-US" sz="1600">
                <a:solidFill>
                  <a:srgbClr val="003366"/>
                </a:solidFill>
              </a:rPr>
              <a:t>Phase 2: </a:t>
            </a:r>
            <a:r>
              <a:rPr lang="en-US" altLang="en-US" sz="1600">
                <a:solidFill>
                  <a:srgbClr val="CC00CC"/>
                </a:solidFill>
              </a:rPr>
              <a:t>Shrinking (or Lock Releasing) phase</a:t>
            </a:r>
            <a:endParaRPr lang="en-US" altLang="en-US" sz="3000">
              <a:solidFill>
                <a:srgbClr val="003366"/>
              </a:solidFill>
            </a:endParaRPr>
          </a:p>
          <a:p>
            <a:pPr lvl="1" algn="just">
              <a:spcBef>
                <a:spcPts val="300"/>
              </a:spcBef>
              <a:buClr>
                <a:schemeClr val="accent2"/>
              </a:buClr>
              <a:buSzPct val="100000"/>
              <a:buFontTx/>
              <a:buChar char="■"/>
            </a:pPr>
            <a:r>
              <a:rPr lang="en-US" altLang="en-US" sz="1400">
                <a:solidFill>
                  <a:srgbClr val="003366"/>
                </a:solidFill>
              </a:rPr>
              <a:t>Transaction may only release locks</a:t>
            </a:r>
            <a:endParaRPr lang="en-US" altLang="en-US" sz="2600">
              <a:solidFill>
                <a:srgbClr val="003366"/>
              </a:solidFill>
            </a:endParaRPr>
          </a:p>
        </p:txBody>
      </p:sp>
      <p:grpSp>
        <p:nvGrpSpPr>
          <p:cNvPr id="233478" name="Group 6">
            <a:extLst>
              <a:ext uri="{FF2B5EF4-FFF2-40B4-BE49-F238E27FC236}">
                <a16:creationId xmlns:a16="http://schemas.microsoft.com/office/drawing/2014/main" id="{E78A4D46-B839-5C1E-68F6-D08159DA7CBA}"/>
              </a:ext>
            </a:extLst>
          </p:cNvPr>
          <p:cNvGrpSpPr>
            <a:grpSpLocks/>
          </p:cNvGrpSpPr>
          <p:nvPr/>
        </p:nvGrpSpPr>
        <p:grpSpPr bwMode="auto">
          <a:xfrm>
            <a:off x="544513" y="2641600"/>
            <a:ext cx="2840037" cy="3602038"/>
            <a:chOff x="0" y="-1"/>
            <a:chExt cx="2839229" cy="3601404"/>
          </a:xfrm>
        </p:grpSpPr>
        <p:sp>
          <p:nvSpPr>
            <p:cNvPr id="233479" name="Text Box 7" descr="Text Box 11">
              <a:extLst>
                <a:ext uri="{FF2B5EF4-FFF2-40B4-BE49-F238E27FC236}">
                  <a16:creationId xmlns:a16="http://schemas.microsoft.com/office/drawing/2014/main" id="{3E32EEBD-7BB4-14E4-4FB7-E3D9922AC1E4}"/>
                </a:ext>
              </a:extLst>
            </p:cNvPr>
            <p:cNvSpPr txBox="1">
              <a:spLocks/>
            </p:cNvSpPr>
            <p:nvPr/>
          </p:nvSpPr>
          <p:spPr bwMode="auto">
            <a:xfrm>
              <a:off x="240030" y="427037"/>
              <a:ext cx="1332121" cy="3174366"/>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6600"/>
                  </a:solidFill>
                </a:rPr>
                <a:t>Lock-X</a:t>
              </a:r>
              <a:r>
                <a:rPr lang="en-US" altLang="en-US"/>
                <a:t>(B)</a:t>
              </a:r>
            </a:p>
            <a:p>
              <a:r>
                <a:rPr lang="en-US" altLang="en-US"/>
                <a:t>read(B)</a:t>
              </a:r>
            </a:p>
            <a:p>
              <a:r>
                <a:rPr lang="en-US" altLang="en-US"/>
                <a:t>B = B-50</a:t>
              </a:r>
            </a:p>
            <a:p>
              <a:r>
                <a:rPr lang="en-US" altLang="en-US"/>
                <a:t>write(B)</a:t>
              </a:r>
            </a:p>
            <a:p>
              <a:r>
                <a:rPr lang="en-US" altLang="en-US">
                  <a:solidFill>
                    <a:srgbClr val="0000FF"/>
                  </a:solidFill>
                </a:rPr>
                <a:t>Unlock</a:t>
              </a:r>
              <a:r>
                <a:rPr lang="en-US" altLang="en-US"/>
                <a:t>(B)</a:t>
              </a:r>
            </a:p>
            <a:p>
              <a:endParaRPr lang="en-US" altLang="en-US"/>
            </a:p>
            <a:p>
              <a:r>
                <a:rPr lang="en-US" altLang="en-US">
                  <a:solidFill>
                    <a:srgbClr val="006600"/>
                  </a:solidFill>
                </a:rPr>
                <a:t>Lock-X</a:t>
              </a:r>
              <a:r>
                <a:rPr lang="en-US" altLang="en-US"/>
                <a:t>(A)</a:t>
              </a:r>
            </a:p>
            <a:p>
              <a:r>
                <a:rPr lang="en-US" altLang="en-US"/>
                <a:t>read(A)</a:t>
              </a:r>
            </a:p>
            <a:p>
              <a:r>
                <a:rPr lang="en-US" altLang="en-US"/>
                <a:t>A =A + 50</a:t>
              </a:r>
            </a:p>
            <a:p>
              <a:r>
                <a:rPr lang="en-US" altLang="en-US"/>
                <a:t>write(A)</a:t>
              </a:r>
            </a:p>
            <a:p>
              <a:r>
                <a:rPr lang="en-US" altLang="en-US">
                  <a:solidFill>
                    <a:srgbClr val="0000FF"/>
                  </a:solidFill>
                </a:rPr>
                <a:t>Unlock</a:t>
              </a:r>
              <a:r>
                <a:rPr lang="en-US" altLang="en-US"/>
                <a:t>(A)</a:t>
              </a:r>
              <a:endParaRPr lang="en-US" altLang="en-US">
                <a:solidFill>
                  <a:srgbClr val="0000FF"/>
                </a:solidFill>
              </a:endParaRPr>
            </a:p>
          </p:txBody>
        </p:sp>
        <p:sp>
          <p:nvSpPr>
            <p:cNvPr id="233480" name="Text Box 8" descr="Text Box 12">
              <a:extLst>
                <a:ext uri="{FF2B5EF4-FFF2-40B4-BE49-F238E27FC236}">
                  <a16:creationId xmlns:a16="http://schemas.microsoft.com/office/drawing/2014/main" id="{7069B31F-2F99-4EE1-23E9-4B8FF4EEAEF3}"/>
                </a:ext>
              </a:extLst>
            </p:cNvPr>
            <p:cNvSpPr txBox="1">
              <a:spLocks/>
            </p:cNvSpPr>
            <p:nvPr/>
          </p:nvSpPr>
          <p:spPr bwMode="auto">
            <a:xfrm>
              <a:off x="0" y="0"/>
              <a:ext cx="2839229" cy="396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T1: Not following 2PL</a:t>
              </a:r>
            </a:p>
          </p:txBody>
        </p:sp>
      </p:grpSp>
      <p:grpSp>
        <p:nvGrpSpPr>
          <p:cNvPr id="233481" name="Group 9">
            <a:extLst>
              <a:ext uri="{FF2B5EF4-FFF2-40B4-BE49-F238E27FC236}">
                <a16:creationId xmlns:a16="http://schemas.microsoft.com/office/drawing/2014/main" id="{C8505117-E0C2-0965-F0B3-A16DC0D6385E}"/>
              </a:ext>
            </a:extLst>
          </p:cNvPr>
          <p:cNvGrpSpPr>
            <a:grpSpLocks/>
          </p:cNvGrpSpPr>
          <p:nvPr/>
        </p:nvGrpSpPr>
        <p:grpSpPr bwMode="auto">
          <a:xfrm>
            <a:off x="6202363" y="2195513"/>
            <a:ext cx="2100262" cy="4184650"/>
            <a:chOff x="0" y="-1"/>
            <a:chExt cx="2099802" cy="4186112"/>
          </a:xfrm>
        </p:grpSpPr>
        <p:sp>
          <p:nvSpPr>
            <p:cNvPr id="233482" name="Text Box 10" descr="Text Box 11">
              <a:extLst>
                <a:ext uri="{FF2B5EF4-FFF2-40B4-BE49-F238E27FC236}">
                  <a16:creationId xmlns:a16="http://schemas.microsoft.com/office/drawing/2014/main" id="{4AEAF7F1-9F4D-480E-0059-FD536DECCA30}"/>
                </a:ext>
              </a:extLst>
            </p:cNvPr>
            <p:cNvSpPr txBox="1">
              <a:spLocks/>
            </p:cNvSpPr>
            <p:nvPr/>
          </p:nvSpPr>
          <p:spPr bwMode="auto">
            <a:xfrm>
              <a:off x="240029" y="427037"/>
              <a:ext cx="1136562" cy="3759074"/>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spcBef>
                  <a:spcPts val="700"/>
                </a:spcBef>
              </a:pPr>
              <a:r>
                <a:rPr lang="en-US" altLang="en-US">
                  <a:solidFill>
                    <a:srgbClr val="006600"/>
                  </a:solidFill>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Lock-X</a:t>
              </a: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(B)</a:t>
              </a:r>
            </a:p>
            <a:p>
              <a:pPr>
                <a:spcBef>
                  <a:spcPts val="700"/>
                </a:spcBef>
              </a:pP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read(B)</a:t>
              </a:r>
            </a:p>
            <a:p>
              <a:pPr>
                <a:spcBef>
                  <a:spcPts val="700"/>
                </a:spcBef>
              </a:pP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B = B - 50</a:t>
              </a:r>
            </a:p>
            <a:p>
              <a:pPr>
                <a:spcBef>
                  <a:spcPts val="700"/>
                </a:spcBef>
              </a:pP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write(B)</a:t>
              </a:r>
            </a:p>
            <a:p>
              <a:pPr>
                <a:spcBef>
                  <a:spcPts val="700"/>
                </a:spcBef>
              </a:pPr>
              <a:r>
                <a:rPr lang="en-US" altLang="en-US">
                  <a:solidFill>
                    <a:srgbClr val="006600"/>
                  </a:solidFill>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Lock-X</a:t>
              </a: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(A)</a:t>
              </a:r>
            </a:p>
            <a:p>
              <a:pPr>
                <a:spcBef>
                  <a:spcPts val="700"/>
                </a:spcBef>
              </a:pP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read(A)</a:t>
              </a:r>
            </a:p>
            <a:p>
              <a:pPr>
                <a:spcBef>
                  <a:spcPts val="700"/>
                </a:spcBef>
              </a:pP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A = A - 50</a:t>
              </a:r>
            </a:p>
            <a:p>
              <a:pPr>
                <a:spcBef>
                  <a:spcPts val="700"/>
                </a:spcBef>
              </a:pPr>
              <a:r>
                <a:rPr lang="en-US" altLang="en-US">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write(A)</a:t>
              </a:r>
            </a:p>
            <a:p>
              <a:pPr>
                <a:spcBef>
                  <a:spcPts val="700"/>
                </a:spcBef>
              </a:pPr>
              <a:r>
                <a:rPr lang="en-US" altLang="en-US">
                  <a:solidFill>
                    <a:srgbClr val="0000FF"/>
                  </a:solidFill>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unlock(B)</a:t>
              </a:r>
            </a:p>
            <a:p>
              <a:pPr>
                <a:spcBef>
                  <a:spcPts val="700"/>
                </a:spcBef>
              </a:pPr>
              <a:r>
                <a:rPr lang="en-US" altLang="en-US">
                  <a:solidFill>
                    <a:srgbClr val="0000FF"/>
                  </a:solidFill>
                  <a:latin typeface="Helvetica" panose="020B0604020202020204" pitchFamily="34" charset="0"/>
                  <a:ea typeface="Helvetica" panose="020B0604020202020204" pitchFamily="34" charset="0"/>
                  <a:cs typeface="Helvetica" panose="020B0604020202020204" pitchFamily="34" charset="0"/>
                  <a:sym typeface="Helvetica" panose="020B0604020202020204" pitchFamily="34" charset="0"/>
                </a:rPr>
                <a:t>unlock(A)</a:t>
              </a:r>
            </a:p>
          </p:txBody>
        </p:sp>
        <p:sp>
          <p:nvSpPr>
            <p:cNvPr id="233483" name="Text Box 11" descr="Text Box 12">
              <a:extLst>
                <a:ext uri="{FF2B5EF4-FFF2-40B4-BE49-F238E27FC236}">
                  <a16:creationId xmlns:a16="http://schemas.microsoft.com/office/drawing/2014/main" id="{CDF6F67B-FB51-6A97-A7AF-A237F12FDC4D}"/>
                </a:ext>
              </a:extLst>
            </p:cNvPr>
            <p:cNvSpPr txBox="1">
              <a:spLocks/>
            </p:cNvSpPr>
            <p:nvPr/>
          </p:nvSpPr>
          <p:spPr bwMode="auto">
            <a:xfrm>
              <a:off x="0" y="0"/>
              <a:ext cx="2099802" cy="396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000"/>
                <a:t>T1: Follows 2PL</a:t>
              </a:r>
            </a:p>
          </p:txBody>
        </p:sp>
      </p:grpSp>
      <p:sp>
        <p:nvSpPr>
          <p:cNvPr id="233484" name="Text Box 12" descr="Text Box 23">
            <a:extLst>
              <a:ext uri="{FF2B5EF4-FFF2-40B4-BE49-F238E27FC236}">
                <a16:creationId xmlns:a16="http://schemas.microsoft.com/office/drawing/2014/main" id="{D21FEB5A-C3F6-2B5F-E170-E216659C6349}"/>
              </a:ext>
            </a:extLst>
          </p:cNvPr>
          <p:cNvSpPr txBox="1">
            <a:spLocks/>
          </p:cNvSpPr>
          <p:nvPr/>
        </p:nvSpPr>
        <p:spPr bwMode="auto">
          <a:xfrm>
            <a:off x="4044950" y="3844925"/>
            <a:ext cx="18145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C00000"/>
                </a:solidFill>
              </a:rPr>
              <a:t>Growing phase</a:t>
            </a:r>
          </a:p>
        </p:txBody>
      </p:sp>
      <p:sp>
        <p:nvSpPr>
          <p:cNvPr id="233485" name="AutoShape 13" descr="Left Brace 16">
            <a:extLst>
              <a:ext uri="{FF2B5EF4-FFF2-40B4-BE49-F238E27FC236}">
                <a16:creationId xmlns:a16="http://schemas.microsoft.com/office/drawing/2014/main" id="{8F216AB1-F068-2411-36BA-EDFF59CE380E}"/>
              </a:ext>
            </a:extLst>
          </p:cNvPr>
          <p:cNvSpPr>
            <a:spLocks/>
          </p:cNvSpPr>
          <p:nvPr/>
        </p:nvSpPr>
        <p:spPr bwMode="auto">
          <a:xfrm>
            <a:off x="5857875" y="2713038"/>
            <a:ext cx="500063" cy="27162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1600"/>
                </a:moveTo>
                <a:cubicBezTo>
                  <a:pt x="15635" y="21600"/>
                  <a:pt x="10800" y="21452"/>
                  <a:pt x="10800" y="21268"/>
                </a:cubicBezTo>
                <a:lnTo>
                  <a:pt x="10800" y="11132"/>
                </a:lnTo>
                <a:cubicBezTo>
                  <a:pt x="10800" y="10948"/>
                  <a:pt x="5965" y="10800"/>
                  <a:pt x="0" y="10800"/>
                </a:cubicBezTo>
                <a:cubicBezTo>
                  <a:pt x="5965" y="10800"/>
                  <a:pt x="10800" y="10652"/>
                  <a:pt x="10800" y="10468"/>
                </a:cubicBezTo>
                <a:lnTo>
                  <a:pt x="10800" y="332"/>
                </a:lnTo>
                <a:cubicBezTo>
                  <a:pt x="10800" y="148"/>
                  <a:pt x="15635" y="0"/>
                  <a:pt x="21600" y="0"/>
                </a:cubicBezTo>
              </a:path>
            </a:pathLst>
          </a:custGeom>
          <a:noFill/>
          <a:ln w="28575" cap="flat" cmpd="sng">
            <a:solidFill>
              <a:srgbClr val="CC33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solidFill>
                <a:srgbClr val="006600"/>
              </a:solidFill>
            </a:endParaRPr>
          </a:p>
        </p:txBody>
      </p:sp>
      <p:sp>
        <p:nvSpPr>
          <p:cNvPr id="233486" name="Text Box 14" descr="Text Box 23">
            <a:extLst>
              <a:ext uri="{FF2B5EF4-FFF2-40B4-BE49-F238E27FC236}">
                <a16:creationId xmlns:a16="http://schemas.microsoft.com/office/drawing/2014/main" id="{D45BEFCD-720D-CA1A-3F68-C66F15A0275B}"/>
              </a:ext>
            </a:extLst>
          </p:cNvPr>
          <p:cNvSpPr txBox="1">
            <a:spLocks/>
          </p:cNvSpPr>
          <p:nvPr/>
        </p:nvSpPr>
        <p:spPr bwMode="auto">
          <a:xfrm>
            <a:off x="3987800" y="5773738"/>
            <a:ext cx="1954213"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CC00CC"/>
                </a:solidFill>
              </a:rPr>
              <a:t>Shrinking phase</a:t>
            </a:r>
          </a:p>
        </p:txBody>
      </p:sp>
      <p:sp>
        <p:nvSpPr>
          <p:cNvPr id="233487" name="AutoShape 15" descr="Left Brace 18">
            <a:extLst>
              <a:ext uri="{FF2B5EF4-FFF2-40B4-BE49-F238E27FC236}">
                <a16:creationId xmlns:a16="http://schemas.microsoft.com/office/drawing/2014/main" id="{6B3F2A68-7864-85E8-8302-D5B65FA48369}"/>
              </a:ext>
            </a:extLst>
          </p:cNvPr>
          <p:cNvSpPr>
            <a:spLocks/>
          </p:cNvSpPr>
          <p:nvPr/>
        </p:nvSpPr>
        <p:spPr bwMode="auto">
          <a:xfrm>
            <a:off x="5942013" y="5643563"/>
            <a:ext cx="481012" cy="628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1600"/>
                </a:moveTo>
                <a:cubicBezTo>
                  <a:pt x="15635" y="21600"/>
                  <a:pt x="10800" y="20986"/>
                  <a:pt x="10800" y="20228"/>
                </a:cubicBezTo>
                <a:lnTo>
                  <a:pt x="10800" y="12531"/>
                </a:lnTo>
                <a:cubicBezTo>
                  <a:pt x="10800" y="11773"/>
                  <a:pt x="5965" y="11159"/>
                  <a:pt x="0" y="11159"/>
                </a:cubicBezTo>
                <a:cubicBezTo>
                  <a:pt x="5965" y="11159"/>
                  <a:pt x="10800" y="10545"/>
                  <a:pt x="10800" y="9787"/>
                </a:cubicBezTo>
                <a:lnTo>
                  <a:pt x="10800" y="1372"/>
                </a:lnTo>
                <a:cubicBezTo>
                  <a:pt x="10800" y="614"/>
                  <a:pt x="15635" y="0"/>
                  <a:pt x="21600" y="0"/>
                </a:cubicBezTo>
              </a:path>
            </a:pathLst>
          </a:custGeom>
          <a:noFill/>
          <a:ln w="2857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solidFill>
                <a:srgbClr val="006600"/>
              </a:solidFill>
            </a:endParaRPr>
          </a:p>
        </p:txBody>
      </p:sp>
      <p:sp>
        <p:nvSpPr>
          <p:cNvPr id="233488" name="Rectangle 16" descr="Rectangle 19">
            <a:extLst>
              <a:ext uri="{FF2B5EF4-FFF2-40B4-BE49-F238E27FC236}">
                <a16:creationId xmlns:a16="http://schemas.microsoft.com/office/drawing/2014/main" id="{6A9D83F8-E40D-F298-B3A1-AD612F11F2DC}"/>
              </a:ext>
            </a:extLst>
          </p:cNvPr>
          <p:cNvSpPr>
            <a:spLocks/>
          </p:cNvSpPr>
          <p:nvPr/>
        </p:nvSpPr>
        <p:spPr bwMode="auto">
          <a:xfrm>
            <a:off x="538163" y="4187825"/>
            <a:ext cx="1785937" cy="869950"/>
          </a:xfrm>
          <a:prstGeom prst="rect">
            <a:avLst/>
          </a:prstGeom>
          <a:noFill/>
          <a:ln w="38100" cap="flat" cmpd="sng">
            <a:solidFill>
              <a:srgbClr val="000000"/>
            </a:solidFill>
            <a:prstDash val="dash"/>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descr="Title 1">
            <a:extLst>
              <a:ext uri="{FF2B5EF4-FFF2-40B4-BE49-F238E27FC236}">
                <a16:creationId xmlns:a16="http://schemas.microsoft.com/office/drawing/2014/main" id="{E7BC2B65-4C2E-5B22-1D75-6603EE5EA9B5}"/>
              </a:ext>
            </a:extLst>
          </p:cNvPr>
          <p:cNvSpPr>
            <a:spLocks noChangeArrowheads="1"/>
          </p:cNvSpPr>
          <p:nvPr>
            <p:ph type="title"/>
          </p:nvPr>
        </p:nvSpPr>
        <p:spPr/>
        <p:txBody>
          <a:bodyPr/>
          <a:lstStyle/>
          <a:p>
            <a:r>
              <a:rPr lang="en-US" altLang="en-US"/>
              <a:t>Variations of 2PL</a:t>
            </a:r>
          </a:p>
        </p:txBody>
      </p:sp>
      <p:sp>
        <p:nvSpPr>
          <p:cNvPr id="234499" name="Rectangle 3" descr="Content Placeholder 2">
            <a:extLst>
              <a:ext uri="{FF2B5EF4-FFF2-40B4-BE49-F238E27FC236}">
                <a16:creationId xmlns:a16="http://schemas.microsoft.com/office/drawing/2014/main" id="{E5E16163-EB37-644F-6EC0-6DFA679A5AE5}"/>
              </a:ext>
            </a:extLst>
          </p:cNvPr>
          <p:cNvSpPr>
            <a:spLocks noChangeArrowheads="1"/>
          </p:cNvSpPr>
          <p:nvPr>
            <p:ph type="body" idx="1"/>
          </p:nvPr>
        </p:nvSpPr>
        <p:spPr/>
        <p:txBody>
          <a:bodyPr/>
          <a:lstStyle/>
          <a:p>
            <a:pPr>
              <a:lnSpc>
                <a:spcPct val="80000"/>
              </a:lnSpc>
              <a:spcBef>
                <a:spcPts val="400"/>
              </a:spcBef>
              <a:buSzTx/>
              <a:buFont typeface="Wingdings" panose="05000000000000000000" pitchFamily="2" charset="2"/>
              <a:buNone/>
            </a:pPr>
            <a:r>
              <a:rPr lang="en-US" altLang="en-US" sz="1800" b="1"/>
              <a:t>1. Basic 2PL </a:t>
            </a:r>
          </a:p>
          <a:p>
            <a:pPr>
              <a:lnSpc>
                <a:spcPct val="80000"/>
              </a:lnSpc>
              <a:spcBef>
                <a:spcPts val="400"/>
              </a:spcBef>
              <a:buFontTx/>
              <a:buChar char="❑"/>
            </a:pPr>
            <a:r>
              <a:rPr lang="en-US" altLang="en-US" sz="1800" b="1"/>
              <a:t>	</a:t>
            </a:r>
            <a:r>
              <a:rPr lang="en-US" altLang="en-US" sz="1800"/>
              <a:t>Two Phase: Growing and Shrinking Phase</a:t>
            </a:r>
          </a:p>
          <a:p>
            <a:pPr>
              <a:lnSpc>
                <a:spcPct val="80000"/>
              </a:lnSpc>
              <a:spcBef>
                <a:spcPts val="400"/>
              </a:spcBef>
              <a:buSzTx/>
              <a:buFont typeface="Wingdings" panose="05000000000000000000" pitchFamily="2" charset="2"/>
              <a:buNone/>
            </a:pPr>
            <a:r>
              <a:rPr lang="en-US" altLang="en-US" sz="1800" b="1"/>
              <a:t>2. Conservative (or static) 2PL</a:t>
            </a:r>
          </a:p>
          <a:p>
            <a:pPr>
              <a:lnSpc>
                <a:spcPct val="80000"/>
              </a:lnSpc>
              <a:spcBef>
                <a:spcPts val="400"/>
              </a:spcBef>
              <a:buFontTx/>
              <a:buChar char="❑"/>
            </a:pPr>
            <a:r>
              <a:rPr lang="en-US" altLang="en-US" sz="1800"/>
              <a:t>Conservative 2PL requires a transaction to lock all the items  it accesses before the transaction begins execution by pre declaring its write set and read set.</a:t>
            </a:r>
          </a:p>
          <a:p>
            <a:pPr>
              <a:lnSpc>
                <a:spcPct val="80000"/>
              </a:lnSpc>
              <a:spcBef>
                <a:spcPts val="400"/>
              </a:spcBef>
              <a:buFontTx/>
              <a:buChar char="❑"/>
            </a:pPr>
            <a:r>
              <a:rPr lang="en-US" altLang="en-US" sz="1800"/>
              <a:t>If any of the pre declared items needed cannot be locked, the transaction does not lock any item; instead it </a:t>
            </a:r>
            <a:r>
              <a:rPr lang="en-US" altLang="en-US" sz="1800" b="1"/>
              <a:t>waits </a:t>
            </a:r>
            <a:r>
              <a:rPr lang="en-US" altLang="en-US" sz="1800"/>
              <a:t>until all the items are available for locking</a:t>
            </a:r>
          </a:p>
          <a:p>
            <a:pPr>
              <a:lnSpc>
                <a:spcPct val="80000"/>
              </a:lnSpc>
              <a:spcBef>
                <a:spcPts val="400"/>
              </a:spcBef>
              <a:buSzTx/>
              <a:buFont typeface="Wingdings" panose="05000000000000000000" pitchFamily="2" charset="2"/>
              <a:buNone/>
            </a:pPr>
            <a:r>
              <a:rPr lang="en-US" altLang="en-US" sz="1800" b="1"/>
              <a:t>3. Strict 2PL</a:t>
            </a:r>
          </a:p>
          <a:p>
            <a:pPr>
              <a:spcBef>
                <a:spcPts val="400"/>
              </a:spcBef>
            </a:pPr>
            <a:r>
              <a:rPr lang="en-US" altLang="en-US" sz="1800"/>
              <a:t>A transaction T </a:t>
            </a:r>
            <a:r>
              <a:rPr lang="en-US" altLang="en-US" sz="1800" b="1"/>
              <a:t>does not release any of its exclusive (write) </a:t>
            </a:r>
            <a:r>
              <a:rPr lang="en-US" altLang="en-US" sz="1800"/>
              <a:t>locks until after it </a:t>
            </a:r>
            <a:r>
              <a:rPr lang="en-US" altLang="en-US" sz="1800" b="1"/>
              <a:t>commits </a:t>
            </a:r>
            <a:r>
              <a:rPr lang="en-US" altLang="en-US" sz="1800"/>
              <a:t>or aborts.</a:t>
            </a:r>
          </a:p>
          <a:p>
            <a:pPr>
              <a:spcBef>
                <a:spcPts val="400"/>
              </a:spcBef>
            </a:pPr>
            <a:r>
              <a:rPr lang="en-US" altLang="en-US" sz="1800"/>
              <a:t>Hence no other transaction can read or write an item that is written by T unless T has committed.</a:t>
            </a:r>
          </a:p>
          <a:p>
            <a:pPr>
              <a:lnSpc>
                <a:spcPct val="80000"/>
              </a:lnSpc>
              <a:spcBef>
                <a:spcPts val="400"/>
              </a:spcBef>
              <a:buSzTx/>
              <a:buFont typeface="Wingdings" panose="05000000000000000000" pitchFamily="2" charset="2"/>
              <a:buNone/>
            </a:pPr>
            <a:r>
              <a:rPr lang="en-US" altLang="en-US" sz="1800" b="1"/>
              <a:t>4. Rigorous 2PL</a:t>
            </a:r>
          </a:p>
          <a:p>
            <a:pPr>
              <a:spcBef>
                <a:spcPts val="400"/>
              </a:spcBef>
            </a:pPr>
            <a:r>
              <a:rPr lang="en-US" altLang="en-US" sz="1800"/>
              <a:t>A transaction T </a:t>
            </a:r>
            <a:r>
              <a:rPr lang="en-US" altLang="en-US" sz="1800" b="1"/>
              <a:t>does not release any of its locks (exclusive or shared) </a:t>
            </a:r>
            <a:r>
              <a:rPr lang="en-US" altLang="en-US" sz="1800"/>
              <a:t>until after it </a:t>
            </a:r>
            <a:r>
              <a:rPr lang="en-US" altLang="en-US" sz="1800" b="1"/>
              <a:t>commits</a:t>
            </a:r>
            <a:r>
              <a:rPr lang="en-US" altLang="en-US" sz="1800"/>
              <a:t> or aborts and so it is easier to implement than strict 2PL.</a:t>
            </a:r>
          </a:p>
        </p:txBody>
      </p:sp>
      <p:sp>
        <p:nvSpPr>
          <p:cNvPr id="234500" name="Text Box 4" descr="Date Placeholder 3">
            <a:extLst>
              <a:ext uri="{FF2B5EF4-FFF2-40B4-BE49-F238E27FC236}">
                <a16:creationId xmlns:a16="http://schemas.microsoft.com/office/drawing/2014/main" id="{D2B7ED8A-6C38-65B8-4D56-E37D87FB583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4501" name="Text Box 5" descr="Slide Number Placeholder 5">
            <a:extLst>
              <a:ext uri="{FF2B5EF4-FFF2-40B4-BE49-F238E27FC236}">
                <a16:creationId xmlns:a16="http://schemas.microsoft.com/office/drawing/2014/main" id="{AB02AE3F-D0CA-B9C8-8ADF-52BF2BCE269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52537D6-E915-4A2A-9002-04A63AFCB0F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descr="Rectangle 2">
            <a:extLst>
              <a:ext uri="{FF2B5EF4-FFF2-40B4-BE49-F238E27FC236}">
                <a16:creationId xmlns:a16="http://schemas.microsoft.com/office/drawing/2014/main" id="{68E436B6-D1B1-C4E7-DB64-1C811D1C8D1C}"/>
              </a:ext>
            </a:extLst>
          </p:cNvPr>
          <p:cNvSpPr>
            <a:spLocks noChangeArrowheads="1"/>
          </p:cNvSpPr>
          <p:nvPr>
            <p:ph type="title"/>
          </p:nvPr>
        </p:nvSpPr>
        <p:spPr/>
        <p:txBody>
          <a:bodyPr/>
          <a:lstStyle/>
          <a:p>
            <a:r>
              <a:rPr lang="en-US" altLang="en-US" sz="2800"/>
              <a:t>Database Recovery Systems</a:t>
            </a:r>
          </a:p>
        </p:txBody>
      </p:sp>
      <p:sp>
        <p:nvSpPr>
          <p:cNvPr id="235523" name="Rectangle 3" descr="Rectangle 3">
            <a:extLst>
              <a:ext uri="{FF2B5EF4-FFF2-40B4-BE49-F238E27FC236}">
                <a16:creationId xmlns:a16="http://schemas.microsoft.com/office/drawing/2014/main" id="{19A3050B-1615-8192-4A85-0675B13B7C2F}"/>
              </a:ext>
            </a:extLst>
          </p:cNvPr>
          <p:cNvSpPr>
            <a:spLocks noChangeArrowheads="1"/>
          </p:cNvSpPr>
          <p:nvPr>
            <p:ph type="body" sz="half" idx="1"/>
          </p:nvPr>
        </p:nvSpPr>
        <p:spPr>
          <a:xfrm>
            <a:off x="457200" y="3200400"/>
            <a:ext cx="8382000" cy="1600200"/>
          </a:xfrm>
        </p:spPr>
        <p:txBody>
          <a:bodyPr/>
          <a:lstStyle/>
          <a:p>
            <a:pPr marL="228600" indent="-228600">
              <a:lnSpc>
                <a:spcPct val="80000"/>
              </a:lnSpc>
              <a:spcBef>
                <a:spcPts val="400"/>
              </a:spcBef>
              <a:buClrTx/>
              <a:buSzTx/>
              <a:buFontTx/>
              <a:buNone/>
            </a:pPr>
            <a:r>
              <a:rPr lang="en-US" altLang="en-US" sz="2000"/>
              <a:t>Database Recovery Systems looks to achieve</a:t>
            </a:r>
          </a:p>
          <a:p>
            <a:pPr marL="228600" indent="-228600">
              <a:lnSpc>
                <a:spcPct val="80000"/>
              </a:lnSpc>
              <a:spcBef>
                <a:spcPts val="400"/>
              </a:spcBef>
              <a:buFontTx/>
              <a:buChar char="-"/>
            </a:pPr>
            <a:r>
              <a:rPr lang="en-US" altLang="en-US" sz="2000"/>
              <a:t>Transaction Atomicity</a:t>
            </a:r>
          </a:p>
          <a:p>
            <a:pPr marL="228600" indent="-228600">
              <a:lnSpc>
                <a:spcPct val="80000"/>
              </a:lnSpc>
              <a:spcBef>
                <a:spcPts val="400"/>
              </a:spcBef>
              <a:buFontTx/>
              <a:buChar char="-"/>
            </a:pPr>
            <a:r>
              <a:rPr lang="en-US" altLang="en-US" sz="2000"/>
              <a:t>Transaction Durability</a:t>
            </a:r>
          </a:p>
        </p:txBody>
      </p:sp>
      <p:sp>
        <p:nvSpPr>
          <p:cNvPr id="235524" name="Text Box 4" descr="Date Placeholder 1">
            <a:extLst>
              <a:ext uri="{FF2B5EF4-FFF2-40B4-BE49-F238E27FC236}">
                <a16:creationId xmlns:a16="http://schemas.microsoft.com/office/drawing/2014/main" id="{3B4ECE84-EC0E-D319-D91F-0967BAB25A62}"/>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5525" name="Text Box 5" descr="Slide Number Placeholder 2">
            <a:extLst>
              <a:ext uri="{FF2B5EF4-FFF2-40B4-BE49-F238E27FC236}">
                <a16:creationId xmlns:a16="http://schemas.microsoft.com/office/drawing/2014/main" id="{D6AA7B8E-6663-6717-1E52-7072FB046F65}"/>
              </a:ext>
            </a:extLst>
          </p:cNvPr>
          <p:cNvSpPr txBox="1">
            <a:spLocks/>
          </p:cNvSpPr>
          <p:nvPr/>
        </p:nvSpPr>
        <p:spPr bwMode="auto">
          <a:xfrm>
            <a:off x="8099425" y="6248400"/>
            <a:ext cx="35877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28999C1-F846-423D-8E00-8B21CF5FD2A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219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descr="Title 1">
            <a:extLst>
              <a:ext uri="{FF2B5EF4-FFF2-40B4-BE49-F238E27FC236}">
                <a16:creationId xmlns:a16="http://schemas.microsoft.com/office/drawing/2014/main" id="{B7B0477F-0D8D-84E9-9C23-CED942AC5927}"/>
              </a:ext>
            </a:extLst>
          </p:cNvPr>
          <p:cNvSpPr>
            <a:spLocks noChangeArrowheads="1"/>
          </p:cNvSpPr>
          <p:nvPr>
            <p:ph type="title"/>
          </p:nvPr>
        </p:nvSpPr>
        <p:spPr/>
        <p:txBody>
          <a:bodyPr/>
          <a:lstStyle/>
          <a:p>
            <a:r>
              <a:rPr lang="en-US" altLang="en-US"/>
              <a:t>Why recovery is Needed ?</a:t>
            </a:r>
          </a:p>
        </p:txBody>
      </p:sp>
      <p:sp>
        <p:nvSpPr>
          <p:cNvPr id="236547" name="Rectangle 3" descr="Content Placeholder 2">
            <a:extLst>
              <a:ext uri="{FF2B5EF4-FFF2-40B4-BE49-F238E27FC236}">
                <a16:creationId xmlns:a16="http://schemas.microsoft.com/office/drawing/2014/main" id="{F874DE14-59EA-58FD-A0AD-6088C2A257A2}"/>
              </a:ext>
            </a:extLst>
          </p:cNvPr>
          <p:cNvSpPr>
            <a:spLocks noChangeArrowheads="1"/>
          </p:cNvSpPr>
          <p:nvPr>
            <p:ph type="body" idx="1"/>
          </p:nvPr>
        </p:nvSpPr>
        <p:spPr/>
        <p:txBody>
          <a:bodyPr/>
          <a:lstStyle/>
          <a:p>
            <a:pPr marL="490538" indent="-474663" algn="just">
              <a:spcBef>
                <a:spcPts val="300"/>
              </a:spcBef>
              <a:buSzTx/>
              <a:buFont typeface="Wingdings" panose="05000000000000000000" pitchFamily="2" charset="2"/>
              <a:buNone/>
            </a:pPr>
            <a:r>
              <a:rPr lang="en-US" altLang="en-US" sz="1400"/>
              <a:t>To avoid following failures (or What causes a Transaction to fail)</a:t>
            </a:r>
          </a:p>
          <a:p>
            <a:pPr marL="490538" indent="-474663" algn="just">
              <a:lnSpc>
                <a:spcPct val="80000"/>
              </a:lnSpc>
              <a:spcBef>
                <a:spcPts val="300"/>
              </a:spcBef>
              <a:buSzTx/>
              <a:buFont typeface="Wingdings" panose="05000000000000000000" pitchFamily="2" charset="2"/>
              <a:buNone/>
            </a:pPr>
            <a:r>
              <a:rPr lang="en-US" altLang="en-US" sz="1400"/>
              <a:t>1. </a:t>
            </a:r>
            <a:r>
              <a:rPr lang="en-US" altLang="en-US" sz="1600" b="1"/>
              <a:t>A computer failure (system crash):</a:t>
            </a:r>
            <a:r>
              <a:rPr lang="en-US" altLang="en-US" sz="1400"/>
              <a:t>A </a:t>
            </a:r>
            <a:r>
              <a:rPr lang="en-US" altLang="en-US" sz="1600" b="1"/>
              <a:t>hardware or software error </a:t>
            </a:r>
            <a:r>
              <a:rPr lang="en-US" altLang="en-US" sz="1400"/>
              <a:t>occurs in the computer system during transaction execution. If the hardware crashes, the contents of the computer’s internal memory may be lost.</a:t>
            </a:r>
          </a:p>
          <a:p>
            <a:pPr marL="490538" indent="-474663" algn="just">
              <a:lnSpc>
                <a:spcPct val="80000"/>
              </a:lnSpc>
              <a:spcBef>
                <a:spcPts val="300"/>
              </a:spcBef>
              <a:buSzTx/>
              <a:buFont typeface="Wingdings" panose="05000000000000000000" pitchFamily="2" charset="2"/>
              <a:buNone/>
            </a:pPr>
            <a:r>
              <a:rPr lang="en-US" altLang="en-US" sz="1400"/>
              <a:t>2. </a:t>
            </a:r>
            <a:r>
              <a:rPr lang="en-US" altLang="en-US" sz="1600" b="1"/>
              <a:t>A transaction or system error:</a:t>
            </a:r>
            <a:r>
              <a:rPr lang="en-US" altLang="en-US" sz="1400"/>
              <a:t> Some operation in the transaction may cause it to fail, such as </a:t>
            </a:r>
            <a:r>
              <a:rPr lang="en-US" altLang="en-US" sz="1600" b="1"/>
              <a:t>integer overflow or division by zero</a:t>
            </a:r>
            <a:r>
              <a:rPr lang="en-US" altLang="en-US" sz="1400"/>
              <a:t>. Transaction failure may also occur because of erroneous parameter values or because of a logical programming error. In addition, the user may interrupt the transaction during its execution.</a:t>
            </a:r>
          </a:p>
          <a:p>
            <a:pPr marL="490538" indent="-474663" algn="just">
              <a:lnSpc>
                <a:spcPct val="80000"/>
              </a:lnSpc>
              <a:spcBef>
                <a:spcPts val="300"/>
              </a:spcBef>
              <a:buSzTx/>
              <a:buFont typeface="Wingdings" panose="05000000000000000000" pitchFamily="2" charset="2"/>
              <a:buNone/>
            </a:pPr>
            <a:r>
              <a:rPr lang="en-US" altLang="en-US" sz="1400"/>
              <a:t>3. Local errors or </a:t>
            </a:r>
            <a:r>
              <a:rPr lang="en-US" altLang="en-US" sz="1600" b="1"/>
              <a:t>exception conditions detected by the transaction</a:t>
            </a:r>
            <a:r>
              <a:rPr lang="en-US" altLang="en-US" sz="1400"/>
              <a:t>: Certain conditions necessitate cancellation of the transaction. For example, data for the transaction may not be found. A condition, such as </a:t>
            </a:r>
            <a:r>
              <a:rPr lang="en-US" altLang="en-US" sz="1400" b="1"/>
              <a:t>insufficient account balance in a banking database</a:t>
            </a:r>
            <a:r>
              <a:rPr lang="en-US" altLang="en-US" sz="1400"/>
              <a:t>, may cause a transaction, such as a fund withdrawal from that account, to be canceled. A programmed abort in the transaction causes it to fail.</a:t>
            </a:r>
          </a:p>
          <a:p>
            <a:pPr marL="490538" indent="-474663" algn="just">
              <a:lnSpc>
                <a:spcPct val="80000"/>
              </a:lnSpc>
              <a:spcBef>
                <a:spcPts val="300"/>
              </a:spcBef>
              <a:buSzTx/>
              <a:buFont typeface="Wingdings" panose="05000000000000000000" pitchFamily="2" charset="2"/>
              <a:buNone/>
            </a:pPr>
            <a:r>
              <a:rPr lang="en-US" altLang="en-US" sz="1400"/>
              <a:t>4. </a:t>
            </a:r>
            <a:r>
              <a:rPr lang="en-US" altLang="en-US" sz="1600" b="1"/>
              <a:t>Concurrency control enforcement</a:t>
            </a:r>
            <a:r>
              <a:rPr lang="en-US" altLang="en-US" sz="1400"/>
              <a:t>: The concurrency control method may decide to abort the transaction, to be restarted later, because it </a:t>
            </a:r>
            <a:r>
              <a:rPr lang="en-US" altLang="en-US" sz="1600" b="1"/>
              <a:t>violates serializability</a:t>
            </a:r>
            <a:r>
              <a:rPr lang="en-US" altLang="en-US" sz="1400"/>
              <a:t> or because several transactions are in a </a:t>
            </a:r>
            <a:r>
              <a:rPr lang="en-US" altLang="en-US" sz="1600" b="1"/>
              <a:t>state of deadlock</a:t>
            </a:r>
            <a:r>
              <a:rPr lang="en-US" altLang="en-US" sz="1400"/>
              <a:t>.</a:t>
            </a:r>
          </a:p>
          <a:p>
            <a:pPr marL="490538" indent="-474663" algn="just">
              <a:lnSpc>
                <a:spcPct val="80000"/>
              </a:lnSpc>
              <a:spcBef>
                <a:spcPts val="300"/>
              </a:spcBef>
              <a:buSzTx/>
              <a:buFont typeface="Wingdings" panose="05000000000000000000" pitchFamily="2" charset="2"/>
              <a:buNone/>
            </a:pPr>
            <a:r>
              <a:rPr lang="en-US" altLang="en-US" sz="1400"/>
              <a:t>5. </a:t>
            </a:r>
            <a:r>
              <a:rPr lang="en-US" altLang="en-US" sz="1600" b="1"/>
              <a:t>Disk failure</a:t>
            </a:r>
            <a:r>
              <a:rPr lang="en-US" altLang="en-US" sz="1400"/>
              <a:t>: Some disk blocks may lose their data because of a read or write malfunction or because of a disk read/write head crash. This may happen during a read or a write operation of the transaction.</a:t>
            </a:r>
          </a:p>
          <a:p>
            <a:pPr marL="490538" indent="-474663" algn="just">
              <a:lnSpc>
                <a:spcPct val="80000"/>
              </a:lnSpc>
              <a:spcBef>
                <a:spcPts val="300"/>
              </a:spcBef>
              <a:buSzTx/>
              <a:buFont typeface="Wingdings" panose="05000000000000000000" pitchFamily="2" charset="2"/>
              <a:buNone/>
            </a:pPr>
            <a:r>
              <a:rPr lang="en-US" altLang="en-US" sz="1400"/>
              <a:t>6. </a:t>
            </a:r>
            <a:r>
              <a:rPr lang="en-US" altLang="en-US" sz="1400" b="1"/>
              <a:t>Physical problems and catastrophes</a:t>
            </a:r>
            <a:r>
              <a:rPr lang="en-US" altLang="en-US" sz="1400"/>
              <a:t>: This refers to an endless list of problems that includes power or air-conditioning failure, fire, theft, sabotage, overwriting disks by mistake. </a:t>
            </a:r>
          </a:p>
        </p:txBody>
      </p:sp>
      <p:sp>
        <p:nvSpPr>
          <p:cNvPr id="236548" name="Text Box 4" descr="Date Placeholder 3">
            <a:extLst>
              <a:ext uri="{FF2B5EF4-FFF2-40B4-BE49-F238E27FC236}">
                <a16:creationId xmlns:a16="http://schemas.microsoft.com/office/drawing/2014/main" id="{BA7646B2-745A-3D26-D96C-FA473A063D6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6549" name="Text Box 5" descr="Slide Number Placeholder 5">
            <a:extLst>
              <a:ext uri="{FF2B5EF4-FFF2-40B4-BE49-F238E27FC236}">
                <a16:creationId xmlns:a16="http://schemas.microsoft.com/office/drawing/2014/main" id="{86FF86CA-D7F6-067F-AD3C-6CCAFB1915D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AD595D2-87F5-4322-B193-FDE6E698AE6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descr="Title 1">
            <a:extLst>
              <a:ext uri="{FF2B5EF4-FFF2-40B4-BE49-F238E27FC236}">
                <a16:creationId xmlns:a16="http://schemas.microsoft.com/office/drawing/2014/main" id="{184FEFEB-FEF3-B69A-2562-8596828E2CFF}"/>
              </a:ext>
            </a:extLst>
          </p:cNvPr>
          <p:cNvSpPr>
            <a:spLocks noChangeArrowheads="1"/>
          </p:cNvSpPr>
          <p:nvPr>
            <p:ph type="title"/>
          </p:nvPr>
        </p:nvSpPr>
        <p:spPr/>
        <p:txBody>
          <a:bodyPr/>
          <a:lstStyle/>
          <a:p>
            <a:r>
              <a:rPr lang="en-US" altLang="en-US" sz="2800"/>
              <a:t>Failure Classification</a:t>
            </a:r>
          </a:p>
        </p:txBody>
      </p:sp>
      <p:sp>
        <p:nvSpPr>
          <p:cNvPr id="237571" name="Rectangle 3" descr="Content Placeholder 2">
            <a:extLst>
              <a:ext uri="{FF2B5EF4-FFF2-40B4-BE49-F238E27FC236}">
                <a16:creationId xmlns:a16="http://schemas.microsoft.com/office/drawing/2014/main" id="{107B8BC2-DCD9-8D5E-F5EA-B84A608FD94A}"/>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2000"/>
              <a:t>Transaction failure : </a:t>
            </a:r>
          </a:p>
          <a:p>
            <a:pPr marL="908050" lvl="1" indent="-438150">
              <a:spcBef>
                <a:spcPts val="300"/>
              </a:spcBef>
            </a:pPr>
            <a:r>
              <a:rPr lang="en-US" altLang="en-US" sz="1600"/>
              <a:t>Logical errors: transaction cannot complete due to some internal error condition </a:t>
            </a:r>
            <a:endParaRPr lang="en-US" altLang="en-US" sz="2600"/>
          </a:p>
          <a:p>
            <a:pPr marL="908050" lvl="1" indent="-438150">
              <a:spcBef>
                <a:spcPts val="300"/>
              </a:spcBef>
            </a:pPr>
            <a:r>
              <a:rPr lang="en-US" altLang="en-US" sz="1600"/>
              <a:t>System errors: the database system must terminate an active transaction due to an error condition (e.g., deadlock) </a:t>
            </a:r>
            <a:endParaRPr lang="en-US" altLang="en-US" sz="2600"/>
          </a:p>
          <a:p>
            <a:pPr marL="0" indent="0">
              <a:spcBef>
                <a:spcPts val="400"/>
              </a:spcBef>
              <a:buSzTx/>
              <a:buFont typeface="Wingdings" panose="05000000000000000000" pitchFamily="2" charset="2"/>
              <a:buNone/>
            </a:pPr>
            <a:r>
              <a:rPr lang="en-US" altLang="en-US" sz="2000"/>
              <a:t>System crash: a power failure or other hardware or software failure causes the system to crash. </a:t>
            </a:r>
          </a:p>
          <a:p>
            <a:pPr marL="908050" lvl="1" indent="-438150">
              <a:spcBef>
                <a:spcPts val="300"/>
              </a:spcBef>
            </a:pPr>
            <a:r>
              <a:rPr lang="en-US" altLang="en-US" sz="1600"/>
              <a:t>Fail-stop assumption: non-volatile storage contents are assumed to not be corrupted by system crash</a:t>
            </a:r>
            <a:endParaRPr lang="en-US" altLang="en-US" sz="2600"/>
          </a:p>
          <a:p>
            <a:pPr marL="1304925" lvl="2" indent="-396875">
              <a:spcBef>
                <a:spcPts val="300"/>
              </a:spcBef>
            </a:pPr>
            <a:r>
              <a:rPr lang="en-US" altLang="en-US" sz="1300"/>
              <a:t>Database systems have numerous integrity checks to prevent corruption of disk data</a:t>
            </a:r>
            <a:endParaRPr lang="en-US" altLang="en-US" sz="2300"/>
          </a:p>
          <a:p>
            <a:pPr marL="0" indent="0">
              <a:spcBef>
                <a:spcPts val="400"/>
              </a:spcBef>
              <a:buSzTx/>
              <a:buFont typeface="Wingdings" panose="05000000000000000000" pitchFamily="2" charset="2"/>
              <a:buNone/>
            </a:pPr>
            <a:r>
              <a:rPr lang="en-US" altLang="en-US" sz="2000"/>
              <a:t>Disk failure: a head crash or similar disk failure destroys all or part of disk storage </a:t>
            </a:r>
          </a:p>
          <a:p>
            <a:pPr marL="908050" lvl="1" indent="-438150">
              <a:spcBef>
                <a:spcPts val="300"/>
              </a:spcBef>
            </a:pPr>
            <a:r>
              <a:rPr lang="en-US" altLang="en-US" sz="1600"/>
              <a:t>Destruction is assumed to be detectable: disk drives use checksums to detect failures</a:t>
            </a:r>
          </a:p>
        </p:txBody>
      </p:sp>
      <p:sp>
        <p:nvSpPr>
          <p:cNvPr id="237572" name="Text Box 4" descr="Date Placeholder 3">
            <a:extLst>
              <a:ext uri="{FF2B5EF4-FFF2-40B4-BE49-F238E27FC236}">
                <a16:creationId xmlns:a16="http://schemas.microsoft.com/office/drawing/2014/main" id="{5F856518-10C4-5952-142E-0944C8FE1FF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7573" name="Text Box 5" descr="Slide Number Placeholder 5">
            <a:extLst>
              <a:ext uri="{FF2B5EF4-FFF2-40B4-BE49-F238E27FC236}">
                <a16:creationId xmlns:a16="http://schemas.microsoft.com/office/drawing/2014/main" id="{BE5991E7-D528-1C7E-E44D-89033AEA581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E4D0BDC-A43A-404E-A950-ECB100A0717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descr="Title 1">
            <a:extLst>
              <a:ext uri="{FF2B5EF4-FFF2-40B4-BE49-F238E27FC236}">
                <a16:creationId xmlns:a16="http://schemas.microsoft.com/office/drawing/2014/main" id="{795F619B-01AF-CAB8-D039-221830DDF6AE}"/>
              </a:ext>
            </a:extLst>
          </p:cNvPr>
          <p:cNvSpPr>
            <a:spLocks noChangeArrowheads="1"/>
          </p:cNvSpPr>
          <p:nvPr>
            <p:ph type="title"/>
          </p:nvPr>
        </p:nvSpPr>
        <p:spPr/>
        <p:txBody>
          <a:bodyPr/>
          <a:lstStyle/>
          <a:p>
            <a:r>
              <a:rPr lang="en-US" altLang="en-US"/>
              <a:t>Recovery Algorithms</a:t>
            </a:r>
          </a:p>
        </p:txBody>
      </p:sp>
      <p:sp>
        <p:nvSpPr>
          <p:cNvPr id="238595" name="Rectangle 3" descr="Content Placeholder 2">
            <a:extLst>
              <a:ext uri="{FF2B5EF4-FFF2-40B4-BE49-F238E27FC236}">
                <a16:creationId xmlns:a16="http://schemas.microsoft.com/office/drawing/2014/main" id="{1F64FC1A-1265-A125-8715-90700894139E}"/>
              </a:ext>
            </a:extLst>
          </p:cNvPr>
          <p:cNvSpPr>
            <a:spLocks noChangeArrowheads="1"/>
          </p:cNvSpPr>
          <p:nvPr>
            <p:ph type="body" idx="1"/>
          </p:nvPr>
        </p:nvSpPr>
        <p:spPr/>
        <p:txBody>
          <a:bodyPr/>
          <a:lstStyle/>
          <a:p>
            <a:pPr>
              <a:spcBef>
                <a:spcPts val="400"/>
              </a:spcBef>
            </a:pPr>
            <a:r>
              <a:rPr lang="en-US" altLang="en-US" sz="2000"/>
              <a:t>Recovery algorithms are techniques to ensure database consistency and transaction atomicity and durability despite failures</a:t>
            </a:r>
          </a:p>
          <a:p>
            <a:pPr>
              <a:spcBef>
                <a:spcPts val="400"/>
              </a:spcBef>
            </a:pPr>
            <a:r>
              <a:rPr lang="en-US" altLang="en-US" sz="2000"/>
              <a:t>Recovery algorithms have two parts </a:t>
            </a:r>
          </a:p>
          <a:p>
            <a:pPr marL="0" lvl="1" indent="438150">
              <a:spcBef>
                <a:spcPts val="300"/>
              </a:spcBef>
              <a:buSzTx/>
              <a:buFont typeface="Wingdings" panose="05000000000000000000" pitchFamily="2" charset="2"/>
              <a:buNone/>
            </a:pPr>
            <a:r>
              <a:rPr lang="en-US" altLang="en-US" sz="1600"/>
              <a:t>1. Actions taken during normal transaction processing to ensure enough information exists to recover from failures </a:t>
            </a:r>
            <a:endParaRPr lang="en-US" altLang="en-US" sz="2600"/>
          </a:p>
          <a:p>
            <a:pPr marL="0" lvl="1" indent="438150">
              <a:spcBef>
                <a:spcPts val="300"/>
              </a:spcBef>
              <a:buSzTx/>
              <a:buFont typeface="Wingdings" panose="05000000000000000000" pitchFamily="2" charset="2"/>
              <a:buNone/>
            </a:pPr>
            <a:r>
              <a:rPr lang="en-US" altLang="en-US" sz="1600"/>
              <a:t>2. Actions taken after a failure to recover the database contents to a state that ensures atomicity, consistency and durability</a:t>
            </a:r>
          </a:p>
        </p:txBody>
      </p:sp>
      <p:sp>
        <p:nvSpPr>
          <p:cNvPr id="238596" name="Text Box 4" descr="Date Placeholder 3">
            <a:extLst>
              <a:ext uri="{FF2B5EF4-FFF2-40B4-BE49-F238E27FC236}">
                <a16:creationId xmlns:a16="http://schemas.microsoft.com/office/drawing/2014/main" id="{6D6C6369-74BD-2990-7015-5E9874A820E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8597" name="Text Box 5" descr="Slide Number Placeholder 5">
            <a:extLst>
              <a:ext uri="{FF2B5EF4-FFF2-40B4-BE49-F238E27FC236}">
                <a16:creationId xmlns:a16="http://schemas.microsoft.com/office/drawing/2014/main" id="{50A1F980-0A46-F89D-D7E9-630FCE20016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AEB15D5-498D-487F-A2D2-8CCBB54B77B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descr="Title 1">
            <a:extLst>
              <a:ext uri="{FF2B5EF4-FFF2-40B4-BE49-F238E27FC236}">
                <a16:creationId xmlns:a16="http://schemas.microsoft.com/office/drawing/2014/main" id="{3DBACE28-B8D6-EA04-9542-0FA37E2D4B94}"/>
              </a:ext>
            </a:extLst>
          </p:cNvPr>
          <p:cNvSpPr>
            <a:spLocks noChangeArrowheads="1"/>
          </p:cNvSpPr>
          <p:nvPr>
            <p:ph type="title"/>
          </p:nvPr>
        </p:nvSpPr>
        <p:spPr/>
        <p:txBody>
          <a:bodyPr/>
          <a:lstStyle/>
          <a:p>
            <a:r>
              <a:rPr lang="en-US" altLang="en-US"/>
              <a:t>Example: Database Transaction</a:t>
            </a:r>
          </a:p>
        </p:txBody>
      </p:sp>
      <p:sp>
        <p:nvSpPr>
          <p:cNvPr id="239619" name="Rectangle 3" descr="Content Placeholder 2">
            <a:extLst>
              <a:ext uri="{FF2B5EF4-FFF2-40B4-BE49-F238E27FC236}">
                <a16:creationId xmlns:a16="http://schemas.microsoft.com/office/drawing/2014/main" id="{C53B39A7-429E-2D39-AB4C-766657D9EAB9}"/>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39620" name="Text Box 4" descr="Date Placeholder 3">
            <a:extLst>
              <a:ext uri="{FF2B5EF4-FFF2-40B4-BE49-F238E27FC236}">
                <a16:creationId xmlns:a16="http://schemas.microsoft.com/office/drawing/2014/main" id="{67F514FD-5283-F1D4-000C-521DC2EC00C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39621" name="Text Box 5" descr="Slide Number Placeholder 5">
            <a:extLst>
              <a:ext uri="{FF2B5EF4-FFF2-40B4-BE49-F238E27FC236}">
                <a16:creationId xmlns:a16="http://schemas.microsoft.com/office/drawing/2014/main" id="{BBDD40B2-0D6B-AEC1-FC99-78B0A759630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2351032-FCDB-48CD-AC32-4F918197E8B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39622" name="AutoShape 6" descr="Flowchart: Magnetic Disk 6">
            <a:extLst>
              <a:ext uri="{FF2B5EF4-FFF2-40B4-BE49-F238E27FC236}">
                <a16:creationId xmlns:a16="http://schemas.microsoft.com/office/drawing/2014/main" id="{D2C6408D-653A-F9B2-0930-7EE7333C841C}"/>
              </a:ext>
            </a:extLst>
          </p:cNvPr>
          <p:cNvSpPr>
            <a:spLocks/>
          </p:cNvSpPr>
          <p:nvPr/>
        </p:nvSpPr>
        <p:spPr bwMode="auto">
          <a:xfrm>
            <a:off x="5219700" y="1771650"/>
            <a:ext cx="2928938" cy="2447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39623" name="Group 7">
            <a:extLst>
              <a:ext uri="{FF2B5EF4-FFF2-40B4-BE49-F238E27FC236}">
                <a16:creationId xmlns:a16="http://schemas.microsoft.com/office/drawing/2014/main" id="{7A1305E4-084C-A196-568B-479F9C85403A}"/>
              </a:ext>
            </a:extLst>
          </p:cNvPr>
          <p:cNvGraphicFramePr>
            <a:graphicFrameLocks noGrp="1"/>
          </p:cNvGraphicFramePr>
          <p:nvPr/>
        </p:nvGraphicFramePr>
        <p:xfrm>
          <a:off x="5554663" y="2924175"/>
          <a:ext cx="2260600" cy="1089025"/>
        </p:xfrm>
        <a:graphic>
          <a:graphicData uri="http://schemas.openxmlformats.org/drawingml/2006/table">
            <a:tbl>
              <a:tblPr/>
              <a:tblGrid>
                <a:gridCol w="1108075">
                  <a:extLst>
                    <a:ext uri="{9D8B030D-6E8A-4147-A177-3AD203B41FA5}">
                      <a16:colId xmlns:a16="http://schemas.microsoft.com/office/drawing/2014/main" val="3941343803"/>
                    </a:ext>
                  </a:extLst>
                </a:gridCol>
                <a:gridCol w="1152525">
                  <a:extLst>
                    <a:ext uri="{9D8B030D-6E8A-4147-A177-3AD203B41FA5}">
                      <a16:colId xmlns:a16="http://schemas.microsoft.com/office/drawing/2014/main" val="735852810"/>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23550943"/>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0143948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49138252"/>
                  </a:ext>
                </a:extLst>
              </a:tr>
            </a:tbl>
          </a:graphicData>
        </a:graphic>
      </p:graphicFrame>
      <p:sp>
        <p:nvSpPr>
          <p:cNvPr id="239647" name="Text Box 31" descr="TextBox 8">
            <a:extLst>
              <a:ext uri="{FF2B5EF4-FFF2-40B4-BE49-F238E27FC236}">
                <a16:creationId xmlns:a16="http://schemas.microsoft.com/office/drawing/2014/main" id="{1687D2AB-31D3-D976-6F42-30055CED094A}"/>
              </a:ext>
            </a:extLst>
          </p:cNvPr>
          <p:cNvSpPr txBox="1">
            <a:spLocks/>
          </p:cNvSpPr>
          <p:nvPr/>
        </p:nvSpPr>
        <p:spPr bwMode="auto">
          <a:xfrm>
            <a:off x="5553075" y="2543175"/>
            <a:ext cx="134937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spTree>
  </p:cSld>
  <p:clrMapOvr>
    <a:masterClrMapping/>
  </p:clrMapOvr>
  <p:transition spd="med"/>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descr="Title 1">
            <a:extLst>
              <a:ext uri="{FF2B5EF4-FFF2-40B4-BE49-F238E27FC236}">
                <a16:creationId xmlns:a16="http://schemas.microsoft.com/office/drawing/2014/main" id="{002EEE0D-83A5-5787-4C79-2A7C024513C5}"/>
              </a:ext>
            </a:extLst>
          </p:cNvPr>
          <p:cNvSpPr>
            <a:spLocks noChangeArrowheads="1"/>
          </p:cNvSpPr>
          <p:nvPr>
            <p:ph type="title"/>
          </p:nvPr>
        </p:nvSpPr>
        <p:spPr/>
        <p:txBody>
          <a:bodyPr/>
          <a:lstStyle/>
          <a:p>
            <a:r>
              <a:rPr lang="en-US" altLang="en-US"/>
              <a:t>Example: Database Transaction</a:t>
            </a:r>
          </a:p>
        </p:txBody>
      </p:sp>
      <p:sp>
        <p:nvSpPr>
          <p:cNvPr id="240643" name="Rectangle 3" descr="Content Placeholder 2">
            <a:extLst>
              <a:ext uri="{FF2B5EF4-FFF2-40B4-BE49-F238E27FC236}">
                <a16:creationId xmlns:a16="http://schemas.microsoft.com/office/drawing/2014/main" id="{7523DE15-811F-395B-F1CE-92EF9C6A1258}"/>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0644" name="Text Box 4" descr="Date Placeholder 3">
            <a:extLst>
              <a:ext uri="{FF2B5EF4-FFF2-40B4-BE49-F238E27FC236}">
                <a16:creationId xmlns:a16="http://schemas.microsoft.com/office/drawing/2014/main" id="{B9EE42B2-0B0F-F444-8C0B-0296DF13D4C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0645" name="Text Box 5" descr="Slide Number Placeholder 5">
            <a:extLst>
              <a:ext uri="{FF2B5EF4-FFF2-40B4-BE49-F238E27FC236}">
                <a16:creationId xmlns:a16="http://schemas.microsoft.com/office/drawing/2014/main" id="{EF2D9FC2-922B-33E1-9F9F-9B0A01D8263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A2747DD-B4CC-4C1D-AF65-E60064D331B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0646" name="AutoShape 6" descr="Flowchart: Magnetic Disk 6">
            <a:extLst>
              <a:ext uri="{FF2B5EF4-FFF2-40B4-BE49-F238E27FC236}">
                <a16:creationId xmlns:a16="http://schemas.microsoft.com/office/drawing/2014/main" id="{6873F36B-732A-2274-6184-DFA192505384}"/>
              </a:ext>
            </a:extLst>
          </p:cNvPr>
          <p:cNvSpPr>
            <a:spLocks/>
          </p:cNvSpPr>
          <p:nvPr/>
        </p:nvSpPr>
        <p:spPr bwMode="auto">
          <a:xfrm>
            <a:off x="5219700" y="1771650"/>
            <a:ext cx="2928938" cy="2447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0647" name="Group 7">
            <a:extLst>
              <a:ext uri="{FF2B5EF4-FFF2-40B4-BE49-F238E27FC236}">
                <a16:creationId xmlns:a16="http://schemas.microsoft.com/office/drawing/2014/main" id="{733D4A54-8198-5C48-C79E-6F14CC82B274}"/>
              </a:ext>
            </a:extLst>
          </p:cNvPr>
          <p:cNvGraphicFramePr>
            <a:graphicFrameLocks noGrp="1"/>
          </p:cNvGraphicFramePr>
          <p:nvPr/>
        </p:nvGraphicFramePr>
        <p:xfrm>
          <a:off x="5554663" y="2924175"/>
          <a:ext cx="2260600" cy="1089025"/>
        </p:xfrm>
        <a:graphic>
          <a:graphicData uri="http://schemas.openxmlformats.org/drawingml/2006/table">
            <a:tbl>
              <a:tblPr/>
              <a:tblGrid>
                <a:gridCol w="1108075">
                  <a:extLst>
                    <a:ext uri="{9D8B030D-6E8A-4147-A177-3AD203B41FA5}">
                      <a16:colId xmlns:a16="http://schemas.microsoft.com/office/drawing/2014/main" val="2823856566"/>
                    </a:ext>
                  </a:extLst>
                </a:gridCol>
                <a:gridCol w="1152525">
                  <a:extLst>
                    <a:ext uri="{9D8B030D-6E8A-4147-A177-3AD203B41FA5}">
                      <a16:colId xmlns:a16="http://schemas.microsoft.com/office/drawing/2014/main" val="3561776767"/>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942502547"/>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8782492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000543159"/>
                  </a:ext>
                </a:extLst>
              </a:tr>
            </a:tbl>
          </a:graphicData>
        </a:graphic>
      </p:graphicFrame>
      <p:sp>
        <p:nvSpPr>
          <p:cNvPr id="240671" name="Text Box 31" descr="TextBox 8">
            <a:extLst>
              <a:ext uri="{FF2B5EF4-FFF2-40B4-BE49-F238E27FC236}">
                <a16:creationId xmlns:a16="http://schemas.microsoft.com/office/drawing/2014/main" id="{B2782535-5795-551B-5E13-C89D9A1F679F}"/>
              </a:ext>
            </a:extLst>
          </p:cNvPr>
          <p:cNvSpPr txBox="1">
            <a:spLocks/>
          </p:cNvSpPr>
          <p:nvPr/>
        </p:nvSpPr>
        <p:spPr bwMode="auto">
          <a:xfrm>
            <a:off x="5553075" y="2543175"/>
            <a:ext cx="134937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graphicFrame>
        <p:nvGraphicFramePr>
          <p:cNvPr id="240672" name="Group 32">
            <a:extLst>
              <a:ext uri="{FF2B5EF4-FFF2-40B4-BE49-F238E27FC236}">
                <a16:creationId xmlns:a16="http://schemas.microsoft.com/office/drawing/2014/main" id="{6D47F808-1553-E185-A893-1E16C2576F42}"/>
              </a:ext>
            </a:extLst>
          </p:cNvPr>
          <p:cNvGraphicFramePr>
            <a:graphicFrameLocks noGrp="1"/>
          </p:cNvGraphicFramePr>
          <p:nvPr/>
        </p:nvGraphicFramePr>
        <p:xfrm>
          <a:off x="1187450" y="2170113"/>
          <a:ext cx="1439863" cy="2305050"/>
        </p:xfrm>
        <a:graphic>
          <a:graphicData uri="http://schemas.openxmlformats.org/drawingml/2006/table">
            <a:tbl>
              <a:tblPr/>
              <a:tblGrid>
                <a:gridCol w="1439863">
                  <a:extLst>
                    <a:ext uri="{9D8B030D-6E8A-4147-A177-3AD203B41FA5}">
                      <a16:colId xmlns:a16="http://schemas.microsoft.com/office/drawing/2014/main" val="257572992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4918442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07344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810869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0524990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7960490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09082325"/>
                  </a:ext>
                </a:extLst>
              </a:tr>
            </a:tbl>
          </a:graphicData>
        </a:graphic>
      </p:graphicFrame>
      <p:sp>
        <p:nvSpPr>
          <p:cNvPr id="240698" name="Text Box 58" descr="TextBox 10">
            <a:extLst>
              <a:ext uri="{FF2B5EF4-FFF2-40B4-BE49-F238E27FC236}">
                <a16:creationId xmlns:a16="http://schemas.microsoft.com/office/drawing/2014/main" id="{7FAC705A-2595-8891-FD37-87C5BAA56345}"/>
              </a:ext>
            </a:extLst>
          </p:cNvPr>
          <p:cNvSpPr txBox="1">
            <a:spLocks/>
          </p:cNvSpPr>
          <p:nvPr/>
        </p:nvSpPr>
        <p:spPr bwMode="auto">
          <a:xfrm>
            <a:off x="1089025" y="1771650"/>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Tree>
  </p:cSld>
  <p:clrMapOvr>
    <a:masterClrMapping/>
  </p:clrMapOvr>
  <p:transition spd="med"/>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descr="Title 1">
            <a:extLst>
              <a:ext uri="{FF2B5EF4-FFF2-40B4-BE49-F238E27FC236}">
                <a16:creationId xmlns:a16="http://schemas.microsoft.com/office/drawing/2014/main" id="{656473CC-A3B5-4DBC-29D6-44C7095B1A7A}"/>
              </a:ext>
            </a:extLst>
          </p:cNvPr>
          <p:cNvSpPr>
            <a:spLocks noChangeArrowheads="1"/>
          </p:cNvSpPr>
          <p:nvPr>
            <p:ph type="title"/>
          </p:nvPr>
        </p:nvSpPr>
        <p:spPr/>
        <p:txBody>
          <a:bodyPr/>
          <a:lstStyle/>
          <a:p>
            <a:r>
              <a:rPr lang="en-US" altLang="en-US"/>
              <a:t>Example: Database Transaction</a:t>
            </a:r>
          </a:p>
        </p:txBody>
      </p:sp>
      <p:sp>
        <p:nvSpPr>
          <p:cNvPr id="241667" name="Rectangle 3" descr="Content Placeholder 2">
            <a:extLst>
              <a:ext uri="{FF2B5EF4-FFF2-40B4-BE49-F238E27FC236}">
                <a16:creationId xmlns:a16="http://schemas.microsoft.com/office/drawing/2014/main" id="{9B35C60F-9B74-E434-6ECC-7C6B97500469}"/>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1668" name="Text Box 4" descr="Date Placeholder 3">
            <a:extLst>
              <a:ext uri="{FF2B5EF4-FFF2-40B4-BE49-F238E27FC236}">
                <a16:creationId xmlns:a16="http://schemas.microsoft.com/office/drawing/2014/main" id="{25E1830D-E53F-E54E-D0D4-9640ADB830E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1669" name="Text Box 5" descr="Slide Number Placeholder 5">
            <a:extLst>
              <a:ext uri="{FF2B5EF4-FFF2-40B4-BE49-F238E27FC236}">
                <a16:creationId xmlns:a16="http://schemas.microsoft.com/office/drawing/2014/main" id="{9C8DA9E4-1D00-F18D-8666-444334DE698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86542D8-CE1D-4845-9C13-C773D1313B4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1670" name="AutoShape 6" descr="Flowchart: Magnetic Disk 6">
            <a:extLst>
              <a:ext uri="{FF2B5EF4-FFF2-40B4-BE49-F238E27FC236}">
                <a16:creationId xmlns:a16="http://schemas.microsoft.com/office/drawing/2014/main" id="{E46C514F-03A1-DC9B-F346-2E8E083051FB}"/>
              </a:ext>
            </a:extLst>
          </p:cNvPr>
          <p:cNvSpPr>
            <a:spLocks/>
          </p:cNvSpPr>
          <p:nvPr/>
        </p:nvSpPr>
        <p:spPr bwMode="auto">
          <a:xfrm>
            <a:off x="5219700" y="1771650"/>
            <a:ext cx="2928938" cy="2447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1671" name="Group 7">
            <a:extLst>
              <a:ext uri="{FF2B5EF4-FFF2-40B4-BE49-F238E27FC236}">
                <a16:creationId xmlns:a16="http://schemas.microsoft.com/office/drawing/2014/main" id="{9BDD38C4-7C93-CEDA-7772-6DF7A83EC131}"/>
              </a:ext>
            </a:extLst>
          </p:cNvPr>
          <p:cNvGraphicFramePr>
            <a:graphicFrameLocks noGrp="1"/>
          </p:cNvGraphicFramePr>
          <p:nvPr/>
        </p:nvGraphicFramePr>
        <p:xfrm>
          <a:off x="5554663" y="2924175"/>
          <a:ext cx="2260600" cy="1089025"/>
        </p:xfrm>
        <a:graphic>
          <a:graphicData uri="http://schemas.openxmlformats.org/drawingml/2006/table">
            <a:tbl>
              <a:tblPr/>
              <a:tblGrid>
                <a:gridCol w="1108075">
                  <a:extLst>
                    <a:ext uri="{9D8B030D-6E8A-4147-A177-3AD203B41FA5}">
                      <a16:colId xmlns:a16="http://schemas.microsoft.com/office/drawing/2014/main" val="1351458407"/>
                    </a:ext>
                  </a:extLst>
                </a:gridCol>
                <a:gridCol w="1152525">
                  <a:extLst>
                    <a:ext uri="{9D8B030D-6E8A-4147-A177-3AD203B41FA5}">
                      <a16:colId xmlns:a16="http://schemas.microsoft.com/office/drawing/2014/main" val="2186666112"/>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07025533"/>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53395538"/>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100 200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270387450"/>
                  </a:ext>
                </a:extLst>
              </a:tr>
            </a:tbl>
          </a:graphicData>
        </a:graphic>
      </p:graphicFrame>
      <p:sp>
        <p:nvSpPr>
          <p:cNvPr id="241695" name="Text Box 31" descr="TextBox 8">
            <a:extLst>
              <a:ext uri="{FF2B5EF4-FFF2-40B4-BE49-F238E27FC236}">
                <a16:creationId xmlns:a16="http://schemas.microsoft.com/office/drawing/2014/main" id="{AC1485F9-31A5-DE7A-A726-E808BDF504B8}"/>
              </a:ext>
            </a:extLst>
          </p:cNvPr>
          <p:cNvSpPr txBox="1">
            <a:spLocks/>
          </p:cNvSpPr>
          <p:nvPr/>
        </p:nvSpPr>
        <p:spPr bwMode="auto">
          <a:xfrm>
            <a:off x="5553075" y="2543175"/>
            <a:ext cx="134937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graphicFrame>
        <p:nvGraphicFramePr>
          <p:cNvPr id="241696" name="Group 32">
            <a:extLst>
              <a:ext uri="{FF2B5EF4-FFF2-40B4-BE49-F238E27FC236}">
                <a16:creationId xmlns:a16="http://schemas.microsoft.com/office/drawing/2014/main" id="{EC8D3999-1C5A-82D8-2677-6E41C41E4854}"/>
              </a:ext>
            </a:extLst>
          </p:cNvPr>
          <p:cNvGraphicFramePr>
            <a:graphicFrameLocks noGrp="1"/>
          </p:cNvGraphicFramePr>
          <p:nvPr/>
        </p:nvGraphicFramePr>
        <p:xfrm>
          <a:off x="1187450" y="2170113"/>
          <a:ext cx="1439863" cy="2305050"/>
        </p:xfrm>
        <a:graphic>
          <a:graphicData uri="http://schemas.openxmlformats.org/drawingml/2006/table">
            <a:tbl>
              <a:tblPr/>
              <a:tblGrid>
                <a:gridCol w="1439863">
                  <a:extLst>
                    <a:ext uri="{9D8B030D-6E8A-4147-A177-3AD203B41FA5}">
                      <a16:colId xmlns:a16="http://schemas.microsoft.com/office/drawing/2014/main" val="360921744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297453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628141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3734841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0137372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5899978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18467790"/>
                  </a:ext>
                </a:extLst>
              </a:tr>
            </a:tbl>
          </a:graphicData>
        </a:graphic>
      </p:graphicFrame>
      <p:sp>
        <p:nvSpPr>
          <p:cNvPr id="241722" name="Text Box 58" descr="TextBox 10">
            <a:extLst>
              <a:ext uri="{FF2B5EF4-FFF2-40B4-BE49-F238E27FC236}">
                <a16:creationId xmlns:a16="http://schemas.microsoft.com/office/drawing/2014/main" id="{47DC4ACF-7892-9764-D4CF-B7AA0AC83040}"/>
              </a:ext>
            </a:extLst>
          </p:cNvPr>
          <p:cNvSpPr txBox="1">
            <a:spLocks/>
          </p:cNvSpPr>
          <p:nvPr/>
        </p:nvSpPr>
        <p:spPr bwMode="auto">
          <a:xfrm>
            <a:off x="1089025" y="1771650"/>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1723" name="Text Box 59" descr="TextBox 11">
            <a:extLst>
              <a:ext uri="{FF2B5EF4-FFF2-40B4-BE49-F238E27FC236}">
                <a16:creationId xmlns:a16="http://schemas.microsoft.com/office/drawing/2014/main" id="{E32699DA-2E64-C755-85A0-F480CE593EAE}"/>
              </a:ext>
            </a:extLst>
          </p:cNvPr>
          <p:cNvSpPr txBox="1">
            <a:spLocks/>
          </p:cNvSpPr>
          <p:nvPr/>
        </p:nvSpPr>
        <p:spPr bwMode="auto">
          <a:xfrm>
            <a:off x="5653088" y="4219575"/>
            <a:ext cx="2574925"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Sate of Database, After </a:t>
            </a:r>
          </a:p>
          <a:p>
            <a:r>
              <a:rPr lang="en-US" altLang="en-US" sz="1600"/>
              <a:t>completely executing </a:t>
            </a:r>
          </a:p>
          <a:p>
            <a:r>
              <a:rPr lang="en-US" altLang="en-US" sz="1600"/>
              <a:t>all operations of</a:t>
            </a:r>
          </a:p>
          <a:p>
            <a:r>
              <a:rPr lang="en-US" altLang="en-US" sz="1600"/>
              <a:t>Transaction T1</a:t>
            </a:r>
          </a:p>
        </p:txBody>
      </p:sp>
    </p:spTree>
  </p:cSld>
  <p:clrMapOvr>
    <a:masterClrMapping/>
  </p:clrMapOvr>
  <p:transition spd="med"/>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descr="Title 1">
            <a:extLst>
              <a:ext uri="{FF2B5EF4-FFF2-40B4-BE49-F238E27FC236}">
                <a16:creationId xmlns:a16="http://schemas.microsoft.com/office/drawing/2014/main" id="{7AB19F5A-43E5-FB78-B3DD-A4416BE35AF3}"/>
              </a:ext>
            </a:extLst>
          </p:cNvPr>
          <p:cNvSpPr>
            <a:spLocks noChangeArrowheads="1"/>
          </p:cNvSpPr>
          <p:nvPr>
            <p:ph type="title"/>
          </p:nvPr>
        </p:nvSpPr>
        <p:spPr/>
        <p:txBody>
          <a:bodyPr/>
          <a:lstStyle/>
          <a:p>
            <a:r>
              <a:rPr lang="en-US" altLang="en-US"/>
              <a:t>Example: Database Transaction</a:t>
            </a:r>
          </a:p>
        </p:txBody>
      </p:sp>
      <p:sp>
        <p:nvSpPr>
          <p:cNvPr id="242691" name="Rectangle 3" descr="Content Placeholder 2">
            <a:extLst>
              <a:ext uri="{FF2B5EF4-FFF2-40B4-BE49-F238E27FC236}">
                <a16:creationId xmlns:a16="http://schemas.microsoft.com/office/drawing/2014/main" id="{25D44430-A09E-BE6A-B0FC-13E28A10574F}"/>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2692" name="Text Box 4" descr="Date Placeholder 3">
            <a:extLst>
              <a:ext uri="{FF2B5EF4-FFF2-40B4-BE49-F238E27FC236}">
                <a16:creationId xmlns:a16="http://schemas.microsoft.com/office/drawing/2014/main" id="{ED0C8FD5-FCD1-86D4-1FFC-3EF87CE6BA6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2693" name="Text Box 5" descr="Slide Number Placeholder 5">
            <a:extLst>
              <a:ext uri="{FF2B5EF4-FFF2-40B4-BE49-F238E27FC236}">
                <a16:creationId xmlns:a16="http://schemas.microsoft.com/office/drawing/2014/main" id="{A946BC84-B131-789C-FDD4-891983764A6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965899E-93D0-4DA6-94A2-14904530104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2694" name="AutoShape 6" descr="Flowchart: Magnetic Disk 6">
            <a:extLst>
              <a:ext uri="{FF2B5EF4-FFF2-40B4-BE49-F238E27FC236}">
                <a16:creationId xmlns:a16="http://schemas.microsoft.com/office/drawing/2014/main" id="{83D5B6A7-D7C7-DD4E-49B7-ADDE29721C4C}"/>
              </a:ext>
            </a:extLst>
          </p:cNvPr>
          <p:cNvSpPr>
            <a:spLocks/>
          </p:cNvSpPr>
          <p:nvPr/>
        </p:nvSpPr>
        <p:spPr bwMode="auto">
          <a:xfrm>
            <a:off x="5219700" y="1771650"/>
            <a:ext cx="2928938" cy="2447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2695" name="Group 7">
            <a:extLst>
              <a:ext uri="{FF2B5EF4-FFF2-40B4-BE49-F238E27FC236}">
                <a16:creationId xmlns:a16="http://schemas.microsoft.com/office/drawing/2014/main" id="{79F1C4DD-8294-541F-7AD9-208F8CC2ECD4}"/>
              </a:ext>
            </a:extLst>
          </p:cNvPr>
          <p:cNvGraphicFramePr>
            <a:graphicFrameLocks noGrp="1"/>
          </p:cNvGraphicFramePr>
          <p:nvPr/>
        </p:nvGraphicFramePr>
        <p:xfrm>
          <a:off x="5554663" y="2924175"/>
          <a:ext cx="2260600" cy="1089025"/>
        </p:xfrm>
        <a:graphic>
          <a:graphicData uri="http://schemas.openxmlformats.org/drawingml/2006/table">
            <a:tbl>
              <a:tblPr/>
              <a:tblGrid>
                <a:gridCol w="1108075">
                  <a:extLst>
                    <a:ext uri="{9D8B030D-6E8A-4147-A177-3AD203B41FA5}">
                      <a16:colId xmlns:a16="http://schemas.microsoft.com/office/drawing/2014/main" val="1287505479"/>
                    </a:ext>
                  </a:extLst>
                </a:gridCol>
                <a:gridCol w="1152525">
                  <a:extLst>
                    <a:ext uri="{9D8B030D-6E8A-4147-A177-3AD203B41FA5}">
                      <a16:colId xmlns:a16="http://schemas.microsoft.com/office/drawing/2014/main" val="658546968"/>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98613658"/>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767471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2896653"/>
                  </a:ext>
                </a:extLst>
              </a:tr>
            </a:tbl>
          </a:graphicData>
        </a:graphic>
      </p:graphicFrame>
      <p:sp>
        <p:nvSpPr>
          <p:cNvPr id="242719" name="Text Box 31" descr="TextBox 8">
            <a:extLst>
              <a:ext uri="{FF2B5EF4-FFF2-40B4-BE49-F238E27FC236}">
                <a16:creationId xmlns:a16="http://schemas.microsoft.com/office/drawing/2014/main" id="{5FB59DFB-8A9D-2654-2416-600D099500F4}"/>
              </a:ext>
            </a:extLst>
          </p:cNvPr>
          <p:cNvSpPr txBox="1">
            <a:spLocks/>
          </p:cNvSpPr>
          <p:nvPr/>
        </p:nvSpPr>
        <p:spPr bwMode="auto">
          <a:xfrm>
            <a:off x="5553075" y="2543175"/>
            <a:ext cx="134937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graphicFrame>
        <p:nvGraphicFramePr>
          <p:cNvPr id="242720" name="Group 32">
            <a:extLst>
              <a:ext uri="{FF2B5EF4-FFF2-40B4-BE49-F238E27FC236}">
                <a16:creationId xmlns:a16="http://schemas.microsoft.com/office/drawing/2014/main" id="{03DD29DB-9AE4-45F4-A8BF-AF6927EACB4A}"/>
              </a:ext>
            </a:extLst>
          </p:cNvPr>
          <p:cNvGraphicFramePr>
            <a:graphicFrameLocks noGrp="1"/>
          </p:cNvGraphicFramePr>
          <p:nvPr/>
        </p:nvGraphicFramePr>
        <p:xfrm>
          <a:off x="1763713" y="2211388"/>
          <a:ext cx="1439862" cy="2305050"/>
        </p:xfrm>
        <a:graphic>
          <a:graphicData uri="http://schemas.openxmlformats.org/drawingml/2006/table">
            <a:tbl>
              <a:tblPr/>
              <a:tblGrid>
                <a:gridCol w="1439862">
                  <a:extLst>
                    <a:ext uri="{9D8B030D-6E8A-4147-A177-3AD203B41FA5}">
                      <a16:colId xmlns:a16="http://schemas.microsoft.com/office/drawing/2014/main" val="275253474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7010418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6844428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916234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843814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919326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47609616"/>
                  </a:ext>
                </a:extLst>
              </a:tr>
            </a:tbl>
          </a:graphicData>
        </a:graphic>
      </p:graphicFrame>
      <p:sp>
        <p:nvSpPr>
          <p:cNvPr id="242746" name="Text Box 58" descr="TextBox 10">
            <a:extLst>
              <a:ext uri="{FF2B5EF4-FFF2-40B4-BE49-F238E27FC236}">
                <a16:creationId xmlns:a16="http://schemas.microsoft.com/office/drawing/2014/main" id="{922F0D83-88B1-978F-C788-2CAD1BE7E123}"/>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2747" name="Text Box 59" descr="TextBox 11">
            <a:extLst>
              <a:ext uri="{FF2B5EF4-FFF2-40B4-BE49-F238E27FC236}">
                <a16:creationId xmlns:a16="http://schemas.microsoft.com/office/drawing/2014/main" id="{1758C415-D0C4-9409-4151-01B10CEE0B8B}"/>
              </a:ext>
            </a:extLst>
          </p:cNvPr>
          <p:cNvSpPr txBox="1">
            <a:spLocks/>
          </p:cNvSpPr>
          <p:nvPr/>
        </p:nvSpPr>
        <p:spPr bwMode="auto">
          <a:xfrm>
            <a:off x="5110163" y="4219575"/>
            <a:ext cx="3438525" cy="1336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Sate of Database, until</a:t>
            </a:r>
          </a:p>
          <a:p>
            <a:r>
              <a:rPr lang="en-US" altLang="en-US" sz="1600"/>
              <a:t>The system crash.</a:t>
            </a:r>
          </a:p>
          <a:p>
            <a:endParaRPr lang="en-US" altLang="en-US" sz="1600"/>
          </a:p>
          <a:p>
            <a:r>
              <a:rPr lang="en-US" altLang="en-US">
                <a:solidFill>
                  <a:srgbClr val="FF0000"/>
                </a:solidFill>
              </a:rPr>
              <a:t>Now database is inconsistent</a:t>
            </a:r>
          </a:p>
        </p:txBody>
      </p:sp>
      <p:sp>
        <p:nvSpPr>
          <p:cNvPr id="242748" name="Line 60" descr="Straight Arrow Connector 13">
            <a:extLst>
              <a:ext uri="{FF2B5EF4-FFF2-40B4-BE49-F238E27FC236}">
                <a16:creationId xmlns:a16="http://schemas.microsoft.com/office/drawing/2014/main" id="{1D9C6A32-4100-E4D0-55D3-F10083C76B32}"/>
              </a:ext>
            </a:extLst>
          </p:cNvPr>
          <p:cNvSpPr>
            <a:spLocks noChangeShapeType="1"/>
          </p:cNvSpPr>
          <p:nvPr/>
        </p:nvSpPr>
        <p:spPr bwMode="auto">
          <a:xfrm>
            <a:off x="1258888" y="3686175"/>
            <a:ext cx="503237"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2749" name="Text Box 61" descr="TextBox 15">
            <a:extLst>
              <a:ext uri="{FF2B5EF4-FFF2-40B4-BE49-F238E27FC236}">
                <a16:creationId xmlns:a16="http://schemas.microsoft.com/office/drawing/2014/main" id="{65130FF6-58B4-B07B-438F-E15408546F6F}"/>
              </a:ext>
            </a:extLst>
          </p:cNvPr>
          <p:cNvSpPr txBox="1">
            <a:spLocks/>
          </p:cNvSpPr>
          <p:nvPr/>
        </p:nvSpPr>
        <p:spPr bwMode="auto">
          <a:xfrm>
            <a:off x="395288" y="3363913"/>
            <a:ext cx="104140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spTree>
  </p:cSld>
  <p:clrMapOvr>
    <a:masterClrMapping/>
  </p:clrMapOvr>
  <p:transition spd="med"/>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2" descr="Title 1">
            <a:extLst>
              <a:ext uri="{FF2B5EF4-FFF2-40B4-BE49-F238E27FC236}">
                <a16:creationId xmlns:a16="http://schemas.microsoft.com/office/drawing/2014/main" id="{3F0DC6A0-DF51-9DD4-4342-A5BB096FAF7E}"/>
              </a:ext>
            </a:extLst>
          </p:cNvPr>
          <p:cNvSpPr>
            <a:spLocks noChangeArrowheads="1"/>
          </p:cNvSpPr>
          <p:nvPr>
            <p:ph type="title"/>
          </p:nvPr>
        </p:nvSpPr>
        <p:spPr/>
        <p:txBody>
          <a:bodyPr/>
          <a:lstStyle/>
          <a:p>
            <a:r>
              <a:rPr lang="en-US" altLang="en-US"/>
              <a:t>Database Recovery Mechanisms</a:t>
            </a:r>
          </a:p>
        </p:txBody>
      </p:sp>
      <p:sp>
        <p:nvSpPr>
          <p:cNvPr id="243715" name="Text Box 3" descr="Date Placeholder 3">
            <a:extLst>
              <a:ext uri="{FF2B5EF4-FFF2-40B4-BE49-F238E27FC236}">
                <a16:creationId xmlns:a16="http://schemas.microsoft.com/office/drawing/2014/main" id="{6CA68F43-37DE-DF93-8E1F-D1E92117D77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3716" name="Text Box 4" descr="Slide Number Placeholder 5">
            <a:extLst>
              <a:ext uri="{FF2B5EF4-FFF2-40B4-BE49-F238E27FC236}">
                <a16:creationId xmlns:a16="http://schemas.microsoft.com/office/drawing/2014/main" id="{275ACA55-40BE-A9A4-A507-2EA92C6A097A}"/>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C03E056-FB39-4852-9FEB-1D869026DA8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3717" name="Text Box 5" descr="TextBox 6">
            <a:extLst>
              <a:ext uri="{FF2B5EF4-FFF2-40B4-BE49-F238E27FC236}">
                <a16:creationId xmlns:a16="http://schemas.microsoft.com/office/drawing/2014/main" id="{4849FD2C-C6F3-B74F-A25D-A1DCEB542ABB}"/>
              </a:ext>
            </a:extLst>
          </p:cNvPr>
          <p:cNvSpPr txBox="1">
            <a:spLocks/>
          </p:cNvSpPr>
          <p:nvPr/>
        </p:nvSpPr>
        <p:spPr bwMode="auto">
          <a:xfrm>
            <a:off x="3130550" y="1587500"/>
            <a:ext cx="3244850" cy="4699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2400"/>
              <a:t>Recovery Categories</a:t>
            </a:r>
          </a:p>
        </p:txBody>
      </p:sp>
      <p:sp>
        <p:nvSpPr>
          <p:cNvPr id="243718" name="Line 6" descr="Straight Arrow Connector 8">
            <a:extLst>
              <a:ext uri="{FF2B5EF4-FFF2-40B4-BE49-F238E27FC236}">
                <a16:creationId xmlns:a16="http://schemas.microsoft.com/office/drawing/2014/main" id="{659838D9-0FF9-8091-983B-1BCBD3407D8D}"/>
              </a:ext>
            </a:extLst>
          </p:cNvPr>
          <p:cNvSpPr>
            <a:spLocks noChangeShapeType="1"/>
          </p:cNvSpPr>
          <p:nvPr/>
        </p:nvSpPr>
        <p:spPr bwMode="auto">
          <a:xfrm flipH="1">
            <a:off x="2914650" y="2049463"/>
            <a:ext cx="1728788" cy="73025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3719" name="Line 7" descr="Straight Arrow Connector 10">
            <a:extLst>
              <a:ext uri="{FF2B5EF4-FFF2-40B4-BE49-F238E27FC236}">
                <a16:creationId xmlns:a16="http://schemas.microsoft.com/office/drawing/2014/main" id="{82BF8FEF-B852-DCA5-9B8D-820FFECC3A51}"/>
              </a:ext>
            </a:extLst>
          </p:cNvPr>
          <p:cNvSpPr>
            <a:spLocks noChangeShapeType="1"/>
          </p:cNvSpPr>
          <p:nvPr/>
        </p:nvSpPr>
        <p:spPr bwMode="auto">
          <a:xfrm>
            <a:off x="4805363" y="2049463"/>
            <a:ext cx="1277937" cy="65881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3720" name="Text Box 8" descr="TextBox 11">
            <a:extLst>
              <a:ext uri="{FF2B5EF4-FFF2-40B4-BE49-F238E27FC236}">
                <a16:creationId xmlns:a16="http://schemas.microsoft.com/office/drawing/2014/main" id="{DB3915FB-E09A-6885-85DF-826EFA75B33A}"/>
              </a:ext>
            </a:extLst>
          </p:cNvPr>
          <p:cNvSpPr txBox="1">
            <a:spLocks/>
          </p:cNvSpPr>
          <p:nvPr/>
        </p:nvSpPr>
        <p:spPr bwMode="auto">
          <a:xfrm>
            <a:off x="1462088" y="2852738"/>
            <a:ext cx="2890837"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Shadowing (or Copying)</a:t>
            </a:r>
          </a:p>
          <a:p>
            <a:r>
              <a:rPr lang="en-US" altLang="en-US"/>
              <a:t>Database</a:t>
            </a:r>
          </a:p>
        </p:txBody>
      </p:sp>
      <p:sp>
        <p:nvSpPr>
          <p:cNvPr id="243721" name="Text Box 9" descr="TextBox 12">
            <a:extLst>
              <a:ext uri="{FF2B5EF4-FFF2-40B4-BE49-F238E27FC236}">
                <a16:creationId xmlns:a16="http://schemas.microsoft.com/office/drawing/2014/main" id="{048CF0AF-3918-80B9-18B8-970A6FC1B2E3}"/>
              </a:ext>
            </a:extLst>
          </p:cNvPr>
          <p:cNvSpPr txBox="1">
            <a:spLocks/>
          </p:cNvSpPr>
          <p:nvPr/>
        </p:nvSpPr>
        <p:spPr bwMode="auto">
          <a:xfrm>
            <a:off x="5651500" y="2882900"/>
            <a:ext cx="2187575" cy="381000"/>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Using LOG Entries</a:t>
            </a:r>
          </a:p>
        </p:txBody>
      </p:sp>
      <p:sp>
        <p:nvSpPr>
          <p:cNvPr id="243722" name="Line 10" descr="Straight Arrow Connector 14">
            <a:extLst>
              <a:ext uri="{FF2B5EF4-FFF2-40B4-BE49-F238E27FC236}">
                <a16:creationId xmlns:a16="http://schemas.microsoft.com/office/drawing/2014/main" id="{9B67750D-0926-334B-ED8B-82EC43B79A65}"/>
              </a:ext>
            </a:extLst>
          </p:cNvPr>
          <p:cNvSpPr>
            <a:spLocks noChangeShapeType="1"/>
          </p:cNvSpPr>
          <p:nvPr/>
        </p:nvSpPr>
        <p:spPr bwMode="auto">
          <a:xfrm flipH="1">
            <a:off x="5795963" y="3252788"/>
            <a:ext cx="995362" cy="60801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3723" name="Line 11" descr="Straight Arrow Connector 16">
            <a:extLst>
              <a:ext uri="{FF2B5EF4-FFF2-40B4-BE49-F238E27FC236}">
                <a16:creationId xmlns:a16="http://schemas.microsoft.com/office/drawing/2014/main" id="{0CA6885B-8D50-D258-71FD-720FC7B09747}"/>
              </a:ext>
            </a:extLst>
          </p:cNvPr>
          <p:cNvSpPr>
            <a:spLocks noChangeShapeType="1"/>
          </p:cNvSpPr>
          <p:nvPr/>
        </p:nvSpPr>
        <p:spPr bwMode="auto">
          <a:xfrm>
            <a:off x="6791325" y="3252788"/>
            <a:ext cx="947738" cy="608012"/>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3724" name="Text Box 12" descr="TextBox 17">
            <a:extLst>
              <a:ext uri="{FF2B5EF4-FFF2-40B4-BE49-F238E27FC236}">
                <a16:creationId xmlns:a16="http://schemas.microsoft.com/office/drawing/2014/main" id="{2EF3F099-7894-E4DD-6EEE-8DB3F23F0437}"/>
              </a:ext>
            </a:extLst>
          </p:cNvPr>
          <p:cNvSpPr txBox="1">
            <a:spLocks/>
          </p:cNvSpPr>
          <p:nvPr/>
        </p:nvSpPr>
        <p:spPr bwMode="auto">
          <a:xfrm>
            <a:off x="4487863" y="3840163"/>
            <a:ext cx="2003425"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a:t>Based on</a:t>
            </a:r>
          </a:p>
          <a:p>
            <a:pPr algn="ctr"/>
            <a:r>
              <a:rPr lang="en-US" altLang="en-US"/>
              <a:t>Deferred Update</a:t>
            </a:r>
          </a:p>
        </p:txBody>
      </p:sp>
      <p:sp>
        <p:nvSpPr>
          <p:cNvPr id="243725" name="Text Box 13" descr="TextBox 18">
            <a:extLst>
              <a:ext uri="{FF2B5EF4-FFF2-40B4-BE49-F238E27FC236}">
                <a16:creationId xmlns:a16="http://schemas.microsoft.com/office/drawing/2014/main" id="{A13C5E8D-B801-7B9B-22A5-1175950684B5}"/>
              </a:ext>
            </a:extLst>
          </p:cNvPr>
          <p:cNvSpPr txBox="1">
            <a:spLocks/>
          </p:cNvSpPr>
          <p:nvPr/>
        </p:nvSpPr>
        <p:spPr bwMode="auto">
          <a:xfrm>
            <a:off x="6746875" y="3787775"/>
            <a:ext cx="2246313"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a:t>Based on</a:t>
            </a:r>
          </a:p>
          <a:p>
            <a:pPr algn="ctr"/>
            <a:r>
              <a:rPr lang="en-US" altLang="en-US"/>
              <a:t>Immediate Update</a:t>
            </a:r>
          </a:p>
        </p:txBody>
      </p:sp>
    </p:spTree>
  </p:cSld>
  <p:clrMapOvr>
    <a:masterClrMapping/>
  </p:clrMapOvr>
  <p:transition spd="med"/>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2" descr="Title 1">
            <a:extLst>
              <a:ext uri="{FF2B5EF4-FFF2-40B4-BE49-F238E27FC236}">
                <a16:creationId xmlns:a16="http://schemas.microsoft.com/office/drawing/2014/main" id="{EF10F9E5-42FE-A55C-E296-B0F19D476B4E}"/>
              </a:ext>
            </a:extLst>
          </p:cNvPr>
          <p:cNvSpPr>
            <a:spLocks noChangeArrowheads="1"/>
          </p:cNvSpPr>
          <p:nvPr>
            <p:ph type="title"/>
          </p:nvPr>
        </p:nvSpPr>
        <p:spPr/>
        <p:txBody>
          <a:bodyPr/>
          <a:lstStyle/>
          <a:p>
            <a:r>
              <a:rPr lang="en-US" altLang="en-US"/>
              <a:t>Recovery using Shadowing</a:t>
            </a:r>
          </a:p>
        </p:txBody>
      </p:sp>
      <p:sp>
        <p:nvSpPr>
          <p:cNvPr id="244739" name="Rectangle 3" descr="Content Placeholder 2">
            <a:extLst>
              <a:ext uri="{FF2B5EF4-FFF2-40B4-BE49-F238E27FC236}">
                <a16:creationId xmlns:a16="http://schemas.microsoft.com/office/drawing/2014/main" id="{94F6CF6A-3A68-55EF-0C73-F1DBE86F4C02}"/>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4740" name="Text Box 4" descr="Date Placeholder 3">
            <a:extLst>
              <a:ext uri="{FF2B5EF4-FFF2-40B4-BE49-F238E27FC236}">
                <a16:creationId xmlns:a16="http://schemas.microsoft.com/office/drawing/2014/main" id="{0C529CE2-23D2-204C-C391-EC79E04D74E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4741" name="Text Box 5" descr="Slide Number Placeholder 5">
            <a:extLst>
              <a:ext uri="{FF2B5EF4-FFF2-40B4-BE49-F238E27FC236}">
                <a16:creationId xmlns:a16="http://schemas.microsoft.com/office/drawing/2014/main" id="{E3D8AFEA-8ACE-73EB-984F-2793F0BCAD0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6F3C9FC-BA6E-4085-92EF-DD3CDC3A031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4742" name="AutoShape 6" descr="Flowchart: Magnetic Disk 6">
            <a:extLst>
              <a:ext uri="{FF2B5EF4-FFF2-40B4-BE49-F238E27FC236}">
                <a16:creationId xmlns:a16="http://schemas.microsoft.com/office/drawing/2014/main" id="{1F16577F-D038-00C2-082A-1BE38E2AC5AB}"/>
              </a:ext>
            </a:extLst>
          </p:cNvPr>
          <p:cNvSpPr>
            <a:spLocks/>
          </p:cNvSpPr>
          <p:nvPr/>
        </p:nvSpPr>
        <p:spPr bwMode="auto">
          <a:xfrm>
            <a:off x="5219700" y="1771650"/>
            <a:ext cx="2928938" cy="46085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4743" name="Group 7">
            <a:extLst>
              <a:ext uri="{FF2B5EF4-FFF2-40B4-BE49-F238E27FC236}">
                <a16:creationId xmlns:a16="http://schemas.microsoft.com/office/drawing/2014/main" id="{2CA704A1-3CE6-1A29-24FD-F650CBBD50DC}"/>
              </a:ext>
            </a:extLst>
          </p:cNvPr>
          <p:cNvGraphicFramePr>
            <a:graphicFrameLocks noGrp="1"/>
          </p:cNvGraphicFramePr>
          <p:nvPr/>
        </p:nvGraphicFramePr>
        <p:xfrm>
          <a:off x="5446713" y="3573463"/>
          <a:ext cx="2260600" cy="1089025"/>
        </p:xfrm>
        <a:graphic>
          <a:graphicData uri="http://schemas.openxmlformats.org/drawingml/2006/table">
            <a:tbl>
              <a:tblPr/>
              <a:tblGrid>
                <a:gridCol w="1108075">
                  <a:extLst>
                    <a:ext uri="{9D8B030D-6E8A-4147-A177-3AD203B41FA5}">
                      <a16:colId xmlns:a16="http://schemas.microsoft.com/office/drawing/2014/main" val="422623992"/>
                    </a:ext>
                  </a:extLst>
                </a:gridCol>
                <a:gridCol w="1152525">
                  <a:extLst>
                    <a:ext uri="{9D8B030D-6E8A-4147-A177-3AD203B41FA5}">
                      <a16:colId xmlns:a16="http://schemas.microsoft.com/office/drawing/2014/main" val="3426389523"/>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813805291"/>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561011145"/>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96512459"/>
                  </a:ext>
                </a:extLst>
              </a:tr>
            </a:tbl>
          </a:graphicData>
        </a:graphic>
      </p:graphicFrame>
      <p:sp>
        <p:nvSpPr>
          <p:cNvPr id="244767" name="Text Box 31" descr="TextBox 8">
            <a:extLst>
              <a:ext uri="{FF2B5EF4-FFF2-40B4-BE49-F238E27FC236}">
                <a16:creationId xmlns:a16="http://schemas.microsoft.com/office/drawing/2014/main" id="{5D2C81B8-E7EE-429A-5608-FA2D2CE51AC2}"/>
              </a:ext>
            </a:extLst>
          </p:cNvPr>
          <p:cNvSpPr txBox="1">
            <a:spLocks/>
          </p:cNvSpPr>
          <p:nvPr/>
        </p:nvSpPr>
        <p:spPr bwMode="auto">
          <a:xfrm>
            <a:off x="5481638" y="3194050"/>
            <a:ext cx="1347787"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graphicFrame>
        <p:nvGraphicFramePr>
          <p:cNvPr id="244768" name="Group 32">
            <a:extLst>
              <a:ext uri="{FF2B5EF4-FFF2-40B4-BE49-F238E27FC236}">
                <a16:creationId xmlns:a16="http://schemas.microsoft.com/office/drawing/2014/main" id="{23BBA583-8B2A-C1A0-313C-D6CBA4101D17}"/>
              </a:ext>
            </a:extLst>
          </p:cNvPr>
          <p:cNvGraphicFramePr>
            <a:graphicFrameLocks noGrp="1"/>
          </p:cNvGraphicFramePr>
          <p:nvPr/>
        </p:nvGraphicFramePr>
        <p:xfrm>
          <a:off x="1763713" y="2211388"/>
          <a:ext cx="1439862" cy="2305050"/>
        </p:xfrm>
        <a:graphic>
          <a:graphicData uri="http://schemas.openxmlformats.org/drawingml/2006/table">
            <a:tbl>
              <a:tblPr/>
              <a:tblGrid>
                <a:gridCol w="1439862">
                  <a:extLst>
                    <a:ext uri="{9D8B030D-6E8A-4147-A177-3AD203B41FA5}">
                      <a16:colId xmlns:a16="http://schemas.microsoft.com/office/drawing/2014/main" val="52445137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0869088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858361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9258870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72234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024410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62115866"/>
                  </a:ext>
                </a:extLst>
              </a:tr>
            </a:tbl>
          </a:graphicData>
        </a:graphic>
      </p:graphicFrame>
      <p:sp>
        <p:nvSpPr>
          <p:cNvPr id="244794" name="Text Box 58" descr="TextBox 10">
            <a:extLst>
              <a:ext uri="{FF2B5EF4-FFF2-40B4-BE49-F238E27FC236}">
                <a16:creationId xmlns:a16="http://schemas.microsoft.com/office/drawing/2014/main" id="{E9DA9040-F1B2-6177-D728-DF4C98777C3D}"/>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4795" name="Line 59" descr="Straight Arrow Connector 14">
            <a:extLst>
              <a:ext uri="{FF2B5EF4-FFF2-40B4-BE49-F238E27FC236}">
                <a16:creationId xmlns:a16="http://schemas.microsoft.com/office/drawing/2014/main" id="{EB7286B1-143D-95CA-2915-68A4894E5B0C}"/>
              </a:ext>
            </a:extLst>
          </p:cNvPr>
          <p:cNvSpPr>
            <a:spLocks noChangeShapeType="1"/>
          </p:cNvSpPr>
          <p:nvPr/>
        </p:nvSpPr>
        <p:spPr bwMode="auto">
          <a:xfrm>
            <a:off x="1292225" y="2228850"/>
            <a:ext cx="503238" cy="0"/>
          </a:xfrm>
          <a:prstGeom prst="line">
            <a:avLst/>
          </a:prstGeom>
          <a:noFill/>
          <a:ln w="38100" cap="flat" cmpd="sng">
            <a:solidFill>
              <a:srgbClr val="0000FF"/>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4796" name="Text Box 60" descr="TextBox 16">
            <a:extLst>
              <a:ext uri="{FF2B5EF4-FFF2-40B4-BE49-F238E27FC236}">
                <a16:creationId xmlns:a16="http://schemas.microsoft.com/office/drawing/2014/main" id="{9744E89E-DFF0-C642-4EDC-D23C265C21DA}"/>
              </a:ext>
            </a:extLst>
          </p:cNvPr>
          <p:cNvSpPr txBox="1">
            <a:spLocks/>
          </p:cNvSpPr>
          <p:nvPr/>
        </p:nvSpPr>
        <p:spPr bwMode="auto">
          <a:xfrm>
            <a:off x="541338" y="1809750"/>
            <a:ext cx="7461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T1 </a:t>
            </a:r>
          </a:p>
          <a:p>
            <a:r>
              <a:rPr lang="en-US" altLang="en-US">
                <a:solidFill>
                  <a:srgbClr val="0000FF"/>
                </a:solidFill>
              </a:rPr>
              <a:t>Begin</a:t>
            </a:r>
          </a:p>
        </p:txBody>
      </p:sp>
      <p:graphicFrame>
        <p:nvGraphicFramePr>
          <p:cNvPr id="244797" name="Group 61">
            <a:extLst>
              <a:ext uri="{FF2B5EF4-FFF2-40B4-BE49-F238E27FC236}">
                <a16:creationId xmlns:a16="http://schemas.microsoft.com/office/drawing/2014/main" id="{2E3FE587-54A3-5EC1-52A3-1511D90C1267}"/>
              </a:ext>
            </a:extLst>
          </p:cNvPr>
          <p:cNvGraphicFramePr>
            <a:graphicFrameLocks noGrp="1"/>
          </p:cNvGraphicFramePr>
          <p:nvPr/>
        </p:nvGraphicFramePr>
        <p:xfrm>
          <a:off x="5599113" y="5051425"/>
          <a:ext cx="2260600" cy="1089025"/>
        </p:xfrm>
        <a:graphic>
          <a:graphicData uri="http://schemas.openxmlformats.org/drawingml/2006/table">
            <a:tbl>
              <a:tblPr/>
              <a:tblGrid>
                <a:gridCol w="1108075">
                  <a:extLst>
                    <a:ext uri="{9D8B030D-6E8A-4147-A177-3AD203B41FA5}">
                      <a16:colId xmlns:a16="http://schemas.microsoft.com/office/drawing/2014/main" val="3395564219"/>
                    </a:ext>
                  </a:extLst>
                </a:gridCol>
                <a:gridCol w="1152525">
                  <a:extLst>
                    <a:ext uri="{9D8B030D-6E8A-4147-A177-3AD203B41FA5}">
                      <a16:colId xmlns:a16="http://schemas.microsoft.com/office/drawing/2014/main" val="473552179"/>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56806327"/>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5350576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923654694"/>
                  </a:ext>
                </a:extLst>
              </a:tr>
            </a:tbl>
          </a:graphicData>
        </a:graphic>
      </p:graphicFrame>
      <p:sp>
        <p:nvSpPr>
          <p:cNvPr id="244821" name="Text Box 85" descr="TextBox 18">
            <a:extLst>
              <a:ext uri="{FF2B5EF4-FFF2-40B4-BE49-F238E27FC236}">
                <a16:creationId xmlns:a16="http://schemas.microsoft.com/office/drawing/2014/main" id="{4419DE02-00A9-4150-AB0E-E3E5D24866D6}"/>
              </a:ext>
            </a:extLst>
          </p:cNvPr>
          <p:cNvSpPr txBox="1">
            <a:spLocks/>
          </p:cNvSpPr>
          <p:nvPr/>
        </p:nvSpPr>
        <p:spPr bwMode="auto">
          <a:xfrm>
            <a:off x="5634038" y="4710113"/>
            <a:ext cx="2273300"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00FF"/>
                </a:solidFill>
              </a:rPr>
              <a:t>Copy of ACCOUNTS</a:t>
            </a:r>
          </a:p>
        </p:txBody>
      </p:sp>
      <p:sp>
        <p:nvSpPr>
          <p:cNvPr id="244822" name="Line 86" descr="Straight Arrow Connector 20">
            <a:extLst>
              <a:ext uri="{FF2B5EF4-FFF2-40B4-BE49-F238E27FC236}">
                <a16:creationId xmlns:a16="http://schemas.microsoft.com/office/drawing/2014/main" id="{1080B7E3-07E8-D1D3-A740-138F0139339A}"/>
              </a:ext>
            </a:extLst>
          </p:cNvPr>
          <p:cNvSpPr>
            <a:spLocks noChangeShapeType="1"/>
          </p:cNvSpPr>
          <p:nvPr/>
        </p:nvSpPr>
        <p:spPr bwMode="auto">
          <a:xfrm>
            <a:off x="4660900" y="5356225"/>
            <a:ext cx="873125" cy="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4823" name="Text Box 87" descr="TextBox 22">
            <a:extLst>
              <a:ext uri="{FF2B5EF4-FFF2-40B4-BE49-F238E27FC236}">
                <a16:creationId xmlns:a16="http://schemas.microsoft.com/office/drawing/2014/main" id="{076CDA40-4B84-85C7-32EC-7EC081EE7DF2}"/>
              </a:ext>
            </a:extLst>
          </p:cNvPr>
          <p:cNvSpPr txBox="1">
            <a:spLocks/>
          </p:cNvSpPr>
          <p:nvPr/>
        </p:nvSpPr>
        <p:spPr bwMode="auto">
          <a:xfrm>
            <a:off x="3706813" y="5187950"/>
            <a:ext cx="909637"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Shadow</a:t>
            </a:r>
          </a:p>
        </p:txBody>
      </p:sp>
    </p:spTree>
  </p:cSld>
  <p:clrMapOvr>
    <a:masterClrMapping/>
  </p:clrMapOvr>
  <p:transition spd="med"/>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2" descr="Title 1">
            <a:extLst>
              <a:ext uri="{FF2B5EF4-FFF2-40B4-BE49-F238E27FC236}">
                <a16:creationId xmlns:a16="http://schemas.microsoft.com/office/drawing/2014/main" id="{8B69DE7C-5D1D-6492-1520-CAD24C62AF59}"/>
              </a:ext>
            </a:extLst>
          </p:cNvPr>
          <p:cNvSpPr>
            <a:spLocks noChangeArrowheads="1"/>
          </p:cNvSpPr>
          <p:nvPr>
            <p:ph type="title"/>
          </p:nvPr>
        </p:nvSpPr>
        <p:spPr/>
        <p:txBody>
          <a:bodyPr/>
          <a:lstStyle/>
          <a:p>
            <a:r>
              <a:rPr lang="en-US" altLang="en-US"/>
              <a:t>Recovery using Shadowing</a:t>
            </a:r>
          </a:p>
        </p:txBody>
      </p:sp>
      <p:sp>
        <p:nvSpPr>
          <p:cNvPr id="245763" name="Rectangle 3" descr="Content Placeholder 2">
            <a:extLst>
              <a:ext uri="{FF2B5EF4-FFF2-40B4-BE49-F238E27FC236}">
                <a16:creationId xmlns:a16="http://schemas.microsoft.com/office/drawing/2014/main" id="{7F106C28-0C78-BE31-AE64-DA46F491CF1B}"/>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5764" name="Text Box 4" descr="Date Placeholder 3">
            <a:extLst>
              <a:ext uri="{FF2B5EF4-FFF2-40B4-BE49-F238E27FC236}">
                <a16:creationId xmlns:a16="http://schemas.microsoft.com/office/drawing/2014/main" id="{CE49C4E4-D33E-3C6C-65BF-E1EC8BA7E05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5765" name="Text Box 5" descr="Slide Number Placeholder 5">
            <a:extLst>
              <a:ext uri="{FF2B5EF4-FFF2-40B4-BE49-F238E27FC236}">
                <a16:creationId xmlns:a16="http://schemas.microsoft.com/office/drawing/2014/main" id="{B6CDF61E-6AE7-13EA-101E-423B31E989A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99BFCF2-2F43-45EC-969A-42D70439EB6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229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5766" name="AutoShape 6" descr="Flowchart: Magnetic Disk 6">
            <a:extLst>
              <a:ext uri="{FF2B5EF4-FFF2-40B4-BE49-F238E27FC236}">
                <a16:creationId xmlns:a16="http://schemas.microsoft.com/office/drawing/2014/main" id="{868E92B7-2A9D-1B4A-C012-64F22A91D2B8}"/>
              </a:ext>
            </a:extLst>
          </p:cNvPr>
          <p:cNvSpPr>
            <a:spLocks/>
          </p:cNvSpPr>
          <p:nvPr/>
        </p:nvSpPr>
        <p:spPr bwMode="auto">
          <a:xfrm>
            <a:off x="5143500" y="1700213"/>
            <a:ext cx="2928938" cy="4608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5767" name="Group 7">
            <a:extLst>
              <a:ext uri="{FF2B5EF4-FFF2-40B4-BE49-F238E27FC236}">
                <a16:creationId xmlns:a16="http://schemas.microsoft.com/office/drawing/2014/main" id="{73FDE3AB-A0AB-1D5D-6D80-FE9295381F40}"/>
              </a:ext>
            </a:extLst>
          </p:cNvPr>
          <p:cNvGraphicFramePr>
            <a:graphicFrameLocks noGrp="1"/>
          </p:cNvGraphicFramePr>
          <p:nvPr/>
        </p:nvGraphicFramePr>
        <p:xfrm>
          <a:off x="5264150" y="3500438"/>
          <a:ext cx="2592388" cy="1089025"/>
        </p:xfrm>
        <a:graphic>
          <a:graphicData uri="http://schemas.openxmlformats.org/drawingml/2006/table">
            <a:tbl>
              <a:tblPr/>
              <a:tblGrid>
                <a:gridCol w="1136650">
                  <a:extLst>
                    <a:ext uri="{9D8B030D-6E8A-4147-A177-3AD203B41FA5}">
                      <a16:colId xmlns:a16="http://schemas.microsoft.com/office/drawing/2014/main" val="2067849802"/>
                    </a:ext>
                  </a:extLst>
                </a:gridCol>
                <a:gridCol w="1455738">
                  <a:extLst>
                    <a:ext uri="{9D8B030D-6E8A-4147-A177-3AD203B41FA5}">
                      <a16:colId xmlns:a16="http://schemas.microsoft.com/office/drawing/2014/main" val="1495957620"/>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27129016"/>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8191040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33885190"/>
                  </a:ext>
                </a:extLst>
              </a:tr>
            </a:tbl>
          </a:graphicData>
        </a:graphic>
      </p:graphicFrame>
      <p:sp>
        <p:nvSpPr>
          <p:cNvPr id="245791" name="Text Box 31" descr="TextBox 8">
            <a:extLst>
              <a:ext uri="{FF2B5EF4-FFF2-40B4-BE49-F238E27FC236}">
                <a16:creationId xmlns:a16="http://schemas.microsoft.com/office/drawing/2014/main" id="{25C67A8C-4A74-5145-5145-247DD5C6BC6E}"/>
              </a:ext>
            </a:extLst>
          </p:cNvPr>
          <p:cNvSpPr txBox="1">
            <a:spLocks/>
          </p:cNvSpPr>
          <p:nvPr/>
        </p:nvSpPr>
        <p:spPr bwMode="auto">
          <a:xfrm>
            <a:off x="5454650" y="3122613"/>
            <a:ext cx="1349375"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graphicFrame>
        <p:nvGraphicFramePr>
          <p:cNvPr id="245792" name="Group 32">
            <a:extLst>
              <a:ext uri="{FF2B5EF4-FFF2-40B4-BE49-F238E27FC236}">
                <a16:creationId xmlns:a16="http://schemas.microsoft.com/office/drawing/2014/main" id="{E3EBC014-0357-72AB-6A9D-DF58C830C645}"/>
              </a:ext>
            </a:extLst>
          </p:cNvPr>
          <p:cNvGraphicFramePr>
            <a:graphicFrameLocks noGrp="1"/>
          </p:cNvGraphicFramePr>
          <p:nvPr/>
        </p:nvGraphicFramePr>
        <p:xfrm>
          <a:off x="1763713" y="2211388"/>
          <a:ext cx="1439862" cy="2305050"/>
        </p:xfrm>
        <a:graphic>
          <a:graphicData uri="http://schemas.openxmlformats.org/drawingml/2006/table">
            <a:tbl>
              <a:tblPr/>
              <a:tblGrid>
                <a:gridCol w="1439862">
                  <a:extLst>
                    <a:ext uri="{9D8B030D-6E8A-4147-A177-3AD203B41FA5}">
                      <a16:colId xmlns:a16="http://schemas.microsoft.com/office/drawing/2014/main" val="393581250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2516108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5371312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954537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5199919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266769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79751987"/>
                  </a:ext>
                </a:extLst>
              </a:tr>
            </a:tbl>
          </a:graphicData>
        </a:graphic>
      </p:graphicFrame>
      <p:sp>
        <p:nvSpPr>
          <p:cNvPr id="245818" name="Text Box 58" descr="TextBox 10">
            <a:extLst>
              <a:ext uri="{FF2B5EF4-FFF2-40B4-BE49-F238E27FC236}">
                <a16:creationId xmlns:a16="http://schemas.microsoft.com/office/drawing/2014/main" id="{BBFDE225-80E5-B2DE-C565-B0C9B6071BD9}"/>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5819" name="Line 59" descr="Straight Arrow Connector 13">
            <a:extLst>
              <a:ext uri="{FF2B5EF4-FFF2-40B4-BE49-F238E27FC236}">
                <a16:creationId xmlns:a16="http://schemas.microsoft.com/office/drawing/2014/main" id="{1E09296E-A038-FF3B-CC00-2D20693590A8}"/>
              </a:ext>
            </a:extLst>
          </p:cNvPr>
          <p:cNvSpPr>
            <a:spLocks noChangeShapeType="1"/>
          </p:cNvSpPr>
          <p:nvPr/>
        </p:nvSpPr>
        <p:spPr bwMode="auto">
          <a:xfrm>
            <a:off x="1258888" y="3686175"/>
            <a:ext cx="503237"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5820" name="Text Box 60" descr="TextBox 15">
            <a:extLst>
              <a:ext uri="{FF2B5EF4-FFF2-40B4-BE49-F238E27FC236}">
                <a16:creationId xmlns:a16="http://schemas.microsoft.com/office/drawing/2014/main" id="{9CC46180-02A8-4C0C-CD37-5816AFF01976}"/>
              </a:ext>
            </a:extLst>
          </p:cNvPr>
          <p:cNvSpPr txBox="1">
            <a:spLocks/>
          </p:cNvSpPr>
          <p:nvPr/>
        </p:nvSpPr>
        <p:spPr bwMode="auto">
          <a:xfrm>
            <a:off x="395288" y="3363913"/>
            <a:ext cx="104140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sp>
        <p:nvSpPr>
          <p:cNvPr id="245821" name="Line 61" descr="Straight Arrow Connector 14">
            <a:extLst>
              <a:ext uri="{FF2B5EF4-FFF2-40B4-BE49-F238E27FC236}">
                <a16:creationId xmlns:a16="http://schemas.microsoft.com/office/drawing/2014/main" id="{95425935-6648-91ED-E087-86A302D5F862}"/>
              </a:ext>
            </a:extLst>
          </p:cNvPr>
          <p:cNvSpPr>
            <a:spLocks noChangeShapeType="1"/>
          </p:cNvSpPr>
          <p:nvPr/>
        </p:nvSpPr>
        <p:spPr bwMode="auto">
          <a:xfrm>
            <a:off x="1292225" y="2228850"/>
            <a:ext cx="503238" cy="0"/>
          </a:xfrm>
          <a:prstGeom prst="line">
            <a:avLst/>
          </a:prstGeom>
          <a:noFill/>
          <a:ln w="38100" cap="flat" cmpd="sng">
            <a:solidFill>
              <a:srgbClr val="0000FF"/>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5822" name="Text Box 62" descr="TextBox 16">
            <a:extLst>
              <a:ext uri="{FF2B5EF4-FFF2-40B4-BE49-F238E27FC236}">
                <a16:creationId xmlns:a16="http://schemas.microsoft.com/office/drawing/2014/main" id="{5E5AA72B-B6A1-350F-F3D1-D8155CB9C55A}"/>
              </a:ext>
            </a:extLst>
          </p:cNvPr>
          <p:cNvSpPr txBox="1">
            <a:spLocks/>
          </p:cNvSpPr>
          <p:nvPr/>
        </p:nvSpPr>
        <p:spPr bwMode="auto">
          <a:xfrm>
            <a:off x="541338" y="1809750"/>
            <a:ext cx="7461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T1 </a:t>
            </a:r>
          </a:p>
          <a:p>
            <a:r>
              <a:rPr lang="en-US" altLang="en-US">
                <a:solidFill>
                  <a:srgbClr val="0000FF"/>
                </a:solidFill>
              </a:rPr>
              <a:t>Begin</a:t>
            </a:r>
          </a:p>
        </p:txBody>
      </p:sp>
      <p:graphicFrame>
        <p:nvGraphicFramePr>
          <p:cNvPr id="245823" name="Group 63">
            <a:extLst>
              <a:ext uri="{FF2B5EF4-FFF2-40B4-BE49-F238E27FC236}">
                <a16:creationId xmlns:a16="http://schemas.microsoft.com/office/drawing/2014/main" id="{A4CCF1D5-7E08-1D83-4DB6-E84FF523AA75}"/>
              </a:ext>
            </a:extLst>
          </p:cNvPr>
          <p:cNvGraphicFramePr>
            <a:graphicFrameLocks noGrp="1"/>
          </p:cNvGraphicFramePr>
          <p:nvPr/>
        </p:nvGraphicFramePr>
        <p:xfrm>
          <a:off x="5573713" y="4979988"/>
          <a:ext cx="2260600" cy="1089025"/>
        </p:xfrm>
        <a:graphic>
          <a:graphicData uri="http://schemas.openxmlformats.org/drawingml/2006/table">
            <a:tbl>
              <a:tblPr/>
              <a:tblGrid>
                <a:gridCol w="1108075">
                  <a:extLst>
                    <a:ext uri="{9D8B030D-6E8A-4147-A177-3AD203B41FA5}">
                      <a16:colId xmlns:a16="http://schemas.microsoft.com/office/drawing/2014/main" val="3499903704"/>
                    </a:ext>
                  </a:extLst>
                </a:gridCol>
                <a:gridCol w="1152525">
                  <a:extLst>
                    <a:ext uri="{9D8B030D-6E8A-4147-A177-3AD203B41FA5}">
                      <a16:colId xmlns:a16="http://schemas.microsoft.com/office/drawing/2014/main" val="895996972"/>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67219347"/>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21525282"/>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84812742"/>
                  </a:ext>
                </a:extLst>
              </a:tr>
            </a:tbl>
          </a:graphicData>
        </a:graphic>
      </p:graphicFrame>
      <p:sp>
        <p:nvSpPr>
          <p:cNvPr id="245847" name="Text Box 87" descr="TextBox 18">
            <a:extLst>
              <a:ext uri="{FF2B5EF4-FFF2-40B4-BE49-F238E27FC236}">
                <a16:creationId xmlns:a16="http://schemas.microsoft.com/office/drawing/2014/main" id="{2EEDEC9C-0DC9-B25B-7DE6-75077127223B}"/>
              </a:ext>
            </a:extLst>
          </p:cNvPr>
          <p:cNvSpPr txBox="1">
            <a:spLocks/>
          </p:cNvSpPr>
          <p:nvPr/>
        </p:nvSpPr>
        <p:spPr bwMode="auto">
          <a:xfrm>
            <a:off x="5607050" y="4637088"/>
            <a:ext cx="2274888"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00FF"/>
                </a:solidFill>
              </a:rPr>
              <a:t>Copy of ACCOUNTS</a:t>
            </a:r>
          </a:p>
        </p:txBody>
      </p:sp>
      <p:sp>
        <p:nvSpPr>
          <p:cNvPr id="245848" name="Text Box 88" descr="TextBox 39">
            <a:extLst>
              <a:ext uri="{FF2B5EF4-FFF2-40B4-BE49-F238E27FC236}">
                <a16:creationId xmlns:a16="http://schemas.microsoft.com/office/drawing/2014/main" id="{3FBC594B-92E5-5AC9-AE56-B8AFDB654DC8}"/>
              </a:ext>
            </a:extLst>
          </p:cNvPr>
          <p:cNvSpPr txBox="1">
            <a:spLocks/>
          </p:cNvSpPr>
          <p:nvPr/>
        </p:nvSpPr>
        <p:spPr bwMode="auto">
          <a:xfrm>
            <a:off x="381000" y="4633913"/>
            <a:ext cx="3394075" cy="13065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Question:</a:t>
            </a:r>
          </a:p>
          <a:p>
            <a:r>
              <a:rPr lang="en-US" altLang="en-US" sz="1600"/>
              <a:t>Now, when system crash</a:t>
            </a:r>
          </a:p>
          <a:p>
            <a:r>
              <a:rPr lang="en-US" altLang="en-US" sz="1600"/>
              <a:t>Occurs how the database</a:t>
            </a:r>
          </a:p>
          <a:p>
            <a:r>
              <a:rPr lang="en-US" altLang="en-US" sz="1600"/>
              <a:t>Can be restored back to original</a:t>
            </a:r>
          </a:p>
          <a:p>
            <a:r>
              <a:rPr lang="en-US" altLang="en-US" sz="1600"/>
              <a:t>Data values</a:t>
            </a:r>
          </a:p>
        </p:txBody>
      </p:sp>
    </p:spTree>
  </p:cSld>
  <p:clrMapOvr>
    <a:masterClrMapping/>
  </p:clrMapOvr>
  <p:transition spd="med"/>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descr="Title 1">
            <a:extLst>
              <a:ext uri="{FF2B5EF4-FFF2-40B4-BE49-F238E27FC236}">
                <a16:creationId xmlns:a16="http://schemas.microsoft.com/office/drawing/2014/main" id="{A021CD22-84F4-5EDD-8FDC-A5A5AD41B561}"/>
              </a:ext>
            </a:extLst>
          </p:cNvPr>
          <p:cNvSpPr>
            <a:spLocks noChangeArrowheads="1"/>
          </p:cNvSpPr>
          <p:nvPr>
            <p:ph type="title"/>
          </p:nvPr>
        </p:nvSpPr>
        <p:spPr/>
        <p:txBody>
          <a:bodyPr/>
          <a:lstStyle/>
          <a:p>
            <a:r>
              <a:rPr lang="en-US" altLang="en-US"/>
              <a:t>Recovery using Shadowing</a:t>
            </a:r>
          </a:p>
        </p:txBody>
      </p:sp>
      <p:sp>
        <p:nvSpPr>
          <p:cNvPr id="246787" name="Rectangle 3" descr="Content Placeholder 2">
            <a:extLst>
              <a:ext uri="{FF2B5EF4-FFF2-40B4-BE49-F238E27FC236}">
                <a16:creationId xmlns:a16="http://schemas.microsoft.com/office/drawing/2014/main" id="{263D4829-3556-9993-83EC-A110EA240377}"/>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6788" name="Text Box 4" descr="Date Placeholder 3">
            <a:extLst>
              <a:ext uri="{FF2B5EF4-FFF2-40B4-BE49-F238E27FC236}">
                <a16:creationId xmlns:a16="http://schemas.microsoft.com/office/drawing/2014/main" id="{0285BF21-FAF0-5F5E-5E3A-385F23E85B1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6789" name="Text Box 5" descr="Slide Number Placeholder 5">
            <a:extLst>
              <a:ext uri="{FF2B5EF4-FFF2-40B4-BE49-F238E27FC236}">
                <a16:creationId xmlns:a16="http://schemas.microsoft.com/office/drawing/2014/main" id="{FE592C31-E65A-6F71-E129-AFBD85FACE7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05F384F-298F-4EE0-B22E-24246140F8F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46790" name="AutoShape 6" descr="Flowchart: Magnetic Disk 6">
            <a:extLst>
              <a:ext uri="{FF2B5EF4-FFF2-40B4-BE49-F238E27FC236}">
                <a16:creationId xmlns:a16="http://schemas.microsoft.com/office/drawing/2014/main" id="{9834D845-C015-AD73-4CDC-3A2E8A75073E}"/>
              </a:ext>
            </a:extLst>
          </p:cNvPr>
          <p:cNvSpPr>
            <a:spLocks/>
          </p:cNvSpPr>
          <p:nvPr/>
        </p:nvSpPr>
        <p:spPr bwMode="auto">
          <a:xfrm>
            <a:off x="3962400" y="1700213"/>
            <a:ext cx="2928938" cy="4608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CC00CC"/>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6791" name="Group 7">
            <a:extLst>
              <a:ext uri="{FF2B5EF4-FFF2-40B4-BE49-F238E27FC236}">
                <a16:creationId xmlns:a16="http://schemas.microsoft.com/office/drawing/2014/main" id="{847F3E2C-6018-67E7-E2B7-A5C0CA1BC4FB}"/>
              </a:ext>
            </a:extLst>
          </p:cNvPr>
          <p:cNvGraphicFramePr>
            <a:graphicFrameLocks noGrp="1"/>
          </p:cNvGraphicFramePr>
          <p:nvPr/>
        </p:nvGraphicFramePr>
        <p:xfrm>
          <a:off x="4084638" y="3500438"/>
          <a:ext cx="2592387" cy="1089025"/>
        </p:xfrm>
        <a:graphic>
          <a:graphicData uri="http://schemas.openxmlformats.org/drawingml/2006/table">
            <a:tbl>
              <a:tblPr/>
              <a:tblGrid>
                <a:gridCol w="1136650">
                  <a:extLst>
                    <a:ext uri="{9D8B030D-6E8A-4147-A177-3AD203B41FA5}">
                      <a16:colId xmlns:a16="http://schemas.microsoft.com/office/drawing/2014/main" val="1215431826"/>
                    </a:ext>
                  </a:extLst>
                </a:gridCol>
                <a:gridCol w="1455737">
                  <a:extLst>
                    <a:ext uri="{9D8B030D-6E8A-4147-A177-3AD203B41FA5}">
                      <a16:colId xmlns:a16="http://schemas.microsoft.com/office/drawing/2014/main" val="3629729600"/>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1315605"/>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150 50 150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730642154"/>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579798801"/>
                  </a:ext>
                </a:extLst>
              </a:tr>
            </a:tbl>
          </a:graphicData>
        </a:graphic>
      </p:graphicFrame>
      <p:sp>
        <p:nvSpPr>
          <p:cNvPr id="246815" name="Text Box 31" descr="TextBox 8">
            <a:extLst>
              <a:ext uri="{FF2B5EF4-FFF2-40B4-BE49-F238E27FC236}">
                <a16:creationId xmlns:a16="http://schemas.microsoft.com/office/drawing/2014/main" id="{F37F08D7-16BC-FBC7-EAC1-1D822A3EE710}"/>
              </a:ext>
            </a:extLst>
          </p:cNvPr>
          <p:cNvSpPr txBox="1">
            <a:spLocks/>
          </p:cNvSpPr>
          <p:nvPr/>
        </p:nvSpPr>
        <p:spPr bwMode="auto">
          <a:xfrm>
            <a:off x="4275138" y="3122613"/>
            <a:ext cx="1347787"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B050"/>
                </a:solidFill>
              </a:rPr>
              <a:t>ACCOUNTS</a:t>
            </a:r>
          </a:p>
        </p:txBody>
      </p:sp>
      <p:graphicFrame>
        <p:nvGraphicFramePr>
          <p:cNvPr id="246816" name="Group 32">
            <a:extLst>
              <a:ext uri="{FF2B5EF4-FFF2-40B4-BE49-F238E27FC236}">
                <a16:creationId xmlns:a16="http://schemas.microsoft.com/office/drawing/2014/main" id="{4D8A9A35-138C-8DB3-3ACB-5B6B27C819D9}"/>
              </a:ext>
            </a:extLst>
          </p:cNvPr>
          <p:cNvGraphicFramePr>
            <a:graphicFrameLocks noGrp="1"/>
          </p:cNvGraphicFramePr>
          <p:nvPr/>
        </p:nvGraphicFramePr>
        <p:xfrm>
          <a:off x="1763713" y="2211388"/>
          <a:ext cx="1439862" cy="2305050"/>
        </p:xfrm>
        <a:graphic>
          <a:graphicData uri="http://schemas.openxmlformats.org/drawingml/2006/table">
            <a:tbl>
              <a:tblPr/>
              <a:tblGrid>
                <a:gridCol w="1439862">
                  <a:extLst>
                    <a:ext uri="{9D8B030D-6E8A-4147-A177-3AD203B41FA5}">
                      <a16:colId xmlns:a16="http://schemas.microsoft.com/office/drawing/2014/main" val="402952921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772348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174493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8929052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148348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4864361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98830495"/>
                  </a:ext>
                </a:extLst>
              </a:tr>
            </a:tbl>
          </a:graphicData>
        </a:graphic>
      </p:graphicFrame>
      <p:sp>
        <p:nvSpPr>
          <p:cNvPr id="246842" name="Text Box 58" descr="TextBox 10">
            <a:extLst>
              <a:ext uri="{FF2B5EF4-FFF2-40B4-BE49-F238E27FC236}">
                <a16:creationId xmlns:a16="http://schemas.microsoft.com/office/drawing/2014/main" id="{4DBEF0E6-B694-4D46-442E-7111AAD27A18}"/>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6843" name="Line 59" descr="Straight Arrow Connector 13">
            <a:extLst>
              <a:ext uri="{FF2B5EF4-FFF2-40B4-BE49-F238E27FC236}">
                <a16:creationId xmlns:a16="http://schemas.microsoft.com/office/drawing/2014/main" id="{63B00AD2-9E01-9FDB-96FE-FB1231D348E2}"/>
              </a:ext>
            </a:extLst>
          </p:cNvPr>
          <p:cNvSpPr>
            <a:spLocks noChangeShapeType="1"/>
          </p:cNvSpPr>
          <p:nvPr/>
        </p:nvSpPr>
        <p:spPr bwMode="auto">
          <a:xfrm>
            <a:off x="1258888" y="3686175"/>
            <a:ext cx="503237"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6844" name="Text Box 60" descr="TextBox 15">
            <a:extLst>
              <a:ext uri="{FF2B5EF4-FFF2-40B4-BE49-F238E27FC236}">
                <a16:creationId xmlns:a16="http://schemas.microsoft.com/office/drawing/2014/main" id="{63D35FE6-C6B9-F192-8E18-609C8B9709FE}"/>
              </a:ext>
            </a:extLst>
          </p:cNvPr>
          <p:cNvSpPr txBox="1">
            <a:spLocks/>
          </p:cNvSpPr>
          <p:nvPr/>
        </p:nvSpPr>
        <p:spPr bwMode="auto">
          <a:xfrm>
            <a:off x="395288" y="3363913"/>
            <a:ext cx="104140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sp>
        <p:nvSpPr>
          <p:cNvPr id="246845" name="Line 61" descr="Straight Arrow Connector 14">
            <a:extLst>
              <a:ext uri="{FF2B5EF4-FFF2-40B4-BE49-F238E27FC236}">
                <a16:creationId xmlns:a16="http://schemas.microsoft.com/office/drawing/2014/main" id="{7E74B036-F683-9434-644D-A1BC387C4E96}"/>
              </a:ext>
            </a:extLst>
          </p:cNvPr>
          <p:cNvSpPr>
            <a:spLocks noChangeShapeType="1"/>
          </p:cNvSpPr>
          <p:nvPr/>
        </p:nvSpPr>
        <p:spPr bwMode="auto">
          <a:xfrm>
            <a:off x="1292225" y="2228850"/>
            <a:ext cx="503238" cy="0"/>
          </a:xfrm>
          <a:prstGeom prst="line">
            <a:avLst/>
          </a:prstGeom>
          <a:noFill/>
          <a:ln w="38100" cap="flat" cmpd="sng">
            <a:solidFill>
              <a:srgbClr val="0000FF"/>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6846" name="Text Box 62" descr="TextBox 16">
            <a:extLst>
              <a:ext uri="{FF2B5EF4-FFF2-40B4-BE49-F238E27FC236}">
                <a16:creationId xmlns:a16="http://schemas.microsoft.com/office/drawing/2014/main" id="{2CB9AADE-8370-7E72-36B0-D20074FC083A}"/>
              </a:ext>
            </a:extLst>
          </p:cNvPr>
          <p:cNvSpPr txBox="1">
            <a:spLocks/>
          </p:cNvSpPr>
          <p:nvPr/>
        </p:nvSpPr>
        <p:spPr bwMode="auto">
          <a:xfrm>
            <a:off x="541338" y="1809750"/>
            <a:ext cx="746125"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T1 </a:t>
            </a:r>
          </a:p>
          <a:p>
            <a:r>
              <a:rPr lang="en-US" altLang="en-US">
                <a:solidFill>
                  <a:srgbClr val="0000FF"/>
                </a:solidFill>
              </a:rPr>
              <a:t>Begin</a:t>
            </a:r>
          </a:p>
        </p:txBody>
      </p:sp>
      <p:graphicFrame>
        <p:nvGraphicFramePr>
          <p:cNvPr id="246847" name="Group 63">
            <a:extLst>
              <a:ext uri="{FF2B5EF4-FFF2-40B4-BE49-F238E27FC236}">
                <a16:creationId xmlns:a16="http://schemas.microsoft.com/office/drawing/2014/main" id="{8C47F647-122F-1E65-5626-E43627E209D2}"/>
              </a:ext>
            </a:extLst>
          </p:cNvPr>
          <p:cNvGraphicFramePr>
            <a:graphicFrameLocks noGrp="1"/>
          </p:cNvGraphicFramePr>
          <p:nvPr/>
        </p:nvGraphicFramePr>
        <p:xfrm>
          <a:off x="4392613" y="4979988"/>
          <a:ext cx="2260600" cy="1089025"/>
        </p:xfrm>
        <a:graphic>
          <a:graphicData uri="http://schemas.openxmlformats.org/drawingml/2006/table">
            <a:tbl>
              <a:tblPr/>
              <a:tblGrid>
                <a:gridCol w="1108075">
                  <a:extLst>
                    <a:ext uri="{9D8B030D-6E8A-4147-A177-3AD203B41FA5}">
                      <a16:colId xmlns:a16="http://schemas.microsoft.com/office/drawing/2014/main" val="1486325337"/>
                    </a:ext>
                  </a:extLst>
                </a:gridCol>
                <a:gridCol w="1152525">
                  <a:extLst>
                    <a:ext uri="{9D8B030D-6E8A-4147-A177-3AD203B41FA5}">
                      <a16:colId xmlns:a16="http://schemas.microsoft.com/office/drawing/2014/main" val="4121892812"/>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69533467"/>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8672169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13931193"/>
                  </a:ext>
                </a:extLst>
              </a:tr>
            </a:tbl>
          </a:graphicData>
        </a:graphic>
      </p:graphicFrame>
      <p:sp>
        <p:nvSpPr>
          <p:cNvPr id="246871" name="Text Box 87" descr="TextBox 18">
            <a:extLst>
              <a:ext uri="{FF2B5EF4-FFF2-40B4-BE49-F238E27FC236}">
                <a16:creationId xmlns:a16="http://schemas.microsoft.com/office/drawing/2014/main" id="{1BA94256-4094-378D-D488-7E92614FD44C}"/>
              </a:ext>
            </a:extLst>
          </p:cNvPr>
          <p:cNvSpPr txBox="1">
            <a:spLocks/>
          </p:cNvSpPr>
          <p:nvPr/>
        </p:nvSpPr>
        <p:spPr bwMode="auto">
          <a:xfrm>
            <a:off x="4427538" y="4637088"/>
            <a:ext cx="2273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solidFill>
                  <a:srgbClr val="0000FF"/>
                </a:solidFill>
              </a:rPr>
              <a:t>Copy of ACCOUNTS</a:t>
            </a:r>
          </a:p>
        </p:txBody>
      </p:sp>
      <p:sp>
        <p:nvSpPr>
          <p:cNvPr id="246872" name="Line 88" descr="Straight Arrow Connector 20">
            <a:extLst>
              <a:ext uri="{FF2B5EF4-FFF2-40B4-BE49-F238E27FC236}">
                <a16:creationId xmlns:a16="http://schemas.microsoft.com/office/drawing/2014/main" id="{5F2E2447-89B9-ADDC-0018-CDFF6FFAEC42}"/>
              </a:ext>
            </a:extLst>
          </p:cNvPr>
          <p:cNvSpPr>
            <a:spLocks noChangeShapeType="1"/>
          </p:cNvSpPr>
          <p:nvPr/>
        </p:nvSpPr>
        <p:spPr bwMode="auto">
          <a:xfrm>
            <a:off x="3454400" y="5284788"/>
            <a:ext cx="873125" cy="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6873" name="Text Box 89" descr="TextBox 11">
            <a:extLst>
              <a:ext uri="{FF2B5EF4-FFF2-40B4-BE49-F238E27FC236}">
                <a16:creationId xmlns:a16="http://schemas.microsoft.com/office/drawing/2014/main" id="{5F03FD7A-CE16-63E4-0B3C-098A5BAF4FC1}"/>
              </a:ext>
            </a:extLst>
          </p:cNvPr>
          <p:cNvSpPr txBox="1">
            <a:spLocks/>
          </p:cNvSpPr>
          <p:nvPr/>
        </p:nvSpPr>
        <p:spPr bwMode="auto">
          <a:xfrm>
            <a:off x="7169150" y="4991100"/>
            <a:ext cx="1516063"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When System</a:t>
            </a:r>
          </a:p>
          <a:p>
            <a:r>
              <a:rPr lang="en-US" altLang="en-US" sz="1600"/>
              <a:t>crash Occurs </a:t>
            </a:r>
          </a:p>
          <a:p>
            <a:r>
              <a:rPr lang="en-US" altLang="en-US" sz="1600"/>
              <a:t>copy from </a:t>
            </a:r>
          </a:p>
          <a:p>
            <a:r>
              <a:rPr lang="en-US" altLang="en-US" sz="1600"/>
              <a:t>Shadow </a:t>
            </a:r>
          </a:p>
        </p:txBody>
      </p:sp>
      <p:sp>
        <p:nvSpPr>
          <p:cNvPr id="246874" name="Line 90" descr="Straight Connector 29">
            <a:extLst>
              <a:ext uri="{FF2B5EF4-FFF2-40B4-BE49-F238E27FC236}">
                <a16:creationId xmlns:a16="http://schemas.microsoft.com/office/drawing/2014/main" id="{D131CB13-43A4-D745-07B0-C3F7C2BDA1DB}"/>
              </a:ext>
            </a:extLst>
          </p:cNvPr>
          <p:cNvSpPr>
            <a:spLocks noChangeShapeType="1"/>
          </p:cNvSpPr>
          <p:nvPr/>
        </p:nvSpPr>
        <p:spPr bwMode="auto">
          <a:xfrm flipV="1">
            <a:off x="6530975" y="5430838"/>
            <a:ext cx="568325" cy="23812"/>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6875" name="Line 91" descr="Straight Connector 31">
            <a:extLst>
              <a:ext uri="{FF2B5EF4-FFF2-40B4-BE49-F238E27FC236}">
                <a16:creationId xmlns:a16="http://schemas.microsoft.com/office/drawing/2014/main" id="{F866193C-7784-295B-41A6-CEC2441C9333}"/>
              </a:ext>
            </a:extLst>
          </p:cNvPr>
          <p:cNvSpPr>
            <a:spLocks noChangeShapeType="1"/>
          </p:cNvSpPr>
          <p:nvPr/>
        </p:nvSpPr>
        <p:spPr bwMode="auto">
          <a:xfrm flipV="1">
            <a:off x="7088188" y="4029075"/>
            <a:ext cx="0" cy="1401763"/>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6876" name="Line 92" descr="Straight Arrow Connector 36">
            <a:extLst>
              <a:ext uri="{FF2B5EF4-FFF2-40B4-BE49-F238E27FC236}">
                <a16:creationId xmlns:a16="http://schemas.microsoft.com/office/drawing/2014/main" id="{754F8422-E443-2EE1-E1F1-628D4FDAB4B0}"/>
              </a:ext>
            </a:extLst>
          </p:cNvPr>
          <p:cNvSpPr>
            <a:spLocks noChangeShapeType="1"/>
          </p:cNvSpPr>
          <p:nvPr/>
        </p:nvSpPr>
        <p:spPr bwMode="auto">
          <a:xfrm flipH="1">
            <a:off x="6651625" y="4016375"/>
            <a:ext cx="447675" cy="34925"/>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46877" name="Text Box 93" descr="TextBox 23">
            <a:extLst>
              <a:ext uri="{FF2B5EF4-FFF2-40B4-BE49-F238E27FC236}">
                <a16:creationId xmlns:a16="http://schemas.microsoft.com/office/drawing/2014/main" id="{89FBBF84-031D-F63A-41F6-3C207B5C1D5C}"/>
              </a:ext>
            </a:extLst>
          </p:cNvPr>
          <p:cNvSpPr txBox="1">
            <a:spLocks/>
          </p:cNvSpPr>
          <p:nvPr/>
        </p:nvSpPr>
        <p:spPr bwMode="auto">
          <a:xfrm>
            <a:off x="2528888" y="4772025"/>
            <a:ext cx="1020762"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Shadow </a:t>
            </a:r>
          </a:p>
          <a:p>
            <a:r>
              <a:rPr lang="en-US" altLang="en-US" sz="1600"/>
              <a:t>Of</a:t>
            </a:r>
          </a:p>
          <a:p>
            <a:r>
              <a:rPr lang="en-US" altLang="en-US" sz="1600"/>
              <a:t>Accounts</a:t>
            </a:r>
          </a:p>
          <a:p>
            <a:r>
              <a:rPr lang="en-US" altLang="en-US" sz="1600"/>
              <a:t>Table</a:t>
            </a:r>
          </a:p>
        </p:txBody>
      </p:sp>
    </p:spTree>
  </p:cSld>
  <p:clrMapOvr>
    <a:masterClrMapping/>
  </p:clrMapOvr>
  <p:transition spd="med"/>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descr="Title 1">
            <a:extLst>
              <a:ext uri="{FF2B5EF4-FFF2-40B4-BE49-F238E27FC236}">
                <a16:creationId xmlns:a16="http://schemas.microsoft.com/office/drawing/2014/main" id="{C6B945CC-F2D5-9C22-9B4A-59A456D65814}"/>
              </a:ext>
            </a:extLst>
          </p:cNvPr>
          <p:cNvSpPr>
            <a:spLocks noChangeArrowheads="1"/>
          </p:cNvSpPr>
          <p:nvPr>
            <p:ph type="title"/>
          </p:nvPr>
        </p:nvSpPr>
        <p:spPr/>
        <p:txBody>
          <a:bodyPr/>
          <a:lstStyle/>
          <a:p>
            <a:r>
              <a:rPr lang="en-US" altLang="en-US"/>
              <a:t>Recovery using Log Entries</a:t>
            </a:r>
          </a:p>
        </p:txBody>
      </p:sp>
      <p:sp>
        <p:nvSpPr>
          <p:cNvPr id="247811" name="Rectangle 3" descr="Content Placeholder 2">
            <a:extLst>
              <a:ext uri="{FF2B5EF4-FFF2-40B4-BE49-F238E27FC236}">
                <a16:creationId xmlns:a16="http://schemas.microsoft.com/office/drawing/2014/main" id="{827F277A-F897-0218-B4E7-65CBD0EA0BA2}"/>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7812" name="Text Box 4" descr="Date Placeholder 3">
            <a:extLst>
              <a:ext uri="{FF2B5EF4-FFF2-40B4-BE49-F238E27FC236}">
                <a16:creationId xmlns:a16="http://schemas.microsoft.com/office/drawing/2014/main" id="{C5B9A5F3-15F5-2F36-CBF5-CC938D5555D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7813" name="Text Box 5" descr="Slide Number Placeholder 5">
            <a:extLst>
              <a:ext uri="{FF2B5EF4-FFF2-40B4-BE49-F238E27FC236}">
                <a16:creationId xmlns:a16="http://schemas.microsoft.com/office/drawing/2014/main" id="{690A33A3-AC8B-9AA7-327B-1CF6DF1542C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0065CEC-C839-4A0A-9712-BD90F2D41FA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47814" name="Group 6">
            <a:extLst>
              <a:ext uri="{FF2B5EF4-FFF2-40B4-BE49-F238E27FC236}">
                <a16:creationId xmlns:a16="http://schemas.microsoft.com/office/drawing/2014/main" id="{84DFE075-6042-BCEF-8820-41840E420F52}"/>
              </a:ext>
            </a:extLst>
          </p:cNvPr>
          <p:cNvGraphicFramePr>
            <a:graphicFrameLocks noGrp="1"/>
          </p:cNvGraphicFramePr>
          <p:nvPr/>
        </p:nvGraphicFramePr>
        <p:xfrm>
          <a:off x="4821238" y="2352675"/>
          <a:ext cx="2260600" cy="1089025"/>
        </p:xfrm>
        <a:graphic>
          <a:graphicData uri="http://schemas.openxmlformats.org/drawingml/2006/table">
            <a:tbl>
              <a:tblPr/>
              <a:tblGrid>
                <a:gridCol w="1108075">
                  <a:extLst>
                    <a:ext uri="{9D8B030D-6E8A-4147-A177-3AD203B41FA5}">
                      <a16:colId xmlns:a16="http://schemas.microsoft.com/office/drawing/2014/main" val="395005530"/>
                    </a:ext>
                  </a:extLst>
                </a:gridCol>
                <a:gridCol w="1152525">
                  <a:extLst>
                    <a:ext uri="{9D8B030D-6E8A-4147-A177-3AD203B41FA5}">
                      <a16:colId xmlns:a16="http://schemas.microsoft.com/office/drawing/2014/main" val="2900334117"/>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53952313"/>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67194411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97519108"/>
                  </a:ext>
                </a:extLst>
              </a:tr>
            </a:tbl>
          </a:graphicData>
        </a:graphic>
      </p:graphicFrame>
      <p:sp>
        <p:nvSpPr>
          <p:cNvPr id="247838" name="Text Box 30" descr="TextBox 8">
            <a:extLst>
              <a:ext uri="{FF2B5EF4-FFF2-40B4-BE49-F238E27FC236}">
                <a16:creationId xmlns:a16="http://schemas.microsoft.com/office/drawing/2014/main" id="{9D29FB35-B8E6-38C3-3545-E581E588FDC0}"/>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47839" name="Group 31">
            <a:extLst>
              <a:ext uri="{FF2B5EF4-FFF2-40B4-BE49-F238E27FC236}">
                <a16:creationId xmlns:a16="http://schemas.microsoft.com/office/drawing/2014/main" id="{15212CA7-E57F-4CF8-1981-5DD80D61A7B2}"/>
              </a:ext>
            </a:extLst>
          </p:cNvPr>
          <p:cNvGraphicFramePr>
            <a:graphicFrameLocks noGrp="1"/>
          </p:cNvGraphicFramePr>
          <p:nvPr/>
        </p:nvGraphicFramePr>
        <p:xfrm>
          <a:off x="1763713" y="2025650"/>
          <a:ext cx="1728787" cy="2689225"/>
        </p:xfrm>
        <a:graphic>
          <a:graphicData uri="http://schemas.openxmlformats.org/drawingml/2006/table">
            <a:tbl>
              <a:tblPr/>
              <a:tblGrid>
                <a:gridCol w="1728787">
                  <a:extLst>
                    <a:ext uri="{9D8B030D-6E8A-4147-A177-3AD203B41FA5}">
                      <a16:colId xmlns:a16="http://schemas.microsoft.com/office/drawing/2014/main" val="305926521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592449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816515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757462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5997418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37141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0477122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78157508"/>
                  </a:ext>
                </a:extLst>
              </a:tr>
            </a:tbl>
          </a:graphicData>
        </a:graphic>
      </p:graphicFrame>
      <p:sp>
        <p:nvSpPr>
          <p:cNvPr id="247869" name="Text Box 61" descr="TextBox 10">
            <a:extLst>
              <a:ext uri="{FF2B5EF4-FFF2-40B4-BE49-F238E27FC236}">
                <a16:creationId xmlns:a16="http://schemas.microsoft.com/office/drawing/2014/main" id="{260EABF1-7308-3E6A-3F5C-37A30199CD43}"/>
              </a:ext>
            </a:extLst>
          </p:cNvPr>
          <p:cNvSpPr txBox="1">
            <a:spLocks/>
          </p:cNvSpPr>
          <p:nvPr/>
        </p:nvSpPr>
        <p:spPr bwMode="auto">
          <a:xfrm>
            <a:off x="1665288" y="1628775"/>
            <a:ext cx="159067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7870" name="Text Box 62" descr="TextBox 22">
            <a:extLst>
              <a:ext uri="{FF2B5EF4-FFF2-40B4-BE49-F238E27FC236}">
                <a16:creationId xmlns:a16="http://schemas.microsoft.com/office/drawing/2014/main" id="{15B96C4F-6367-A6EF-F528-32F1851C18EB}"/>
              </a:ext>
            </a:extLst>
          </p:cNvPr>
          <p:cNvSpPr txBox="1">
            <a:spLocks/>
          </p:cNvSpPr>
          <p:nvPr/>
        </p:nvSpPr>
        <p:spPr bwMode="auto">
          <a:xfrm>
            <a:off x="3286125" y="4768850"/>
            <a:ext cx="811213"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Log </a:t>
            </a:r>
          </a:p>
          <a:p>
            <a:r>
              <a:rPr lang="en-US" altLang="en-US" sz="1600"/>
              <a:t>Entries</a:t>
            </a:r>
          </a:p>
          <a:p>
            <a:r>
              <a:rPr lang="en-US" altLang="en-US" sz="1600"/>
              <a:t>Of T1</a:t>
            </a:r>
          </a:p>
        </p:txBody>
      </p:sp>
      <p:sp>
        <p:nvSpPr>
          <p:cNvPr id="247871" name="Rectangle 63" descr="Rectangle 11">
            <a:extLst>
              <a:ext uri="{FF2B5EF4-FFF2-40B4-BE49-F238E27FC236}">
                <a16:creationId xmlns:a16="http://schemas.microsoft.com/office/drawing/2014/main" id="{B6990D51-37A2-5DA9-E8FF-CB0574144582}"/>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7872" name="Group 64">
            <a:extLst>
              <a:ext uri="{FF2B5EF4-FFF2-40B4-BE49-F238E27FC236}">
                <a16:creationId xmlns:a16="http://schemas.microsoft.com/office/drawing/2014/main" id="{85ECEFF8-B158-EDD7-16FC-2D59303B9999}"/>
              </a:ext>
            </a:extLst>
          </p:cNvPr>
          <p:cNvGraphicFramePr>
            <a:graphicFrameLocks noGrp="1"/>
          </p:cNvGraphicFramePr>
          <p:nvPr/>
        </p:nvGraphicFramePr>
        <p:xfrm>
          <a:off x="5003800" y="3644900"/>
          <a:ext cx="2663825" cy="2600325"/>
        </p:xfrm>
        <a:graphic>
          <a:graphicData uri="http://schemas.openxmlformats.org/drawingml/2006/table">
            <a:tbl>
              <a:tblPr/>
              <a:tblGrid>
                <a:gridCol w="2663825">
                  <a:extLst>
                    <a:ext uri="{9D8B030D-6E8A-4147-A177-3AD203B41FA5}">
                      <a16:colId xmlns:a16="http://schemas.microsoft.com/office/drawing/2014/main" val="2072068909"/>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24031593"/>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37217630"/>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7502995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7164218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4536024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509015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52910907"/>
                  </a:ext>
                </a:extLst>
              </a:tr>
            </a:tbl>
          </a:graphicData>
        </a:graphic>
      </p:graphicFrame>
      <p:sp>
        <p:nvSpPr>
          <p:cNvPr id="247902" name="AutoShape 94" descr="Right Arrow 12">
            <a:extLst>
              <a:ext uri="{FF2B5EF4-FFF2-40B4-BE49-F238E27FC236}">
                <a16:creationId xmlns:a16="http://schemas.microsoft.com/office/drawing/2014/main" id="{1DC1AD50-FFCF-60EA-30D9-155AD509F76B}"/>
              </a:ext>
            </a:extLst>
          </p:cNvPr>
          <p:cNvSpPr>
            <a:spLocks/>
          </p:cNvSpPr>
          <p:nvPr/>
        </p:nvSpPr>
        <p:spPr bwMode="auto">
          <a:xfrm>
            <a:off x="4138613" y="5011738"/>
            <a:ext cx="865187" cy="344487"/>
          </a:xfrm>
          <a:prstGeom prst="rightArrow">
            <a:avLst>
              <a:gd name="adj1" fmla="val 50000"/>
              <a:gd name="adj2" fmla="val 50044"/>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descr="Title 1">
            <a:extLst>
              <a:ext uri="{FF2B5EF4-FFF2-40B4-BE49-F238E27FC236}">
                <a16:creationId xmlns:a16="http://schemas.microsoft.com/office/drawing/2014/main" id="{F99E20CB-5BC2-1832-5953-6BEA29DEB8B7}"/>
              </a:ext>
            </a:extLst>
          </p:cNvPr>
          <p:cNvSpPr>
            <a:spLocks noChangeArrowheads="1"/>
          </p:cNvSpPr>
          <p:nvPr>
            <p:ph type="title"/>
          </p:nvPr>
        </p:nvSpPr>
        <p:spPr/>
        <p:txBody>
          <a:bodyPr/>
          <a:lstStyle/>
          <a:p>
            <a:r>
              <a:rPr lang="en-US" altLang="en-US"/>
              <a:t>Recovery using Log Entries</a:t>
            </a:r>
          </a:p>
        </p:txBody>
      </p:sp>
      <p:sp>
        <p:nvSpPr>
          <p:cNvPr id="248835" name="Rectangle 3" descr="Content Placeholder 2">
            <a:extLst>
              <a:ext uri="{FF2B5EF4-FFF2-40B4-BE49-F238E27FC236}">
                <a16:creationId xmlns:a16="http://schemas.microsoft.com/office/drawing/2014/main" id="{EBD1C841-E44C-4735-5823-58402C6AEF6D}"/>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8836" name="Text Box 4" descr="Date Placeholder 3">
            <a:extLst>
              <a:ext uri="{FF2B5EF4-FFF2-40B4-BE49-F238E27FC236}">
                <a16:creationId xmlns:a16="http://schemas.microsoft.com/office/drawing/2014/main" id="{1CB1D56D-1F7B-BCD8-E3EF-E2C1F6948C5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8837" name="Text Box 5" descr="Slide Number Placeholder 5">
            <a:extLst>
              <a:ext uri="{FF2B5EF4-FFF2-40B4-BE49-F238E27FC236}">
                <a16:creationId xmlns:a16="http://schemas.microsoft.com/office/drawing/2014/main" id="{F47F9A6B-9A93-B852-A302-B9320E4C5DF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0A7E8AB-74E5-4A72-A9BC-587C3145F8A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48838" name="Group 6">
            <a:extLst>
              <a:ext uri="{FF2B5EF4-FFF2-40B4-BE49-F238E27FC236}">
                <a16:creationId xmlns:a16="http://schemas.microsoft.com/office/drawing/2014/main" id="{54FB24CA-37A9-23EC-5F4E-89E108FF537A}"/>
              </a:ext>
            </a:extLst>
          </p:cNvPr>
          <p:cNvGraphicFramePr>
            <a:graphicFrameLocks noGrp="1"/>
          </p:cNvGraphicFramePr>
          <p:nvPr/>
        </p:nvGraphicFramePr>
        <p:xfrm>
          <a:off x="4821238" y="2352675"/>
          <a:ext cx="2260600" cy="1089025"/>
        </p:xfrm>
        <a:graphic>
          <a:graphicData uri="http://schemas.openxmlformats.org/drawingml/2006/table">
            <a:tbl>
              <a:tblPr/>
              <a:tblGrid>
                <a:gridCol w="1108075">
                  <a:extLst>
                    <a:ext uri="{9D8B030D-6E8A-4147-A177-3AD203B41FA5}">
                      <a16:colId xmlns:a16="http://schemas.microsoft.com/office/drawing/2014/main" val="1971387566"/>
                    </a:ext>
                  </a:extLst>
                </a:gridCol>
                <a:gridCol w="1152525">
                  <a:extLst>
                    <a:ext uri="{9D8B030D-6E8A-4147-A177-3AD203B41FA5}">
                      <a16:colId xmlns:a16="http://schemas.microsoft.com/office/drawing/2014/main" val="1624561418"/>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22215378"/>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8323285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686222141"/>
                  </a:ext>
                </a:extLst>
              </a:tr>
            </a:tbl>
          </a:graphicData>
        </a:graphic>
      </p:graphicFrame>
      <p:sp>
        <p:nvSpPr>
          <p:cNvPr id="248862" name="Text Box 30" descr="TextBox 8">
            <a:extLst>
              <a:ext uri="{FF2B5EF4-FFF2-40B4-BE49-F238E27FC236}">
                <a16:creationId xmlns:a16="http://schemas.microsoft.com/office/drawing/2014/main" id="{762A449D-713D-7B68-4B81-0A897E9B7D51}"/>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48863" name="Group 31">
            <a:extLst>
              <a:ext uri="{FF2B5EF4-FFF2-40B4-BE49-F238E27FC236}">
                <a16:creationId xmlns:a16="http://schemas.microsoft.com/office/drawing/2014/main" id="{0126FF59-99E3-985B-F534-C5114C4EBDB8}"/>
              </a:ext>
            </a:extLst>
          </p:cNvPr>
          <p:cNvGraphicFramePr>
            <a:graphicFrameLocks noGrp="1"/>
          </p:cNvGraphicFramePr>
          <p:nvPr/>
        </p:nvGraphicFramePr>
        <p:xfrm>
          <a:off x="1763713" y="2025650"/>
          <a:ext cx="1728787" cy="2689225"/>
        </p:xfrm>
        <a:graphic>
          <a:graphicData uri="http://schemas.openxmlformats.org/drawingml/2006/table">
            <a:tbl>
              <a:tblPr/>
              <a:tblGrid>
                <a:gridCol w="1728787">
                  <a:extLst>
                    <a:ext uri="{9D8B030D-6E8A-4147-A177-3AD203B41FA5}">
                      <a16:colId xmlns:a16="http://schemas.microsoft.com/office/drawing/2014/main" val="360849859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8398577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9005609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795419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051144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911331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361502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92276426"/>
                  </a:ext>
                </a:extLst>
              </a:tr>
            </a:tbl>
          </a:graphicData>
        </a:graphic>
      </p:graphicFrame>
      <p:sp>
        <p:nvSpPr>
          <p:cNvPr id="248893" name="Text Box 61" descr="TextBox 10">
            <a:extLst>
              <a:ext uri="{FF2B5EF4-FFF2-40B4-BE49-F238E27FC236}">
                <a16:creationId xmlns:a16="http://schemas.microsoft.com/office/drawing/2014/main" id="{CFF54913-CE3D-C6A6-2666-6A4091290173}"/>
              </a:ext>
            </a:extLst>
          </p:cNvPr>
          <p:cNvSpPr txBox="1">
            <a:spLocks/>
          </p:cNvSpPr>
          <p:nvPr/>
        </p:nvSpPr>
        <p:spPr bwMode="auto">
          <a:xfrm>
            <a:off x="1665288" y="1628775"/>
            <a:ext cx="1590675"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8894" name="Text Box 62" descr="TextBox 22">
            <a:extLst>
              <a:ext uri="{FF2B5EF4-FFF2-40B4-BE49-F238E27FC236}">
                <a16:creationId xmlns:a16="http://schemas.microsoft.com/office/drawing/2014/main" id="{C2EFF6D2-80D2-E401-0F45-503DF1BD1FAD}"/>
              </a:ext>
            </a:extLst>
          </p:cNvPr>
          <p:cNvSpPr txBox="1">
            <a:spLocks/>
          </p:cNvSpPr>
          <p:nvPr/>
        </p:nvSpPr>
        <p:spPr bwMode="auto">
          <a:xfrm>
            <a:off x="3286125" y="4768850"/>
            <a:ext cx="811213"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Log </a:t>
            </a:r>
          </a:p>
          <a:p>
            <a:r>
              <a:rPr lang="en-US" altLang="en-US" sz="1600"/>
              <a:t>Entries</a:t>
            </a:r>
          </a:p>
          <a:p>
            <a:r>
              <a:rPr lang="en-US" altLang="en-US" sz="1600"/>
              <a:t>Of T1</a:t>
            </a:r>
          </a:p>
        </p:txBody>
      </p:sp>
      <p:sp>
        <p:nvSpPr>
          <p:cNvPr id="248895" name="Rectangle 63" descr="Rectangle 11">
            <a:extLst>
              <a:ext uri="{FF2B5EF4-FFF2-40B4-BE49-F238E27FC236}">
                <a16:creationId xmlns:a16="http://schemas.microsoft.com/office/drawing/2014/main" id="{8C3AB22B-A28C-AFA4-E5DC-AB31115AC882}"/>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8896" name="Group 64">
            <a:extLst>
              <a:ext uri="{FF2B5EF4-FFF2-40B4-BE49-F238E27FC236}">
                <a16:creationId xmlns:a16="http://schemas.microsoft.com/office/drawing/2014/main" id="{7776EECF-CAE9-FAAE-8049-47656D66C735}"/>
              </a:ext>
            </a:extLst>
          </p:cNvPr>
          <p:cNvGraphicFramePr>
            <a:graphicFrameLocks noGrp="1"/>
          </p:cNvGraphicFramePr>
          <p:nvPr/>
        </p:nvGraphicFramePr>
        <p:xfrm>
          <a:off x="5003800" y="3644900"/>
          <a:ext cx="2663825" cy="2587625"/>
        </p:xfrm>
        <a:graphic>
          <a:graphicData uri="http://schemas.openxmlformats.org/drawingml/2006/table">
            <a:tbl>
              <a:tblPr/>
              <a:tblGrid>
                <a:gridCol w="2663825">
                  <a:extLst>
                    <a:ext uri="{9D8B030D-6E8A-4147-A177-3AD203B41FA5}">
                      <a16:colId xmlns:a16="http://schemas.microsoft.com/office/drawing/2014/main" val="976919131"/>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27407414"/>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65931148"/>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5161151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[Write,T1, A, 150,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189037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4920365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8760554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00317830"/>
                  </a:ext>
                </a:extLst>
              </a:tr>
            </a:tbl>
          </a:graphicData>
        </a:graphic>
      </p:graphicFrame>
      <p:sp>
        <p:nvSpPr>
          <p:cNvPr id="248926" name="AutoShape 94" descr="Right Arrow 12">
            <a:extLst>
              <a:ext uri="{FF2B5EF4-FFF2-40B4-BE49-F238E27FC236}">
                <a16:creationId xmlns:a16="http://schemas.microsoft.com/office/drawing/2014/main" id="{88AD2758-EEA9-AD3B-35DA-E38BF0E21605}"/>
              </a:ext>
            </a:extLst>
          </p:cNvPr>
          <p:cNvSpPr>
            <a:spLocks/>
          </p:cNvSpPr>
          <p:nvPr/>
        </p:nvSpPr>
        <p:spPr bwMode="auto">
          <a:xfrm>
            <a:off x="4138613" y="5011738"/>
            <a:ext cx="865187" cy="344487"/>
          </a:xfrm>
          <a:prstGeom prst="rightArrow">
            <a:avLst>
              <a:gd name="adj1" fmla="val 50000"/>
              <a:gd name="adj2" fmla="val 50044"/>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descr="Title 1">
            <a:extLst>
              <a:ext uri="{FF2B5EF4-FFF2-40B4-BE49-F238E27FC236}">
                <a16:creationId xmlns:a16="http://schemas.microsoft.com/office/drawing/2014/main" id="{07E93448-4548-4D14-D471-FC3D2E17ABD5}"/>
              </a:ext>
            </a:extLst>
          </p:cNvPr>
          <p:cNvSpPr>
            <a:spLocks noChangeArrowheads="1"/>
          </p:cNvSpPr>
          <p:nvPr>
            <p:ph type="title"/>
          </p:nvPr>
        </p:nvSpPr>
        <p:spPr/>
        <p:txBody>
          <a:bodyPr/>
          <a:lstStyle/>
          <a:p>
            <a:r>
              <a:rPr lang="en-US" altLang="en-US"/>
              <a:t>Recovery using Log Entries</a:t>
            </a:r>
          </a:p>
        </p:txBody>
      </p:sp>
      <p:sp>
        <p:nvSpPr>
          <p:cNvPr id="249859" name="Rectangle 3" descr="Content Placeholder 2">
            <a:extLst>
              <a:ext uri="{FF2B5EF4-FFF2-40B4-BE49-F238E27FC236}">
                <a16:creationId xmlns:a16="http://schemas.microsoft.com/office/drawing/2014/main" id="{C10A3ABB-D627-B9C8-9321-9372E10291A2}"/>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49860" name="Text Box 4" descr="Date Placeholder 3">
            <a:extLst>
              <a:ext uri="{FF2B5EF4-FFF2-40B4-BE49-F238E27FC236}">
                <a16:creationId xmlns:a16="http://schemas.microsoft.com/office/drawing/2014/main" id="{2ED289B2-1200-3AC3-771B-4E5DEAA829B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49861" name="Text Box 5" descr="Slide Number Placeholder 5">
            <a:extLst>
              <a:ext uri="{FF2B5EF4-FFF2-40B4-BE49-F238E27FC236}">
                <a16:creationId xmlns:a16="http://schemas.microsoft.com/office/drawing/2014/main" id="{58D4C8EA-B719-6CBE-E4CA-34F6F6C8873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6374A55-1038-4D1E-AA9F-DBEF0E76575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49862" name="Group 6">
            <a:extLst>
              <a:ext uri="{FF2B5EF4-FFF2-40B4-BE49-F238E27FC236}">
                <a16:creationId xmlns:a16="http://schemas.microsoft.com/office/drawing/2014/main" id="{5219D6DA-90AB-BF36-A438-BFE3C012CC5A}"/>
              </a:ext>
            </a:extLst>
          </p:cNvPr>
          <p:cNvGraphicFramePr>
            <a:graphicFrameLocks noGrp="1"/>
          </p:cNvGraphicFramePr>
          <p:nvPr/>
        </p:nvGraphicFramePr>
        <p:xfrm>
          <a:off x="4821238" y="2352675"/>
          <a:ext cx="2260600" cy="1089025"/>
        </p:xfrm>
        <a:graphic>
          <a:graphicData uri="http://schemas.openxmlformats.org/drawingml/2006/table">
            <a:tbl>
              <a:tblPr/>
              <a:tblGrid>
                <a:gridCol w="1108075">
                  <a:extLst>
                    <a:ext uri="{9D8B030D-6E8A-4147-A177-3AD203B41FA5}">
                      <a16:colId xmlns:a16="http://schemas.microsoft.com/office/drawing/2014/main" val="710432210"/>
                    </a:ext>
                  </a:extLst>
                </a:gridCol>
                <a:gridCol w="1152525">
                  <a:extLst>
                    <a:ext uri="{9D8B030D-6E8A-4147-A177-3AD203B41FA5}">
                      <a16:colId xmlns:a16="http://schemas.microsoft.com/office/drawing/2014/main" val="3108042542"/>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79710223"/>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24281969"/>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70645508"/>
                  </a:ext>
                </a:extLst>
              </a:tr>
            </a:tbl>
          </a:graphicData>
        </a:graphic>
      </p:graphicFrame>
      <p:sp>
        <p:nvSpPr>
          <p:cNvPr id="249886" name="Text Box 30" descr="TextBox 8">
            <a:extLst>
              <a:ext uri="{FF2B5EF4-FFF2-40B4-BE49-F238E27FC236}">
                <a16:creationId xmlns:a16="http://schemas.microsoft.com/office/drawing/2014/main" id="{956EA3B0-F02B-1C7A-2F12-5E6080E49102}"/>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49887" name="Group 31">
            <a:extLst>
              <a:ext uri="{FF2B5EF4-FFF2-40B4-BE49-F238E27FC236}">
                <a16:creationId xmlns:a16="http://schemas.microsoft.com/office/drawing/2014/main" id="{A7FC8CEB-8BAA-E26F-F0BD-2EDFEB1CA886}"/>
              </a:ext>
            </a:extLst>
          </p:cNvPr>
          <p:cNvGraphicFramePr>
            <a:graphicFrameLocks noGrp="1"/>
          </p:cNvGraphicFramePr>
          <p:nvPr/>
        </p:nvGraphicFramePr>
        <p:xfrm>
          <a:off x="1763713" y="2211388"/>
          <a:ext cx="1728787" cy="2689225"/>
        </p:xfrm>
        <a:graphic>
          <a:graphicData uri="http://schemas.openxmlformats.org/drawingml/2006/table">
            <a:tbl>
              <a:tblPr/>
              <a:tblGrid>
                <a:gridCol w="1728787">
                  <a:extLst>
                    <a:ext uri="{9D8B030D-6E8A-4147-A177-3AD203B41FA5}">
                      <a16:colId xmlns:a16="http://schemas.microsoft.com/office/drawing/2014/main" val="383072264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102404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0762844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4143246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5483319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7520693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6844730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97262939"/>
                  </a:ext>
                </a:extLst>
              </a:tr>
            </a:tbl>
          </a:graphicData>
        </a:graphic>
      </p:graphicFrame>
      <p:sp>
        <p:nvSpPr>
          <p:cNvPr id="249917" name="Text Box 61" descr="TextBox 10">
            <a:extLst>
              <a:ext uri="{FF2B5EF4-FFF2-40B4-BE49-F238E27FC236}">
                <a16:creationId xmlns:a16="http://schemas.microsoft.com/office/drawing/2014/main" id="{AC25098B-CC26-2B35-FF14-90830273BB2F}"/>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49918" name="Text Box 62" descr="TextBox 22">
            <a:extLst>
              <a:ext uri="{FF2B5EF4-FFF2-40B4-BE49-F238E27FC236}">
                <a16:creationId xmlns:a16="http://schemas.microsoft.com/office/drawing/2014/main" id="{ECEE3F13-05D9-CC6C-E071-161268B3254D}"/>
              </a:ext>
            </a:extLst>
          </p:cNvPr>
          <p:cNvSpPr txBox="1">
            <a:spLocks/>
          </p:cNvSpPr>
          <p:nvPr/>
        </p:nvSpPr>
        <p:spPr bwMode="auto">
          <a:xfrm>
            <a:off x="3286125" y="4768850"/>
            <a:ext cx="811213"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Log </a:t>
            </a:r>
          </a:p>
          <a:p>
            <a:r>
              <a:rPr lang="en-US" altLang="en-US" sz="1600"/>
              <a:t>Entries</a:t>
            </a:r>
          </a:p>
          <a:p>
            <a:r>
              <a:rPr lang="en-US" altLang="en-US" sz="1600"/>
              <a:t>Of T1</a:t>
            </a:r>
          </a:p>
        </p:txBody>
      </p:sp>
      <p:sp>
        <p:nvSpPr>
          <p:cNvPr id="249919" name="Rectangle 63" descr="Rectangle 11">
            <a:extLst>
              <a:ext uri="{FF2B5EF4-FFF2-40B4-BE49-F238E27FC236}">
                <a16:creationId xmlns:a16="http://schemas.microsoft.com/office/drawing/2014/main" id="{91917227-435B-871C-EC11-A0C4DFC14542}"/>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49920" name="Group 64">
            <a:extLst>
              <a:ext uri="{FF2B5EF4-FFF2-40B4-BE49-F238E27FC236}">
                <a16:creationId xmlns:a16="http://schemas.microsoft.com/office/drawing/2014/main" id="{BA995748-26CC-A863-53D9-608B6780C7A9}"/>
              </a:ext>
            </a:extLst>
          </p:cNvPr>
          <p:cNvGraphicFramePr>
            <a:graphicFrameLocks noGrp="1"/>
          </p:cNvGraphicFramePr>
          <p:nvPr/>
        </p:nvGraphicFramePr>
        <p:xfrm>
          <a:off x="5003800" y="3644900"/>
          <a:ext cx="2663825" cy="2549525"/>
        </p:xfrm>
        <a:graphic>
          <a:graphicData uri="http://schemas.openxmlformats.org/drawingml/2006/table">
            <a:tbl>
              <a:tblPr/>
              <a:tblGrid>
                <a:gridCol w="2663825">
                  <a:extLst>
                    <a:ext uri="{9D8B030D-6E8A-4147-A177-3AD203B41FA5}">
                      <a16:colId xmlns:a16="http://schemas.microsoft.com/office/drawing/2014/main" val="1007522040"/>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62835249"/>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73798890"/>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6311739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[Write,T1, A, 150,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6123766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77822604"/>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T2, B, 100,200]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4821406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54213219"/>
                  </a:ext>
                </a:extLst>
              </a:tr>
            </a:tbl>
          </a:graphicData>
        </a:graphic>
      </p:graphicFrame>
      <p:sp>
        <p:nvSpPr>
          <p:cNvPr id="249950" name="AutoShape 94" descr="Right Arrow 12">
            <a:extLst>
              <a:ext uri="{FF2B5EF4-FFF2-40B4-BE49-F238E27FC236}">
                <a16:creationId xmlns:a16="http://schemas.microsoft.com/office/drawing/2014/main" id="{0456716F-405A-641F-9CBE-63D0BC5C399B}"/>
              </a:ext>
            </a:extLst>
          </p:cNvPr>
          <p:cNvSpPr>
            <a:spLocks/>
          </p:cNvSpPr>
          <p:nvPr/>
        </p:nvSpPr>
        <p:spPr bwMode="auto">
          <a:xfrm>
            <a:off x="4138613" y="5011738"/>
            <a:ext cx="865187" cy="344487"/>
          </a:xfrm>
          <a:prstGeom prst="rightArrow">
            <a:avLst>
              <a:gd name="adj1" fmla="val 50000"/>
              <a:gd name="adj2" fmla="val 50044"/>
            </a:avLst>
          </a:prstGeom>
          <a:solidFill>
            <a:schemeClr val="accent1"/>
          </a:solidFill>
          <a:ln w="952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descr="Title 1">
            <a:extLst>
              <a:ext uri="{FF2B5EF4-FFF2-40B4-BE49-F238E27FC236}">
                <a16:creationId xmlns:a16="http://schemas.microsoft.com/office/drawing/2014/main" id="{E37B0F76-8B2B-CB72-F43F-5BFE74E7D31B}"/>
              </a:ext>
            </a:extLst>
          </p:cNvPr>
          <p:cNvSpPr>
            <a:spLocks noChangeArrowheads="1"/>
          </p:cNvSpPr>
          <p:nvPr>
            <p:ph type="title"/>
          </p:nvPr>
        </p:nvSpPr>
        <p:spPr/>
        <p:txBody>
          <a:bodyPr/>
          <a:lstStyle/>
          <a:p>
            <a:r>
              <a:rPr lang="en-US" altLang="en-US"/>
              <a:t>Recovery using Log Entries</a:t>
            </a:r>
          </a:p>
        </p:txBody>
      </p:sp>
      <p:sp>
        <p:nvSpPr>
          <p:cNvPr id="250883" name="Rectangle 3" descr="Content Placeholder 2">
            <a:extLst>
              <a:ext uri="{FF2B5EF4-FFF2-40B4-BE49-F238E27FC236}">
                <a16:creationId xmlns:a16="http://schemas.microsoft.com/office/drawing/2014/main" id="{24F8F818-11DA-95A1-6317-100457DD89B4}"/>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50884" name="Text Box 4" descr="Date Placeholder 3">
            <a:extLst>
              <a:ext uri="{FF2B5EF4-FFF2-40B4-BE49-F238E27FC236}">
                <a16:creationId xmlns:a16="http://schemas.microsoft.com/office/drawing/2014/main" id="{6D929065-BB41-51CA-883E-4C986935CE9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0885" name="Text Box 5" descr="Slide Number Placeholder 5">
            <a:extLst>
              <a:ext uri="{FF2B5EF4-FFF2-40B4-BE49-F238E27FC236}">
                <a16:creationId xmlns:a16="http://schemas.microsoft.com/office/drawing/2014/main" id="{703DF40C-C2F8-0707-0996-8404011529B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E7DC9A2-4055-4A84-81C5-925082A568C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50886" name="Group 6">
            <a:extLst>
              <a:ext uri="{FF2B5EF4-FFF2-40B4-BE49-F238E27FC236}">
                <a16:creationId xmlns:a16="http://schemas.microsoft.com/office/drawing/2014/main" id="{D935F8F3-D9F8-63DF-DA2B-9CEFD872740C}"/>
              </a:ext>
            </a:extLst>
          </p:cNvPr>
          <p:cNvGraphicFramePr>
            <a:graphicFrameLocks noGrp="1"/>
          </p:cNvGraphicFramePr>
          <p:nvPr/>
        </p:nvGraphicFramePr>
        <p:xfrm>
          <a:off x="4821238" y="2352675"/>
          <a:ext cx="2260600" cy="1089025"/>
        </p:xfrm>
        <a:graphic>
          <a:graphicData uri="http://schemas.openxmlformats.org/drawingml/2006/table">
            <a:tbl>
              <a:tblPr/>
              <a:tblGrid>
                <a:gridCol w="1108075">
                  <a:extLst>
                    <a:ext uri="{9D8B030D-6E8A-4147-A177-3AD203B41FA5}">
                      <a16:colId xmlns:a16="http://schemas.microsoft.com/office/drawing/2014/main" val="4103270945"/>
                    </a:ext>
                  </a:extLst>
                </a:gridCol>
                <a:gridCol w="1152525">
                  <a:extLst>
                    <a:ext uri="{9D8B030D-6E8A-4147-A177-3AD203B41FA5}">
                      <a16:colId xmlns:a16="http://schemas.microsoft.com/office/drawing/2014/main" val="2418138885"/>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65394069"/>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5892153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09465725"/>
                  </a:ext>
                </a:extLst>
              </a:tr>
            </a:tbl>
          </a:graphicData>
        </a:graphic>
      </p:graphicFrame>
      <p:sp>
        <p:nvSpPr>
          <p:cNvPr id="250910" name="Text Box 30" descr="TextBox 8">
            <a:extLst>
              <a:ext uri="{FF2B5EF4-FFF2-40B4-BE49-F238E27FC236}">
                <a16:creationId xmlns:a16="http://schemas.microsoft.com/office/drawing/2014/main" id="{ED9D1060-69A4-82DD-BC98-8C66EAF0EB9E}"/>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50911" name="Group 31">
            <a:extLst>
              <a:ext uri="{FF2B5EF4-FFF2-40B4-BE49-F238E27FC236}">
                <a16:creationId xmlns:a16="http://schemas.microsoft.com/office/drawing/2014/main" id="{9BF46DD0-FB80-00C3-AF87-7093BA81E97D}"/>
              </a:ext>
            </a:extLst>
          </p:cNvPr>
          <p:cNvGraphicFramePr>
            <a:graphicFrameLocks noGrp="1"/>
          </p:cNvGraphicFramePr>
          <p:nvPr/>
        </p:nvGraphicFramePr>
        <p:xfrm>
          <a:off x="1763713" y="2211388"/>
          <a:ext cx="1728787" cy="2689225"/>
        </p:xfrm>
        <a:graphic>
          <a:graphicData uri="http://schemas.openxmlformats.org/drawingml/2006/table">
            <a:tbl>
              <a:tblPr/>
              <a:tblGrid>
                <a:gridCol w="1728787">
                  <a:extLst>
                    <a:ext uri="{9D8B030D-6E8A-4147-A177-3AD203B41FA5}">
                      <a16:colId xmlns:a16="http://schemas.microsoft.com/office/drawing/2014/main" val="325392709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0438643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189188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419373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776849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30048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2977860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04344086"/>
                  </a:ext>
                </a:extLst>
              </a:tr>
            </a:tbl>
          </a:graphicData>
        </a:graphic>
      </p:graphicFrame>
      <p:sp>
        <p:nvSpPr>
          <p:cNvPr id="250941" name="Text Box 61" descr="TextBox 10">
            <a:extLst>
              <a:ext uri="{FF2B5EF4-FFF2-40B4-BE49-F238E27FC236}">
                <a16:creationId xmlns:a16="http://schemas.microsoft.com/office/drawing/2014/main" id="{13CC4E69-961E-0783-10A2-CC1ADB9FE55B}"/>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50942" name="Rectangle 62" descr="Rectangle 11">
            <a:extLst>
              <a:ext uri="{FF2B5EF4-FFF2-40B4-BE49-F238E27FC236}">
                <a16:creationId xmlns:a16="http://schemas.microsoft.com/office/drawing/2014/main" id="{51E71B62-6A98-EC30-9C9F-93FD5CFD05A5}"/>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50943" name="Group 63">
            <a:extLst>
              <a:ext uri="{FF2B5EF4-FFF2-40B4-BE49-F238E27FC236}">
                <a16:creationId xmlns:a16="http://schemas.microsoft.com/office/drawing/2014/main" id="{09FEB4A1-8F4E-59EE-FE52-3A3B334A6655}"/>
              </a:ext>
            </a:extLst>
          </p:cNvPr>
          <p:cNvGraphicFramePr>
            <a:graphicFrameLocks noGrp="1"/>
          </p:cNvGraphicFramePr>
          <p:nvPr/>
        </p:nvGraphicFramePr>
        <p:xfrm>
          <a:off x="5003800" y="3644900"/>
          <a:ext cx="2663825" cy="2574925"/>
        </p:xfrm>
        <a:graphic>
          <a:graphicData uri="http://schemas.openxmlformats.org/drawingml/2006/table">
            <a:tbl>
              <a:tblPr/>
              <a:tblGrid>
                <a:gridCol w="2663825">
                  <a:extLst>
                    <a:ext uri="{9D8B030D-6E8A-4147-A177-3AD203B41FA5}">
                      <a16:colId xmlns:a16="http://schemas.microsoft.com/office/drawing/2014/main" val="1006598044"/>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808743831"/>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00674596"/>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9605555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[Write,T1, A, 150,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40897843"/>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269592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6397074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28623340"/>
                  </a:ext>
                </a:extLst>
              </a:tr>
            </a:tbl>
          </a:graphicData>
        </a:graphic>
      </p:graphicFrame>
      <p:sp>
        <p:nvSpPr>
          <p:cNvPr id="250973" name="Line 93" descr="Straight Arrow Connector 14">
            <a:extLst>
              <a:ext uri="{FF2B5EF4-FFF2-40B4-BE49-F238E27FC236}">
                <a16:creationId xmlns:a16="http://schemas.microsoft.com/office/drawing/2014/main" id="{AC2CD248-06FA-7408-AD33-E69ABEAD5FF4}"/>
              </a:ext>
            </a:extLst>
          </p:cNvPr>
          <p:cNvSpPr>
            <a:spLocks noChangeShapeType="1"/>
          </p:cNvSpPr>
          <p:nvPr/>
        </p:nvSpPr>
        <p:spPr bwMode="auto">
          <a:xfrm>
            <a:off x="1258888" y="3686175"/>
            <a:ext cx="503237"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0974" name="Text Box 94" descr="TextBox 15">
            <a:extLst>
              <a:ext uri="{FF2B5EF4-FFF2-40B4-BE49-F238E27FC236}">
                <a16:creationId xmlns:a16="http://schemas.microsoft.com/office/drawing/2014/main" id="{80BF129F-88CE-5AD7-3A5F-47B0ADB3FE49}"/>
              </a:ext>
            </a:extLst>
          </p:cNvPr>
          <p:cNvSpPr txBox="1">
            <a:spLocks/>
          </p:cNvSpPr>
          <p:nvPr/>
        </p:nvSpPr>
        <p:spPr bwMode="auto">
          <a:xfrm>
            <a:off x="395288" y="3363913"/>
            <a:ext cx="104140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sp>
        <p:nvSpPr>
          <p:cNvPr id="250975" name="Text Box 95" descr="TextBox 16">
            <a:extLst>
              <a:ext uri="{FF2B5EF4-FFF2-40B4-BE49-F238E27FC236}">
                <a16:creationId xmlns:a16="http://schemas.microsoft.com/office/drawing/2014/main" id="{0667ADB5-290D-1CD0-26C9-9616EE0D0CC1}"/>
              </a:ext>
            </a:extLst>
          </p:cNvPr>
          <p:cNvSpPr txBox="1">
            <a:spLocks/>
          </p:cNvSpPr>
          <p:nvPr/>
        </p:nvSpPr>
        <p:spPr bwMode="auto">
          <a:xfrm>
            <a:off x="482600" y="4913313"/>
            <a:ext cx="3395663" cy="1306512"/>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Question:</a:t>
            </a:r>
          </a:p>
          <a:p>
            <a:r>
              <a:rPr lang="en-US" altLang="en-US" sz="1600"/>
              <a:t>Now, when system crash</a:t>
            </a:r>
          </a:p>
          <a:p>
            <a:r>
              <a:rPr lang="en-US" altLang="en-US" sz="1600"/>
              <a:t>Occurs how the database</a:t>
            </a:r>
          </a:p>
          <a:p>
            <a:r>
              <a:rPr lang="en-US" altLang="en-US" sz="1600"/>
              <a:t>Can be restored back to original</a:t>
            </a:r>
          </a:p>
          <a:p>
            <a:r>
              <a:rPr lang="en-US" altLang="en-US" sz="1600"/>
              <a:t>Data values</a:t>
            </a:r>
          </a:p>
        </p:txBody>
      </p:sp>
    </p:spTree>
  </p:cSld>
  <p:clrMapOvr>
    <a:masterClrMapping/>
  </p:clrMapOvr>
  <p:transition spd="med"/>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descr="Title 1">
            <a:extLst>
              <a:ext uri="{FF2B5EF4-FFF2-40B4-BE49-F238E27FC236}">
                <a16:creationId xmlns:a16="http://schemas.microsoft.com/office/drawing/2014/main" id="{0D485500-4E80-3470-B628-15039B97EA72}"/>
              </a:ext>
            </a:extLst>
          </p:cNvPr>
          <p:cNvSpPr>
            <a:spLocks noChangeArrowheads="1"/>
          </p:cNvSpPr>
          <p:nvPr>
            <p:ph type="title"/>
          </p:nvPr>
        </p:nvSpPr>
        <p:spPr/>
        <p:txBody>
          <a:bodyPr/>
          <a:lstStyle/>
          <a:p>
            <a:r>
              <a:rPr lang="en-US" altLang="en-US"/>
              <a:t>Recovery using Log Entries</a:t>
            </a:r>
          </a:p>
        </p:txBody>
      </p:sp>
      <p:sp>
        <p:nvSpPr>
          <p:cNvPr id="251907" name="Rectangle 3" descr="Content Placeholder 2">
            <a:extLst>
              <a:ext uri="{FF2B5EF4-FFF2-40B4-BE49-F238E27FC236}">
                <a16:creationId xmlns:a16="http://schemas.microsoft.com/office/drawing/2014/main" id="{7AA6398C-D31A-3253-053D-AD092FB8EB47}"/>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51908" name="Text Box 4" descr="Date Placeholder 3">
            <a:extLst>
              <a:ext uri="{FF2B5EF4-FFF2-40B4-BE49-F238E27FC236}">
                <a16:creationId xmlns:a16="http://schemas.microsoft.com/office/drawing/2014/main" id="{1D955080-D5DE-4FFF-EE10-EA71271E5B5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1909" name="Text Box 5" descr="Slide Number Placeholder 5">
            <a:extLst>
              <a:ext uri="{FF2B5EF4-FFF2-40B4-BE49-F238E27FC236}">
                <a16:creationId xmlns:a16="http://schemas.microsoft.com/office/drawing/2014/main" id="{9E8E12BB-63E7-366F-9D86-05B5C8426E2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D7433B1-6EDD-44CA-B732-7C151B5F6B3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51910" name="Group 6">
            <a:extLst>
              <a:ext uri="{FF2B5EF4-FFF2-40B4-BE49-F238E27FC236}">
                <a16:creationId xmlns:a16="http://schemas.microsoft.com/office/drawing/2014/main" id="{62FF1BD5-D41A-9738-153E-22B13FC0CD3E}"/>
              </a:ext>
            </a:extLst>
          </p:cNvPr>
          <p:cNvGraphicFramePr>
            <a:graphicFrameLocks noGrp="1"/>
          </p:cNvGraphicFramePr>
          <p:nvPr/>
        </p:nvGraphicFramePr>
        <p:xfrm>
          <a:off x="4711700" y="2352675"/>
          <a:ext cx="2574925" cy="1089025"/>
        </p:xfrm>
        <a:graphic>
          <a:graphicData uri="http://schemas.openxmlformats.org/drawingml/2006/table">
            <a:tbl>
              <a:tblPr/>
              <a:tblGrid>
                <a:gridCol w="1116013">
                  <a:extLst>
                    <a:ext uri="{9D8B030D-6E8A-4147-A177-3AD203B41FA5}">
                      <a16:colId xmlns:a16="http://schemas.microsoft.com/office/drawing/2014/main" val="1682762934"/>
                    </a:ext>
                  </a:extLst>
                </a:gridCol>
                <a:gridCol w="1458912">
                  <a:extLst>
                    <a:ext uri="{9D8B030D-6E8A-4147-A177-3AD203B41FA5}">
                      <a16:colId xmlns:a16="http://schemas.microsoft.com/office/drawing/2014/main" val="1549507014"/>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92483028"/>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150 50 150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5892997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74748481"/>
                  </a:ext>
                </a:extLst>
              </a:tr>
            </a:tbl>
          </a:graphicData>
        </a:graphic>
      </p:graphicFrame>
      <p:sp>
        <p:nvSpPr>
          <p:cNvPr id="251934" name="Text Box 30" descr="TextBox 8">
            <a:extLst>
              <a:ext uri="{FF2B5EF4-FFF2-40B4-BE49-F238E27FC236}">
                <a16:creationId xmlns:a16="http://schemas.microsoft.com/office/drawing/2014/main" id="{99AF1A35-A382-0A2D-456B-7ABAF0E5F8B0}"/>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51935" name="Group 31">
            <a:extLst>
              <a:ext uri="{FF2B5EF4-FFF2-40B4-BE49-F238E27FC236}">
                <a16:creationId xmlns:a16="http://schemas.microsoft.com/office/drawing/2014/main" id="{D8853201-A8A5-DAC0-CD0E-2FBC422867F3}"/>
              </a:ext>
            </a:extLst>
          </p:cNvPr>
          <p:cNvGraphicFramePr>
            <a:graphicFrameLocks noGrp="1"/>
          </p:cNvGraphicFramePr>
          <p:nvPr/>
        </p:nvGraphicFramePr>
        <p:xfrm>
          <a:off x="1763713" y="2211388"/>
          <a:ext cx="1728787" cy="2689225"/>
        </p:xfrm>
        <a:graphic>
          <a:graphicData uri="http://schemas.openxmlformats.org/drawingml/2006/table">
            <a:tbl>
              <a:tblPr/>
              <a:tblGrid>
                <a:gridCol w="1728787">
                  <a:extLst>
                    <a:ext uri="{9D8B030D-6E8A-4147-A177-3AD203B41FA5}">
                      <a16:colId xmlns:a16="http://schemas.microsoft.com/office/drawing/2014/main" val="406245628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1887248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24603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3191462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6349317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1129797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1522433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17454130"/>
                  </a:ext>
                </a:extLst>
              </a:tr>
            </a:tbl>
          </a:graphicData>
        </a:graphic>
      </p:graphicFrame>
      <p:sp>
        <p:nvSpPr>
          <p:cNvPr id="251965" name="Text Box 61" descr="TextBox 10">
            <a:extLst>
              <a:ext uri="{FF2B5EF4-FFF2-40B4-BE49-F238E27FC236}">
                <a16:creationId xmlns:a16="http://schemas.microsoft.com/office/drawing/2014/main" id="{B0241255-8D51-A36A-EF49-142A88DC13C5}"/>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51966" name="Rectangle 62" descr="Rectangle 11">
            <a:extLst>
              <a:ext uri="{FF2B5EF4-FFF2-40B4-BE49-F238E27FC236}">
                <a16:creationId xmlns:a16="http://schemas.microsoft.com/office/drawing/2014/main" id="{4E0F6EF9-4BD4-F542-7E32-B173D7C26E3F}"/>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51967" name="Group 63">
            <a:extLst>
              <a:ext uri="{FF2B5EF4-FFF2-40B4-BE49-F238E27FC236}">
                <a16:creationId xmlns:a16="http://schemas.microsoft.com/office/drawing/2014/main" id="{A918A2FD-6547-32E6-0929-B3F66006E4F9}"/>
              </a:ext>
            </a:extLst>
          </p:cNvPr>
          <p:cNvGraphicFramePr>
            <a:graphicFrameLocks noGrp="1"/>
          </p:cNvGraphicFramePr>
          <p:nvPr/>
        </p:nvGraphicFramePr>
        <p:xfrm>
          <a:off x="5003800" y="3644900"/>
          <a:ext cx="2663825" cy="2574925"/>
        </p:xfrm>
        <a:graphic>
          <a:graphicData uri="http://schemas.openxmlformats.org/drawingml/2006/table">
            <a:tbl>
              <a:tblPr/>
              <a:tblGrid>
                <a:gridCol w="2663825">
                  <a:extLst>
                    <a:ext uri="{9D8B030D-6E8A-4147-A177-3AD203B41FA5}">
                      <a16:colId xmlns:a16="http://schemas.microsoft.com/office/drawing/2014/main" val="1660861331"/>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07763278"/>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68626451"/>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7190810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[Write,T1, A, 150,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88689232"/>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766864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2858863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74223878"/>
                  </a:ext>
                </a:extLst>
              </a:tr>
            </a:tbl>
          </a:graphicData>
        </a:graphic>
      </p:graphicFrame>
      <p:sp>
        <p:nvSpPr>
          <p:cNvPr id="251997" name="Line 93" descr="Straight Arrow Connector 14">
            <a:extLst>
              <a:ext uri="{FF2B5EF4-FFF2-40B4-BE49-F238E27FC236}">
                <a16:creationId xmlns:a16="http://schemas.microsoft.com/office/drawing/2014/main" id="{6D8471AD-75B5-14BA-90C6-061E1FE29405}"/>
              </a:ext>
            </a:extLst>
          </p:cNvPr>
          <p:cNvSpPr>
            <a:spLocks noChangeShapeType="1"/>
          </p:cNvSpPr>
          <p:nvPr/>
        </p:nvSpPr>
        <p:spPr bwMode="auto">
          <a:xfrm>
            <a:off x="1258888" y="3686175"/>
            <a:ext cx="503237"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1998" name="Text Box 94" descr="TextBox 15">
            <a:extLst>
              <a:ext uri="{FF2B5EF4-FFF2-40B4-BE49-F238E27FC236}">
                <a16:creationId xmlns:a16="http://schemas.microsoft.com/office/drawing/2014/main" id="{17BB2396-4984-864D-941E-B63448114CA3}"/>
              </a:ext>
            </a:extLst>
          </p:cNvPr>
          <p:cNvSpPr txBox="1">
            <a:spLocks/>
          </p:cNvSpPr>
          <p:nvPr/>
        </p:nvSpPr>
        <p:spPr bwMode="auto">
          <a:xfrm>
            <a:off x="395288" y="3363913"/>
            <a:ext cx="104140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sp>
        <p:nvSpPr>
          <p:cNvPr id="251999" name="Line 95" descr="Straight Connector 12">
            <a:extLst>
              <a:ext uri="{FF2B5EF4-FFF2-40B4-BE49-F238E27FC236}">
                <a16:creationId xmlns:a16="http://schemas.microsoft.com/office/drawing/2014/main" id="{16F1415F-2825-EB11-5B79-86E839D4294C}"/>
              </a:ext>
            </a:extLst>
          </p:cNvPr>
          <p:cNvSpPr>
            <a:spLocks noChangeShapeType="1"/>
          </p:cNvSpPr>
          <p:nvPr/>
        </p:nvSpPr>
        <p:spPr bwMode="auto">
          <a:xfrm>
            <a:off x="7546975" y="4868863"/>
            <a:ext cx="503238" cy="0"/>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2000" name="Line 96" descr="Straight Connector 17">
            <a:extLst>
              <a:ext uri="{FF2B5EF4-FFF2-40B4-BE49-F238E27FC236}">
                <a16:creationId xmlns:a16="http://schemas.microsoft.com/office/drawing/2014/main" id="{F10C7A03-F49A-203A-1F1B-D7290F36D410}"/>
              </a:ext>
            </a:extLst>
          </p:cNvPr>
          <p:cNvSpPr>
            <a:spLocks noChangeShapeType="1"/>
          </p:cNvSpPr>
          <p:nvPr/>
        </p:nvSpPr>
        <p:spPr bwMode="auto">
          <a:xfrm flipV="1">
            <a:off x="8050213" y="2852738"/>
            <a:ext cx="0" cy="2016125"/>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2001" name="Line 97" descr="Straight Arrow Connector 20">
            <a:extLst>
              <a:ext uri="{FF2B5EF4-FFF2-40B4-BE49-F238E27FC236}">
                <a16:creationId xmlns:a16="http://schemas.microsoft.com/office/drawing/2014/main" id="{44D2FA9B-8B2D-4542-D359-FB0FB8AFC0AA}"/>
              </a:ext>
            </a:extLst>
          </p:cNvPr>
          <p:cNvSpPr>
            <a:spLocks noChangeShapeType="1"/>
          </p:cNvSpPr>
          <p:nvPr/>
        </p:nvSpPr>
        <p:spPr bwMode="auto">
          <a:xfrm flipH="1">
            <a:off x="7235825" y="2852738"/>
            <a:ext cx="814388" cy="0"/>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2002" name="Text Box 98" descr="TextBox 22">
            <a:extLst>
              <a:ext uri="{FF2B5EF4-FFF2-40B4-BE49-F238E27FC236}">
                <a16:creationId xmlns:a16="http://schemas.microsoft.com/office/drawing/2014/main" id="{FB4C9B44-78A4-44CD-2183-1CA42708933B}"/>
              </a:ext>
            </a:extLst>
          </p:cNvPr>
          <p:cNvSpPr txBox="1">
            <a:spLocks/>
          </p:cNvSpPr>
          <p:nvPr/>
        </p:nvSpPr>
        <p:spPr bwMode="auto">
          <a:xfrm>
            <a:off x="8094663" y="3330575"/>
            <a:ext cx="974725" cy="928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Restore</a:t>
            </a:r>
          </a:p>
          <a:p>
            <a:r>
              <a:rPr lang="en-US" altLang="en-US"/>
              <a:t>Old</a:t>
            </a:r>
          </a:p>
          <a:p>
            <a:r>
              <a:rPr lang="en-US" altLang="en-US"/>
              <a:t>value</a:t>
            </a:r>
          </a:p>
        </p:txBody>
      </p:sp>
    </p:spTree>
  </p:cSld>
  <p:clrMapOvr>
    <a:masterClrMapping/>
  </p:clrMapOvr>
  <p:transition spd="med"/>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descr="Title 1">
            <a:extLst>
              <a:ext uri="{FF2B5EF4-FFF2-40B4-BE49-F238E27FC236}">
                <a16:creationId xmlns:a16="http://schemas.microsoft.com/office/drawing/2014/main" id="{C0230DF5-F889-E4B8-E814-54C331168B06}"/>
              </a:ext>
            </a:extLst>
          </p:cNvPr>
          <p:cNvSpPr>
            <a:spLocks noChangeArrowheads="1"/>
          </p:cNvSpPr>
          <p:nvPr>
            <p:ph type="title"/>
          </p:nvPr>
        </p:nvSpPr>
        <p:spPr/>
        <p:txBody>
          <a:bodyPr/>
          <a:lstStyle/>
          <a:p>
            <a:r>
              <a:rPr lang="en-US" altLang="en-US"/>
              <a:t>Recovery using Log Entries</a:t>
            </a:r>
          </a:p>
        </p:txBody>
      </p:sp>
      <p:sp>
        <p:nvSpPr>
          <p:cNvPr id="252931" name="Rectangle 3" descr="Content Placeholder 2">
            <a:extLst>
              <a:ext uri="{FF2B5EF4-FFF2-40B4-BE49-F238E27FC236}">
                <a16:creationId xmlns:a16="http://schemas.microsoft.com/office/drawing/2014/main" id="{AD490A6B-B674-A1EC-9367-9C75923A22A9}"/>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52932" name="Text Box 4" descr="Date Placeholder 3">
            <a:extLst>
              <a:ext uri="{FF2B5EF4-FFF2-40B4-BE49-F238E27FC236}">
                <a16:creationId xmlns:a16="http://schemas.microsoft.com/office/drawing/2014/main" id="{A1136742-163E-FB21-F9D8-0E12C1DCC6D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2933" name="Text Box 5" descr="Slide Number Placeholder 5">
            <a:extLst>
              <a:ext uri="{FF2B5EF4-FFF2-40B4-BE49-F238E27FC236}">
                <a16:creationId xmlns:a16="http://schemas.microsoft.com/office/drawing/2014/main" id="{CEEB84D9-22C4-9623-AEC0-53F9179254C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BC47598-880E-44B8-A40C-9DD2C132E16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52934" name="Group 6">
            <a:extLst>
              <a:ext uri="{FF2B5EF4-FFF2-40B4-BE49-F238E27FC236}">
                <a16:creationId xmlns:a16="http://schemas.microsoft.com/office/drawing/2014/main" id="{64BB047E-940D-9620-C8AD-E20AC09B1A4A}"/>
              </a:ext>
            </a:extLst>
          </p:cNvPr>
          <p:cNvGraphicFramePr>
            <a:graphicFrameLocks noGrp="1"/>
          </p:cNvGraphicFramePr>
          <p:nvPr/>
        </p:nvGraphicFramePr>
        <p:xfrm>
          <a:off x="4821238" y="2352675"/>
          <a:ext cx="2260600" cy="1089025"/>
        </p:xfrm>
        <a:graphic>
          <a:graphicData uri="http://schemas.openxmlformats.org/drawingml/2006/table">
            <a:tbl>
              <a:tblPr/>
              <a:tblGrid>
                <a:gridCol w="1108075">
                  <a:extLst>
                    <a:ext uri="{9D8B030D-6E8A-4147-A177-3AD203B41FA5}">
                      <a16:colId xmlns:a16="http://schemas.microsoft.com/office/drawing/2014/main" val="666993700"/>
                    </a:ext>
                  </a:extLst>
                </a:gridCol>
                <a:gridCol w="1152525">
                  <a:extLst>
                    <a:ext uri="{9D8B030D-6E8A-4147-A177-3AD203B41FA5}">
                      <a16:colId xmlns:a16="http://schemas.microsoft.com/office/drawing/2014/main" val="1350667230"/>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33741760"/>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6034889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14999521"/>
                  </a:ext>
                </a:extLst>
              </a:tr>
            </a:tbl>
          </a:graphicData>
        </a:graphic>
      </p:graphicFrame>
      <p:sp>
        <p:nvSpPr>
          <p:cNvPr id="252958" name="Text Box 30" descr="TextBox 8">
            <a:extLst>
              <a:ext uri="{FF2B5EF4-FFF2-40B4-BE49-F238E27FC236}">
                <a16:creationId xmlns:a16="http://schemas.microsoft.com/office/drawing/2014/main" id="{8D6C46CC-C5A7-297D-7F03-639CE35FE860}"/>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52959" name="Group 31">
            <a:extLst>
              <a:ext uri="{FF2B5EF4-FFF2-40B4-BE49-F238E27FC236}">
                <a16:creationId xmlns:a16="http://schemas.microsoft.com/office/drawing/2014/main" id="{93D6A4C5-A65E-E64C-5B24-35CBC91CFAE6}"/>
              </a:ext>
            </a:extLst>
          </p:cNvPr>
          <p:cNvGraphicFramePr>
            <a:graphicFrameLocks noGrp="1"/>
          </p:cNvGraphicFramePr>
          <p:nvPr/>
        </p:nvGraphicFramePr>
        <p:xfrm>
          <a:off x="1763713" y="2211388"/>
          <a:ext cx="1728787" cy="2689225"/>
        </p:xfrm>
        <a:graphic>
          <a:graphicData uri="http://schemas.openxmlformats.org/drawingml/2006/table">
            <a:tbl>
              <a:tblPr/>
              <a:tblGrid>
                <a:gridCol w="1728787">
                  <a:extLst>
                    <a:ext uri="{9D8B030D-6E8A-4147-A177-3AD203B41FA5}">
                      <a16:colId xmlns:a16="http://schemas.microsoft.com/office/drawing/2014/main" val="345777487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726206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7089898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857729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40623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4721056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4340115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90739335"/>
                  </a:ext>
                </a:extLst>
              </a:tr>
            </a:tbl>
          </a:graphicData>
        </a:graphic>
      </p:graphicFrame>
      <p:sp>
        <p:nvSpPr>
          <p:cNvPr id="252989" name="Text Box 61" descr="TextBox 10">
            <a:extLst>
              <a:ext uri="{FF2B5EF4-FFF2-40B4-BE49-F238E27FC236}">
                <a16:creationId xmlns:a16="http://schemas.microsoft.com/office/drawing/2014/main" id="{A82C9BD9-1701-387E-9E2C-421BCAF5BD9B}"/>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52990" name="Rectangle 62" descr="Rectangle 11">
            <a:extLst>
              <a:ext uri="{FF2B5EF4-FFF2-40B4-BE49-F238E27FC236}">
                <a16:creationId xmlns:a16="http://schemas.microsoft.com/office/drawing/2014/main" id="{5B9B6ED1-D710-E9D9-BF2D-9C17B3848D90}"/>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52991" name="Group 63">
            <a:extLst>
              <a:ext uri="{FF2B5EF4-FFF2-40B4-BE49-F238E27FC236}">
                <a16:creationId xmlns:a16="http://schemas.microsoft.com/office/drawing/2014/main" id="{06431D59-21A4-5E69-A9D3-6E593D5AAC03}"/>
              </a:ext>
            </a:extLst>
          </p:cNvPr>
          <p:cNvGraphicFramePr>
            <a:graphicFrameLocks noGrp="1"/>
          </p:cNvGraphicFramePr>
          <p:nvPr/>
        </p:nvGraphicFramePr>
        <p:xfrm>
          <a:off x="5003800" y="3644900"/>
          <a:ext cx="2663825" cy="2587625"/>
        </p:xfrm>
        <a:graphic>
          <a:graphicData uri="http://schemas.openxmlformats.org/drawingml/2006/table">
            <a:tbl>
              <a:tblPr/>
              <a:tblGrid>
                <a:gridCol w="2663825">
                  <a:extLst>
                    <a:ext uri="{9D8B030D-6E8A-4147-A177-3AD203B41FA5}">
                      <a16:colId xmlns:a16="http://schemas.microsoft.com/office/drawing/2014/main" val="3228641506"/>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142084961"/>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253425406"/>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8443902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[Write,T1, A, 150,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54581920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70108814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1002657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4094061"/>
                  </a:ext>
                </a:extLst>
              </a:tr>
            </a:tbl>
          </a:graphicData>
        </a:graphic>
      </p:graphicFrame>
      <p:sp>
        <p:nvSpPr>
          <p:cNvPr id="253021" name="Text Box 93" descr="TextBox 6">
            <a:extLst>
              <a:ext uri="{FF2B5EF4-FFF2-40B4-BE49-F238E27FC236}">
                <a16:creationId xmlns:a16="http://schemas.microsoft.com/office/drawing/2014/main" id="{A9C17324-AC1B-9186-E6CB-DC00FB9977D9}"/>
              </a:ext>
            </a:extLst>
          </p:cNvPr>
          <p:cNvSpPr txBox="1">
            <a:spLocks/>
          </p:cNvSpPr>
          <p:nvPr/>
        </p:nvSpPr>
        <p:spPr bwMode="auto">
          <a:xfrm>
            <a:off x="512763" y="4940300"/>
            <a:ext cx="4041775"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t>Question:</a:t>
            </a:r>
          </a:p>
          <a:p>
            <a:r>
              <a:rPr lang="en-US" altLang="en-US"/>
              <a:t>Why should we maintain old value</a:t>
            </a:r>
          </a:p>
          <a:p>
            <a:r>
              <a:rPr lang="en-US" altLang="en-US"/>
              <a:t>in LOG for write operation</a:t>
            </a:r>
          </a:p>
        </p:txBody>
      </p:sp>
    </p:spTree>
  </p:cSld>
  <p:clrMapOvr>
    <a:masterClrMapping/>
  </p:clrMapOvr>
  <p:transition spd="med"/>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descr="Title 1">
            <a:extLst>
              <a:ext uri="{FF2B5EF4-FFF2-40B4-BE49-F238E27FC236}">
                <a16:creationId xmlns:a16="http://schemas.microsoft.com/office/drawing/2014/main" id="{CD380E79-62A4-0B99-7B39-4DC8F7932EF4}"/>
              </a:ext>
            </a:extLst>
          </p:cNvPr>
          <p:cNvSpPr>
            <a:spLocks noChangeArrowheads="1"/>
          </p:cNvSpPr>
          <p:nvPr>
            <p:ph type="title"/>
          </p:nvPr>
        </p:nvSpPr>
        <p:spPr/>
        <p:txBody>
          <a:bodyPr/>
          <a:lstStyle/>
          <a:p>
            <a:r>
              <a:rPr lang="en-US" altLang="en-US"/>
              <a:t>Recovery using Log Entries</a:t>
            </a:r>
          </a:p>
        </p:txBody>
      </p:sp>
      <p:sp>
        <p:nvSpPr>
          <p:cNvPr id="253955" name="Rectangle 3" descr="Content Placeholder 2">
            <a:extLst>
              <a:ext uri="{FF2B5EF4-FFF2-40B4-BE49-F238E27FC236}">
                <a16:creationId xmlns:a16="http://schemas.microsoft.com/office/drawing/2014/main" id="{19CBEBFA-BA98-42F1-F349-B419520D693B}"/>
              </a:ext>
            </a:extLst>
          </p:cNvPr>
          <p:cNvSpPr>
            <a:spLocks noChangeArrowheads="1"/>
          </p:cNvSpPr>
          <p:nvPr>
            <p:ph type="body" idx="1"/>
          </p:nvPr>
        </p:nvSpPr>
        <p:spPr/>
        <p:txBody>
          <a:bodyPr/>
          <a:lstStyle/>
          <a:p>
            <a:pPr>
              <a:spcBef>
                <a:spcPts val="400"/>
              </a:spcBef>
            </a:pPr>
            <a:r>
              <a:rPr lang="en-US" altLang="en-US" sz="2000"/>
              <a:t>Transferring Rs.100/- from account A to account B</a:t>
            </a:r>
          </a:p>
        </p:txBody>
      </p:sp>
      <p:sp>
        <p:nvSpPr>
          <p:cNvPr id="253956" name="Text Box 4" descr="Date Placeholder 3">
            <a:extLst>
              <a:ext uri="{FF2B5EF4-FFF2-40B4-BE49-F238E27FC236}">
                <a16:creationId xmlns:a16="http://schemas.microsoft.com/office/drawing/2014/main" id="{C5A037C7-8F35-EB2A-C4CB-3FB1AD4D9DE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3957" name="Text Box 5" descr="Slide Number Placeholder 5">
            <a:extLst>
              <a:ext uri="{FF2B5EF4-FFF2-40B4-BE49-F238E27FC236}">
                <a16:creationId xmlns:a16="http://schemas.microsoft.com/office/drawing/2014/main" id="{0A334DE8-4FC3-F26D-5372-603C3AE7A87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88E0660-7148-48EA-8731-81C63E95336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53958" name="Group 6">
            <a:extLst>
              <a:ext uri="{FF2B5EF4-FFF2-40B4-BE49-F238E27FC236}">
                <a16:creationId xmlns:a16="http://schemas.microsoft.com/office/drawing/2014/main" id="{0C44AAE6-B1D3-D117-3D5E-F2BE71806E64}"/>
              </a:ext>
            </a:extLst>
          </p:cNvPr>
          <p:cNvGraphicFramePr>
            <a:graphicFrameLocks noGrp="1"/>
          </p:cNvGraphicFramePr>
          <p:nvPr/>
        </p:nvGraphicFramePr>
        <p:xfrm>
          <a:off x="4711700" y="2352675"/>
          <a:ext cx="2574925" cy="1089025"/>
        </p:xfrm>
        <a:graphic>
          <a:graphicData uri="http://schemas.openxmlformats.org/drawingml/2006/table">
            <a:tbl>
              <a:tblPr/>
              <a:tblGrid>
                <a:gridCol w="1116013">
                  <a:extLst>
                    <a:ext uri="{9D8B030D-6E8A-4147-A177-3AD203B41FA5}">
                      <a16:colId xmlns:a16="http://schemas.microsoft.com/office/drawing/2014/main" val="1192170762"/>
                    </a:ext>
                  </a:extLst>
                </a:gridCol>
                <a:gridCol w="1458912">
                  <a:extLst>
                    <a:ext uri="{9D8B030D-6E8A-4147-A177-3AD203B41FA5}">
                      <a16:colId xmlns:a16="http://schemas.microsoft.com/office/drawing/2014/main" val="2905953538"/>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Account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Balance</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956629352"/>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150 50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802792884"/>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062881524"/>
                  </a:ext>
                </a:extLst>
              </a:tr>
            </a:tbl>
          </a:graphicData>
        </a:graphic>
      </p:graphicFrame>
      <p:sp>
        <p:nvSpPr>
          <p:cNvPr id="253982" name="Text Box 30" descr="TextBox 8">
            <a:extLst>
              <a:ext uri="{FF2B5EF4-FFF2-40B4-BE49-F238E27FC236}">
                <a16:creationId xmlns:a16="http://schemas.microsoft.com/office/drawing/2014/main" id="{8C6DE237-C857-8FA0-D569-74596567F5BB}"/>
              </a:ext>
            </a:extLst>
          </p:cNvPr>
          <p:cNvSpPr txBox="1">
            <a:spLocks/>
          </p:cNvSpPr>
          <p:nvPr/>
        </p:nvSpPr>
        <p:spPr bwMode="auto">
          <a:xfrm>
            <a:off x="4859338" y="1987550"/>
            <a:ext cx="12493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ACCOUNTS</a:t>
            </a:r>
          </a:p>
        </p:txBody>
      </p:sp>
      <p:graphicFrame>
        <p:nvGraphicFramePr>
          <p:cNvPr id="253983" name="Group 31">
            <a:extLst>
              <a:ext uri="{FF2B5EF4-FFF2-40B4-BE49-F238E27FC236}">
                <a16:creationId xmlns:a16="http://schemas.microsoft.com/office/drawing/2014/main" id="{6E859932-ADB5-9E79-4921-D08248BFD0F7}"/>
              </a:ext>
            </a:extLst>
          </p:cNvPr>
          <p:cNvGraphicFramePr>
            <a:graphicFrameLocks noGrp="1"/>
          </p:cNvGraphicFramePr>
          <p:nvPr/>
        </p:nvGraphicFramePr>
        <p:xfrm>
          <a:off x="1763713" y="2211388"/>
          <a:ext cx="1728787" cy="2689225"/>
        </p:xfrm>
        <a:graphic>
          <a:graphicData uri="http://schemas.openxmlformats.org/drawingml/2006/table">
            <a:tbl>
              <a:tblPr/>
              <a:tblGrid>
                <a:gridCol w="1728787">
                  <a:extLst>
                    <a:ext uri="{9D8B030D-6E8A-4147-A177-3AD203B41FA5}">
                      <a16:colId xmlns:a16="http://schemas.microsoft.com/office/drawing/2014/main" val="234557872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028523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3748730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726573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425493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B=B+100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477658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7175959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99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89637594"/>
                  </a:ext>
                </a:extLst>
              </a:tr>
            </a:tbl>
          </a:graphicData>
        </a:graphic>
      </p:graphicFrame>
      <p:sp>
        <p:nvSpPr>
          <p:cNvPr id="254013" name="Text Box 61" descr="TextBox 10">
            <a:extLst>
              <a:ext uri="{FF2B5EF4-FFF2-40B4-BE49-F238E27FC236}">
                <a16:creationId xmlns:a16="http://schemas.microsoft.com/office/drawing/2014/main" id="{3F65A3DF-049D-8960-92AD-7CEF0B3CEC67}"/>
              </a:ext>
            </a:extLst>
          </p:cNvPr>
          <p:cNvSpPr txBox="1">
            <a:spLocks/>
          </p:cNvSpPr>
          <p:nvPr/>
        </p:nvSpPr>
        <p:spPr bwMode="auto">
          <a:xfrm>
            <a:off x="1665288" y="1814513"/>
            <a:ext cx="1590675"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T1</a:t>
            </a:r>
          </a:p>
        </p:txBody>
      </p:sp>
      <p:sp>
        <p:nvSpPr>
          <p:cNvPr id="254014" name="Rectangle 62" descr="Rectangle 11">
            <a:extLst>
              <a:ext uri="{FF2B5EF4-FFF2-40B4-BE49-F238E27FC236}">
                <a16:creationId xmlns:a16="http://schemas.microsoft.com/office/drawing/2014/main" id="{03640035-32C4-61C1-7CE0-DBB0881C8227}"/>
              </a:ext>
            </a:extLst>
          </p:cNvPr>
          <p:cNvSpPr>
            <a:spLocks/>
          </p:cNvSpPr>
          <p:nvPr/>
        </p:nvSpPr>
        <p:spPr bwMode="auto">
          <a:xfrm>
            <a:off x="4660900" y="1984375"/>
            <a:ext cx="3654425" cy="43243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graphicFrame>
        <p:nvGraphicFramePr>
          <p:cNvPr id="254015" name="Group 63">
            <a:extLst>
              <a:ext uri="{FF2B5EF4-FFF2-40B4-BE49-F238E27FC236}">
                <a16:creationId xmlns:a16="http://schemas.microsoft.com/office/drawing/2014/main" id="{07DD23BA-ACCB-204D-7576-7788071DA2EE}"/>
              </a:ext>
            </a:extLst>
          </p:cNvPr>
          <p:cNvGraphicFramePr>
            <a:graphicFrameLocks noGrp="1"/>
          </p:cNvGraphicFramePr>
          <p:nvPr/>
        </p:nvGraphicFramePr>
        <p:xfrm>
          <a:off x="5003800" y="3644900"/>
          <a:ext cx="2663825" cy="2574925"/>
        </p:xfrm>
        <a:graphic>
          <a:graphicData uri="http://schemas.openxmlformats.org/drawingml/2006/table">
            <a:tbl>
              <a:tblPr/>
              <a:tblGrid>
                <a:gridCol w="2663825">
                  <a:extLst>
                    <a:ext uri="{9D8B030D-6E8A-4147-A177-3AD203B41FA5}">
                      <a16:colId xmlns:a16="http://schemas.microsoft.com/office/drawing/2014/main" val="3060169939"/>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LOG of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85490177"/>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23791536"/>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FF"/>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8280940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[Write,T1, A,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150</a:t>
                      </a:r>
                      <a:r>
                        <a:rPr kumimoji="0" lang="en-US" altLang="en-US" sz="1600" b="0" i="0" u="none" strike="noStrike" cap="none" normalizeH="0" baseline="0">
                          <a:ln>
                            <a:noFill/>
                          </a:ln>
                          <a:solidFill>
                            <a:srgbClr val="CC33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9839433"/>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 T1, 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4716476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80150741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44493860"/>
                  </a:ext>
                </a:extLst>
              </a:tr>
            </a:tbl>
          </a:graphicData>
        </a:graphic>
      </p:graphicFrame>
      <p:sp>
        <p:nvSpPr>
          <p:cNvPr id="254045" name="Line 93" descr="Straight Arrow Connector 14">
            <a:extLst>
              <a:ext uri="{FF2B5EF4-FFF2-40B4-BE49-F238E27FC236}">
                <a16:creationId xmlns:a16="http://schemas.microsoft.com/office/drawing/2014/main" id="{0779ED4B-2650-CEFE-5BF5-2B6A000B4BE9}"/>
              </a:ext>
            </a:extLst>
          </p:cNvPr>
          <p:cNvSpPr>
            <a:spLocks noChangeShapeType="1"/>
          </p:cNvSpPr>
          <p:nvPr/>
        </p:nvSpPr>
        <p:spPr bwMode="auto">
          <a:xfrm>
            <a:off x="1258888" y="3686175"/>
            <a:ext cx="503237"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4046" name="Text Box 94" descr="TextBox 15">
            <a:extLst>
              <a:ext uri="{FF2B5EF4-FFF2-40B4-BE49-F238E27FC236}">
                <a16:creationId xmlns:a16="http://schemas.microsoft.com/office/drawing/2014/main" id="{0E7C0409-693D-AF50-6DC2-20763A70BDAC}"/>
              </a:ext>
            </a:extLst>
          </p:cNvPr>
          <p:cNvSpPr txBox="1">
            <a:spLocks/>
          </p:cNvSpPr>
          <p:nvPr/>
        </p:nvSpPr>
        <p:spPr bwMode="auto">
          <a:xfrm>
            <a:off x="395288" y="3363913"/>
            <a:ext cx="104140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sp>
        <p:nvSpPr>
          <p:cNvPr id="254047" name="Line 95" descr="Straight Connector 12">
            <a:extLst>
              <a:ext uri="{FF2B5EF4-FFF2-40B4-BE49-F238E27FC236}">
                <a16:creationId xmlns:a16="http://schemas.microsoft.com/office/drawing/2014/main" id="{903699D1-A22F-7F71-8EF6-271ECC290B2A}"/>
              </a:ext>
            </a:extLst>
          </p:cNvPr>
          <p:cNvSpPr>
            <a:spLocks noChangeShapeType="1"/>
          </p:cNvSpPr>
          <p:nvPr/>
        </p:nvSpPr>
        <p:spPr bwMode="auto">
          <a:xfrm>
            <a:off x="7546975" y="4868863"/>
            <a:ext cx="503238" cy="0"/>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4048" name="Line 96" descr="Straight Connector 17">
            <a:extLst>
              <a:ext uri="{FF2B5EF4-FFF2-40B4-BE49-F238E27FC236}">
                <a16:creationId xmlns:a16="http://schemas.microsoft.com/office/drawing/2014/main" id="{0C0115A0-CAB4-C749-CA14-8E1627E7A5CB}"/>
              </a:ext>
            </a:extLst>
          </p:cNvPr>
          <p:cNvSpPr>
            <a:spLocks noChangeShapeType="1"/>
          </p:cNvSpPr>
          <p:nvPr/>
        </p:nvSpPr>
        <p:spPr bwMode="auto">
          <a:xfrm flipV="1">
            <a:off x="8050213" y="2852738"/>
            <a:ext cx="0" cy="2016125"/>
          </a:xfrm>
          <a:prstGeom prst="line">
            <a:avLst/>
          </a:prstGeom>
          <a:noFill/>
          <a:ln w="28575" cap="flat" cmpd="sng">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4049" name="Line 97" descr="Straight Arrow Connector 20">
            <a:extLst>
              <a:ext uri="{FF2B5EF4-FFF2-40B4-BE49-F238E27FC236}">
                <a16:creationId xmlns:a16="http://schemas.microsoft.com/office/drawing/2014/main" id="{A10037AC-1D66-3B77-0182-8CA931548EF6}"/>
              </a:ext>
            </a:extLst>
          </p:cNvPr>
          <p:cNvSpPr>
            <a:spLocks noChangeShapeType="1"/>
          </p:cNvSpPr>
          <p:nvPr/>
        </p:nvSpPr>
        <p:spPr bwMode="auto">
          <a:xfrm flipH="1">
            <a:off x="7235825" y="2852738"/>
            <a:ext cx="814388" cy="0"/>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4050" name="Text Box 98" descr="TextBox 6">
            <a:extLst>
              <a:ext uri="{FF2B5EF4-FFF2-40B4-BE49-F238E27FC236}">
                <a16:creationId xmlns:a16="http://schemas.microsoft.com/office/drawing/2014/main" id="{10FCF768-9CBC-EAFE-0E5B-97F8282ED825}"/>
              </a:ext>
            </a:extLst>
          </p:cNvPr>
          <p:cNvSpPr txBox="1">
            <a:spLocks/>
          </p:cNvSpPr>
          <p:nvPr/>
        </p:nvSpPr>
        <p:spPr bwMode="auto">
          <a:xfrm>
            <a:off x="614363" y="4984750"/>
            <a:ext cx="3778250" cy="81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Old</a:t>
            </a:r>
            <a:r>
              <a:rPr lang="en-US" altLang="en-US" sz="1600"/>
              <a:t> value is required for </a:t>
            </a:r>
            <a:r>
              <a:rPr lang="en-US" altLang="en-US" sz="1600" b="1"/>
              <a:t>UNDO,</a:t>
            </a:r>
          </a:p>
          <a:p>
            <a:r>
              <a:rPr lang="en-US" altLang="en-US" sz="1600"/>
              <a:t>If changes where made to database</a:t>
            </a:r>
          </a:p>
          <a:p>
            <a:r>
              <a:rPr lang="en-US" altLang="en-US" sz="1600"/>
              <a:t>Before transaction reaches commit</a:t>
            </a:r>
          </a:p>
        </p:txBody>
      </p:sp>
      <p:sp>
        <p:nvSpPr>
          <p:cNvPr id="254051" name="Text Box 99" descr="TextBox 13">
            <a:extLst>
              <a:ext uri="{FF2B5EF4-FFF2-40B4-BE49-F238E27FC236}">
                <a16:creationId xmlns:a16="http://schemas.microsoft.com/office/drawing/2014/main" id="{953C02DA-EC1B-8787-E4C7-A9FB758C6791}"/>
              </a:ext>
            </a:extLst>
          </p:cNvPr>
          <p:cNvSpPr txBox="1">
            <a:spLocks/>
          </p:cNvSpPr>
          <p:nvPr/>
        </p:nvSpPr>
        <p:spPr bwMode="auto">
          <a:xfrm>
            <a:off x="8096250" y="3514725"/>
            <a:ext cx="86836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t>UNDO</a:t>
            </a:r>
          </a:p>
        </p:txBody>
      </p:sp>
    </p:spTree>
  </p:cSld>
  <p:clrMapOvr>
    <a:masterClrMapping/>
  </p:clrMapOvr>
  <p:transition spd="med"/>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descr="Title 1">
            <a:extLst>
              <a:ext uri="{FF2B5EF4-FFF2-40B4-BE49-F238E27FC236}">
                <a16:creationId xmlns:a16="http://schemas.microsoft.com/office/drawing/2014/main" id="{39AD3BBA-28B0-7DEE-2662-98AC6B28D21F}"/>
              </a:ext>
            </a:extLst>
          </p:cNvPr>
          <p:cNvSpPr>
            <a:spLocks noChangeArrowheads="1"/>
          </p:cNvSpPr>
          <p:nvPr>
            <p:ph type="title"/>
          </p:nvPr>
        </p:nvSpPr>
        <p:spPr/>
        <p:txBody>
          <a:bodyPr/>
          <a:lstStyle/>
          <a:p>
            <a:r>
              <a:rPr lang="en-US" altLang="en-US"/>
              <a:t>Recovery using Log Entries</a:t>
            </a:r>
          </a:p>
        </p:txBody>
      </p:sp>
      <p:sp>
        <p:nvSpPr>
          <p:cNvPr id="254979" name="Rectangle 3" descr="Content Placeholder 2">
            <a:extLst>
              <a:ext uri="{FF2B5EF4-FFF2-40B4-BE49-F238E27FC236}">
                <a16:creationId xmlns:a16="http://schemas.microsoft.com/office/drawing/2014/main" id="{9CDA2A47-5729-5B74-FF71-9FCD18F15AB2}"/>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Consider two transactions, Transferring Rs.100/- from account A to account B and Rs. 200/- from account C to D</a:t>
            </a:r>
          </a:p>
        </p:txBody>
      </p:sp>
      <p:sp>
        <p:nvSpPr>
          <p:cNvPr id="254980" name="Text Box 4" descr="Date Placeholder 3">
            <a:extLst>
              <a:ext uri="{FF2B5EF4-FFF2-40B4-BE49-F238E27FC236}">
                <a16:creationId xmlns:a16="http://schemas.microsoft.com/office/drawing/2014/main" id="{99D36082-2D9C-6176-0ADA-E50E2A93D12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4981" name="Text Box 5" descr="Slide Number Placeholder 5">
            <a:extLst>
              <a:ext uri="{FF2B5EF4-FFF2-40B4-BE49-F238E27FC236}">
                <a16:creationId xmlns:a16="http://schemas.microsoft.com/office/drawing/2014/main" id="{2E99DF82-1DE0-D152-5B13-728C4DD6704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D87AA42-D20B-4209-A707-520C5F59745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54982" name="Rectangle 6" descr="Rectangle 11">
            <a:extLst>
              <a:ext uri="{FF2B5EF4-FFF2-40B4-BE49-F238E27FC236}">
                <a16:creationId xmlns:a16="http://schemas.microsoft.com/office/drawing/2014/main" id="{43233B04-00D8-6C40-996F-47E12F11A9A6}"/>
              </a:ext>
            </a:extLst>
          </p:cNvPr>
          <p:cNvSpPr>
            <a:spLocks/>
          </p:cNvSpPr>
          <p:nvPr/>
        </p:nvSpPr>
        <p:spPr bwMode="auto">
          <a:xfrm>
            <a:off x="4660900" y="1628775"/>
            <a:ext cx="2646363" cy="4679950"/>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254983" name="Picture 7" descr="Picture 3">
            <a:extLst>
              <a:ext uri="{FF2B5EF4-FFF2-40B4-BE49-F238E27FC236}">
                <a16:creationId xmlns:a16="http://schemas.microsoft.com/office/drawing/2014/main" id="{2BDC731B-91D9-2486-A6D6-F328FF8FC0D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859338" y="1700213"/>
            <a:ext cx="1425575" cy="1169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54984" name="Picture 8" descr="Picture 8">
            <a:extLst>
              <a:ext uri="{FF2B5EF4-FFF2-40B4-BE49-F238E27FC236}">
                <a16:creationId xmlns:a16="http://schemas.microsoft.com/office/drawing/2014/main" id="{B214CEF3-BCDD-F1E5-EC06-45ED6F98BC2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46225" y="1831975"/>
            <a:ext cx="1728788" cy="4489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descr="Title 1">
            <a:extLst>
              <a:ext uri="{FF2B5EF4-FFF2-40B4-BE49-F238E27FC236}">
                <a16:creationId xmlns:a16="http://schemas.microsoft.com/office/drawing/2014/main" id="{6AC07ED1-8C0D-FC9D-4078-8A120CEBAE2E}"/>
              </a:ext>
            </a:extLst>
          </p:cNvPr>
          <p:cNvSpPr>
            <a:spLocks noChangeArrowheads="1"/>
          </p:cNvSpPr>
          <p:nvPr>
            <p:ph type="title"/>
          </p:nvPr>
        </p:nvSpPr>
        <p:spPr/>
        <p:txBody>
          <a:bodyPr/>
          <a:lstStyle/>
          <a:p>
            <a:r>
              <a:rPr lang="en-US" altLang="en-US"/>
              <a:t>Recovery using Log Entries</a:t>
            </a:r>
          </a:p>
        </p:txBody>
      </p:sp>
      <p:sp>
        <p:nvSpPr>
          <p:cNvPr id="256003" name="Rectangle 3" descr="Content Placeholder 2">
            <a:extLst>
              <a:ext uri="{FF2B5EF4-FFF2-40B4-BE49-F238E27FC236}">
                <a16:creationId xmlns:a16="http://schemas.microsoft.com/office/drawing/2014/main" id="{A9F63BB2-5719-25F4-7BCF-9AC81E05C171}"/>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Consider two transactions, Transferring Rs.100/- from account A to account B and Rs. 200/- from account C to D</a:t>
            </a:r>
          </a:p>
        </p:txBody>
      </p:sp>
      <p:sp>
        <p:nvSpPr>
          <p:cNvPr id="256004" name="Text Box 4" descr="Date Placeholder 3">
            <a:extLst>
              <a:ext uri="{FF2B5EF4-FFF2-40B4-BE49-F238E27FC236}">
                <a16:creationId xmlns:a16="http://schemas.microsoft.com/office/drawing/2014/main" id="{658E6864-A30B-245D-C1B2-22E71CA1573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6005" name="Text Box 5" descr="Slide Number Placeholder 5">
            <a:extLst>
              <a:ext uri="{FF2B5EF4-FFF2-40B4-BE49-F238E27FC236}">
                <a16:creationId xmlns:a16="http://schemas.microsoft.com/office/drawing/2014/main" id="{72ADDB8A-3439-FD0A-C37C-FD01B86E3CA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933FE62-8E62-4EA2-A624-2EDDC26DB33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239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56006" name="Rectangle 6" descr="Rectangle 11">
            <a:extLst>
              <a:ext uri="{FF2B5EF4-FFF2-40B4-BE49-F238E27FC236}">
                <a16:creationId xmlns:a16="http://schemas.microsoft.com/office/drawing/2014/main" id="{3D9E22C7-B07F-ED3B-760F-E8EDB42F14A8}"/>
              </a:ext>
            </a:extLst>
          </p:cNvPr>
          <p:cNvSpPr>
            <a:spLocks/>
          </p:cNvSpPr>
          <p:nvPr/>
        </p:nvSpPr>
        <p:spPr bwMode="auto">
          <a:xfrm>
            <a:off x="4660900" y="1555750"/>
            <a:ext cx="2646363" cy="4752975"/>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pic>
        <p:nvPicPr>
          <p:cNvPr id="256007" name="Picture 7" descr="Picture 5">
            <a:extLst>
              <a:ext uri="{FF2B5EF4-FFF2-40B4-BE49-F238E27FC236}">
                <a16:creationId xmlns:a16="http://schemas.microsoft.com/office/drawing/2014/main" id="{F241F4A0-42C1-4864-E068-226317A614E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860925" y="2995613"/>
            <a:ext cx="1781175" cy="31924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56008" name="Picture 8" descr="Picture 2">
            <a:extLst>
              <a:ext uri="{FF2B5EF4-FFF2-40B4-BE49-F238E27FC236}">
                <a16:creationId xmlns:a16="http://schemas.microsoft.com/office/drawing/2014/main" id="{B769B340-4F7A-2B04-E5D4-8785A2E8AB3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886325" y="1628775"/>
            <a:ext cx="1628775"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56009" name="Picture 9" descr="Picture 8">
            <a:extLst>
              <a:ext uri="{FF2B5EF4-FFF2-40B4-BE49-F238E27FC236}">
                <a16:creationId xmlns:a16="http://schemas.microsoft.com/office/drawing/2014/main" id="{88739CFC-A600-8C89-6E9A-2CB53FBE667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46225" y="1831975"/>
            <a:ext cx="1728788" cy="4489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descr="Title 1">
            <a:extLst>
              <a:ext uri="{FF2B5EF4-FFF2-40B4-BE49-F238E27FC236}">
                <a16:creationId xmlns:a16="http://schemas.microsoft.com/office/drawing/2014/main" id="{55B8DBBC-A3C0-FE92-87CE-1E32CA387864}"/>
              </a:ext>
            </a:extLst>
          </p:cNvPr>
          <p:cNvSpPr>
            <a:spLocks noChangeArrowheads="1"/>
          </p:cNvSpPr>
          <p:nvPr>
            <p:ph type="title"/>
          </p:nvPr>
        </p:nvSpPr>
        <p:spPr/>
        <p:txBody>
          <a:bodyPr/>
          <a:lstStyle/>
          <a:p>
            <a:r>
              <a:rPr lang="en-US" altLang="en-US"/>
              <a:t>Recovery using Log Entries</a:t>
            </a:r>
          </a:p>
        </p:txBody>
      </p:sp>
      <p:sp>
        <p:nvSpPr>
          <p:cNvPr id="257027" name="Rectangle 3" descr="Content Placeholder 2">
            <a:extLst>
              <a:ext uri="{FF2B5EF4-FFF2-40B4-BE49-F238E27FC236}">
                <a16:creationId xmlns:a16="http://schemas.microsoft.com/office/drawing/2014/main" id="{EB8F7009-5D44-9E63-507A-92731CA9155D}"/>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Consider two transactions, Transferring Rs.100/- from account A to account B and Rs. 200/- from account C to D</a:t>
            </a:r>
          </a:p>
        </p:txBody>
      </p:sp>
      <p:sp>
        <p:nvSpPr>
          <p:cNvPr id="257028" name="Text Box 4" descr="Date Placeholder 3">
            <a:extLst>
              <a:ext uri="{FF2B5EF4-FFF2-40B4-BE49-F238E27FC236}">
                <a16:creationId xmlns:a16="http://schemas.microsoft.com/office/drawing/2014/main" id="{1643AA88-8CDC-51D0-090D-EE99401621E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7029" name="Text Box 5" descr="Slide Number Placeholder 5">
            <a:extLst>
              <a:ext uri="{FF2B5EF4-FFF2-40B4-BE49-F238E27FC236}">
                <a16:creationId xmlns:a16="http://schemas.microsoft.com/office/drawing/2014/main" id="{153CBBED-20C0-6728-D2E4-87B6D20490B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FE099CCB-028A-4B4B-8A42-CE1546DD05F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57030" name="Rectangle 6" descr="Rectangle 11">
            <a:extLst>
              <a:ext uri="{FF2B5EF4-FFF2-40B4-BE49-F238E27FC236}">
                <a16:creationId xmlns:a16="http://schemas.microsoft.com/office/drawing/2014/main" id="{5AC95E76-0531-644D-18D7-1F3FDD6D2B3B}"/>
              </a:ext>
            </a:extLst>
          </p:cNvPr>
          <p:cNvSpPr>
            <a:spLocks/>
          </p:cNvSpPr>
          <p:nvPr/>
        </p:nvSpPr>
        <p:spPr bwMode="auto">
          <a:xfrm>
            <a:off x="6173788" y="1555750"/>
            <a:ext cx="2286000" cy="4752975"/>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7031" name="Text Box 7" descr="TextBox 6">
            <a:extLst>
              <a:ext uri="{FF2B5EF4-FFF2-40B4-BE49-F238E27FC236}">
                <a16:creationId xmlns:a16="http://schemas.microsoft.com/office/drawing/2014/main" id="{5A3CDBDC-9197-D44D-F2CF-0624132DDFD2}"/>
              </a:ext>
            </a:extLst>
          </p:cNvPr>
          <p:cNvSpPr txBox="1">
            <a:spLocks/>
          </p:cNvSpPr>
          <p:nvPr/>
        </p:nvSpPr>
        <p:spPr bwMode="auto">
          <a:xfrm>
            <a:off x="3392488" y="3470275"/>
            <a:ext cx="2759075"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Question:</a:t>
            </a:r>
          </a:p>
          <a:p>
            <a:r>
              <a:rPr lang="en-US" altLang="en-US" sz="1600"/>
              <a:t>Why we should maintain </a:t>
            </a:r>
          </a:p>
          <a:p>
            <a:r>
              <a:rPr lang="en-US" altLang="en-US" sz="1600" b="1"/>
              <a:t>New</a:t>
            </a:r>
            <a:r>
              <a:rPr lang="en-US" altLang="en-US" sz="1600"/>
              <a:t> value</a:t>
            </a:r>
          </a:p>
          <a:p>
            <a:r>
              <a:rPr lang="en-US" altLang="en-US" sz="1600"/>
              <a:t>in LOG for write operation</a:t>
            </a:r>
          </a:p>
        </p:txBody>
      </p:sp>
      <p:pic>
        <p:nvPicPr>
          <p:cNvPr id="257032" name="Picture 8" descr="Picture 2">
            <a:extLst>
              <a:ext uri="{FF2B5EF4-FFF2-40B4-BE49-F238E27FC236}">
                <a16:creationId xmlns:a16="http://schemas.microsoft.com/office/drawing/2014/main" id="{B2C2FDA0-F900-E5DC-E24D-EFAF140B1A2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342063" y="3043238"/>
            <a:ext cx="1743075" cy="3106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57033" name="Picture 9" descr="Picture 3">
            <a:extLst>
              <a:ext uri="{FF2B5EF4-FFF2-40B4-BE49-F238E27FC236}">
                <a16:creationId xmlns:a16="http://schemas.microsoft.com/office/drawing/2014/main" id="{6A569B72-9FCF-77F1-7F74-A4451CB57B9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42063" y="1700213"/>
            <a:ext cx="1427162" cy="1169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57034" name="Line 10" descr="Straight Arrow Connector 14">
            <a:extLst>
              <a:ext uri="{FF2B5EF4-FFF2-40B4-BE49-F238E27FC236}">
                <a16:creationId xmlns:a16="http://schemas.microsoft.com/office/drawing/2014/main" id="{299622CE-D548-3FFC-B11D-488D1CDAE234}"/>
              </a:ext>
            </a:extLst>
          </p:cNvPr>
          <p:cNvSpPr>
            <a:spLocks noChangeShapeType="1"/>
          </p:cNvSpPr>
          <p:nvPr/>
        </p:nvSpPr>
        <p:spPr bwMode="auto">
          <a:xfrm>
            <a:off x="1087438" y="5368925"/>
            <a:ext cx="504825"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7035" name="Text Box 11" descr="TextBox 15">
            <a:extLst>
              <a:ext uri="{FF2B5EF4-FFF2-40B4-BE49-F238E27FC236}">
                <a16:creationId xmlns:a16="http://schemas.microsoft.com/office/drawing/2014/main" id="{47CFDBBC-68A4-473F-F76A-F1E6AF8B22EC}"/>
              </a:ext>
            </a:extLst>
          </p:cNvPr>
          <p:cNvSpPr txBox="1">
            <a:spLocks/>
          </p:cNvSpPr>
          <p:nvPr/>
        </p:nvSpPr>
        <p:spPr bwMode="auto">
          <a:xfrm>
            <a:off x="223838" y="5045075"/>
            <a:ext cx="1041400"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System </a:t>
            </a:r>
          </a:p>
          <a:p>
            <a:r>
              <a:rPr lang="en-US" altLang="en-US">
                <a:solidFill>
                  <a:srgbClr val="FF0000"/>
                </a:solidFill>
              </a:rPr>
              <a:t>Crash</a:t>
            </a:r>
          </a:p>
        </p:txBody>
      </p:sp>
      <p:pic>
        <p:nvPicPr>
          <p:cNvPr id="257036" name="Picture 12" descr="Picture 8">
            <a:extLst>
              <a:ext uri="{FF2B5EF4-FFF2-40B4-BE49-F238E27FC236}">
                <a16:creationId xmlns:a16="http://schemas.microsoft.com/office/drawing/2014/main" id="{F9288FDF-3C0D-4916-70C0-C4E0D1A476E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46225" y="1844675"/>
            <a:ext cx="1728788" cy="4392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descr="Title 1">
            <a:extLst>
              <a:ext uri="{FF2B5EF4-FFF2-40B4-BE49-F238E27FC236}">
                <a16:creationId xmlns:a16="http://schemas.microsoft.com/office/drawing/2014/main" id="{A8D54172-2865-B42A-ED1A-DF11F1CF7B81}"/>
              </a:ext>
            </a:extLst>
          </p:cNvPr>
          <p:cNvSpPr>
            <a:spLocks noChangeArrowheads="1"/>
          </p:cNvSpPr>
          <p:nvPr>
            <p:ph type="title"/>
          </p:nvPr>
        </p:nvSpPr>
        <p:spPr/>
        <p:txBody>
          <a:bodyPr/>
          <a:lstStyle/>
          <a:p>
            <a:r>
              <a:rPr lang="en-US" altLang="en-US"/>
              <a:t>Recovery using Log Entries</a:t>
            </a:r>
          </a:p>
        </p:txBody>
      </p:sp>
      <p:sp>
        <p:nvSpPr>
          <p:cNvPr id="258051" name="Rectangle 3" descr="Content Placeholder 2">
            <a:extLst>
              <a:ext uri="{FF2B5EF4-FFF2-40B4-BE49-F238E27FC236}">
                <a16:creationId xmlns:a16="http://schemas.microsoft.com/office/drawing/2014/main" id="{0D389EE2-3957-7EBA-60E1-DFDE4087014C}"/>
              </a:ext>
            </a:extLst>
          </p:cNvPr>
          <p:cNvSpPr>
            <a:spLocks noChangeArrowheads="1"/>
          </p:cNvSpPr>
          <p:nvPr>
            <p:ph type="body" idx="1"/>
          </p:nvPr>
        </p:nvSpPr>
        <p:spPr/>
        <p:txBody>
          <a:bodyPr/>
          <a:lstStyle/>
          <a:p>
            <a:pPr marL="0" indent="0">
              <a:spcBef>
                <a:spcPts val="300"/>
              </a:spcBef>
              <a:buSzTx/>
              <a:buFont typeface="Wingdings" panose="05000000000000000000" pitchFamily="2" charset="2"/>
              <a:buNone/>
            </a:pPr>
            <a:r>
              <a:rPr lang="en-US" altLang="en-US" sz="1600"/>
              <a:t>Consider two transactions, Transferring Rs.100/- from account A to account B and Rs. 200/- from account C to D</a:t>
            </a:r>
          </a:p>
        </p:txBody>
      </p:sp>
      <p:sp>
        <p:nvSpPr>
          <p:cNvPr id="258052" name="Text Box 4" descr="Date Placeholder 3">
            <a:extLst>
              <a:ext uri="{FF2B5EF4-FFF2-40B4-BE49-F238E27FC236}">
                <a16:creationId xmlns:a16="http://schemas.microsoft.com/office/drawing/2014/main" id="{54FF96C5-DF4B-A6D8-BC61-2F52454F71C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8053" name="Text Box 5" descr="Slide Number Placeholder 5">
            <a:extLst>
              <a:ext uri="{FF2B5EF4-FFF2-40B4-BE49-F238E27FC236}">
                <a16:creationId xmlns:a16="http://schemas.microsoft.com/office/drawing/2014/main" id="{BFA792D8-CD6D-4668-A2C2-33185D7F677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F782B9F-EFFA-49E3-84DB-54839E5A7CE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58054" name="Rectangle 6" descr="Rectangle 11">
            <a:extLst>
              <a:ext uri="{FF2B5EF4-FFF2-40B4-BE49-F238E27FC236}">
                <a16:creationId xmlns:a16="http://schemas.microsoft.com/office/drawing/2014/main" id="{AEB7DB23-289B-095E-051C-F872E0F19FF8}"/>
              </a:ext>
            </a:extLst>
          </p:cNvPr>
          <p:cNvSpPr>
            <a:spLocks/>
          </p:cNvSpPr>
          <p:nvPr/>
        </p:nvSpPr>
        <p:spPr bwMode="auto">
          <a:xfrm>
            <a:off x="5741988" y="1555750"/>
            <a:ext cx="2286000" cy="4752975"/>
          </a:xfrm>
          <a:prstGeom prst="rect">
            <a:avLst/>
          </a:prstGeom>
          <a:noFill/>
          <a:ln w="2857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55" name="Text Box 7" descr="TextBox 6">
            <a:extLst>
              <a:ext uri="{FF2B5EF4-FFF2-40B4-BE49-F238E27FC236}">
                <a16:creationId xmlns:a16="http://schemas.microsoft.com/office/drawing/2014/main" id="{030C854B-03BA-450F-EC89-01BFBE253B63}"/>
              </a:ext>
            </a:extLst>
          </p:cNvPr>
          <p:cNvSpPr txBox="1">
            <a:spLocks/>
          </p:cNvSpPr>
          <p:nvPr/>
        </p:nvSpPr>
        <p:spPr bwMode="auto">
          <a:xfrm>
            <a:off x="2960688" y="3470275"/>
            <a:ext cx="2805112" cy="2022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b="1"/>
              <a:t>New value </a:t>
            </a:r>
            <a:r>
              <a:rPr lang="en-US" altLang="en-US" sz="1600"/>
              <a:t>is required for</a:t>
            </a:r>
          </a:p>
          <a:p>
            <a:r>
              <a:rPr lang="en-US" altLang="en-US" sz="1600" b="1"/>
              <a:t>REDO</a:t>
            </a:r>
            <a:r>
              <a:rPr lang="en-US" altLang="en-US" sz="1600"/>
              <a:t> operation in</a:t>
            </a:r>
          </a:p>
          <a:p>
            <a:r>
              <a:rPr lang="en-US" altLang="en-US" sz="1600"/>
              <a:t>Case where you have </a:t>
            </a:r>
          </a:p>
          <a:p>
            <a:r>
              <a:rPr lang="en-US" altLang="en-US" sz="1600"/>
              <a:t>Reached commit point of</a:t>
            </a:r>
          </a:p>
          <a:p>
            <a:r>
              <a:rPr lang="en-US" altLang="en-US" sz="1600"/>
              <a:t>Transaction but</a:t>
            </a:r>
          </a:p>
          <a:p>
            <a:r>
              <a:rPr lang="en-US" altLang="en-US" sz="1600"/>
              <a:t>Changes where not </a:t>
            </a:r>
          </a:p>
          <a:p>
            <a:r>
              <a:rPr lang="en-US" altLang="en-US" sz="1600"/>
              <a:t>Updated </a:t>
            </a:r>
          </a:p>
          <a:p>
            <a:r>
              <a:rPr lang="en-US" altLang="en-US" sz="1600"/>
              <a:t>To database table</a:t>
            </a:r>
          </a:p>
        </p:txBody>
      </p:sp>
      <p:pic>
        <p:nvPicPr>
          <p:cNvPr id="258056" name="Picture 8" descr="Picture 2">
            <a:extLst>
              <a:ext uri="{FF2B5EF4-FFF2-40B4-BE49-F238E27FC236}">
                <a16:creationId xmlns:a16="http://schemas.microsoft.com/office/drawing/2014/main" id="{86A1EFDF-6D17-5E89-8ED4-D1375106D93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910263" y="3201988"/>
            <a:ext cx="1741487" cy="3106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58057" name="Picture 9" descr="Picture 2">
            <a:extLst>
              <a:ext uri="{FF2B5EF4-FFF2-40B4-BE49-F238E27FC236}">
                <a16:creationId xmlns:a16="http://schemas.microsoft.com/office/drawing/2014/main" id="{35497D58-0B48-AEC7-238B-48184A24459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910263" y="1609725"/>
            <a:ext cx="1663700" cy="1365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58058" name="Line 10" descr="Straight Connector 8">
            <a:extLst>
              <a:ext uri="{FF2B5EF4-FFF2-40B4-BE49-F238E27FC236}">
                <a16:creationId xmlns:a16="http://schemas.microsoft.com/office/drawing/2014/main" id="{FBA964D1-4F45-C6CC-23F1-C4248E8D4D97}"/>
              </a:ext>
            </a:extLst>
          </p:cNvPr>
          <p:cNvSpPr>
            <a:spLocks noChangeShapeType="1"/>
          </p:cNvSpPr>
          <p:nvPr/>
        </p:nvSpPr>
        <p:spPr bwMode="auto">
          <a:xfrm>
            <a:off x="7651750" y="4002088"/>
            <a:ext cx="231775" cy="0"/>
          </a:xfrm>
          <a:prstGeom prst="line">
            <a:avLst/>
          </a:prstGeom>
          <a:noFill/>
          <a:ln w="2857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59" name="Line 11" descr="Straight Connector 10">
            <a:extLst>
              <a:ext uri="{FF2B5EF4-FFF2-40B4-BE49-F238E27FC236}">
                <a16:creationId xmlns:a16="http://schemas.microsoft.com/office/drawing/2014/main" id="{15BE6CC1-AD71-C257-3AC6-7673069F2802}"/>
              </a:ext>
            </a:extLst>
          </p:cNvPr>
          <p:cNvSpPr>
            <a:spLocks noChangeShapeType="1"/>
          </p:cNvSpPr>
          <p:nvPr/>
        </p:nvSpPr>
        <p:spPr bwMode="auto">
          <a:xfrm flipV="1">
            <a:off x="7883525" y="1987550"/>
            <a:ext cx="0" cy="2014538"/>
          </a:xfrm>
          <a:prstGeom prst="line">
            <a:avLst/>
          </a:prstGeom>
          <a:noFill/>
          <a:ln w="28575" cap="flat"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60" name="Line 12" descr="Straight Arrow Connector 19">
            <a:extLst>
              <a:ext uri="{FF2B5EF4-FFF2-40B4-BE49-F238E27FC236}">
                <a16:creationId xmlns:a16="http://schemas.microsoft.com/office/drawing/2014/main" id="{8F5D564F-95F4-039D-E3B6-85828C8BB099}"/>
              </a:ext>
            </a:extLst>
          </p:cNvPr>
          <p:cNvSpPr>
            <a:spLocks noChangeShapeType="1"/>
          </p:cNvSpPr>
          <p:nvPr/>
        </p:nvSpPr>
        <p:spPr bwMode="auto">
          <a:xfrm flipH="1">
            <a:off x="7573963" y="1987550"/>
            <a:ext cx="309562" cy="0"/>
          </a:xfrm>
          <a:prstGeom prst="line">
            <a:avLst/>
          </a:prstGeom>
          <a:noFill/>
          <a:ln w="2857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61" name="Line 13" descr="Straight Connector 21">
            <a:extLst>
              <a:ext uri="{FF2B5EF4-FFF2-40B4-BE49-F238E27FC236}">
                <a16:creationId xmlns:a16="http://schemas.microsoft.com/office/drawing/2014/main" id="{C572BF15-7223-0963-9B36-2DA6AE8FAA4C}"/>
              </a:ext>
            </a:extLst>
          </p:cNvPr>
          <p:cNvSpPr>
            <a:spLocks noChangeShapeType="1"/>
          </p:cNvSpPr>
          <p:nvPr/>
        </p:nvSpPr>
        <p:spPr bwMode="auto">
          <a:xfrm>
            <a:off x="7573963" y="4502150"/>
            <a:ext cx="596900" cy="0"/>
          </a:xfrm>
          <a:prstGeom prst="line">
            <a:avLst/>
          </a:prstGeom>
          <a:noFill/>
          <a:ln w="28575" cap="flat" cmpd="sng">
            <a:solidFill>
              <a:srgbClr val="00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62" name="Line 14" descr="Straight Connector 23">
            <a:extLst>
              <a:ext uri="{FF2B5EF4-FFF2-40B4-BE49-F238E27FC236}">
                <a16:creationId xmlns:a16="http://schemas.microsoft.com/office/drawing/2014/main" id="{B92BDB4B-2255-3E48-1449-D18B293E0A3E}"/>
              </a:ext>
            </a:extLst>
          </p:cNvPr>
          <p:cNvSpPr>
            <a:spLocks noChangeShapeType="1"/>
          </p:cNvSpPr>
          <p:nvPr/>
        </p:nvSpPr>
        <p:spPr bwMode="auto">
          <a:xfrm flipV="1">
            <a:off x="8170863" y="2292350"/>
            <a:ext cx="0" cy="2209800"/>
          </a:xfrm>
          <a:prstGeom prst="line">
            <a:avLst/>
          </a:prstGeom>
          <a:noFill/>
          <a:ln w="28575" cap="flat" cmpd="sng">
            <a:solidFill>
              <a:srgbClr val="00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63" name="Line 15" descr="Straight Arrow Connector 25">
            <a:extLst>
              <a:ext uri="{FF2B5EF4-FFF2-40B4-BE49-F238E27FC236}">
                <a16:creationId xmlns:a16="http://schemas.microsoft.com/office/drawing/2014/main" id="{8B147F96-F793-4949-3503-3B28BF2A1FFA}"/>
              </a:ext>
            </a:extLst>
          </p:cNvPr>
          <p:cNvSpPr>
            <a:spLocks noChangeShapeType="1"/>
          </p:cNvSpPr>
          <p:nvPr/>
        </p:nvSpPr>
        <p:spPr bwMode="auto">
          <a:xfrm flipH="1">
            <a:off x="7573963" y="2292350"/>
            <a:ext cx="596900" cy="0"/>
          </a:xfrm>
          <a:prstGeom prst="line">
            <a:avLst/>
          </a:prstGeom>
          <a:noFill/>
          <a:ln w="28575" cap="flat" cmpd="sng">
            <a:solidFill>
              <a:srgbClr val="000000"/>
            </a:solidFill>
            <a:prstDash val="dash"/>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64" name="Text Box 16" descr="TextBox 26">
            <a:extLst>
              <a:ext uri="{FF2B5EF4-FFF2-40B4-BE49-F238E27FC236}">
                <a16:creationId xmlns:a16="http://schemas.microsoft.com/office/drawing/2014/main" id="{02890C28-5DF9-447A-A58B-0BE5BFC33E27}"/>
              </a:ext>
            </a:extLst>
          </p:cNvPr>
          <p:cNvSpPr txBox="1">
            <a:spLocks/>
          </p:cNvSpPr>
          <p:nvPr/>
        </p:nvSpPr>
        <p:spPr bwMode="auto">
          <a:xfrm>
            <a:off x="8361363" y="2779713"/>
            <a:ext cx="69056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REDO</a:t>
            </a:r>
          </a:p>
        </p:txBody>
      </p:sp>
      <p:sp>
        <p:nvSpPr>
          <p:cNvPr id="258065" name="Line 17" descr="Straight Arrow Connector 32">
            <a:extLst>
              <a:ext uri="{FF2B5EF4-FFF2-40B4-BE49-F238E27FC236}">
                <a16:creationId xmlns:a16="http://schemas.microsoft.com/office/drawing/2014/main" id="{3AF9626D-D319-7647-621D-147154AD97DE}"/>
              </a:ext>
            </a:extLst>
          </p:cNvPr>
          <p:cNvSpPr>
            <a:spLocks noChangeShapeType="1"/>
          </p:cNvSpPr>
          <p:nvPr/>
        </p:nvSpPr>
        <p:spPr bwMode="auto">
          <a:xfrm>
            <a:off x="727075" y="5440363"/>
            <a:ext cx="504825"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58066" name="Text Box 18" descr="TextBox 33">
            <a:extLst>
              <a:ext uri="{FF2B5EF4-FFF2-40B4-BE49-F238E27FC236}">
                <a16:creationId xmlns:a16="http://schemas.microsoft.com/office/drawing/2014/main" id="{5C39782B-CCFC-8C79-E65B-0B8F3447711E}"/>
              </a:ext>
            </a:extLst>
          </p:cNvPr>
          <p:cNvSpPr txBox="1">
            <a:spLocks/>
          </p:cNvSpPr>
          <p:nvPr/>
        </p:nvSpPr>
        <p:spPr bwMode="auto">
          <a:xfrm>
            <a:off x="98425" y="5129213"/>
            <a:ext cx="936625"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System </a:t>
            </a:r>
          </a:p>
          <a:p>
            <a:r>
              <a:rPr lang="en-US" altLang="en-US" sz="1600">
                <a:solidFill>
                  <a:srgbClr val="FF0000"/>
                </a:solidFill>
              </a:rPr>
              <a:t>Crash</a:t>
            </a:r>
          </a:p>
        </p:txBody>
      </p:sp>
      <p:pic>
        <p:nvPicPr>
          <p:cNvPr id="258067" name="Picture 19" descr="Picture 8">
            <a:extLst>
              <a:ext uri="{FF2B5EF4-FFF2-40B4-BE49-F238E27FC236}">
                <a16:creationId xmlns:a16="http://schemas.microsoft.com/office/drawing/2014/main" id="{30FFF30A-E38D-3CCD-B4C4-FC23CCA05698}"/>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187450" y="1916113"/>
            <a:ext cx="1727200" cy="43926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descr="Title 1">
            <a:extLst>
              <a:ext uri="{FF2B5EF4-FFF2-40B4-BE49-F238E27FC236}">
                <a16:creationId xmlns:a16="http://schemas.microsoft.com/office/drawing/2014/main" id="{6A3CE254-7725-7B48-94EB-F2AA13869DAB}"/>
              </a:ext>
            </a:extLst>
          </p:cNvPr>
          <p:cNvSpPr>
            <a:spLocks noChangeArrowheads="1"/>
          </p:cNvSpPr>
          <p:nvPr>
            <p:ph type="title"/>
          </p:nvPr>
        </p:nvSpPr>
        <p:spPr/>
        <p:txBody>
          <a:bodyPr/>
          <a:lstStyle/>
          <a:p>
            <a:r>
              <a:rPr lang="en-US" altLang="en-US"/>
              <a:t>Recovery using Log Entries</a:t>
            </a:r>
          </a:p>
        </p:txBody>
      </p:sp>
      <p:sp>
        <p:nvSpPr>
          <p:cNvPr id="259075" name="Rectangle 3" descr="Content Placeholder 2">
            <a:extLst>
              <a:ext uri="{FF2B5EF4-FFF2-40B4-BE49-F238E27FC236}">
                <a16:creationId xmlns:a16="http://schemas.microsoft.com/office/drawing/2014/main" id="{41BCF455-C182-E1F3-FD28-037D29484D2E}"/>
              </a:ext>
            </a:extLst>
          </p:cNvPr>
          <p:cNvSpPr>
            <a:spLocks noChangeArrowheads="1"/>
          </p:cNvSpPr>
          <p:nvPr>
            <p:ph type="body" idx="1"/>
          </p:nvPr>
        </p:nvSpPr>
        <p:spPr/>
        <p:txBody>
          <a:bodyPr/>
          <a:lstStyle/>
          <a:p>
            <a:pPr marL="77788" indent="-77788">
              <a:spcBef>
                <a:spcPts val="300"/>
              </a:spcBef>
              <a:buSzTx/>
              <a:buFont typeface="Wingdings" panose="05000000000000000000" pitchFamily="2" charset="2"/>
              <a:buNone/>
            </a:pPr>
            <a:r>
              <a:rPr lang="en-US" altLang="en-US" sz="1600"/>
              <a:t>1. Old value in LOG is required  For UNDO operation</a:t>
            </a:r>
          </a:p>
          <a:p>
            <a:pPr marL="77788" indent="-77788">
              <a:spcBef>
                <a:spcPts val="300"/>
              </a:spcBef>
              <a:buSzTx/>
              <a:buFont typeface="Wingdings" panose="05000000000000000000" pitchFamily="2" charset="2"/>
              <a:buNone/>
            </a:pPr>
            <a:r>
              <a:rPr lang="en-US" altLang="en-US" sz="1600"/>
              <a:t>Old value is required for UNDO, If changes where made to database</a:t>
            </a:r>
          </a:p>
          <a:p>
            <a:pPr marL="77788" indent="-77788">
              <a:spcBef>
                <a:spcPts val="300"/>
              </a:spcBef>
              <a:buSzTx/>
              <a:buFont typeface="Wingdings" panose="05000000000000000000" pitchFamily="2" charset="2"/>
              <a:buNone/>
            </a:pPr>
            <a:r>
              <a:rPr lang="en-US" altLang="en-US" sz="1600"/>
              <a:t>Before transaction reaches commit</a:t>
            </a:r>
          </a:p>
          <a:p>
            <a:pPr marL="77788" indent="-77788"/>
            <a:endParaRPr lang="en-US" altLang="en-US" sz="1600"/>
          </a:p>
          <a:p>
            <a:pPr marL="77788" indent="-77788">
              <a:spcBef>
                <a:spcPts val="300"/>
              </a:spcBef>
              <a:buSzTx/>
              <a:buFont typeface="Wingdings" panose="05000000000000000000" pitchFamily="2" charset="2"/>
              <a:buNone/>
            </a:pPr>
            <a:r>
              <a:rPr lang="en-US" altLang="en-US" sz="1600"/>
              <a:t>2. New value in LOG is required For REDO operation</a:t>
            </a:r>
          </a:p>
          <a:p>
            <a:pPr marL="77788" indent="-77788">
              <a:spcBef>
                <a:spcPts val="300"/>
              </a:spcBef>
              <a:buSzTx/>
              <a:buFont typeface="Wingdings" panose="05000000000000000000" pitchFamily="2" charset="2"/>
              <a:buNone/>
            </a:pPr>
            <a:r>
              <a:rPr lang="en-US" altLang="en-US" sz="1600"/>
              <a:t>New value is required for REDO operation in Case where we have Reached commit point of Transaction but Changes where not  Updated  To database table.</a:t>
            </a:r>
          </a:p>
        </p:txBody>
      </p:sp>
      <p:sp>
        <p:nvSpPr>
          <p:cNvPr id="259076" name="Text Box 4" descr="Date Placeholder 3">
            <a:extLst>
              <a:ext uri="{FF2B5EF4-FFF2-40B4-BE49-F238E27FC236}">
                <a16:creationId xmlns:a16="http://schemas.microsoft.com/office/drawing/2014/main" id="{E16EAFC9-266F-478F-D003-16D4532EF0BA}"/>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59077" name="Text Box 5" descr="Slide Number Placeholder 5">
            <a:extLst>
              <a:ext uri="{FF2B5EF4-FFF2-40B4-BE49-F238E27FC236}">
                <a16:creationId xmlns:a16="http://schemas.microsoft.com/office/drawing/2014/main" id="{341FA58B-5501-F50F-C420-D276F138D65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2331C4C-DCDF-4FF1-8035-99470003126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2" descr="Title 1">
            <a:extLst>
              <a:ext uri="{FF2B5EF4-FFF2-40B4-BE49-F238E27FC236}">
                <a16:creationId xmlns:a16="http://schemas.microsoft.com/office/drawing/2014/main" id="{AC1F8D0C-9A5A-5620-A2F1-A81493AE4409}"/>
              </a:ext>
            </a:extLst>
          </p:cNvPr>
          <p:cNvSpPr>
            <a:spLocks noChangeArrowheads="1"/>
          </p:cNvSpPr>
          <p:nvPr>
            <p:ph type="title"/>
          </p:nvPr>
        </p:nvSpPr>
        <p:spPr/>
        <p:txBody>
          <a:bodyPr/>
          <a:lstStyle/>
          <a:p>
            <a:r>
              <a:rPr lang="en-US" altLang="en-US"/>
              <a:t>Recovery using LOG enteries</a:t>
            </a:r>
          </a:p>
        </p:txBody>
      </p:sp>
      <p:sp>
        <p:nvSpPr>
          <p:cNvPr id="260099" name="Text Box 3" descr="Date Placeholder 3">
            <a:extLst>
              <a:ext uri="{FF2B5EF4-FFF2-40B4-BE49-F238E27FC236}">
                <a16:creationId xmlns:a16="http://schemas.microsoft.com/office/drawing/2014/main" id="{A8F8BCD2-B76A-4D1B-45DC-BB89FCBA68B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0100" name="Text Box 4" descr="Slide Number Placeholder 5">
            <a:extLst>
              <a:ext uri="{FF2B5EF4-FFF2-40B4-BE49-F238E27FC236}">
                <a16:creationId xmlns:a16="http://schemas.microsoft.com/office/drawing/2014/main" id="{812FDF4F-4143-9EE5-DE08-82FD92400C2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711A84E-676C-4144-9A78-58CC1F113A7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60101" name="Picture 5" descr="Picture 2">
            <a:extLst>
              <a:ext uri="{FF2B5EF4-FFF2-40B4-BE49-F238E27FC236}">
                <a16:creationId xmlns:a16="http://schemas.microsoft.com/office/drawing/2014/main" id="{A43AD680-6276-3900-9ADB-BD5373452F4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5288" y="2030413"/>
            <a:ext cx="4905375" cy="1352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60102" name="Text Box 6" descr="TextBox 6">
            <a:extLst>
              <a:ext uri="{FF2B5EF4-FFF2-40B4-BE49-F238E27FC236}">
                <a16:creationId xmlns:a16="http://schemas.microsoft.com/office/drawing/2014/main" id="{3666016C-BAE0-1D08-71EF-C4CCAA66D1FA}"/>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graphicFrame>
        <p:nvGraphicFramePr>
          <p:cNvPr id="260103" name="Group 7">
            <a:extLst>
              <a:ext uri="{FF2B5EF4-FFF2-40B4-BE49-F238E27FC236}">
                <a16:creationId xmlns:a16="http://schemas.microsoft.com/office/drawing/2014/main" id="{1A470675-1701-948E-42D3-7981DC996A5F}"/>
              </a:ext>
            </a:extLst>
          </p:cNvPr>
          <p:cNvGraphicFramePr>
            <a:graphicFrameLocks noGrp="1"/>
          </p:cNvGraphicFramePr>
          <p:nvPr/>
        </p:nvGraphicFramePr>
        <p:xfrm>
          <a:off x="827088" y="4060825"/>
          <a:ext cx="2303462" cy="1536700"/>
        </p:xfrm>
        <a:graphic>
          <a:graphicData uri="http://schemas.openxmlformats.org/drawingml/2006/table">
            <a:tbl>
              <a:tblPr/>
              <a:tblGrid>
                <a:gridCol w="647700">
                  <a:extLst>
                    <a:ext uri="{9D8B030D-6E8A-4147-A177-3AD203B41FA5}">
                      <a16:colId xmlns:a16="http://schemas.microsoft.com/office/drawing/2014/main" val="3237028163"/>
                    </a:ext>
                  </a:extLst>
                </a:gridCol>
                <a:gridCol w="1655762">
                  <a:extLst>
                    <a:ext uri="{9D8B030D-6E8A-4147-A177-3AD203B41FA5}">
                      <a16:colId xmlns:a16="http://schemas.microsoft.com/office/drawing/2014/main" val="406044008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30315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8696851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847951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68101360"/>
                  </a:ext>
                </a:extLst>
              </a:tr>
            </a:tbl>
          </a:graphicData>
        </a:graphic>
      </p:graphicFrame>
      <p:sp>
        <p:nvSpPr>
          <p:cNvPr id="260134" name="Text Box 38" descr="TextBox 8">
            <a:extLst>
              <a:ext uri="{FF2B5EF4-FFF2-40B4-BE49-F238E27FC236}">
                <a16:creationId xmlns:a16="http://schemas.microsoft.com/office/drawing/2014/main" id="{1B9FC3D7-76A3-6174-ACF8-DA8F91F3EE29}"/>
              </a:ext>
            </a:extLst>
          </p:cNvPr>
          <p:cNvSpPr txBox="1">
            <a:spLocks/>
          </p:cNvSpPr>
          <p:nvPr/>
        </p:nvSpPr>
        <p:spPr bwMode="auto">
          <a:xfrm>
            <a:off x="873125" y="3684588"/>
            <a:ext cx="1179513"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descr="Title 1">
            <a:extLst>
              <a:ext uri="{FF2B5EF4-FFF2-40B4-BE49-F238E27FC236}">
                <a16:creationId xmlns:a16="http://schemas.microsoft.com/office/drawing/2014/main" id="{CFBF73F7-A369-D537-CE15-DAD67619090A}"/>
              </a:ext>
            </a:extLst>
          </p:cNvPr>
          <p:cNvSpPr>
            <a:spLocks noChangeArrowheads="1"/>
          </p:cNvSpPr>
          <p:nvPr>
            <p:ph type="title"/>
          </p:nvPr>
        </p:nvSpPr>
        <p:spPr/>
        <p:txBody>
          <a:bodyPr/>
          <a:lstStyle/>
          <a:p>
            <a:r>
              <a:rPr lang="en-US" altLang="en-US"/>
              <a:t>Recovery using LOG enteries</a:t>
            </a:r>
          </a:p>
        </p:txBody>
      </p:sp>
      <p:sp>
        <p:nvSpPr>
          <p:cNvPr id="261123" name="Text Box 3" descr="Date Placeholder 3">
            <a:extLst>
              <a:ext uri="{FF2B5EF4-FFF2-40B4-BE49-F238E27FC236}">
                <a16:creationId xmlns:a16="http://schemas.microsoft.com/office/drawing/2014/main" id="{D33445C7-D64A-3317-8B8F-9FF4FABFD16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1124" name="Text Box 4" descr="Slide Number Placeholder 5">
            <a:extLst>
              <a:ext uri="{FF2B5EF4-FFF2-40B4-BE49-F238E27FC236}">
                <a16:creationId xmlns:a16="http://schemas.microsoft.com/office/drawing/2014/main" id="{144FFA20-8B6E-79D7-0397-49B12AF0B07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44C55B9-EF6E-41C0-BD49-7ECD26DD81F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61125" name="Text Box 5" descr="TextBox 6">
            <a:extLst>
              <a:ext uri="{FF2B5EF4-FFF2-40B4-BE49-F238E27FC236}">
                <a16:creationId xmlns:a16="http://schemas.microsoft.com/office/drawing/2014/main" id="{9384A288-DC94-7A06-4AC3-75590BE2C8B6}"/>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graphicFrame>
        <p:nvGraphicFramePr>
          <p:cNvPr id="261126" name="Group 6">
            <a:extLst>
              <a:ext uri="{FF2B5EF4-FFF2-40B4-BE49-F238E27FC236}">
                <a16:creationId xmlns:a16="http://schemas.microsoft.com/office/drawing/2014/main" id="{139D1ADE-37D4-0C01-9FE6-20591021CC2C}"/>
              </a:ext>
            </a:extLst>
          </p:cNvPr>
          <p:cNvGraphicFramePr>
            <a:graphicFrameLocks noGrp="1"/>
          </p:cNvGraphicFramePr>
          <p:nvPr/>
        </p:nvGraphicFramePr>
        <p:xfrm>
          <a:off x="827088" y="4060825"/>
          <a:ext cx="2303462" cy="1536700"/>
        </p:xfrm>
        <a:graphic>
          <a:graphicData uri="http://schemas.openxmlformats.org/drawingml/2006/table">
            <a:tbl>
              <a:tblPr/>
              <a:tblGrid>
                <a:gridCol w="647700">
                  <a:extLst>
                    <a:ext uri="{9D8B030D-6E8A-4147-A177-3AD203B41FA5}">
                      <a16:colId xmlns:a16="http://schemas.microsoft.com/office/drawing/2014/main" val="1729902574"/>
                    </a:ext>
                  </a:extLst>
                </a:gridCol>
                <a:gridCol w="1655762">
                  <a:extLst>
                    <a:ext uri="{9D8B030D-6E8A-4147-A177-3AD203B41FA5}">
                      <a16:colId xmlns:a16="http://schemas.microsoft.com/office/drawing/2014/main" val="245391888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8410742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1433728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414959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95199581"/>
                  </a:ext>
                </a:extLst>
              </a:tr>
            </a:tbl>
          </a:graphicData>
        </a:graphic>
      </p:graphicFrame>
      <p:sp>
        <p:nvSpPr>
          <p:cNvPr id="261157" name="Text Box 37" descr="TextBox 8">
            <a:extLst>
              <a:ext uri="{FF2B5EF4-FFF2-40B4-BE49-F238E27FC236}">
                <a16:creationId xmlns:a16="http://schemas.microsoft.com/office/drawing/2014/main" id="{1868B52E-AD93-382E-1AA6-4AA603EC5C2C}"/>
              </a:ext>
            </a:extLst>
          </p:cNvPr>
          <p:cNvSpPr txBox="1">
            <a:spLocks/>
          </p:cNvSpPr>
          <p:nvPr/>
        </p:nvSpPr>
        <p:spPr bwMode="auto">
          <a:xfrm>
            <a:off x="873125" y="3684588"/>
            <a:ext cx="1179513"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pic>
        <p:nvPicPr>
          <p:cNvPr id="261158" name="Picture 38" descr="Picture 3">
            <a:extLst>
              <a:ext uri="{FF2B5EF4-FFF2-40B4-BE49-F238E27FC236}">
                <a16:creationId xmlns:a16="http://schemas.microsoft.com/office/drawing/2014/main" id="{B2B65A3D-27BE-C54A-4D54-058DAC8CD40F}"/>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732463" y="2057400"/>
            <a:ext cx="2655887" cy="417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61159" name="Picture 39" descr="Picture 2">
            <a:extLst>
              <a:ext uri="{FF2B5EF4-FFF2-40B4-BE49-F238E27FC236}">
                <a16:creationId xmlns:a16="http://schemas.microsoft.com/office/drawing/2014/main" id="{C7BC1BA7-A8DF-B437-3159-5F6E1A2C2E8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5288" y="2057400"/>
            <a:ext cx="4905375" cy="1352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descr="Title 1">
            <a:extLst>
              <a:ext uri="{FF2B5EF4-FFF2-40B4-BE49-F238E27FC236}">
                <a16:creationId xmlns:a16="http://schemas.microsoft.com/office/drawing/2014/main" id="{1C43842C-DD77-01C1-EB3A-293E31946421}"/>
              </a:ext>
            </a:extLst>
          </p:cNvPr>
          <p:cNvSpPr>
            <a:spLocks noChangeArrowheads="1"/>
          </p:cNvSpPr>
          <p:nvPr>
            <p:ph type="title"/>
          </p:nvPr>
        </p:nvSpPr>
        <p:spPr/>
        <p:txBody>
          <a:bodyPr/>
          <a:lstStyle/>
          <a:p>
            <a:r>
              <a:rPr lang="en-US" altLang="en-US"/>
              <a:t>Recovery using LOG enteries</a:t>
            </a:r>
          </a:p>
        </p:txBody>
      </p:sp>
      <p:sp>
        <p:nvSpPr>
          <p:cNvPr id="262147" name="Text Box 3" descr="Date Placeholder 3">
            <a:extLst>
              <a:ext uri="{FF2B5EF4-FFF2-40B4-BE49-F238E27FC236}">
                <a16:creationId xmlns:a16="http://schemas.microsoft.com/office/drawing/2014/main" id="{8EC25066-E6DB-448B-075D-52E08FDA1E8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2148" name="Text Box 4" descr="Slide Number Placeholder 5">
            <a:extLst>
              <a:ext uri="{FF2B5EF4-FFF2-40B4-BE49-F238E27FC236}">
                <a16:creationId xmlns:a16="http://schemas.microsoft.com/office/drawing/2014/main" id="{F144B7E7-61F6-206B-5D6D-1A4C745F10F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50487BE-2B1D-4D47-A4C1-FA878044586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62149" name="Picture 5" descr="Picture 3">
            <a:extLst>
              <a:ext uri="{FF2B5EF4-FFF2-40B4-BE49-F238E27FC236}">
                <a16:creationId xmlns:a16="http://schemas.microsoft.com/office/drawing/2014/main" id="{E0C27D87-63CD-823F-951A-1F23C6D914C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435600" y="2060575"/>
            <a:ext cx="3724275" cy="3895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62150" name="Text Box 6" descr="TextBox 6">
            <a:extLst>
              <a:ext uri="{FF2B5EF4-FFF2-40B4-BE49-F238E27FC236}">
                <a16:creationId xmlns:a16="http://schemas.microsoft.com/office/drawing/2014/main" id="{7182983E-A4F1-F330-8AD1-64CD22DC2657}"/>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sp>
        <p:nvSpPr>
          <p:cNvPr id="262151" name="Line 7" descr="Straight Arrow Connector 10">
            <a:extLst>
              <a:ext uri="{FF2B5EF4-FFF2-40B4-BE49-F238E27FC236}">
                <a16:creationId xmlns:a16="http://schemas.microsoft.com/office/drawing/2014/main" id="{AD57000E-02C9-1030-ACE3-E7A8C3C1710A}"/>
              </a:ext>
            </a:extLst>
          </p:cNvPr>
          <p:cNvSpPr>
            <a:spLocks noChangeShapeType="1"/>
          </p:cNvSpPr>
          <p:nvPr/>
        </p:nvSpPr>
        <p:spPr bwMode="auto">
          <a:xfrm>
            <a:off x="5092700" y="5915025"/>
            <a:ext cx="504825"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2152" name="Text Box 8" descr="TextBox 11">
            <a:extLst>
              <a:ext uri="{FF2B5EF4-FFF2-40B4-BE49-F238E27FC236}">
                <a16:creationId xmlns:a16="http://schemas.microsoft.com/office/drawing/2014/main" id="{C2A46CB4-92A6-E924-4CCC-2D2D5DE33F7B}"/>
              </a:ext>
            </a:extLst>
          </p:cNvPr>
          <p:cNvSpPr txBox="1">
            <a:spLocks/>
          </p:cNvSpPr>
          <p:nvPr/>
        </p:nvSpPr>
        <p:spPr bwMode="auto">
          <a:xfrm>
            <a:off x="4305300" y="5543550"/>
            <a:ext cx="935038" cy="573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System </a:t>
            </a:r>
          </a:p>
          <a:p>
            <a:r>
              <a:rPr lang="en-US" altLang="en-US" sz="1600">
                <a:solidFill>
                  <a:srgbClr val="FF0000"/>
                </a:solidFill>
              </a:rPr>
              <a:t>Crash</a:t>
            </a:r>
          </a:p>
        </p:txBody>
      </p:sp>
      <p:graphicFrame>
        <p:nvGraphicFramePr>
          <p:cNvPr id="262153" name="Group 9">
            <a:extLst>
              <a:ext uri="{FF2B5EF4-FFF2-40B4-BE49-F238E27FC236}">
                <a16:creationId xmlns:a16="http://schemas.microsoft.com/office/drawing/2014/main" id="{FADEB790-8692-2E75-2043-D59E689CBC47}"/>
              </a:ext>
            </a:extLst>
          </p:cNvPr>
          <p:cNvGraphicFramePr>
            <a:graphicFrameLocks noGrp="1"/>
          </p:cNvGraphicFramePr>
          <p:nvPr/>
        </p:nvGraphicFramePr>
        <p:xfrm>
          <a:off x="827088" y="2954338"/>
          <a:ext cx="2303462" cy="1536700"/>
        </p:xfrm>
        <a:graphic>
          <a:graphicData uri="http://schemas.openxmlformats.org/drawingml/2006/table">
            <a:tbl>
              <a:tblPr/>
              <a:tblGrid>
                <a:gridCol w="647700">
                  <a:extLst>
                    <a:ext uri="{9D8B030D-6E8A-4147-A177-3AD203B41FA5}">
                      <a16:colId xmlns:a16="http://schemas.microsoft.com/office/drawing/2014/main" val="1186701151"/>
                    </a:ext>
                  </a:extLst>
                </a:gridCol>
                <a:gridCol w="1655762">
                  <a:extLst>
                    <a:ext uri="{9D8B030D-6E8A-4147-A177-3AD203B41FA5}">
                      <a16:colId xmlns:a16="http://schemas.microsoft.com/office/drawing/2014/main" val="254531492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8941040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15 12 18</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38658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6178415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20 25 26</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28409072"/>
                  </a:ext>
                </a:extLst>
              </a:tr>
            </a:tbl>
          </a:graphicData>
        </a:graphic>
      </p:graphicFrame>
      <p:sp>
        <p:nvSpPr>
          <p:cNvPr id="262184" name="Text Box 40" descr="TextBox 8">
            <a:extLst>
              <a:ext uri="{FF2B5EF4-FFF2-40B4-BE49-F238E27FC236}">
                <a16:creationId xmlns:a16="http://schemas.microsoft.com/office/drawing/2014/main" id="{9D77912F-1CE8-006E-C64B-CE270B583AFB}"/>
              </a:ext>
            </a:extLst>
          </p:cNvPr>
          <p:cNvSpPr txBox="1">
            <a:spLocks/>
          </p:cNvSpPr>
          <p:nvPr/>
        </p:nvSpPr>
        <p:spPr bwMode="auto">
          <a:xfrm>
            <a:off x="873125" y="2576513"/>
            <a:ext cx="11795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descr="Title 1">
            <a:extLst>
              <a:ext uri="{FF2B5EF4-FFF2-40B4-BE49-F238E27FC236}">
                <a16:creationId xmlns:a16="http://schemas.microsoft.com/office/drawing/2014/main" id="{414C5BF2-F0F0-4275-C00B-BF4276F17BC2}"/>
              </a:ext>
            </a:extLst>
          </p:cNvPr>
          <p:cNvSpPr>
            <a:spLocks noChangeArrowheads="1"/>
          </p:cNvSpPr>
          <p:nvPr>
            <p:ph type="title"/>
          </p:nvPr>
        </p:nvSpPr>
        <p:spPr/>
        <p:txBody>
          <a:bodyPr/>
          <a:lstStyle/>
          <a:p>
            <a:r>
              <a:rPr lang="en-US" altLang="en-US"/>
              <a:t>Recovery using LOG enteries</a:t>
            </a:r>
          </a:p>
        </p:txBody>
      </p:sp>
      <p:sp>
        <p:nvSpPr>
          <p:cNvPr id="263171" name="Text Box 3" descr="Date Placeholder 3">
            <a:extLst>
              <a:ext uri="{FF2B5EF4-FFF2-40B4-BE49-F238E27FC236}">
                <a16:creationId xmlns:a16="http://schemas.microsoft.com/office/drawing/2014/main" id="{D4C3A1C7-0416-7235-FAF5-11DD57C3ABB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3172" name="Text Box 4" descr="Slide Number Placeholder 5">
            <a:extLst>
              <a:ext uri="{FF2B5EF4-FFF2-40B4-BE49-F238E27FC236}">
                <a16:creationId xmlns:a16="http://schemas.microsoft.com/office/drawing/2014/main" id="{3B8A9FDF-1E5D-976A-9E56-EC2CBF1706E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4295306-27A7-475C-B218-76AF763EB1E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63173" name="Picture 5" descr="Picture 3">
            <a:extLst>
              <a:ext uri="{FF2B5EF4-FFF2-40B4-BE49-F238E27FC236}">
                <a16:creationId xmlns:a16="http://schemas.microsoft.com/office/drawing/2014/main" id="{606D55CD-A06C-FC46-7A6C-D5C15C76DE5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435600" y="2060575"/>
            <a:ext cx="3724275" cy="3895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63174" name="Text Box 6" descr="TextBox 6">
            <a:extLst>
              <a:ext uri="{FF2B5EF4-FFF2-40B4-BE49-F238E27FC236}">
                <a16:creationId xmlns:a16="http://schemas.microsoft.com/office/drawing/2014/main" id="{C9573536-0522-E6A6-6132-31B952786678}"/>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sp>
        <p:nvSpPr>
          <p:cNvPr id="263175" name="Line 7" descr="Straight Arrow Connector 10">
            <a:extLst>
              <a:ext uri="{FF2B5EF4-FFF2-40B4-BE49-F238E27FC236}">
                <a16:creationId xmlns:a16="http://schemas.microsoft.com/office/drawing/2014/main" id="{B6270F27-9401-AA00-72A2-B239D857BB3E}"/>
              </a:ext>
            </a:extLst>
          </p:cNvPr>
          <p:cNvSpPr>
            <a:spLocks noChangeShapeType="1"/>
          </p:cNvSpPr>
          <p:nvPr/>
        </p:nvSpPr>
        <p:spPr bwMode="auto">
          <a:xfrm>
            <a:off x="5092700" y="5915025"/>
            <a:ext cx="504825"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3176" name="Text Box 8" descr="TextBox 11">
            <a:extLst>
              <a:ext uri="{FF2B5EF4-FFF2-40B4-BE49-F238E27FC236}">
                <a16:creationId xmlns:a16="http://schemas.microsoft.com/office/drawing/2014/main" id="{85064463-82F0-B236-3D72-824012F77FE1}"/>
              </a:ext>
            </a:extLst>
          </p:cNvPr>
          <p:cNvSpPr txBox="1">
            <a:spLocks/>
          </p:cNvSpPr>
          <p:nvPr/>
        </p:nvSpPr>
        <p:spPr bwMode="auto">
          <a:xfrm>
            <a:off x="4305300" y="5543550"/>
            <a:ext cx="935038" cy="573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System </a:t>
            </a:r>
          </a:p>
          <a:p>
            <a:r>
              <a:rPr lang="en-US" altLang="en-US" sz="1600">
                <a:solidFill>
                  <a:srgbClr val="FF0000"/>
                </a:solidFill>
              </a:rPr>
              <a:t>Crash</a:t>
            </a:r>
          </a:p>
        </p:txBody>
      </p:sp>
      <p:graphicFrame>
        <p:nvGraphicFramePr>
          <p:cNvPr id="263177" name="Group 9">
            <a:extLst>
              <a:ext uri="{FF2B5EF4-FFF2-40B4-BE49-F238E27FC236}">
                <a16:creationId xmlns:a16="http://schemas.microsoft.com/office/drawing/2014/main" id="{C0E02A78-A2BD-F827-5E8E-77A3DDB24E71}"/>
              </a:ext>
            </a:extLst>
          </p:cNvPr>
          <p:cNvGraphicFramePr>
            <a:graphicFrameLocks noGrp="1"/>
          </p:cNvGraphicFramePr>
          <p:nvPr/>
        </p:nvGraphicFramePr>
        <p:xfrm>
          <a:off x="827088" y="2954338"/>
          <a:ext cx="2303462" cy="1536700"/>
        </p:xfrm>
        <a:graphic>
          <a:graphicData uri="http://schemas.openxmlformats.org/drawingml/2006/table">
            <a:tbl>
              <a:tblPr/>
              <a:tblGrid>
                <a:gridCol w="647700">
                  <a:extLst>
                    <a:ext uri="{9D8B030D-6E8A-4147-A177-3AD203B41FA5}">
                      <a16:colId xmlns:a16="http://schemas.microsoft.com/office/drawing/2014/main" val="1277832093"/>
                    </a:ext>
                  </a:extLst>
                </a:gridCol>
                <a:gridCol w="1655762">
                  <a:extLst>
                    <a:ext uri="{9D8B030D-6E8A-4147-A177-3AD203B41FA5}">
                      <a16:colId xmlns:a16="http://schemas.microsoft.com/office/drawing/2014/main" val="225488435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06666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15 12 18</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7542605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794481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20 25 26</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80024577"/>
                  </a:ext>
                </a:extLst>
              </a:tr>
            </a:tbl>
          </a:graphicData>
        </a:graphic>
      </p:graphicFrame>
      <p:sp>
        <p:nvSpPr>
          <p:cNvPr id="263208" name="Text Box 40" descr="TextBox 8">
            <a:extLst>
              <a:ext uri="{FF2B5EF4-FFF2-40B4-BE49-F238E27FC236}">
                <a16:creationId xmlns:a16="http://schemas.microsoft.com/office/drawing/2014/main" id="{4742BF1A-8354-FD7B-1CE7-7BDEE0F5EFCE}"/>
              </a:ext>
            </a:extLst>
          </p:cNvPr>
          <p:cNvSpPr txBox="1">
            <a:spLocks/>
          </p:cNvSpPr>
          <p:nvPr/>
        </p:nvSpPr>
        <p:spPr bwMode="auto">
          <a:xfrm>
            <a:off x="873125" y="2576513"/>
            <a:ext cx="11795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
        <p:nvSpPr>
          <p:cNvPr id="263209" name="Text Box 41" descr="TextBox 7">
            <a:extLst>
              <a:ext uri="{FF2B5EF4-FFF2-40B4-BE49-F238E27FC236}">
                <a16:creationId xmlns:a16="http://schemas.microsoft.com/office/drawing/2014/main" id="{31446072-1C11-A77C-2BE7-1FFE73518E17}"/>
              </a:ext>
            </a:extLst>
          </p:cNvPr>
          <p:cNvSpPr txBox="1">
            <a:spLocks/>
          </p:cNvSpPr>
          <p:nvPr/>
        </p:nvSpPr>
        <p:spPr bwMode="auto">
          <a:xfrm>
            <a:off x="368300" y="4724400"/>
            <a:ext cx="4192588" cy="1489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b="1"/>
              <a:t>Question:</a:t>
            </a:r>
          </a:p>
          <a:p>
            <a:r>
              <a:rPr lang="en-US" altLang="en-US"/>
              <a:t>After System, how can we recovery</a:t>
            </a:r>
          </a:p>
          <a:p>
            <a:r>
              <a:rPr lang="en-US" altLang="en-US"/>
              <a:t>Database i.e</a:t>
            </a:r>
          </a:p>
          <a:p>
            <a:r>
              <a:rPr lang="en-US" altLang="en-US"/>
              <a:t>B value to 15,</a:t>
            </a:r>
          </a:p>
          <a:p>
            <a:r>
              <a:rPr lang="en-US" altLang="en-US"/>
              <a:t>D value to 20</a:t>
            </a:r>
          </a:p>
        </p:txBody>
      </p:sp>
    </p:spTree>
  </p:cSld>
  <p:clrMapOvr>
    <a:masterClrMapping/>
  </p:clrMapOvr>
  <p:transition spd="med"/>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descr="Title 1">
            <a:extLst>
              <a:ext uri="{FF2B5EF4-FFF2-40B4-BE49-F238E27FC236}">
                <a16:creationId xmlns:a16="http://schemas.microsoft.com/office/drawing/2014/main" id="{D95D4385-0150-74FD-5A7C-A0CDDF7C55F0}"/>
              </a:ext>
            </a:extLst>
          </p:cNvPr>
          <p:cNvSpPr>
            <a:spLocks noChangeArrowheads="1"/>
          </p:cNvSpPr>
          <p:nvPr>
            <p:ph type="title"/>
          </p:nvPr>
        </p:nvSpPr>
        <p:spPr/>
        <p:txBody>
          <a:bodyPr/>
          <a:lstStyle/>
          <a:p>
            <a:r>
              <a:rPr lang="en-US" altLang="en-US"/>
              <a:t>Recovery using LOG enteries</a:t>
            </a:r>
          </a:p>
        </p:txBody>
      </p:sp>
      <p:sp>
        <p:nvSpPr>
          <p:cNvPr id="264195" name="Text Box 3" descr="Date Placeholder 3">
            <a:extLst>
              <a:ext uri="{FF2B5EF4-FFF2-40B4-BE49-F238E27FC236}">
                <a16:creationId xmlns:a16="http://schemas.microsoft.com/office/drawing/2014/main" id="{2BD6B314-5057-E4D7-17C9-47A046D1C53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4196" name="Text Box 4" descr="Slide Number Placeholder 5">
            <a:extLst>
              <a:ext uri="{FF2B5EF4-FFF2-40B4-BE49-F238E27FC236}">
                <a16:creationId xmlns:a16="http://schemas.microsoft.com/office/drawing/2014/main" id="{0B0CDFBF-EA09-A51D-F9E4-4C7CFA038F1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DB0E46C3-7032-473E-9AAE-7B46E7E8094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64197" name="Text Box 5" descr="TextBox 7">
            <a:extLst>
              <a:ext uri="{FF2B5EF4-FFF2-40B4-BE49-F238E27FC236}">
                <a16:creationId xmlns:a16="http://schemas.microsoft.com/office/drawing/2014/main" id="{1CC49CF0-D6E9-20DB-16CD-D299CCF6D436}"/>
              </a:ext>
            </a:extLst>
          </p:cNvPr>
          <p:cNvSpPr txBox="1">
            <a:spLocks/>
          </p:cNvSpPr>
          <p:nvPr/>
        </p:nvSpPr>
        <p:spPr bwMode="auto">
          <a:xfrm>
            <a:off x="152400" y="2365375"/>
            <a:ext cx="4964113" cy="1487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 T3 transaction is rolled back because</a:t>
            </a:r>
          </a:p>
          <a:p>
            <a:r>
              <a:rPr lang="en-US" altLang="en-US"/>
              <a:t>it did not reached its commit point</a:t>
            </a:r>
          </a:p>
          <a:p>
            <a:r>
              <a:rPr lang="en-US" altLang="en-US"/>
              <a:t>** T2 is rolled back because it reads the value of item  B written by T3</a:t>
            </a:r>
          </a:p>
        </p:txBody>
      </p:sp>
      <p:sp>
        <p:nvSpPr>
          <p:cNvPr id="264198" name="Text Box 6" descr="TextBox 6">
            <a:extLst>
              <a:ext uri="{FF2B5EF4-FFF2-40B4-BE49-F238E27FC236}">
                <a16:creationId xmlns:a16="http://schemas.microsoft.com/office/drawing/2014/main" id="{214A47D4-CA43-57BF-3530-06D8F3838D47}"/>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sp>
        <p:nvSpPr>
          <p:cNvPr id="264199" name="Line 7" descr="Straight Arrow Connector 10">
            <a:extLst>
              <a:ext uri="{FF2B5EF4-FFF2-40B4-BE49-F238E27FC236}">
                <a16:creationId xmlns:a16="http://schemas.microsoft.com/office/drawing/2014/main" id="{3B2729B5-DEB8-49A7-4A37-E676778B6CFD}"/>
              </a:ext>
            </a:extLst>
          </p:cNvPr>
          <p:cNvSpPr>
            <a:spLocks noChangeShapeType="1"/>
          </p:cNvSpPr>
          <p:nvPr/>
        </p:nvSpPr>
        <p:spPr bwMode="auto">
          <a:xfrm>
            <a:off x="4572000" y="5915025"/>
            <a:ext cx="503238"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4200" name="Text Box 8" descr="TextBox 11">
            <a:extLst>
              <a:ext uri="{FF2B5EF4-FFF2-40B4-BE49-F238E27FC236}">
                <a16:creationId xmlns:a16="http://schemas.microsoft.com/office/drawing/2014/main" id="{12F8CA1A-792C-FD70-303C-2FB87E3F9302}"/>
              </a:ext>
            </a:extLst>
          </p:cNvPr>
          <p:cNvSpPr txBox="1">
            <a:spLocks/>
          </p:cNvSpPr>
          <p:nvPr/>
        </p:nvSpPr>
        <p:spPr bwMode="auto">
          <a:xfrm>
            <a:off x="3824288" y="5603875"/>
            <a:ext cx="936625"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System </a:t>
            </a:r>
          </a:p>
          <a:p>
            <a:r>
              <a:rPr lang="en-US" altLang="en-US" sz="1600">
                <a:solidFill>
                  <a:srgbClr val="FF0000"/>
                </a:solidFill>
              </a:rPr>
              <a:t>Crash</a:t>
            </a:r>
          </a:p>
        </p:txBody>
      </p:sp>
      <p:pic>
        <p:nvPicPr>
          <p:cNvPr id="264201" name="Picture 9" descr="Picture 3">
            <a:extLst>
              <a:ext uri="{FF2B5EF4-FFF2-40B4-BE49-F238E27FC236}">
                <a16:creationId xmlns:a16="http://schemas.microsoft.com/office/drawing/2014/main" id="{2F891387-A526-3BD8-4F42-141812B2CB0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019675" y="1700213"/>
            <a:ext cx="3943350" cy="427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264202" name="Group 10">
            <a:extLst>
              <a:ext uri="{FF2B5EF4-FFF2-40B4-BE49-F238E27FC236}">
                <a16:creationId xmlns:a16="http://schemas.microsoft.com/office/drawing/2014/main" id="{0CB34231-189A-7977-BBF6-1ABEAD932F2D}"/>
              </a:ext>
            </a:extLst>
          </p:cNvPr>
          <p:cNvGraphicFramePr>
            <a:graphicFrameLocks noGrp="1"/>
          </p:cNvGraphicFramePr>
          <p:nvPr/>
        </p:nvGraphicFramePr>
        <p:xfrm>
          <a:off x="827088" y="4249738"/>
          <a:ext cx="2303462" cy="1536700"/>
        </p:xfrm>
        <a:graphic>
          <a:graphicData uri="http://schemas.openxmlformats.org/drawingml/2006/table">
            <a:tbl>
              <a:tblPr/>
              <a:tblGrid>
                <a:gridCol w="647700">
                  <a:extLst>
                    <a:ext uri="{9D8B030D-6E8A-4147-A177-3AD203B41FA5}">
                      <a16:colId xmlns:a16="http://schemas.microsoft.com/office/drawing/2014/main" val="1381574480"/>
                    </a:ext>
                  </a:extLst>
                </a:gridCol>
                <a:gridCol w="1655762">
                  <a:extLst>
                    <a:ext uri="{9D8B030D-6E8A-4147-A177-3AD203B41FA5}">
                      <a16:colId xmlns:a16="http://schemas.microsoft.com/office/drawing/2014/main" val="144460991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6089373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15 12 18 15</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3233539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2914933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20 25 26</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97432124"/>
                  </a:ext>
                </a:extLst>
              </a:tr>
            </a:tbl>
          </a:graphicData>
        </a:graphic>
      </p:graphicFrame>
      <p:sp>
        <p:nvSpPr>
          <p:cNvPr id="264233" name="Text Box 41" descr="TextBox 14">
            <a:extLst>
              <a:ext uri="{FF2B5EF4-FFF2-40B4-BE49-F238E27FC236}">
                <a16:creationId xmlns:a16="http://schemas.microsoft.com/office/drawing/2014/main" id="{5552E65E-9687-785A-6D16-8DD1D70A424D}"/>
              </a:ext>
            </a:extLst>
          </p:cNvPr>
          <p:cNvSpPr txBox="1">
            <a:spLocks/>
          </p:cNvSpPr>
          <p:nvPr/>
        </p:nvSpPr>
        <p:spPr bwMode="auto">
          <a:xfrm>
            <a:off x="873125" y="3873500"/>
            <a:ext cx="1179513" cy="369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descr="Title 1">
            <a:extLst>
              <a:ext uri="{FF2B5EF4-FFF2-40B4-BE49-F238E27FC236}">
                <a16:creationId xmlns:a16="http://schemas.microsoft.com/office/drawing/2014/main" id="{812ED54A-8F66-F143-ABBB-7A573823E68F}"/>
              </a:ext>
            </a:extLst>
          </p:cNvPr>
          <p:cNvSpPr>
            <a:spLocks noChangeArrowheads="1"/>
          </p:cNvSpPr>
          <p:nvPr>
            <p:ph type="title"/>
          </p:nvPr>
        </p:nvSpPr>
        <p:spPr/>
        <p:txBody>
          <a:bodyPr/>
          <a:lstStyle/>
          <a:p>
            <a:r>
              <a:rPr lang="en-US" altLang="en-US"/>
              <a:t>Recovery using LOG enteries</a:t>
            </a:r>
          </a:p>
        </p:txBody>
      </p:sp>
      <p:sp>
        <p:nvSpPr>
          <p:cNvPr id="265219" name="Text Box 3" descr="Date Placeholder 3">
            <a:extLst>
              <a:ext uri="{FF2B5EF4-FFF2-40B4-BE49-F238E27FC236}">
                <a16:creationId xmlns:a16="http://schemas.microsoft.com/office/drawing/2014/main" id="{F6E807C5-62C7-504E-802E-F169442F8E9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5220" name="Text Box 4" descr="Slide Number Placeholder 5">
            <a:extLst>
              <a:ext uri="{FF2B5EF4-FFF2-40B4-BE49-F238E27FC236}">
                <a16:creationId xmlns:a16="http://schemas.microsoft.com/office/drawing/2014/main" id="{B52B91E9-7EA3-C67E-0C0B-07ADD774C92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2E2ACB6-8D82-4B8C-86D0-639DB85901F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65221" name="Text Box 5" descr="TextBox 7">
            <a:extLst>
              <a:ext uri="{FF2B5EF4-FFF2-40B4-BE49-F238E27FC236}">
                <a16:creationId xmlns:a16="http://schemas.microsoft.com/office/drawing/2014/main" id="{19425D90-F86D-94DD-0486-83296F4DA1C0}"/>
              </a:ext>
            </a:extLst>
          </p:cNvPr>
          <p:cNvSpPr txBox="1">
            <a:spLocks/>
          </p:cNvSpPr>
          <p:nvPr/>
        </p:nvSpPr>
        <p:spPr bwMode="auto">
          <a:xfrm>
            <a:off x="152400" y="2365375"/>
            <a:ext cx="4964113" cy="1487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Question:</a:t>
            </a:r>
          </a:p>
          <a:p>
            <a:r>
              <a:rPr lang="en-US" altLang="en-US"/>
              <a:t>Can you answer now, why we maintain</a:t>
            </a:r>
          </a:p>
          <a:p>
            <a:r>
              <a:rPr lang="en-US" altLang="en-US"/>
              <a:t>Data item name and transaction number</a:t>
            </a:r>
          </a:p>
          <a:p>
            <a:r>
              <a:rPr lang="en-US" altLang="en-US"/>
              <a:t>For read operation in LOG ?</a:t>
            </a:r>
          </a:p>
        </p:txBody>
      </p:sp>
      <p:sp>
        <p:nvSpPr>
          <p:cNvPr id="265222" name="Text Box 6" descr="TextBox 6">
            <a:extLst>
              <a:ext uri="{FF2B5EF4-FFF2-40B4-BE49-F238E27FC236}">
                <a16:creationId xmlns:a16="http://schemas.microsoft.com/office/drawing/2014/main" id="{36B1A87E-F053-EC33-52E4-C5C825C2A3F8}"/>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sp>
        <p:nvSpPr>
          <p:cNvPr id="265223" name="Line 7" descr="Straight Arrow Connector 10">
            <a:extLst>
              <a:ext uri="{FF2B5EF4-FFF2-40B4-BE49-F238E27FC236}">
                <a16:creationId xmlns:a16="http://schemas.microsoft.com/office/drawing/2014/main" id="{CDA6812F-C9F6-38B7-A9AC-94A5B6A2F676}"/>
              </a:ext>
            </a:extLst>
          </p:cNvPr>
          <p:cNvSpPr>
            <a:spLocks noChangeShapeType="1"/>
          </p:cNvSpPr>
          <p:nvPr/>
        </p:nvSpPr>
        <p:spPr bwMode="auto">
          <a:xfrm>
            <a:off x="4454525" y="5915025"/>
            <a:ext cx="503238"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5224" name="Text Box 8" descr="TextBox 11">
            <a:extLst>
              <a:ext uri="{FF2B5EF4-FFF2-40B4-BE49-F238E27FC236}">
                <a16:creationId xmlns:a16="http://schemas.microsoft.com/office/drawing/2014/main" id="{4B528E7C-5C55-A23A-FBC7-42DB3A68F406}"/>
              </a:ext>
            </a:extLst>
          </p:cNvPr>
          <p:cNvSpPr txBox="1">
            <a:spLocks/>
          </p:cNvSpPr>
          <p:nvPr/>
        </p:nvSpPr>
        <p:spPr bwMode="auto">
          <a:xfrm>
            <a:off x="3824288" y="5603875"/>
            <a:ext cx="936625"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System </a:t>
            </a:r>
          </a:p>
          <a:p>
            <a:r>
              <a:rPr lang="en-US" altLang="en-US" sz="1600">
                <a:solidFill>
                  <a:srgbClr val="FF0000"/>
                </a:solidFill>
              </a:rPr>
              <a:t>Crash</a:t>
            </a:r>
          </a:p>
        </p:txBody>
      </p:sp>
      <p:pic>
        <p:nvPicPr>
          <p:cNvPr id="265225" name="Picture 9" descr="Picture 3">
            <a:extLst>
              <a:ext uri="{FF2B5EF4-FFF2-40B4-BE49-F238E27FC236}">
                <a16:creationId xmlns:a16="http://schemas.microsoft.com/office/drawing/2014/main" id="{C389B0C8-9807-6A55-24D6-88457B72CDD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930775" y="1674813"/>
            <a:ext cx="3943350" cy="427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265226" name="Group 10">
            <a:extLst>
              <a:ext uri="{FF2B5EF4-FFF2-40B4-BE49-F238E27FC236}">
                <a16:creationId xmlns:a16="http://schemas.microsoft.com/office/drawing/2014/main" id="{89AE9721-479E-BB1A-2A34-B36D3927FD29}"/>
              </a:ext>
            </a:extLst>
          </p:cNvPr>
          <p:cNvGraphicFramePr>
            <a:graphicFrameLocks noGrp="1"/>
          </p:cNvGraphicFramePr>
          <p:nvPr/>
        </p:nvGraphicFramePr>
        <p:xfrm>
          <a:off x="827088" y="4610100"/>
          <a:ext cx="2303462" cy="1536700"/>
        </p:xfrm>
        <a:graphic>
          <a:graphicData uri="http://schemas.openxmlformats.org/drawingml/2006/table">
            <a:tbl>
              <a:tblPr/>
              <a:tblGrid>
                <a:gridCol w="647700">
                  <a:extLst>
                    <a:ext uri="{9D8B030D-6E8A-4147-A177-3AD203B41FA5}">
                      <a16:colId xmlns:a16="http://schemas.microsoft.com/office/drawing/2014/main" val="2609821049"/>
                    </a:ext>
                  </a:extLst>
                </a:gridCol>
                <a:gridCol w="1655762">
                  <a:extLst>
                    <a:ext uri="{9D8B030D-6E8A-4147-A177-3AD203B41FA5}">
                      <a16:colId xmlns:a16="http://schemas.microsoft.com/office/drawing/2014/main" val="161692014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425684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15 12 18</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778050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685406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20 25 26</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57356351"/>
                  </a:ext>
                </a:extLst>
              </a:tr>
            </a:tbl>
          </a:graphicData>
        </a:graphic>
      </p:graphicFrame>
      <p:sp>
        <p:nvSpPr>
          <p:cNvPr id="265257" name="Text Box 41" descr="TextBox 14">
            <a:extLst>
              <a:ext uri="{FF2B5EF4-FFF2-40B4-BE49-F238E27FC236}">
                <a16:creationId xmlns:a16="http://schemas.microsoft.com/office/drawing/2014/main" id="{8E737FC9-EB62-1AD8-4A2C-1AEB1E078B29}"/>
              </a:ext>
            </a:extLst>
          </p:cNvPr>
          <p:cNvSpPr txBox="1">
            <a:spLocks/>
          </p:cNvSpPr>
          <p:nvPr/>
        </p:nvSpPr>
        <p:spPr bwMode="auto">
          <a:xfrm>
            <a:off x="873125" y="4233863"/>
            <a:ext cx="1179513"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2" descr="Title 1">
            <a:extLst>
              <a:ext uri="{FF2B5EF4-FFF2-40B4-BE49-F238E27FC236}">
                <a16:creationId xmlns:a16="http://schemas.microsoft.com/office/drawing/2014/main" id="{80770FBB-65E3-595A-6D2F-C28FD9F748CC}"/>
              </a:ext>
            </a:extLst>
          </p:cNvPr>
          <p:cNvSpPr>
            <a:spLocks noChangeArrowheads="1"/>
          </p:cNvSpPr>
          <p:nvPr>
            <p:ph type="title"/>
          </p:nvPr>
        </p:nvSpPr>
        <p:spPr/>
        <p:txBody>
          <a:bodyPr/>
          <a:lstStyle/>
          <a:p>
            <a:r>
              <a:rPr lang="en-US" altLang="en-US"/>
              <a:t>Recovery using LOG enteries</a:t>
            </a:r>
          </a:p>
        </p:txBody>
      </p:sp>
      <p:sp>
        <p:nvSpPr>
          <p:cNvPr id="266243" name="Text Box 3" descr="Date Placeholder 3">
            <a:extLst>
              <a:ext uri="{FF2B5EF4-FFF2-40B4-BE49-F238E27FC236}">
                <a16:creationId xmlns:a16="http://schemas.microsoft.com/office/drawing/2014/main" id="{868CF293-60D6-F650-A713-775CD66D088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6244" name="Text Box 4" descr="Slide Number Placeholder 5">
            <a:extLst>
              <a:ext uri="{FF2B5EF4-FFF2-40B4-BE49-F238E27FC236}">
                <a16:creationId xmlns:a16="http://schemas.microsoft.com/office/drawing/2014/main" id="{5B469F50-2261-20F3-FCB0-307B538E2C6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C3FE8AE-DBC8-4DA2-82E8-F54FFB28E51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249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66245" name="Text Box 5" descr="TextBox 7">
            <a:extLst>
              <a:ext uri="{FF2B5EF4-FFF2-40B4-BE49-F238E27FC236}">
                <a16:creationId xmlns:a16="http://schemas.microsoft.com/office/drawing/2014/main" id="{CFDEBDCA-F04C-FE8C-FADB-08DFBEDFE51B}"/>
              </a:ext>
            </a:extLst>
          </p:cNvPr>
          <p:cNvSpPr txBox="1">
            <a:spLocks/>
          </p:cNvSpPr>
          <p:nvPr/>
        </p:nvSpPr>
        <p:spPr bwMode="auto">
          <a:xfrm>
            <a:off x="223838" y="1987550"/>
            <a:ext cx="4965700" cy="232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a:t>T3 and T1 transaction is rolled back because it did not reached its commit point</a:t>
            </a:r>
          </a:p>
          <a:p>
            <a:r>
              <a:rPr lang="en-US" altLang="en-US"/>
              <a:t>T2 is rolled back because it reads the value of item  </a:t>
            </a:r>
          </a:p>
          <a:p>
            <a:r>
              <a:rPr lang="en-US" altLang="en-US"/>
              <a:t>- B written by T3</a:t>
            </a:r>
          </a:p>
          <a:p>
            <a:r>
              <a:rPr lang="en-US" altLang="en-US"/>
              <a:t>- D written by T1</a:t>
            </a:r>
          </a:p>
        </p:txBody>
      </p:sp>
      <p:sp>
        <p:nvSpPr>
          <p:cNvPr id="266246" name="Text Box 6" descr="TextBox 6">
            <a:extLst>
              <a:ext uri="{FF2B5EF4-FFF2-40B4-BE49-F238E27FC236}">
                <a16:creationId xmlns:a16="http://schemas.microsoft.com/office/drawing/2014/main" id="{B8AE4BAC-30DA-F7B3-8C5E-867FB7B03DE7}"/>
              </a:ext>
            </a:extLst>
          </p:cNvPr>
          <p:cNvSpPr txBox="1">
            <a:spLocks/>
          </p:cNvSpPr>
          <p:nvPr/>
        </p:nvSpPr>
        <p:spPr bwMode="auto">
          <a:xfrm>
            <a:off x="657225" y="1271588"/>
            <a:ext cx="57388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three transactions T1, T2, T3 as follows</a:t>
            </a:r>
          </a:p>
        </p:txBody>
      </p:sp>
      <p:sp>
        <p:nvSpPr>
          <p:cNvPr id="266247" name="Line 7" descr="Straight Arrow Connector 10">
            <a:extLst>
              <a:ext uri="{FF2B5EF4-FFF2-40B4-BE49-F238E27FC236}">
                <a16:creationId xmlns:a16="http://schemas.microsoft.com/office/drawing/2014/main" id="{276CAF9C-120B-FF27-AA98-11BBB1B7FF7D}"/>
              </a:ext>
            </a:extLst>
          </p:cNvPr>
          <p:cNvSpPr>
            <a:spLocks noChangeShapeType="1"/>
          </p:cNvSpPr>
          <p:nvPr/>
        </p:nvSpPr>
        <p:spPr bwMode="auto">
          <a:xfrm>
            <a:off x="4454525" y="5915025"/>
            <a:ext cx="503238" cy="0"/>
          </a:xfrm>
          <a:prstGeom prst="line">
            <a:avLst/>
          </a:pr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6248" name="Text Box 8" descr="TextBox 11">
            <a:extLst>
              <a:ext uri="{FF2B5EF4-FFF2-40B4-BE49-F238E27FC236}">
                <a16:creationId xmlns:a16="http://schemas.microsoft.com/office/drawing/2014/main" id="{22A0DDF7-70E4-055E-BF81-CBD1DDD1FFEE}"/>
              </a:ext>
            </a:extLst>
          </p:cNvPr>
          <p:cNvSpPr txBox="1">
            <a:spLocks/>
          </p:cNvSpPr>
          <p:nvPr/>
        </p:nvSpPr>
        <p:spPr bwMode="auto">
          <a:xfrm>
            <a:off x="3824288" y="5603875"/>
            <a:ext cx="936625"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FF0000"/>
                </a:solidFill>
              </a:rPr>
              <a:t>System </a:t>
            </a:r>
          </a:p>
          <a:p>
            <a:r>
              <a:rPr lang="en-US" altLang="en-US" sz="1600">
                <a:solidFill>
                  <a:srgbClr val="FF0000"/>
                </a:solidFill>
              </a:rPr>
              <a:t>Crash</a:t>
            </a:r>
          </a:p>
        </p:txBody>
      </p:sp>
      <p:pic>
        <p:nvPicPr>
          <p:cNvPr id="266249" name="Picture 9" descr="Picture 2">
            <a:extLst>
              <a:ext uri="{FF2B5EF4-FFF2-40B4-BE49-F238E27FC236}">
                <a16:creationId xmlns:a16="http://schemas.microsoft.com/office/drawing/2014/main" id="{C2A17A20-4DE9-0337-EB76-F55AF4ABB61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000625" y="1641475"/>
            <a:ext cx="3962400" cy="4286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266250" name="Group 10">
            <a:extLst>
              <a:ext uri="{FF2B5EF4-FFF2-40B4-BE49-F238E27FC236}">
                <a16:creationId xmlns:a16="http://schemas.microsoft.com/office/drawing/2014/main" id="{03227212-5B17-2707-CC85-B4FDDCF55E5E}"/>
              </a:ext>
            </a:extLst>
          </p:cNvPr>
          <p:cNvGraphicFramePr>
            <a:graphicFrameLocks noGrp="1"/>
          </p:cNvGraphicFramePr>
          <p:nvPr/>
        </p:nvGraphicFramePr>
        <p:xfrm>
          <a:off x="827088" y="4754563"/>
          <a:ext cx="2303462" cy="1536700"/>
        </p:xfrm>
        <a:graphic>
          <a:graphicData uri="http://schemas.openxmlformats.org/drawingml/2006/table">
            <a:tbl>
              <a:tblPr/>
              <a:tblGrid>
                <a:gridCol w="647700">
                  <a:extLst>
                    <a:ext uri="{9D8B030D-6E8A-4147-A177-3AD203B41FA5}">
                      <a16:colId xmlns:a16="http://schemas.microsoft.com/office/drawing/2014/main" val="976969980"/>
                    </a:ext>
                  </a:extLst>
                </a:gridCol>
                <a:gridCol w="1655762">
                  <a:extLst>
                    <a:ext uri="{9D8B030D-6E8A-4147-A177-3AD203B41FA5}">
                      <a16:colId xmlns:a16="http://schemas.microsoft.com/office/drawing/2014/main" val="74194411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9599560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15 12 18 15</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8954494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7445176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20 25 26 20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68276711"/>
                  </a:ext>
                </a:extLst>
              </a:tr>
            </a:tbl>
          </a:graphicData>
        </a:graphic>
      </p:graphicFrame>
      <p:sp>
        <p:nvSpPr>
          <p:cNvPr id="266281" name="Text Box 41" descr="TextBox 13">
            <a:extLst>
              <a:ext uri="{FF2B5EF4-FFF2-40B4-BE49-F238E27FC236}">
                <a16:creationId xmlns:a16="http://schemas.microsoft.com/office/drawing/2014/main" id="{B5FA59E9-8D62-6886-C0E9-73F0D22BA2A4}"/>
              </a:ext>
            </a:extLst>
          </p:cNvPr>
          <p:cNvSpPr txBox="1">
            <a:spLocks/>
          </p:cNvSpPr>
          <p:nvPr/>
        </p:nvSpPr>
        <p:spPr bwMode="auto">
          <a:xfrm>
            <a:off x="873125" y="4376738"/>
            <a:ext cx="1179513"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descr="Title 1">
            <a:extLst>
              <a:ext uri="{FF2B5EF4-FFF2-40B4-BE49-F238E27FC236}">
                <a16:creationId xmlns:a16="http://schemas.microsoft.com/office/drawing/2014/main" id="{6BA6764A-650D-9BE6-0167-3267788EC050}"/>
              </a:ext>
            </a:extLst>
          </p:cNvPr>
          <p:cNvSpPr>
            <a:spLocks noChangeArrowheads="1"/>
          </p:cNvSpPr>
          <p:nvPr>
            <p:ph type="title"/>
          </p:nvPr>
        </p:nvSpPr>
        <p:spPr/>
        <p:txBody>
          <a:bodyPr/>
          <a:lstStyle/>
          <a:p>
            <a:r>
              <a:rPr lang="en-US" altLang="en-US"/>
              <a:t>Problem to Solve</a:t>
            </a:r>
          </a:p>
        </p:txBody>
      </p:sp>
      <p:sp>
        <p:nvSpPr>
          <p:cNvPr id="267267" name="Rectangle 3" descr="Content Placeholder 2">
            <a:extLst>
              <a:ext uri="{FF2B5EF4-FFF2-40B4-BE49-F238E27FC236}">
                <a16:creationId xmlns:a16="http://schemas.microsoft.com/office/drawing/2014/main" id="{F4D83B0F-6C5B-E1F7-917A-620C261AD979}"/>
              </a:ext>
            </a:extLst>
          </p:cNvPr>
          <p:cNvSpPr>
            <a:spLocks noChangeArrowheads="1"/>
          </p:cNvSpPr>
          <p:nvPr>
            <p:ph type="body" idx="1"/>
          </p:nvPr>
        </p:nvSpPr>
        <p:spPr/>
        <p:txBody>
          <a:bodyPr/>
          <a:lstStyle/>
          <a:p>
            <a:pPr marL="58738" indent="-58738">
              <a:spcBef>
                <a:spcPts val="300"/>
              </a:spcBef>
            </a:pPr>
            <a:r>
              <a:rPr lang="en-US" altLang="en-US" sz="1600"/>
              <a:t>Consider the following example of log for two  transactions.</a:t>
            </a:r>
          </a:p>
          <a:p>
            <a:pPr marL="58738" indent="-58738">
              <a:spcBef>
                <a:spcPts val="300"/>
              </a:spcBef>
              <a:buSzTx/>
              <a:buFont typeface="Wingdings" panose="05000000000000000000" pitchFamily="2" charset="2"/>
              <a:buNone/>
            </a:pPr>
            <a:r>
              <a:rPr lang="en-US" altLang="en-US" sz="1600"/>
              <a:t>1. (Start, T1);</a:t>
            </a:r>
          </a:p>
          <a:p>
            <a:pPr marL="58738" indent="-58738">
              <a:spcBef>
                <a:spcPts val="300"/>
              </a:spcBef>
              <a:buSzTx/>
              <a:buFont typeface="Wingdings" panose="05000000000000000000" pitchFamily="2" charset="2"/>
              <a:buNone/>
            </a:pPr>
            <a:r>
              <a:rPr lang="en-US" altLang="en-US" sz="1600"/>
              <a:t>2. (Write, T1, Q, 100,50);</a:t>
            </a:r>
          </a:p>
          <a:p>
            <a:pPr marL="58738" indent="-58738">
              <a:spcBef>
                <a:spcPts val="300"/>
              </a:spcBef>
              <a:buSzTx/>
              <a:buFont typeface="Wingdings" panose="05000000000000000000" pitchFamily="2" charset="2"/>
              <a:buNone/>
            </a:pPr>
            <a:r>
              <a:rPr lang="en-US" altLang="en-US" sz="1600"/>
              <a:t>3. (Commit, T1);</a:t>
            </a:r>
          </a:p>
          <a:p>
            <a:pPr marL="58738" indent="-58738">
              <a:spcBef>
                <a:spcPts val="300"/>
              </a:spcBef>
              <a:buSzTx/>
              <a:buFont typeface="Wingdings" panose="05000000000000000000" pitchFamily="2" charset="2"/>
              <a:buNone/>
            </a:pPr>
            <a:r>
              <a:rPr lang="en-US" altLang="en-US" sz="1600"/>
              <a:t>4. (Start, T2);</a:t>
            </a:r>
          </a:p>
          <a:p>
            <a:pPr marL="58738" indent="-58738">
              <a:spcBef>
                <a:spcPts val="300"/>
              </a:spcBef>
              <a:buSzTx/>
              <a:buFont typeface="Wingdings" panose="05000000000000000000" pitchFamily="2" charset="2"/>
              <a:buNone/>
            </a:pPr>
            <a:r>
              <a:rPr lang="en-US" altLang="en-US" sz="1600"/>
              <a:t>5. (Write, T2, P, 55, 10);</a:t>
            </a:r>
          </a:p>
          <a:p>
            <a:pPr marL="58738" indent="-58738">
              <a:spcBef>
                <a:spcPts val="300"/>
              </a:spcBef>
              <a:buSzTx/>
              <a:buFont typeface="Wingdings" panose="05000000000000000000" pitchFamily="2" charset="2"/>
              <a:buNone/>
            </a:pPr>
            <a:r>
              <a:rPr lang="en-US" altLang="en-US" sz="1600"/>
              <a:t>6. (Commit, T2);</a:t>
            </a:r>
          </a:p>
          <a:p>
            <a:pPr marL="58738" indent="-58738">
              <a:spcBef>
                <a:spcPts val="300"/>
              </a:spcBef>
              <a:buSzTx/>
              <a:buFont typeface="Wingdings" panose="05000000000000000000" pitchFamily="2" charset="2"/>
              <a:buNone/>
            </a:pPr>
            <a:r>
              <a:rPr lang="en-US" altLang="en-US" sz="1600"/>
              <a:t>Consider the case where the schedule crashes after Step 4 and before Step 5, then the question  is which operation should we REDO if following is the scenario of database just before crash.</a:t>
            </a:r>
          </a:p>
        </p:txBody>
      </p:sp>
      <p:sp>
        <p:nvSpPr>
          <p:cNvPr id="267268" name="Text Box 4" descr="Date Placeholder 3">
            <a:extLst>
              <a:ext uri="{FF2B5EF4-FFF2-40B4-BE49-F238E27FC236}">
                <a16:creationId xmlns:a16="http://schemas.microsoft.com/office/drawing/2014/main" id="{B56A61D9-CAE4-88F6-253D-1EC079772E8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7269" name="Text Box 5" descr="Slide Number Placeholder 5">
            <a:extLst>
              <a:ext uri="{FF2B5EF4-FFF2-40B4-BE49-F238E27FC236}">
                <a16:creationId xmlns:a16="http://schemas.microsoft.com/office/drawing/2014/main" id="{87A58873-CCDF-0255-F693-71E22AB7FB8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FEA963E-74FA-44F1-95BA-382A8D1FFC4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67270" name="Group 6">
            <a:extLst>
              <a:ext uri="{FF2B5EF4-FFF2-40B4-BE49-F238E27FC236}">
                <a16:creationId xmlns:a16="http://schemas.microsoft.com/office/drawing/2014/main" id="{40D5324D-604D-C157-6B57-31D7C40BBF05}"/>
              </a:ext>
            </a:extLst>
          </p:cNvPr>
          <p:cNvGraphicFramePr>
            <a:graphicFrameLocks noGrp="1"/>
          </p:cNvGraphicFramePr>
          <p:nvPr/>
        </p:nvGraphicFramePr>
        <p:xfrm>
          <a:off x="4716463" y="4941888"/>
          <a:ext cx="2233612" cy="768350"/>
        </p:xfrm>
        <a:graphic>
          <a:graphicData uri="http://schemas.openxmlformats.org/drawingml/2006/table">
            <a:tbl>
              <a:tblPr/>
              <a:tblGrid>
                <a:gridCol w="720725">
                  <a:extLst>
                    <a:ext uri="{9D8B030D-6E8A-4147-A177-3AD203B41FA5}">
                      <a16:colId xmlns:a16="http://schemas.microsoft.com/office/drawing/2014/main" val="506445467"/>
                    </a:ext>
                  </a:extLst>
                </a:gridCol>
                <a:gridCol w="1512887">
                  <a:extLst>
                    <a:ext uri="{9D8B030D-6E8A-4147-A177-3AD203B41FA5}">
                      <a16:colId xmlns:a16="http://schemas.microsoft.com/office/drawing/2014/main" val="1398526177"/>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9036048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507030938"/>
                  </a:ext>
                </a:extLst>
              </a:tr>
            </a:tbl>
          </a:graphicData>
        </a:graphic>
      </p:graphicFrame>
      <p:sp>
        <p:nvSpPr>
          <p:cNvPr id="267287" name="AutoShape 23" descr="Flowchart: Magnetic Disk 8">
            <a:extLst>
              <a:ext uri="{FF2B5EF4-FFF2-40B4-BE49-F238E27FC236}">
                <a16:creationId xmlns:a16="http://schemas.microsoft.com/office/drawing/2014/main" id="{098E3A87-C536-B9AD-D432-DE3B3203BA67}"/>
              </a:ext>
            </a:extLst>
          </p:cNvPr>
          <p:cNvSpPr>
            <a:spLocks/>
          </p:cNvSpPr>
          <p:nvPr/>
        </p:nvSpPr>
        <p:spPr bwMode="auto">
          <a:xfrm>
            <a:off x="4067175" y="4148138"/>
            <a:ext cx="3168650" cy="187166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7288" name="Text Box 24" descr="TextBox 9">
            <a:extLst>
              <a:ext uri="{FF2B5EF4-FFF2-40B4-BE49-F238E27FC236}">
                <a16:creationId xmlns:a16="http://schemas.microsoft.com/office/drawing/2014/main" id="{56756A65-FF8F-8BDF-4E17-597E22DD2D47}"/>
              </a:ext>
            </a:extLst>
          </p:cNvPr>
          <p:cNvSpPr txBox="1">
            <a:spLocks/>
          </p:cNvSpPr>
          <p:nvPr/>
        </p:nvSpPr>
        <p:spPr bwMode="auto">
          <a:xfrm>
            <a:off x="5062538" y="6051550"/>
            <a:ext cx="11795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descr="Title 1">
            <a:extLst>
              <a:ext uri="{FF2B5EF4-FFF2-40B4-BE49-F238E27FC236}">
                <a16:creationId xmlns:a16="http://schemas.microsoft.com/office/drawing/2014/main" id="{C47000A2-C604-5E71-03BB-65E6F2A245B1}"/>
              </a:ext>
            </a:extLst>
          </p:cNvPr>
          <p:cNvSpPr>
            <a:spLocks noChangeArrowheads="1"/>
          </p:cNvSpPr>
          <p:nvPr>
            <p:ph type="title"/>
          </p:nvPr>
        </p:nvSpPr>
        <p:spPr/>
        <p:txBody>
          <a:bodyPr/>
          <a:lstStyle/>
          <a:p>
            <a:r>
              <a:rPr lang="en-US" altLang="en-US"/>
              <a:t>Answer</a:t>
            </a:r>
          </a:p>
        </p:txBody>
      </p:sp>
      <p:sp>
        <p:nvSpPr>
          <p:cNvPr id="268291" name="Rectangle 3" descr="Content Placeholder 2">
            <a:extLst>
              <a:ext uri="{FF2B5EF4-FFF2-40B4-BE49-F238E27FC236}">
                <a16:creationId xmlns:a16="http://schemas.microsoft.com/office/drawing/2014/main" id="{E9ECFE16-21BA-C15E-AB81-FC9ACDA37E32}"/>
              </a:ext>
            </a:extLst>
          </p:cNvPr>
          <p:cNvSpPr>
            <a:spLocks noChangeArrowheads="1"/>
          </p:cNvSpPr>
          <p:nvPr>
            <p:ph type="body" idx="1"/>
          </p:nvPr>
        </p:nvSpPr>
        <p:spPr/>
        <p:txBody>
          <a:bodyPr/>
          <a:lstStyle/>
          <a:p>
            <a:pPr marL="58738" indent="-58738">
              <a:spcBef>
                <a:spcPts val="300"/>
              </a:spcBef>
            </a:pPr>
            <a:r>
              <a:rPr lang="en-US" altLang="en-US" sz="1400"/>
              <a:t>Consider the following example of log for two  transactions.</a:t>
            </a:r>
          </a:p>
          <a:p>
            <a:pPr marL="58738" indent="-58738">
              <a:spcBef>
                <a:spcPts val="300"/>
              </a:spcBef>
              <a:buSzTx/>
              <a:buFont typeface="Wingdings" panose="05000000000000000000" pitchFamily="2" charset="2"/>
              <a:buNone/>
            </a:pPr>
            <a:r>
              <a:rPr lang="en-US" altLang="en-US" sz="1400"/>
              <a:t>1. (Start, T1);</a:t>
            </a:r>
          </a:p>
          <a:p>
            <a:pPr marL="58738" indent="-58738">
              <a:spcBef>
                <a:spcPts val="300"/>
              </a:spcBef>
              <a:buSzTx/>
              <a:buFont typeface="Wingdings" panose="05000000000000000000" pitchFamily="2" charset="2"/>
              <a:buNone/>
            </a:pPr>
            <a:r>
              <a:rPr lang="en-US" altLang="en-US" sz="1400"/>
              <a:t>2. (Write, T1, Q, 100,50);</a:t>
            </a:r>
          </a:p>
          <a:p>
            <a:pPr marL="58738" indent="-58738">
              <a:spcBef>
                <a:spcPts val="300"/>
              </a:spcBef>
              <a:buSzTx/>
              <a:buFont typeface="Wingdings" panose="05000000000000000000" pitchFamily="2" charset="2"/>
              <a:buNone/>
            </a:pPr>
            <a:r>
              <a:rPr lang="en-US" altLang="en-US" sz="1400"/>
              <a:t>3. (Commit, T1);</a:t>
            </a:r>
          </a:p>
          <a:p>
            <a:pPr marL="58738" indent="-58738">
              <a:spcBef>
                <a:spcPts val="300"/>
              </a:spcBef>
              <a:buSzTx/>
              <a:buFont typeface="Wingdings" panose="05000000000000000000" pitchFamily="2" charset="2"/>
              <a:buNone/>
            </a:pPr>
            <a:r>
              <a:rPr lang="en-US" altLang="en-US" sz="1400"/>
              <a:t>4. (Start, T2);</a:t>
            </a:r>
          </a:p>
          <a:p>
            <a:pPr marL="58738" indent="-58738">
              <a:spcBef>
                <a:spcPts val="300"/>
              </a:spcBef>
              <a:buSzTx/>
              <a:buFont typeface="Wingdings" panose="05000000000000000000" pitchFamily="2" charset="2"/>
              <a:buNone/>
            </a:pPr>
            <a:r>
              <a:rPr lang="en-US" altLang="en-US" sz="1400"/>
              <a:t>5. (Write, T2, P, 55, 10);</a:t>
            </a:r>
          </a:p>
          <a:p>
            <a:pPr marL="58738" indent="-58738">
              <a:spcBef>
                <a:spcPts val="300"/>
              </a:spcBef>
              <a:buSzTx/>
              <a:buFont typeface="Wingdings" panose="05000000000000000000" pitchFamily="2" charset="2"/>
              <a:buNone/>
            </a:pPr>
            <a:r>
              <a:rPr lang="en-US" altLang="en-US" sz="1400"/>
              <a:t>6. (Commit, T2);</a:t>
            </a:r>
          </a:p>
          <a:p>
            <a:pPr marL="58738" indent="-58738">
              <a:spcBef>
                <a:spcPts val="300"/>
              </a:spcBef>
              <a:buSzTx/>
              <a:buFont typeface="Wingdings" panose="05000000000000000000" pitchFamily="2" charset="2"/>
              <a:buNone/>
            </a:pPr>
            <a:r>
              <a:rPr lang="en-US" altLang="en-US" sz="1400"/>
              <a:t>Consider the case where the schedule crashes after Step 4 and before Step 5, then the question  is which operation should we REDO if following is the scenario of database just before crash.</a:t>
            </a:r>
          </a:p>
        </p:txBody>
      </p:sp>
      <p:sp>
        <p:nvSpPr>
          <p:cNvPr id="268292" name="Text Box 4" descr="Date Placeholder 3">
            <a:extLst>
              <a:ext uri="{FF2B5EF4-FFF2-40B4-BE49-F238E27FC236}">
                <a16:creationId xmlns:a16="http://schemas.microsoft.com/office/drawing/2014/main" id="{F595E1A2-74ED-AD70-0E1A-4970B4CB0BF6}"/>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8293" name="Text Box 5" descr="Slide Number Placeholder 5">
            <a:extLst>
              <a:ext uri="{FF2B5EF4-FFF2-40B4-BE49-F238E27FC236}">
                <a16:creationId xmlns:a16="http://schemas.microsoft.com/office/drawing/2014/main" id="{B83F9A62-EEE6-4D6D-BCA0-4645CEB2FB27}"/>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A4AA16A-A39C-4C78-8FC6-518B900D957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68294" name="Group 6">
            <a:extLst>
              <a:ext uri="{FF2B5EF4-FFF2-40B4-BE49-F238E27FC236}">
                <a16:creationId xmlns:a16="http://schemas.microsoft.com/office/drawing/2014/main" id="{37254B7C-5700-ACAA-A20B-FE7BF3626F4B}"/>
              </a:ext>
            </a:extLst>
          </p:cNvPr>
          <p:cNvGraphicFramePr>
            <a:graphicFrameLocks noGrp="1"/>
          </p:cNvGraphicFramePr>
          <p:nvPr/>
        </p:nvGraphicFramePr>
        <p:xfrm>
          <a:off x="4487863" y="4557713"/>
          <a:ext cx="2233612" cy="768350"/>
        </p:xfrm>
        <a:graphic>
          <a:graphicData uri="http://schemas.openxmlformats.org/drawingml/2006/table">
            <a:tbl>
              <a:tblPr/>
              <a:tblGrid>
                <a:gridCol w="720725">
                  <a:extLst>
                    <a:ext uri="{9D8B030D-6E8A-4147-A177-3AD203B41FA5}">
                      <a16:colId xmlns:a16="http://schemas.microsoft.com/office/drawing/2014/main" val="3212625647"/>
                    </a:ext>
                  </a:extLst>
                </a:gridCol>
                <a:gridCol w="1512887">
                  <a:extLst>
                    <a:ext uri="{9D8B030D-6E8A-4147-A177-3AD203B41FA5}">
                      <a16:colId xmlns:a16="http://schemas.microsoft.com/office/drawing/2014/main" val="4279680629"/>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4358909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819857897"/>
                  </a:ext>
                </a:extLst>
              </a:tr>
            </a:tbl>
          </a:graphicData>
        </a:graphic>
      </p:graphicFrame>
      <p:sp>
        <p:nvSpPr>
          <p:cNvPr id="268311" name="AutoShape 23" descr="Flowchart: Magnetic Disk 8">
            <a:extLst>
              <a:ext uri="{FF2B5EF4-FFF2-40B4-BE49-F238E27FC236}">
                <a16:creationId xmlns:a16="http://schemas.microsoft.com/office/drawing/2014/main" id="{350B14EA-2439-3800-0C9C-41CE21C40859}"/>
              </a:ext>
            </a:extLst>
          </p:cNvPr>
          <p:cNvSpPr>
            <a:spLocks/>
          </p:cNvSpPr>
          <p:nvPr/>
        </p:nvSpPr>
        <p:spPr bwMode="auto">
          <a:xfrm>
            <a:off x="3840163" y="3763963"/>
            <a:ext cx="3167062" cy="18732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8312" name="Text Box 24" descr="TextBox 9">
            <a:extLst>
              <a:ext uri="{FF2B5EF4-FFF2-40B4-BE49-F238E27FC236}">
                <a16:creationId xmlns:a16="http://schemas.microsoft.com/office/drawing/2014/main" id="{1D8FB4C4-BC2E-F88B-0BCC-D536EA67640E}"/>
              </a:ext>
            </a:extLst>
          </p:cNvPr>
          <p:cNvSpPr txBox="1">
            <a:spLocks/>
          </p:cNvSpPr>
          <p:nvPr/>
        </p:nvSpPr>
        <p:spPr bwMode="auto">
          <a:xfrm>
            <a:off x="4833938" y="5667375"/>
            <a:ext cx="118110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
        <p:nvSpPr>
          <p:cNvPr id="268313" name="Text Box 25" descr="TextBox 10">
            <a:extLst>
              <a:ext uri="{FF2B5EF4-FFF2-40B4-BE49-F238E27FC236}">
                <a16:creationId xmlns:a16="http://schemas.microsoft.com/office/drawing/2014/main" id="{CAAA35FA-D7F1-7DDE-6905-A3EC1D49CA59}"/>
              </a:ext>
            </a:extLst>
          </p:cNvPr>
          <p:cNvSpPr txBox="1">
            <a:spLocks/>
          </p:cNvSpPr>
          <p:nvPr/>
        </p:nvSpPr>
        <p:spPr bwMode="auto">
          <a:xfrm>
            <a:off x="7181850" y="4570413"/>
            <a:ext cx="1946275"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REDO from LOG</a:t>
            </a:r>
          </a:p>
          <a:p>
            <a:r>
              <a:rPr lang="en-US" altLang="en-US"/>
              <a:t>Replacing old</a:t>
            </a:r>
          </a:p>
          <a:p>
            <a:r>
              <a:rPr lang="en-US" altLang="en-US"/>
              <a:t>Value with</a:t>
            </a:r>
          </a:p>
          <a:p>
            <a:r>
              <a:rPr lang="en-US" altLang="en-US"/>
              <a:t>New value</a:t>
            </a:r>
          </a:p>
        </p:txBody>
      </p:sp>
      <p:sp>
        <p:nvSpPr>
          <p:cNvPr id="268314" name="Line 26" descr="Straight Arrow Connector 16">
            <a:extLst>
              <a:ext uri="{FF2B5EF4-FFF2-40B4-BE49-F238E27FC236}">
                <a16:creationId xmlns:a16="http://schemas.microsoft.com/office/drawing/2014/main" id="{F393289C-01EE-7062-15E8-A80965727D46}"/>
              </a:ext>
            </a:extLst>
          </p:cNvPr>
          <p:cNvSpPr>
            <a:spLocks noChangeShapeType="1"/>
          </p:cNvSpPr>
          <p:nvPr/>
        </p:nvSpPr>
        <p:spPr bwMode="auto">
          <a:xfrm flipH="1">
            <a:off x="6659563" y="4795838"/>
            <a:ext cx="576262" cy="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2" descr="Title 1">
            <a:extLst>
              <a:ext uri="{FF2B5EF4-FFF2-40B4-BE49-F238E27FC236}">
                <a16:creationId xmlns:a16="http://schemas.microsoft.com/office/drawing/2014/main" id="{DDFDCE35-C960-B383-810C-173A59DC31FF}"/>
              </a:ext>
            </a:extLst>
          </p:cNvPr>
          <p:cNvSpPr>
            <a:spLocks noChangeArrowheads="1"/>
          </p:cNvSpPr>
          <p:nvPr>
            <p:ph type="title"/>
          </p:nvPr>
        </p:nvSpPr>
        <p:spPr/>
        <p:txBody>
          <a:bodyPr/>
          <a:lstStyle/>
          <a:p>
            <a:r>
              <a:rPr lang="en-US" altLang="en-US"/>
              <a:t>Problem to Solve</a:t>
            </a:r>
          </a:p>
        </p:txBody>
      </p:sp>
      <p:sp>
        <p:nvSpPr>
          <p:cNvPr id="269315" name="Rectangle 3" descr="Content Placeholder 2">
            <a:extLst>
              <a:ext uri="{FF2B5EF4-FFF2-40B4-BE49-F238E27FC236}">
                <a16:creationId xmlns:a16="http://schemas.microsoft.com/office/drawing/2014/main" id="{D8BC553C-FD17-6CB3-43BD-8A6776E2C743}"/>
              </a:ext>
            </a:extLst>
          </p:cNvPr>
          <p:cNvSpPr>
            <a:spLocks noChangeArrowheads="1"/>
          </p:cNvSpPr>
          <p:nvPr>
            <p:ph type="body" idx="1"/>
          </p:nvPr>
        </p:nvSpPr>
        <p:spPr/>
        <p:txBody>
          <a:bodyPr/>
          <a:lstStyle/>
          <a:p>
            <a:pPr marL="58738" indent="-58738">
              <a:spcBef>
                <a:spcPts val="300"/>
              </a:spcBef>
            </a:pPr>
            <a:r>
              <a:rPr lang="en-US" altLang="en-US" sz="1600"/>
              <a:t>Consider the following example of log for two  transactions.</a:t>
            </a:r>
          </a:p>
          <a:p>
            <a:pPr marL="58738" indent="-58738">
              <a:spcBef>
                <a:spcPts val="300"/>
              </a:spcBef>
              <a:buSzTx/>
              <a:buFont typeface="Wingdings" panose="05000000000000000000" pitchFamily="2" charset="2"/>
              <a:buNone/>
            </a:pPr>
            <a:r>
              <a:rPr lang="en-US" altLang="en-US" sz="1600"/>
              <a:t>1. (Start, T1);</a:t>
            </a:r>
          </a:p>
          <a:p>
            <a:pPr marL="58738" indent="-58738">
              <a:spcBef>
                <a:spcPts val="300"/>
              </a:spcBef>
              <a:buSzTx/>
              <a:buFont typeface="Wingdings" panose="05000000000000000000" pitchFamily="2" charset="2"/>
              <a:buNone/>
            </a:pPr>
            <a:r>
              <a:rPr lang="en-US" altLang="en-US" sz="1600"/>
              <a:t>2. (Write, T1, Q, 100,50);</a:t>
            </a:r>
          </a:p>
          <a:p>
            <a:pPr marL="58738" indent="-58738">
              <a:spcBef>
                <a:spcPts val="300"/>
              </a:spcBef>
              <a:buSzTx/>
              <a:buFont typeface="Wingdings" panose="05000000000000000000" pitchFamily="2" charset="2"/>
              <a:buNone/>
            </a:pPr>
            <a:r>
              <a:rPr lang="en-US" altLang="en-US" sz="1600"/>
              <a:t>3. (Commit, T1);</a:t>
            </a:r>
          </a:p>
          <a:p>
            <a:pPr marL="58738" indent="-58738">
              <a:spcBef>
                <a:spcPts val="300"/>
              </a:spcBef>
              <a:buSzTx/>
              <a:buFont typeface="Wingdings" panose="05000000000000000000" pitchFamily="2" charset="2"/>
              <a:buNone/>
            </a:pPr>
            <a:r>
              <a:rPr lang="en-US" altLang="en-US" sz="1600"/>
              <a:t>4. (Start, T2);</a:t>
            </a:r>
          </a:p>
          <a:p>
            <a:pPr marL="58738" indent="-58738">
              <a:spcBef>
                <a:spcPts val="300"/>
              </a:spcBef>
              <a:buSzTx/>
              <a:buFont typeface="Wingdings" panose="05000000000000000000" pitchFamily="2" charset="2"/>
              <a:buNone/>
            </a:pPr>
            <a:r>
              <a:rPr lang="en-US" altLang="en-US" sz="1600"/>
              <a:t>5. (Write, T2, P, 55, 10);</a:t>
            </a:r>
          </a:p>
          <a:p>
            <a:pPr marL="58738" indent="-58738">
              <a:spcBef>
                <a:spcPts val="300"/>
              </a:spcBef>
              <a:buSzTx/>
              <a:buFont typeface="Wingdings" panose="05000000000000000000" pitchFamily="2" charset="2"/>
              <a:buNone/>
            </a:pPr>
            <a:r>
              <a:rPr lang="en-US" altLang="en-US" sz="1600"/>
              <a:t>6. (Commit, T2);</a:t>
            </a:r>
          </a:p>
          <a:p>
            <a:pPr marL="58738" indent="-58738">
              <a:spcBef>
                <a:spcPts val="300"/>
              </a:spcBef>
              <a:buSzTx/>
              <a:buFont typeface="Wingdings" panose="05000000000000000000" pitchFamily="2" charset="2"/>
              <a:buNone/>
            </a:pPr>
            <a:r>
              <a:rPr lang="en-US" altLang="en-US" sz="1600"/>
              <a:t>Consider the case where the schedule crashes after Step 5 and before Step 6, then the question  is which operation should we UNDO if following is the scenario of database just before crash.</a:t>
            </a:r>
          </a:p>
        </p:txBody>
      </p:sp>
      <p:sp>
        <p:nvSpPr>
          <p:cNvPr id="269316" name="Text Box 4" descr="Date Placeholder 3">
            <a:extLst>
              <a:ext uri="{FF2B5EF4-FFF2-40B4-BE49-F238E27FC236}">
                <a16:creationId xmlns:a16="http://schemas.microsoft.com/office/drawing/2014/main" id="{884C9B63-0E0E-1624-34F9-0E4DE2FBDA1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69317" name="Text Box 5" descr="Slide Number Placeholder 5">
            <a:extLst>
              <a:ext uri="{FF2B5EF4-FFF2-40B4-BE49-F238E27FC236}">
                <a16:creationId xmlns:a16="http://schemas.microsoft.com/office/drawing/2014/main" id="{3C6AD36B-F279-B371-FCFC-1D1E341CB43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35EB33E-B148-4AC1-B872-4070267C279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69318" name="Group 6">
            <a:extLst>
              <a:ext uri="{FF2B5EF4-FFF2-40B4-BE49-F238E27FC236}">
                <a16:creationId xmlns:a16="http://schemas.microsoft.com/office/drawing/2014/main" id="{B5D85767-841E-4AE7-2C63-EE8AB1742D3D}"/>
              </a:ext>
            </a:extLst>
          </p:cNvPr>
          <p:cNvGraphicFramePr>
            <a:graphicFrameLocks noGrp="1"/>
          </p:cNvGraphicFramePr>
          <p:nvPr/>
        </p:nvGraphicFramePr>
        <p:xfrm>
          <a:off x="4487863" y="4900613"/>
          <a:ext cx="2233612" cy="768350"/>
        </p:xfrm>
        <a:graphic>
          <a:graphicData uri="http://schemas.openxmlformats.org/drawingml/2006/table">
            <a:tbl>
              <a:tblPr/>
              <a:tblGrid>
                <a:gridCol w="720725">
                  <a:extLst>
                    <a:ext uri="{9D8B030D-6E8A-4147-A177-3AD203B41FA5}">
                      <a16:colId xmlns:a16="http://schemas.microsoft.com/office/drawing/2014/main" val="385702466"/>
                    </a:ext>
                  </a:extLst>
                </a:gridCol>
                <a:gridCol w="1512887">
                  <a:extLst>
                    <a:ext uri="{9D8B030D-6E8A-4147-A177-3AD203B41FA5}">
                      <a16:colId xmlns:a16="http://schemas.microsoft.com/office/drawing/2014/main" val="56826220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2611620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55 10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588128689"/>
                  </a:ext>
                </a:extLst>
              </a:tr>
            </a:tbl>
          </a:graphicData>
        </a:graphic>
      </p:graphicFrame>
      <p:sp>
        <p:nvSpPr>
          <p:cNvPr id="269335" name="AutoShape 23" descr="Flowchart: Magnetic Disk 8">
            <a:extLst>
              <a:ext uri="{FF2B5EF4-FFF2-40B4-BE49-F238E27FC236}">
                <a16:creationId xmlns:a16="http://schemas.microsoft.com/office/drawing/2014/main" id="{F8EBCF4E-2160-B1DF-8BE7-6A4982BDF149}"/>
              </a:ext>
            </a:extLst>
          </p:cNvPr>
          <p:cNvSpPr>
            <a:spLocks/>
          </p:cNvSpPr>
          <p:nvPr/>
        </p:nvSpPr>
        <p:spPr bwMode="auto">
          <a:xfrm>
            <a:off x="3840163" y="4106863"/>
            <a:ext cx="3167062" cy="18732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69336" name="Text Box 24" descr="TextBox 9">
            <a:extLst>
              <a:ext uri="{FF2B5EF4-FFF2-40B4-BE49-F238E27FC236}">
                <a16:creationId xmlns:a16="http://schemas.microsoft.com/office/drawing/2014/main" id="{D6048243-6DB7-3396-0983-D92A25D8F4E6}"/>
              </a:ext>
            </a:extLst>
          </p:cNvPr>
          <p:cNvSpPr txBox="1">
            <a:spLocks/>
          </p:cNvSpPr>
          <p:nvPr/>
        </p:nvSpPr>
        <p:spPr bwMode="auto">
          <a:xfrm>
            <a:off x="4833938" y="6011863"/>
            <a:ext cx="1181100" cy="369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Tree>
  </p:cSld>
  <p:clrMapOvr>
    <a:masterClrMapping/>
  </p:clrMapOvr>
  <p:transition spd="med"/>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2" descr="Title 1">
            <a:extLst>
              <a:ext uri="{FF2B5EF4-FFF2-40B4-BE49-F238E27FC236}">
                <a16:creationId xmlns:a16="http://schemas.microsoft.com/office/drawing/2014/main" id="{46D53A84-19DA-E9FB-E9D4-555D3556038F}"/>
              </a:ext>
            </a:extLst>
          </p:cNvPr>
          <p:cNvSpPr>
            <a:spLocks noChangeArrowheads="1"/>
          </p:cNvSpPr>
          <p:nvPr>
            <p:ph type="title"/>
          </p:nvPr>
        </p:nvSpPr>
        <p:spPr/>
        <p:txBody>
          <a:bodyPr/>
          <a:lstStyle/>
          <a:p>
            <a:r>
              <a:rPr lang="en-US" altLang="en-US"/>
              <a:t>Answer</a:t>
            </a:r>
          </a:p>
        </p:txBody>
      </p:sp>
      <p:sp>
        <p:nvSpPr>
          <p:cNvPr id="270339" name="Rectangle 3" descr="Content Placeholder 2">
            <a:extLst>
              <a:ext uri="{FF2B5EF4-FFF2-40B4-BE49-F238E27FC236}">
                <a16:creationId xmlns:a16="http://schemas.microsoft.com/office/drawing/2014/main" id="{A0970364-33A9-C6BB-FCE6-814E9E0BE072}"/>
              </a:ext>
            </a:extLst>
          </p:cNvPr>
          <p:cNvSpPr>
            <a:spLocks noChangeArrowheads="1"/>
          </p:cNvSpPr>
          <p:nvPr>
            <p:ph type="body" idx="1"/>
          </p:nvPr>
        </p:nvSpPr>
        <p:spPr/>
        <p:txBody>
          <a:bodyPr/>
          <a:lstStyle/>
          <a:p>
            <a:pPr marL="58738" indent="-58738">
              <a:spcBef>
                <a:spcPts val="300"/>
              </a:spcBef>
            </a:pPr>
            <a:r>
              <a:rPr lang="en-US" altLang="en-US" sz="1400"/>
              <a:t>Consider the following example of log for two  transactions.</a:t>
            </a:r>
          </a:p>
          <a:p>
            <a:pPr marL="58738" indent="-58738">
              <a:spcBef>
                <a:spcPts val="300"/>
              </a:spcBef>
              <a:buSzTx/>
              <a:buFont typeface="Wingdings" panose="05000000000000000000" pitchFamily="2" charset="2"/>
              <a:buNone/>
            </a:pPr>
            <a:r>
              <a:rPr lang="en-US" altLang="en-US" sz="1400"/>
              <a:t>1. (Start, T1);</a:t>
            </a:r>
          </a:p>
          <a:p>
            <a:pPr marL="58738" indent="-58738">
              <a:spcBef>
                <a:spcPts val="300"/>
              </a:spcBef>
              <a:buSzTx/>
              <a:buFont typeface="Wingdings" panose="05000000000000000000" pitchFamily="2" charset="2"/>
              <a:buNone/>
            </a:pPr>
            <a:r>
              <a:rPr lang="en-US" altLang="en-US" sz="1400"/>
              <a:t>2. (Write, T1, Q, 100,50);</a:t>
            </a:r>
          </a:p>
          <a:p>
            <a:pPr marL="58738" indent="-58738">
              <a:spcBef>
                <a:spcPts val="300"/>
              </a:spcBef>
              <a:buSzTx/>
              <a:buFont typeface="Wingdings" panose="05000000000000000000" pitchFamily="2" charset="2"/>
              <a:buNone/>
            </a:pPr>
            <a:r>
              <a:rPr lang="en-US" altLang="en-US" sz="1400"/>
              <a:t>3. (Commit, T1);</a:t>
            </a:r>
          </a:p>
          <a:p>
            <a:pPr marL="58738" indent="-58738">
              <a:spcBef>
                <a:spcPts val="300"/>
              </a:spcBef>
              <a:buSzTx/>
              <a:buFont typeface="Wingdings" panose="05000000000000000000" pitchFamily="2" charset="2"/>
              <a:buNone/>
            </a:pPr>
            <a:r>
              <a:rPr lang="en-US" altLang="en-US" sz="1400"/>
              <a:t>4. (Start, T2);</a:t>
            </a:r>
          </a:p>
          <a:p>
            <a:pPr marL="58738" indent="-58738">
              <a:spcBef>
                <a:spcPts val="300"/>
              </a:spcBef>
              <a:buSzTx/>
              <a:buFont typeface="Wingdings" panose="05000000000000000000" pitchFamily="2" charset="2"/>
              <a:buNone/>
            </a:pPr>
            <a:r>
              <a:rPr lang="en-US" altLang="en-US" sz="1400"/>
              <a:t>5. (Write, T2, P, 55, 10);</a:t>
            </a:r>
          </a:p>
          <a:p>
            <a:pPr marL="58738" indent="-58738">
              <a:spcBef>
                <a:spcPts val="300"/>
              </a:spcBef>
              <a:buSzTx/>
              <a:buFont typeface="Wingdings" panose="05000000000000000000" pitchFamily="2" charset="2"/>
              <a:buNone/>
            </a:pPr>
            <a:r>
              <a:rPr lang="en-US" altLang="en-US" sz="1400"/>
              <a:t>6. (Commit, T2);</a:t>
            </a:r>
          </a:p>
          <a:p>
            <a:pPr marL="58738" indent="-58738">
              <a:spcBef>
                <a:spcPts val="300"/>
              </a:spcBef>
              <a:buSzTx/>
              <a:buFont typeface="Wingdings" panose="05000000000000000000" pitchFamily="2" charset="2"/>
              <a:buNone/>
            </a:pPr>
            <a:r>
              <a:rPr lang="en-US" altLang="en-US" sz="1400"/>
              <a:t>Consider the case where the schedule crashes after Step 5 and before Step 6, then the question  is which operation should we UNDO if following is the scenario of database just before crash.</a:t>
            </a:r>
          </a:p>
        </p:txBody>
      </p:sp>
      <p:sp>
        <p:nvSpPr>
          <p:cNvPr id="270340" name="Text Box 4" descr="Date Placeholder 3">
            <a:extLst>
              <a:ext uri="{FF2B5EF4-FFF2-40B4-BE49-F238E27FC236}">
                <a16:creationId xmlns:a16="http://schemas.microsoft.com/office/drawing/2014/main" id="{529F8CD9-2EEC-C760-B1C2-763ABBEE00B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0341" name="Text Box 5" descr="Slide Number Placeholder 5">
            <a:extLst>
              <a:ext uri="{FF2B5EF4-FFF2-40B4-BE49-F238E27FC236}">
                <a16:creationId xmlns:a16="http://schemas.microsoft.com/office/drawing/2014/main" id="{1CB18597-A2AC-869C-22CB-21ADA5370CB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1F92F19-A3F4-42DC-B5F1-6AC52B638A7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70342" name="Group 6">
            <a:extLst>
              <a:ext uri="{FF2B5EF4-FFF2-40B4-BE49-F238E27FC236}">
                <a16:creationId xmlns:a16="http://schemas.microsoft.com/office/drawing/2014/main" id="{11FD89E3-EA10-22F5-7562-116E1CA64098}"/>
              </a:ext>
            </a:extLst>
          </p:cNvPr>
          <p:cNvGraphicFramePr>
            <a:graphicFrameLocks noGrp="1"/>
          </p:cNvGraphicFramePr>
          <p:nvPr/>
        </p:nvGraphicFramePr>
        <p:xfrm>
          <a:off x="4487863" y="4557713"/>
          <a:ext cx="2233612" cy="768350"/>
        </p:xfrm>
        <a:graphic>
          <a:graphicData uri="http://schemas.openxmlformats.org/drawingml/2006/table">
            <a:tbl>
              <a:tblPr/>
              <a:tblGrid>
                <a:gridCol w="720725">
                  <a:extLst>
                    <a:ext uri="{9D8B030D-6E8A-4147-A177-3AD203B41FA5}">
                      <a16:colId xmlns:a16="http://schemas.microsoft.com/office/drawing/2014/main" val="878159885"/>
                    </a:ext>
                  </a:extLst>
                </a:gridCol>
                <a:gridCol w="1512887">
                  <a:extLst>
                    <a:ext uri="{9D8B030D-6E8A-4147-A177-3AD203B41FA5}">
                      <a16:colId xmlns:a16="http://schemas.microsoft.com/office/drawing/2014/main" val="94919573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360040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55 10 55</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79213612"/>
                  </a:ext>
                </a:extLst>
              </a:tr>
            </a:tbl>
          </a:graphicData>
        </a:graphic>
      </p:graphicFrame>
      <p:sp>
        <p:nvSpPr>
          <p:cNvPr id="270359" name="AutoShape 23" descr="Flowchart: Magnetic Disk 8">
            <a:extLst>
              <a:ext uri="{FF2B5EF4-FFF2-40B4-BE49-F238E27FC236}">
                <a16:creationId xmlns:a16="http://schemas.microsoft.com/office/drawing/2014/main" id="{3454020F-4427-3497-D7E5-3CC7436D367D}"/>
              </a:ext>
            </a:extLst>
          </p:cNvPr>
          <p:cNvSpPr>
            <a:spLocks/>
          </p:cNvSpPr>
          <p:nvPr/>
        </p:nvSpPr>
        <p:spPr bwMode="auto">
          <a:xfrm>
            <a:off x="3840163" y="3763963"/>
            <a:ext cx="3167062" cy="18732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0360" name="Text Box 24" descr="TextBox 9">
            <a:extLst>
              <a:ext uri="{FF2B5EF4-FFF2-40B4-BE49-F238E27FC236}">
                <a16:creationId xmlns:a16="http://schemas.microsoft.com/office/drawing/2014/main" id="{1147DEFB-F3F5-3FE2-5622-A6F542ABB547}"/>
              </a:ext>
            </a:extLst>
          </p:cNvPr>
          <p:cNvSpPr txBox="1">
            <a:spLocks/>
          </p:cNvSpPr>
          <p:nvPr/>
        </p:nvSpPr>
        <p:spPr bwMode="auto">
          <a:xfrm>
            <a:off x="4833938" y="5667375"/>
            <a:ext cx="118110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Database</a:t>
            </a:r>
          </a:p>
        </p:txBody>
      </p:sp>
      <p:sp>
        <p:nvSpPr>
          <p:cNvPr id="270361" name="Text Box 25" descr="TextBox 13">
            <a:extLst>
              <a:ext uri="{FF2B5EF4-FFF2-40B4-BE49-F238E27FC236}">
                <a16:creationId xmlns:a16="http://schemas.microsoft.com/office/drawing/2014/main" id="{9C1525F3-4536-E624-6E70-3E4692DF86BF}"/>
              </a:ext>
            </a:extLst>
          </p:cNvPr>
          <p:cNvSpPr txBox="1">
            <a:spLocks/>
          </p:cNvSpPr>
          <p:nvPr/>
        </p:nvSpPr>
        <p:spPr bwMode="auto">
          <a:xfrm>
            <a:off x="7137400" y="4930775"/>
            <a:ext cx="1979613"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UNDO from LOG</a:t>
            </a:r>
          </a:p>
          <a:p>
            <a:r>
              <a:rPr lang="en-US" altLang="en-US"/>
              <a:t>Replace </a:t>
            </a:r>
          </a:p>
          <a:p>
            <a:r>
              <a:rPr lang="en-US" altLang="en-US"/>
              <a:t>New value with </a:t>
            </a:r>
          </a:p>
          <a:p>
            <a:r>
              <a:rPr lang="en-US" altLang="en-US"/>
              <a:t>Old value</a:t>
            </a:r>
          </a:p>
        </p:txBody>
      </p:sp>
      <p:sp>
        <p:nvSpPr>
          <p:cNvPr id="270362" name="Line 26" descr="Straight Arrow Connector 10">
            <a:extLst>
              <a:ext uri="{FF2B5EF4-FFF2-40B4-BE49-F238E27FC236}">
                <a16:creationId xmlns:a16="http://schemas.microsoft.com/office/drawing/2014/main" id="{4C180339-939B-C18A-3B16-E7A7F3875DF8}"/>
              </a:ext>
            </a:extLst>
          </p:cNvPr>
          <p:cNvSpPr>
            <a:spLocks noChangeShapeType="1"/>
          </p:cNvSpPr>
          <p:nvPr/>
        </p:nvSpPr>
        <p:spPr bwMode="auto">
          <a:xfrm flipH="1">
            <a:off x="6659563" y="5156200"/>
            <a:ext cx="503237" cy="0"/>
          </a:xfrm>
          <a:prstGeom prst="line">
            <a:avLst/>
          </a:pr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Tree>
  </p:cSld>
  <p:clrMapOvr>
    <a:masterClrMapping/>
  </p:clrMapOvr>
  <p:transition spd="med"/>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descr="Title 1">
            <a:extLst>
              <a:ext uri="{FF2B5EF4-FFF2-40B4-BE49-F238E27FC236}">
                <a16:creationId xmlns:a16="http://schemas.microsoft.com/office/drawing/2014/main" id="{AC02852A-4E3A-522E-3F7E-2FB32A8DCAAD}"/>
              </a:ext>
            </a:extLst>
          </p:cNvPr>
          <p:cNvSpPr>
            <a:spLocks noChangeArrowheads="1"/>
          </p:cNvSpPr>
          <p:nvPr>
            <p:ph type="title"/>
          </p:nvPr>
        </p:nvSpPr>
        <p:spPr/>
        <p:txBody>
          <a:bodyPr/>
          <a:lstStyle/>
          <a:p>
            <a:r>
              <a:rPr lang="en-US" altLang="en-US"/>
              <a:t>Approaches to Recovery</a:t>
            </a:r>
          </a:p>
        </p:txBody>
      </p:sp>
      <p:sp>
        <p:nvSpPr>
          <p:cNvPr id="271363" name="Rectangle 3" descr="Content Placeholder 2">
            <a:extLst>
              <a:ext uri="{FF2B5EF4-FFF2-40B4-BE49-F238E27FC236}">
                <a16:creationId xmlns:a16="http://schemas.microsoft.com/office/drawing/2014/main" id="{DA036E2A-7093-E8C5-B190-F161188D3543}"/>
              </a:ext>
            </a:extLst>
          </p:cNvPr>
          <p:cNvSpPr>
            <a:spLocks noChangeArrowheads="1"/>
          </p:cNvSpPr>
          <p:nvPr>
            <p:ph type="body" idx="1"/>
          </p:nvPr>
        </p:nvSpPr>
        <p:spPr/>
        <p:txBody>
          <a:bodyPr/>
          <a:lstStyle/>
          <a:p>
            <a:pPr marL="342900" indent="-342900">
              <a:buSzTx/>
              <a:buFont typeface="Wingdings" panose="05000000000000000000" pitchFamily="2" charset="2"/>
              <a:buNone/>
            </a:pPr>
            <a:r>
              <a:rPr lang="en-US" altLang="en-US"/>
              <a:t>Two Types using LOG enteries</a:t>
            </a:r>
          </a:p>
          <a:p>
            <a:pPr marL="342900" indent="-342900">
              <a:buFontTx/>
              <a:buAutoNum type="arabicPeriod"/>
            </a:pPr>
            <a:r>
              <a:rPr lang="en-US" altLang="en-US"/>
              <a:t>Deferred Update</a:t>
            </a:r>
          </a:p>
          <a:p>
            <a:pPr marL="342900" indent="-342900">
              <a:buFontTx/>
              <a:buAutoNum type="arabicPeriod"/>
            </a:pPr>
            <a:r>
              <a:rPr lang="en-US" altLang="en-US"/>
              <a:t>Immediate Update</a:t>
            </a:r>
          </a:p>
        </p:txBody>
      </p:sp>
      <p:sp>
        <p:nvSpPr>
          <p:cNvPr id="271364" name="Text Box 4" descr="Date Placeholder 3">
            <a:extLst>
              <a:ext uri="{FF2B5EF4-FFF2-40B4-BE49-F238E27FC236}">
                <a16:creationId xmlns:a16="http://schemas.microsoft.com/office/drawing/2014/main" id="{DC04B590-D6C6-9C63-3BDF-1513EEEA94D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1365" name="Text Box 5" descr="Slide Number Placeholder 5">
            <a:extLst>
              <a:ext uri="{FF2B5EF4-FFF2-40B4-BE49-F238E27FC236}">
                <a16:creationId xmlns:a16="http://schemas.microsoft.com/office/drawing/2014/main" id="{31237314-0CAE-CD30-FC0A-A33F3E4A8E7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57DA387-B7BB-4ECC-ABB4-CDD50284C6E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2" descr="Title 1">
            <a:extLst>
              <a:ext uri="{FF2B5EF4-FFF2-40B4-BE49-F238E27FC236}">
                <a16:creationId xmlns:a16="http://schemas.microsoft.com/office/drawing/2014/main" id="{0C8A329B-7846-938C-560E-3FA6D3474163}"/>
              </a:ext>
            </a:extLst>
          </p:cNvPr>
          <p:cNvSpPr>
            <a:spLocks noChangeArrowheads="1"/>
          </p:cNvSpPr>
          <p:nvPr>
            <p:ph type="title"/>
          </p:nvPr>
        </p:nvSpPr>
        <p:spPr/>
        <p:txBody>
          <a:bodyPr/>
          <a:lstStyle/>
          <a:p>
            <a:r>
              <a:rPr lang="en-US" altLang="en-US"/>
              <a:t>Log-Based Recovery</a:t>
            </a:r>
          </a:p>
        </p:txBody>
      </p:sp>
      <p:sp>
        <p:nvSpPr>
          <p:cNvPr id="272387" name="Rectangle 3" descr="Content Placeholder 2">
            <a:extLst>
              <a:ext uri="{FF2B5EF4-FFF2-40B4-BE49-F238E27FC236}">
                <a16:creationId xmlns:a16="http://schemas.microsoft.com/office/drawing/2014/main" id="{21AD3B01-C865-66F0-44D8-605461D47F30}"/>
              </a:ext>
            </a:extLst>
          </p:cNvPr>
          <p:cNvSpPr>
            <a:spLocks noChangeArrowheads="1"/>
          </p:cNvSpPr>
          <p:nvPr>
            <p:ph type="body" idx="1"/>
          </p:nvPr>
        </p:nvSpPr>
        <p:spPr/>
        <p:txBody>
          <a:bodyPr/>
          <a:lstStyle/>
          <a:p>
            <a:pPr>
              <a:spcBef>
                <a:spcPts val="400"/>
              </a:spcBef>
            </a:pPr>
            <a:r>
              <a:rPr lang="en-US" altLang="en-US" sz="1800"/>
              <a:t>A log is kept on stable storage. </a:t>
            </a:r>
          </a:p>
          <a:p>
            <a:pPr marL="908050" lvl="1" indent="-438150">
              <a:spcBef>
                <a:spcPts val="300"/>
              </a:spcBef>
            </a:pPr>
            <a:r>
              <a:rPr lang="en-US" altLang="en-US" sz="1400"/>
              <a:t>The log is a sequence of log records, and maintains a record of update activities on the database. </a:t>
            </a:r>
            <a:endParaRPr lang="en-US" altLang="en-US" sz="2600"/>
          </a:p>
          <a:p>
            <a:pPr>
              <a:spcBef>
                <a:spcPts val="400"/>
              </a:spcBef>
            </a:pPr>
            <a:r>
              <a:rPr lang="en-US" altLang="en-US" sz="1800"/>
              <a:t>When transaction Ti starts, it registers itself by writing a &lt;Ti start&gt; log record </a:t>
            </a:r>
          </a:p>
          <a:p>
            <a:pPr>
              <a:spcBef>
                <a:spcPts val="400"/>
              </a:spcBef>
            </a:pPr>
            <a:r>
              <a:rPr lang="en-US" altLang="en-US" sz="1800"/>
              <a:t>Before Ti executes write(X), a log record &lt;write,Ti,X,V1,V2&gt; is written, where V1 is the value of X before the write, and V2 is the new value to be written to X. </a:t>
            </a:r>
          </a:p>
          <a:p>
            <a:pPr marL="908050" lvl="1" indent="-438150">
              <a:spcBef>
                <a:spcPts val="300"/>
              </a:spcBef>
            </a:pPr>
            <a:r>
              <a:rPr lang="en-US" altLang="en-US" sz="1400"/>
              <a:t>Log record notes that Ti has performed a write on data item X that had value V1 before the write, and will have value V2 after the write. </a:t>
            </a:r>
            <a:endParaRPr lang="en-US" altLang="en-US" sz="2600"/>
          </a:p>
          <a:p>
            <a:pPr>
              <a:spcBef>
                <a:spcPts val="400"/>
              </a:spcBef>
            </a:pPr>
            <a:r>
              <a:rPr lang="en-US" altLang="en-US" sz="1800"/>
              <a:t>When Ti finishes it last statement, the log record &lt;Commit Ti&gt; is written. </a:t>
            </a:r>
          </a:p>
          <a:p>
            <a:pPr>
              <a:spcBef>
                <a:spcPts val="400"/>
              </a:spcBef>
            </a:pPr>
            <a:r>
              <a:rPr lang="en-US" altLang="en-US" sz="1800"/>
              <a:t>We assume for now that log records are written directly to stable storage (that is, they are not buffered)</a:t>
            </a:r>
          </a:p>
        </p:txBody>
      </p:sp>
      <p:sp>
        <p:nvSpPr>
          <p:cNvPr id="272388" name="Text Box 4" descr="Date Placeholder 3">
            <a:extLst>
              <a:ext uri="{FF2B5EF4-FFF2-40B4-BE49-F238E27FC236}">
                <a16:creationId xmlns:a16="http://schemas.microsoft.com/office/drawing/2014/main" id="{1632E3F2-E552-FEAE-BDFE-9612DEBA2B9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2389" name="Text Box 5" descr="Slide Number Placeholder 5">
            <a:extLst>
              <a:ext uri="{FF2B5EF4-FFF2-40B4-BE49-F238E27FC236}">
                <a16:creationId xmlns:a16="http://schemas.microsoft.com/office/drawing/2014/main" id="{85C1AF0F-E33B-C8E6-DE81-72A7F3F284B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4FFB0F6-AF24-4ACB-ABEA-30267FF6DE1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2" descr="Title 1">
            <a:extLst>
              <a:ext uri="{FF2B5EF4-FFF2-40B4-BE49-F238E27FC236}">
                <a16:creationId xmlns:a16="http://schemas.microsoft.com/office/drawing/2014/main" id="{88E0888F-A8A4-7E63-2005-0F5D0F56C7CA}"/>
              </a:ext>
            </a:extLst>
          </p:cNvPr>
          <p:cNvSpPr>
            <a:spLocks noChangeArrowheads="1"/>
          </p:cNvSpPr>
          <p:nvPr>
            <p:ph type="title"/>
          </p:nvPr>
        </p:nvSpPr>
        <p:spPr/>
        <p:txBody>
          <a:bodyPr/>
          <a:lstStyle/>
          <a:p>
            <a:r>
              <a:rPr lang="en-US" altLang="en-US"/>
              <a:t>Deferred Database Modification</a:t>
            </a:r>
          </a:p>
        </p:txBody>
      </p:sp>
      <p:sp>
        <p:nvSpPr>
          <p:cNvPr id="273411" name="Rectangle 3" descr="Content Placeholder 2">
            <a:extLst>
              <a:ext uri="{FF2B5EF4-FFF2-40B4-BE49-F238E27FC236}">
                <a16:creationId xmlns:a16="http://schemas.microsoft.com/office/drawing/2014/main" id="{001C780D-D6DE-096A-2836-BEC88BAB1135}"/>
              </a:ext>
            </a:extLst>
          </p:cNvPr>
          <p:cNvSpPr>
            <a:spLocks noChangeArrowheads="1"/>
          </p:cNvSpPr>
          <p:nvPr>
            <p:ph type="body" idx="1"/>
          </p:nvPr>
        </p:nvSpPr>
        <p:spPr/>
        <p:txBody>
          <a:bodyPr/>
          <a:lstStyle/>
          <a:p>
            <a:pPr>
              <a:spcBef>
                <a:spcPts val="300"/>
              </a:spcBef>
            </a:pPr>
            <a:r>
              <a:rPr lang="en-US" altLang="en-US" sz="1600"/>
              <a:t>The deferred database modification scheme records all modifications to the log, but defers all the writes to after partial commit. </a:t>
            </a:r>
          </a:p>
          <a:p>
            <a:pPr>
              <a:spcBef>
                <a:spcPts val="300"/>
              </a:spcBef>
            </a:pPr>
            <a:r>
              <a:rPr lang="en-US" altLang="en-US" sz="1600"/>
              <a:t>Assume that transactions execute serially</a:t>
            </a:r>
          </a:p>
          <a:p>
            <a:pPr>
              <a:spcBef>
                <a:spcPts val="300"/>
              </a:spcBef>
            </a:pPr>
            <a:r>
              <a:rPr lang="en-US" altLang="en-US" sz="1600"/>
              <a:t>Transaction starts by writing &lt;start Ti&gt; record to log. </a:t>
            </a:r>
          </a:p>
          <a:p>
            <a:pPr>
              <a:spcBef>
                <a:spcPts val="300"/>
              </a:spcBef>
            </a:pPr>
            <a:r>
              <a:rPr lang="en-US" altLang="en-US" sz="1600"/>
              <a:t>A write(X) operation results in a log record &lt;write,Ti,X,V1,V2&gt; being written, where V1 is old value of X,  V2 is the new value for X </a:t>
            </a:r>
          </a:p>
          <a:p>
            <a:pPr marL="908050" lvl="1" indent="-438150">
              <a:spcBef>
                <a:spcPts val="300"/>
              </a:spcBef>
            </a:pPr>
            <a:r>
              <a:rPr lang="en-US" altLang="en-US" sz="1400"/>
              <a:t>Note: old value V1 is not needed for this scheme</a:t>
            </a:r>
            <a:endParaRPr lang="en-US" altLang="en-US" sz="2600"/>
          </a:p>
          <a:p>
            <a:pPr>
              <a:spcBef>
                <a:spcPts val="300"/>
              </a:spcBef>
            </a:pPr>
            <a:r>
              <a:rPr lang="en-US" altLang="en-US" sz="1600"/>
              <a:t>The write is not performed on X at this time, but is deferred. </a:t>
            </a:r>
          </a:p>
          <a:p>
            <a:pPr>
              <a:spcBef>
                <a:spcPts val="300"/>
              </a:spcBef>
            </a:pPr>
            <a:r>
              <a:rPr lang="en-US" altLang="en-US" sz="1600"/>
              <a:t>When Ti partially commits, &lt;Commit, Ti&gt; is written to the log</a:t>
            </a:r>
          </a:p>
          <a:p>
            <a:pPr>
              <a:spcBef>
                <a:spcPts val="300"/>
              </a:spcBef>
            </a:pPr>
            <a:r>
              <a:rPr lang="en-US" altLang="en-US" sz="1600"/>
              <a:t>Finally, the log records are read and used to actually execute the previously deferred writes.</a:t>
            </a:r>
          </a:p>
          <a:p>
            <a:pPr>
              <a:spcBef>
                <a:spcPts val="300"/>
              </a:spcBef>
            </a:pPr>
            <a:r>
              <a:rPr lang="en-US" altLang="en-US" sz="1600"/>
              <a:t>During recovery after a crash, a transaction needs to be redone if and only if both &lt;start Ti&gt; and &lt;commit Ti&gt; are there in the log. </a:t>
            </a:r>
          </a:p>
          <a:p>
            <a:pPr>
              <a:spcBef>
                <a:spcPts val="300"/>
              </a:spcBef>
            </a:pPr>
            <a:r>
              <a:rPr lang="en-US" altLang="en-US" sz="1600"/>
              <a:t>Redoing a transaction Ti ( redoTi) sets the value of all data items updated by the transaction to the new values. </a:t>
            </a:r>
          </a:p>
          <a:p>
            <a:pPr>
              <a:spcBef>
                <a:spcPts val="300"/>
              </a:spcBef>
            </a:pPr>
            <a:r>
              <a:rPr lang="en-US" altLang="en-US" sz="1600"/>
              <a:t>Crashes can occur while: the transaction is executing the original updates or while recovery action is being taken</a:t>
            </a:r>
          </a:p>
          <a:p>
            <a:pPr>
              <a:spcBef>
                <a:spcPts val="300"/>
              </a:spcBef>
            </a:pPr>
            <a:r>
              <a:rPr lang="en-US" altLang="en-US" sz="1600"/>
              <a:t>Deferred modification is also referred as </a:t>
            </a:r>
            <a:r>
              <a:rPr lang="en-US" altLang="en-US" sz="1600" b="1"/>
              <a:t>No-Undo/Redo</a:t>
            </a:r>
            <a:r>
              <a:rPr lang="en-US" altLang="en-US" sz="1600"/>
              <a:t> method</a:t>
            </a:r>
          </a:p>
        </p:txBody>
      </p:sp>
      <p:sp>
        <p:nvSpPr>
          <p:cNvPr id="273412" name="Text Box 4" descr="Date Placeholder 3">
            <a:extLst>
              <a:ext uri="{FF2B5EF4-FFF2-40B4-BE49-F238E27FC236}">
                <a16:creationId xmlns:a16="http://schemas.microsoft.com/office/drawing/2014/main" id="{30EEFDDA-73C5-5559-D677-EDFE35A9D1BE}"/>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3413" name="Text Box 5" descr="Slide Number Placeholder 5">
            <a:extLst>
              <a:ext uri="{FF2B5EF4-FFF2-40B4-BE49-F238E27FC236}">
                <a16:creationId xmlns:a16="http://schemas.microsoft.com/office/drawing/2014/main" id="{69DB7E8F-DF55-B908-5E56-DD65C512447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0B97432-50E1-4266-9137-FBD4F10D20B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descr="Title 1">
            <a:extLst>
              <a:ext uri="{FF2B5EF4-FFF2-40B4-BE49-F238E27FC236}">
                <a16:creationId xmlns:a16="http://schemas.microsoft.com/office/drawing/2014/main" id="{7A4420F7-D80E-ED62-29E8-EC88500B779B}"/>
              </a:ext>
            </a:extLst>
          </p:cNvPr>
          <p:cNvSpPr>
            <a:spLocks noChangeArrowheads="1"/>
          </p:cNvSpPr>
          <p:nvPr>
            <p:ph type="title"/>
          </p:nvPr>
        </p:nvSpPr>
        <p:spPr/>
        <p:txBody>
          <a:bodyPr/>
          <a:lstStyle/>
          <a:p>
            <a:r>
              <a:rPr lang="en-US" altLang="en-US"/>
              <a:t>Deferred Database Modification</a:t>
            </a:r>
          </a:p>
        </p:txBody>
      </p:sp>
      <p:sp>
        <p:nvSpPr>
          <p:cNvPr id="274435" name="Rectangle 3" descr="Content Placeholder 2">
            <a:extLst>
              <a:ext uri="{FF2B5EF4-FFF2-40B4-BE49-F238E27FC236}">
                <a16:creationId xmlns:a16="http://schemas.microsoft.com/office/drawing/2014/main" id="{9503363B-7EB6-C882-DF14-9EA7AC9A0779}"/>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Example of Deferred based recovery</a:t>
            </a:r>
          </a:p>
          <a:p>
            <a:pPr marL="234950" indent="-234950">
              <a:spcBef>
                <a:spcPts val="300"/>
              </a:spcBef>
            </a:pPr>
            <a:r>
              <a:rPr lang="en-US" altLang="en-US" sz="1600"/>
              <a:t>Consider log entries for two  transactions T1 and T2 as follows.</a:t>
            </a:r>
          </a:p>
        </p:txBody>
      </p:sp>
      <p:sp>
        <p:nvSpPr>
          <p:cNvPr id="274436" name="Text Box 4" descr="Date Placeholder 3">
            <a:extLst>
              <a:ext uri="{FF2B5EF4-FFF2-40B4-BE49-F238E27FC236}">
                <a16:creationId xmlns:a16="http://schemas.microsoft.com/office/drawing/2014/main" id="{AA261EA4-B722-1388-253E-CC072B9D8B6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4437" name="Text Box 5" descr="Slide Number Placeholder 5">
            <a:extLst>
              <a:ext uri="{FF2B5EF4-FFF2-40B4-BE49-F238E27FC236}">
                <a16:creationId xmlns:a16="http://schemas.microsoft.com/office/drawing/2014/main" id="{C4DC4738-B054-D60A-A3B5-2787B236B23D}"/>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7A50462-25A9-4DBA-9EF6-98E24395BC2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74438" name="Group 6">
            <a:extLst>
              <a:ext uri="{FF2B5EF4-FFF2-40B4-BE49-F238E27FC236}">
                <a16:creationId xmlns:a16="http://schemas.microsoft.com/office/drawing/2014/main" id="{B67E3E65-1656-FB23-72B5-FA4D4BC579D9}"/>
              </a:ext>
            </a:extLst>
          </p:cNvPr>
          <p:cNvGraphicFramePr>
            <a:graphicFrameLocks noGrp="1"/>
          </p:cNvGraphicFramePr>
          <p:nvPr/>
        </p:nvGraphicFramePr>
        <p:xfrm>
          <a:off x="1198563" y="2170113"/>
          <a:ext cx="2736850" cy="2241550"/>
        </p:xfrm>
        <a:graphic>
          <a:graphicData uri="http://schemas.openxmlformats.org/drawingml/2006/table">
            <a:tbl>
              <a:tblPr/>
              <a:tblGrid>
                <a:gridCol w="2736850">
                  <a:extLst>
                    <a:ext uri="{9D8B030D-6E8A-4147-A177-3AD203B41FA5}">
                      <a16:colId xmlns:a16="http://schemas.microsoft.com/office/drawing/2014/main" val="4004642317"/>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01062819"/>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T1, Q, 100,50)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87316413"/>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912345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40209579"/>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T2, P, 55, 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9746308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73488056"/>
                  </a:ext>
                </a:extLst>
              </a:tr>
            </a:tbl>
          </a:graphicData>
        </a:graphic>
      </p:graphicFrame>
      <p:sp>
        <p:nvSpPr>
          <p:cNvPr id="274464" name="Line 32" descr="Straight Arrow Connector 8">
            <a:extLst>
              <a:ext uri="{FF2B5EF4-FFF2-40B4-BE49-F238E27FC236}">
                <a16:creationId xmlns:a16="http://schemas.microsoft.com/office/drawing/2014/main" id="{F995E608-1443-823B-3A79-B4661CDA6F3C}"/>
              </a:ext>
            </a:extLst>
          </p:cNvPr>
          <p:cNvSpPr>
            <a:spLocks noChangeShapeType="1"/>
          </p:cNvSpPr>
          <p:nvPr/>
        </p:nvSpPr>
        <p:spPr bwMode="auto">
          <a:xfrm>
            <a:off x="754063" y="4030663"/>
            <a:ext cx="457200" cy="0"/>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4465" name="Text Box 33" descr="TextBox 10">
            <a:extLst>
              <a:ext uri="{FF2B5EF4-FFF2-40B4-BE49-F238E27FC236}">
                <a16:creationId xmlns:a16="http://schemas.microsoft.com/office/drawing/2014/main" id="{813F73F5-5691-C1DF-6433-FAFBD7FDCA12}"/>
              </a:ext>
            </a:extLst>
          </p:cNvPr>
          <p:cNvSpPr txBox="1">
            <a:spLocks/>
          </p:cNvSpPr>
          <p:nvPr/>
        </p:nvSpPr>
        <p:spPr bwMode="auto">
          <a:xfrm>
            <a:off x="223838" y="3768725"/>
            <a:ext cx="769937"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FF0000"/>
                </a:solidFill>
              </a:rPr>
              <a:t>System</a:t>
            </a:r>
          </a:p>
          <a:p>
            <a:r>
              <a:rPr lang="en-US" altLang="en-US" sz="1400">
                <a:solidFill>
                  <a:srgbClr val="FF0000"/>
                </a:solidFill>
              </a:rPr>
              <a:t>Crash</a:t>
            </a:r>
          </a:p>
        </p:txBody>
      </p:sp>
      <p:graphicFrame>
        <p:nvGraphicFramePr>
          <p:cNvPr id="274466" name="Group 34">
            <a:extLst>
              <a:ext uri="{FF2B5EF4-FFF2-40B4-BE49-F238E27FC236}">
                <a16:creationId xmlns:a16="http://schemas.microsoft.com/office/drawing/2014/main" id="{7A19B10A-7931-5468-FD47-37F15A110728}"/>
              </a:ext>
            </a:extLst>
          </p:cNvPr>
          <p:cNvGraphicFramePr>
            <a:graphicFrameLocks noGrp="1"/>
          </p:cNvGraphicFramePr>
          <p:nvPr/>
        </p:nvGraphicFramePr>
        <p:xfrm>
          <a:off x="5076825" y="3090863"/>
          <a:ext cx="1511300" cy="768350"/>
        </p:xfrm>
        <a:graphic>
          <a:graphicData uri="http://schemas.openxmlformats.org/drawingml/2006/table">
            <a:tbl>
              <a:tblPr/>
              <a:tblGrid>
                <a:gridCol w="487363">
                  <a:extLst>
                    <a:ext uri="{9D8B030D-6E8A-4147-A177-3AD203B41FA5}">
                      <a16:colId xmlns:a16="http://schemas.microsoft.com/office/drawing/2014/main" val="764321830"/>
                    </a:ext>
                  </a:extLst>
                </a:gridCol>
                <a:gridCol w="1023937">
                  <a:extLst>
                    <a:ext uri="{9D8B030D-6E8A-4147-A177-3AD203B41FA5}">
                      <a16:colId xmlns:a16="http://schemas.microsoft.com/office/drawing/2014/main" val="209557935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62895128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97838501"/>
                  </a:ext>
                </a:extLst>
              </a:tr>
            </a:tbl>
          </a:graphicData>
        </a:graphic>
      </p:graphicFrame>
      <p:sp>
        <p:nvSpPr>
          <p:cNvPr id="274483" name="AutoShape 51" descr="Flowchart: Magnetic Disk 12">
            <a:extLst>
              <a:ext uri="{FF2B5EF4-FFF2-40B4-BE49-F238E27FC236}">
                <a16:creationId xmlns:a16="http://schemas.microsoft.com/office/drawing/2014/main" id="{40486DCA-90C9-010D-2130-4B05D0C1AA7B}"/>
              </a:ext>
            </a:extLst>
          </p:cNvPr>
          <p:cNvSpPr>
            <a:spLocks/>
          </p:cNvSpPr>
          <p:nvPr/>
        </p:nvSpPr>
        <p:spPr bwMode="auto">
          <a:xfrm>
            <a:off x="4714875" y="2373313"/>
            <a:ext cx="2232025" cy="17033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4484" name="Text Box 52" descr="TextBox 13">
            <a:extLst>
              <a:ext uri="{FF2B5EF4-FFF2-40B4-BE49-F238E27FC236}">
                <a16:creationId xmlns:a16="http://schemas.microsoft.com/office/drawing/2014/main" id="{3942DCA1-BEBA-A248-BC3D-E57741817FBE}"/>
              </a:ext>
            </a:extLst>
          </p:cNvPr>
          <p:cNvSpPr txBox="1">
            <a:spLocks/>
          </p:cNvSpPr>
          <p:nvPr/>
        </p:nvSpPr>
        <p:spPr bwMode="auto">
          <a:xfrm>
            <a:off x="5300663" y="2035175"/>
            <a:ext cx="10604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
        <p:nvSpPr>
          <p:cNvPr id="274485" name="Text Box 53" descr="TextBox 14">
            <a:extLst>
              <a:ext uri="{FF2B5EF4-FFF2-40B4-BE49-F238E27FC236}">
                <a16:creationId xmlns:a16="http://schemas.microsoft.com/office/drawing/2014/main" id="{CE42331B-2636-150A-505F-FDEAEB22F5CA}"/>
              </a:ext>
            </a:extLst>
          </p:cNvPr>
          <p:cNvSpPr txBox="1">
            <a:spLocks/>
          </p:cNvSpPr>
          <p:nvPr/>
        </p:nvSpPr>
        <p:spPr bwMode="auto">
          <a:xfrm>
            <a:off x="2097088" y="1839913"/>
            <a:ext cx="5318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LOG</a:t>
            </a:r>
          </a:p>
        </p:txBody>
      </p:sp>
      <p:sp>
        <p:nvSpPr>
          <p:cNvPr id="274486" name="Text Box 54" descr="TextBox 15">
            <a:extLst>
              <a:ext uri="{FF2B5EF4-FFF2-40B4-BE49-F238E27FC236}">
                <a16:creationId xmlns:a16="http://schemas.microsoft.com/office/drawing/2014/main" id="{C2592FE9-5262-A37D-852C-6781A31FC6D6}"/>
              </a:ext>
            </a:extLst>
          </p:cNvPr>
          <p:cNvSpPr txBox="1">
            <a:spLocks/>
          </p:cNvSpPr>
          <p:nvPr/>
        </p:nvSpPr>
        <p:spPr bwMode="auto">
          <a:xfrm>
            <a:off x="517525" y="4878388"/>
            <a:ext cx="7042150" cy="105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just"/>
            <a:r>
              <a:rPr lang="en-US" altLang="en-US" sz="1600">
                <a:solidFill>
                  <a:srgbClr val="006600"/>
                </a:solidFill>
              </a:rPr>
              <a:t>Under deferred recovery method, after system crash the </a:t>
            </a:r>
          </a:p>
          <a:p>
            <a:pPr algn="just"/>
            <a:r>
              <a:rPr lang="en-US" altLang="en-US" sz="1600">
                <a:solidFill>
                  <a:srgbClr val="006600"/>
                </a:solidFill>
              </a:rPr>
              <a:t>algorithm looks at LOG enteries for all transactions Ti if the entry of</a:t>
            </a:r>
          </a:p>
          <a:p>
            <a:pPr algn="just"/>
            <a:r>
              <a:rPr lang="en-US" altLang="en-US" sz="1600">
                <a:solidFill>
                  <a:srgbClr val="006600"/>
                </a:solidFill>
              </a:rPr>
              <a:t>both &lt;start, Ti&gt; and &lt;commit, Ti&gt; is present then for all write </a:t>
            </a:r>
          </a:p>
          <a:p>
            <a:pPr algn="just"/>
            <a:r>
              <a:rPr lang="en-US" altLang="en-US" sz="1600">
                <a:solidFill>
                  <a:srgbClr val="006600"/>
                </a:solidFill>
              </a:rPr>
              <a:t>operations REDO will be carried out i.e., replacing with new value</a:t>
            </a:r>
          </a:p>
        </p:txBody>
      </p:sp>
    </p:spTree>
  </p:cSld>
  <p:clrMapOvr>
    <a:masterClrMapping/>
  </p:clrMapOvr>
  <p:transition spd="med"/>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2" descr="Title 1">
            <a:extLst>
              <a:ext uri="{FF2B5EF4-FFF2-40B4-BE49-F238E27FC236}">
                <a16:creationId xmlns:a16="http://schemas.microsoft.com/office/drawing/2014/main" id="{CFA1F008-79BC-0EF9-708A-4CC9D3F59F0A}"/>
              </a:ext>
            </a:extLst>
          </p:cNvPr>
          <p:cNvSpPr>
            <a:spLocks noChangeArrowheads="1"/>
          </p:cNvSpPr>
          <p:nvPr>
            <p:ph type="title"/>
          </p:nvPr>
        </p:nvSpPr>
        <p:spPr/>
        <p:txBody>
          <a:bodyPr/>
          <a:lstStyle/>
          <a:p>
            <a:r>
              <a:rPr lang="en-US" altLang="en-US"/>
              <a:t>Deferred Database Modification</a:t>
            </a:r>
          </a:p>
        </p:txBody>
      </p:sp>
      <p:sp>
        <p:nvSpPr>
          <p:cNvPr id="275459" name="Rectangle 3" descr="Content Placeholder 2">
            <a:extLst>
              <a:ext uri="{FF2B5EF4-FFF2-40B4-BE49-F238E27FC236}">
                <a16:creationId xmlns:a16="http://schemas.microsoft.com/office/drawing/2014/main" id="{EB803255-0DBE-163A-E334-527AFCFA33AA}"/>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Example of Deferred based recovery</a:t>
            </a:r>
          </a:p>
          <a:p>
            <a:pPr marL="234950" indent="-234950">
              <a:spcBef>
                <a:spcPts val="300"/>
              </a:spcBef>
            </a:pPr>
            <a:r>
              <a:rPr lang="en-US" altLang="en-US" sz="1600"/>
              <a:t>Consider log entries for two  transactions T1 and T2 as follows.</a:t>
            </a:r>
          </a:p>
        </p:txBody>
      </p:sp>
      <p:sp>
        <p:nvSpPr>
          <p:cNvPr id="275460" name="Text Box 4" descr="Date Placeholder 3">
            <a:extLst>
              <a:ext uri="{FF2B5EF4-FFF2-40B4-BE49-F238E27FC236}">
                <a16:creationId xmlns:a16="http://schemas.microsoft.com/office/drawing/2014/main" id="{6DE77342-63B6-2D7E-7058-BE940FB0DF9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5461" name="Text Box 5" descr="Slide Number Placeholder 5">
            <a:extLst>
              <a:ext uri="{FF2B5EF4-FFF2-40B4-BE49-F238E27FC236}">
                <a16:creationId xmlns:a16="http://schemas.microsoft.com/office/drawing/2014/main" id="{8AFE3C4A-1FD6-419F-0CFB-19FC7B62C0F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2694DF0-5349-4802-A13F-3A0A5023E2B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75462" name="Group 6">
            <a:extLst>
              <a:ext uri="{FF2B5EF4-FFF2-40B4-BE49-F238E27FC236}">
                <a16:creationId xmlns:a16="http://schemas.microsoft.com/office/drawing/2014/main" id="{330F53F8-F9EE-F475-C813-48979274117C}"/>
              </a:ext>
            </a:extLst>
          </p:cNvPr>
          <p:cNvGraphicFramePr>
            <a:graphicFrameLocks noGrp="1"/>
          </p:cNvGraphicFramePr>
          <p:nvPr/>
        </p:nvGraphicFramePr>
        <p:xfrm>
          <a:off x="1198563" y="2170113"/>
          <a:ext cx="2736850" cy="2241550"/>
        </p:xfrm>
        <a:graphic>
          <a:graphicData uri="http://schemas.openxmlformats.org/drawingml/2006/table">
            <a:tbl>
              <a:tblPr/>
              <a:tblGrid>
                <a:gridCol w="2736850">
                  <a:extLst>
                    <a:ext uri="{9D8B030D-6E8A-4147-A177-3AD203B41FA5}">
                      <a16:colId xmlns:a16="http://schemas.microsoft.com/office/drawing/2014/main" val="3495272378"/>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42572239"/>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T1, Q, 100,</a:t>
                      </a:r>
                      <a:r>
                        <a:rPr kumimoji="0" lang="en-US" altLang="en-US" sz="1600" b="0"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82832753"/>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9838489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4838740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T2, P, 55, 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1999531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06255017"/>
                  </a:ext>
                </a:extLst>
              </a:tr>
            </a:tbl>
          </a:graphicData>
        </a:graphic>
      </p:graphicFrame>
      <p:sp>
        <p:nvSpPr>
          <p:cNvPr id="275488" name="Line 32" descr="Straight Arrow Connector 8">
            <a:extLst>
              <a:ext uri="{FF2B5EF4-FFF2-40B4-BE49-F238E27FC236}">
                <a16:creationId xmlns:a16="http://schemas.microsoft.com/office/drawing/2014/main" id="{A978A6CD-4681-90EB-5C7B-5B7F4793C079}"/>
              </a:ext>
            </a:extLst>
          </p:cNvPr>
          <p:cNvSpPr>
            <a:spLocks noChangeShapeType="1"/>
          </p:cNvSpPr>
          <p:nvPr/>
        </p:nvSpPr>
        <p:spPr bwMode="auto">
          <a:xfrm>
            <a:off x="754063" y="4030663"/>
            <a:ext cx="457200" cy="0"/>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5489" name="Text Box 33" descr="TextBox 10">
            <a:extLst>
              <a:ext uri="{FF2B5EF4-FFF2-40B4-BE49-F238E27FC236}">
                <a16:creationId xmlns:a16="http://schemas.microsoft.com/office/drawing/2014/main" id="{3466E13F-AB87-E889-F228-7586082541CB}"/>
              </a:ext>
            </a:extLst>
          </p:cNvPr>
          <p:cNvSpPr txBox="1">
            <a:spLocks/>
          </p:cNvSpPr>
          <p:nvPr/>
        </p:nvSpPr>
        <p:spPr bwMode="auto">
          <a:xfrm>
            <a:off x="223838" y="3768725"/>
            <a:ext cx="769937"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FF0000"/>
                </a:solidFill>
              </a:rPr>
              <a:t>System</a:t>
            </a:r>
          </a:p>
          <a:p>
            <a:r>
              <a:rPr lang="en-US" altLang="en-US" sz="1400">
                <a:solidFill>
                  <a:srgbClr val="FF0000"/>
                </a:solidFill>
              </a:rPr>
              <a:t>Crash</a:t>
            </a:r>
          </a:p>
        </p:txBody>
      </p:sp>
      <p:graphicFrame>
        <p:nvGraphicFramePr>
          <p:cNvPr id="275490" name="Group 34">
            <a:extLst>
              <a:ext uri="{FF2B5EF4-FFF2-40B4-BE49-F238E27FC236}">
                <a16:creationId xmlns:a16="http://schemas.microsoft.com/office/drawing/2014/main" id="{ACA15E44-B221-C85D-E9B4-D6AD9E98D497}"/>
              </a:ext>
            </a:extLst>
          </p:cNvPr>
          <p:cNvGraphicFramePr>
            <a:graphicFrameLocks noGrp="1"/>
          </p:cNvGraphicFramePr>
          <p:nvPr/>
        </p:nvGraphicFramePr>
        <p:xfrm>
          <a:off x="5076825" y="3090863"/>
          <a:ext cx="1511300" cy="768350"/>
        </p:xfrm>
        <a:graphic>
          <a:graphicData uri="http://schemas.openxmlformats.org/drawingml/2006/table">
            <a:tbl>
              <a:tblPr/>
              <a:tblGrid>
                <a:gridCol w="487363">
                  <a:extLst>
                    <a:ext uri="{9D8B030D-6E8A-4147-A177-3AD203B41FA5}">
                      <a16:colId xmlns:a16="http://schemas.microsoft.com/office/drawing/2014/main" val="1876670239"/>
                    </a:ext>
                  </a:extLst>
                </a:gridCol>
                <a:gridCol w="1023937">
                  <a:extLst>
                    <a:ext uri="{9D8B030D-6E8A-4147-A177-3AD203B41FA5}">
                      <a16:colId xmlns:a16="http://schemas.microsoft.com/office/drawing/2014/main" val="83881967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a:t>
                      </a:r>
                      <a:r>
                        <a:rPr kumimoji="0" lang="en-US" altLang="en-US" sz="1800" b="0"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a:t>
                      </a: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5735943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38727008"/>
                  </a:ext>
                </a:extLst>
              </a:tr>
            </a:tbl>
          </a:graphicData>
        </a:graphic>
      </p:graphicFrame>
      <p:sp>
        <p:nvSpPr>
          <p:cNvPr id="275507" name="AutoShape 51" descr="Flowchart: Magnetic Disk 12">
            <a:extLst>
              <a:ext uri="{FF2B5EF4-FFF2-40B4-BE49-F238E27FC236}">
                <a16:creationId xmlns:a16="http://schemas.microsoft.com/office/drawing/2014/main" id="{829BFBCD-F644-6BFA-4E70-5EECF69ECA22}"/>
              </a:ext>
            </a:extLst>
          </p:cNvPr>
          <p:cNvSpPr>
            <a:spLocks/>
          </p:cNvSpPr>
          <p:nvPr/>
        </p:nvSpPr>
        <p:spPr bwMode="auto">
          <a:xfrm>
            <a:off x="4714875" y="2373313"/>
            <a:ext cx="2232025" cy="17033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5508" name="Text Box 52" descr="TextBox 13">
            <a:extLst>
              <a:ext uri="{FF2B5EF4-FFF2-40B4-BE49-F238E27FC236}">
                <a16:creationId xmlns:a16="http://schemas.microsoft.com/office/drawing/2014/main" id="{3EB879A0-C8C0-C83F-7D57-A6D812114822}"/>
              </a:ext>
            </a:extLst>
          </p:cNvPr>
          <p:cNvSpPr txBox="1">
            <a:spLocks/>
          </p:cNvSpPr>
          <p:nvPr/>
        </p:nvSpPr>
        <p:spPr bwMode="auto">
          <a:xfrm>
            <a:off x="5300663" y="2035175"/>
            <a:ext cx="10604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
        <p:nvSpPr>
          <p:cNvPr id="275509" name="Text Box 53" descr="TextBox 14">
            <a:extLst>
              <a:ext uri="{FF2B5EF4-FFF2-40B4-BE49-F238E27FC236}">
                <a16:creationId xmlns:a16="http://schemas.microsoft.com/office/drawing/2014/main" id="{D2944FF8-3529-9D78-014E-E17B1F92F000}"/>
              </a:ext>
            </a:extLst>
          </p:cNvPr>
          <p:cNvSpPr txBox="1">
            <a:spLocks/>
          </p:cNvSpPr>
          <p:nvPr/>
        </p:nvSpPr>
        <p:spPr bwMode="auto">
          <a:xfrm>
            <a:off x="2097088" y="1839913"/>
            <a:ext cx="5318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LOG</a:t>
            </a:r>
          </a:p>
        </p:txBody>
      </p:sp>
      <p:sp>
        <p:nvSpPr>
          <p:cNvPr id="275510" name="Text Box 54" descr="TextBox 15">
            <a:extLst>
              <a:ext uri="{FF2B5EF4-FFF2-40B4-BE49-F238E27FC236}">
                <a16:creationId xmlns:a16="http://schemas.microsoft.com/office/drawing/2014/main" id="{DE46D95D-384E-01EA-F41B-748D995B204D}"/>
              </a:ext>
            </a:extLst>
          </p:cNvPr>
          <p:cNvSpPr txBox="1">
            <a:spLocks/>
          </p:cNvSpPr>
          <p:nvPr/>
        </p:nvSpPr>
        <p:spPr bwMode="auto">
          <a:xfrm>
            <a:off x="1092200" y="4878388"/>
            <a:ext cx="6175375" cy="955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just"/>
            <a:r>
              <a:rPr lang="en-US" altLang="en-US" sz="1400">
                <a:solidFill>
                  <a:srgbClr val="006600"/>
                </a:solidFill>
              </a:rPr>
              <a:t>Under deferred recovery method, after system crash the </a:t>
            </a:r>
          </a:p>
          <a:p>
            <a:pPr algn="just"/>
            <a:r>
              <a:rPr lang="en-US" altLang="en-US" sz="1400">
                <a:solidFill>
                  <a:srgbClr val="006600"/>
                </a:solidFill>
              </a:rPr>
              <a:t>algorithm looks at LOG enteries for all transactions Ti if the entry of</a:t>
            </a:r>
          </a:p>
          <a:p>
            <a:pPr algn="just"/>
            <a:r>
              <a:rPr lang="en-US" altLang="en-US" sz="1400">
                <a:solidFill>
                  <a:srgbClr val="006600"/>
                </a:solidFill>
              </a:rPr>
              <a:t>both &lt;start, Ti&gt; and &lt;commit, Ti&gt; is present then for all write </a:t>
            </a:r>
          </a:p>
          <a:p>
            <a:pPr algn="just"/>
            <a:r>
              <a:rPr lang="en-US" altLang="en-US" sz="1400">
                <a:solidFill>
                  <a:srgbClr val="006600"/>
                </a:solidFill>
              </a:rPr>
              <a:t>operations REDO will be carried out i.e., replacing with new value</a:t>
            </a:r>
          </a:p>
        </p:txBody>
      </p:sp>
      <p:sp>
        <p:nvSpPr>
          <p:cNvPr id="275511" name="Line 55" descr="Straight Arrow Connector 17">
            <a:extLst>
              <a:ext uri="{FF2B5EF4-FFF2-40B4-BE49-F238E27FC236}">
                <a16:creationId xmlns:a16="http://schemas.microsoft.com/office/drawing/2014/main" id="{ECC5FDBD-489D-CABB-0B61-475C2EF739E5}"/>
              </a:ext>
            </a:extLst>
          </p:cNvPr>
          <p:cNvSpPr>
            <a:spLocks noChangeShapeType="1"/>
          </p:cNvSpPr>
          <p:nvPr/>
        </p:nvSpPr>
        <p:spPr bwMode="auto">
          <a:xfrm flipH="1">
            <a:off x="6588125" y="3224213"/>
            <a:ext cx="647700" cy="0"/>
          </a:xfrm>
          <a:prstGeom prst="line">
            <a:avLst/>
          </a:prstGeom>
          <a:noFill/>
          <a:ln w="28575" cap="flat" cmpd="sng">
            <a:solidFill>
              <a:srgbClr val="0066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5512" name="Text Box 56" descr="TextBox 18">
            <a:extLst>
              <a:ext uri="{FF2B5EF4-FFF2-40B4-BE49-F238E27FC236}">
                <a16:creationId xmlns:a16="http://schemas.microsoft.com/office/drawing/2014/main" id="{FC99EC37-C008-B520-530F-7F691C284C8A}"/>
              </a:ext>
            </a:extLst>
          </p:cNvPr>
          <p:cNvSpPr txBox="1">
            <a:spLocks/>
          </p:cNvSpPr>
          <p:nvPr/>
        </p:nvSpPr>
        <p:spPr bwMode="auto">
          <a:xfrm>
            <a:off x="7281863" y="3040063"/>
            <a:ext cx="763587"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6600"/>
                </a:solidFill>
              </a:rPr>
              <a:t>REDO</a:t>
            </a:r>
          </a:p>
        </p:txBody>
      </p:sp>
      <p:sp>
        <p:nvSpPr>
          <p:cNvPr id="275513" name="Text Box 57" descr="TextBox 7">
            <a:extLst>
              <a:ext uri="{FF2B5EF4-FFF2-40B4-BE49-F238E27FC236}">
                <a16:creationId xmlns:a16="http://schemas.microsoft.com/office/drawing/2014/main" id="{83B2E5FA-9B18-C6A5-9F02-FF9202359939}"/>
              </a:ext>
            </a:extLst>
          </p:cNvPr>
          <p:cNvSpPr txBox="1">
            <a:spLocks/>
          </p:cNvSpPr>
          <p:nvPr/>
        </p:nvSpPr>
        <p:spPr bwMode="auto">
          <a:xfrm>
            <a:off x="7172325" y="2519363"/>
            <a:ext cx="1758950" cy="573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RECOVERY after</a:t>
            </a:r>
          </a:p>
          <a:p>
            <a:r>
              <a:rPr lang="en-US" altLang="en-US" sz="1600">
                <a:solidFill>
                  <a:srgbClr val="0000FF"/>
                </a:solidFill>
              </a:rPr>
              <a:t>System Crash</a:t>
            </a:r>
          </a:p>
        </p:txBody>
      </p:sp>
    </p:spTree>
  </p:cSld>
  <p:clrMapOvr>
    <a:masterClrMapping/>
  </p:clrMapOvr>
  <p:transition spd="med"/>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descr="Title 1">
            <a:extLst>
              <a:ext uri="{FF2B5EF4-FFF2-40B4-BE49-F238E27FC236}">
                <a16:creationId xmlns:a16="http://schemas.microsoft.com/office/drawing/2014/main" id="{2C35A3D6-CC9D-334C-CFBC-894A4520582C}"/>
              </a:ext>
            </a:extLst>
          </p:cNvPr>
          <p:cNvSpPr>
            <a:spLocks noChangeArrowheads="1"/>
          </p:cNvSpPr>
          <p:nvPr>
            <p:ph type="title"/>
          </p:nvPr>
        </p:nvSpPr>
        <p:spPr/>
        <p:txBody>
          <a:bodyPr/>
          <a:lstStyle/>
          <a:p>
            <a:r>
              <a:rPr lang="en-US" altLang="en-US"/>
              <a:t>Deferred Database Modification</a:t>
            </a:r>
          </a:p>
        </p:txBody>
      </p:sp>
      <p:graphicFrame>
        <p:nvGraphicFramePr>
          <p:cNvPr id="276483" name="Group 3">
            <a:extLst>
              <a:ext uri="{FF2B5EF4-FFF2-40B4-BE49-F238E27FC236}">
                <a16:creationId xmlns:a16="http://schemas.microsoft.com/office/drawing/2014/main" id="{802BF71F-46BB-985C-08A3-39C9290158CA}"/>
              </a:ext>
            </a:extLst>
          </p:cNvPr>
          <p:cNvGraphicFramePr>
            <a:graphicFrameLocks noGrp="1"/>
          </p:cNvGraphicFramePr>
          <p:nvPr/>
        </p:nvGraphicFramePr>
        <p:xfrm>
          <a:off x="785813" y="2276475"/>
          <a:ext cx="3429000" cy="2305050"/>
        </p:xfrm>
        <a:graphic>
          <a:graphicData uri="http://schemas.openxmlformats.org/drawingml/2006/table">
            <a:tbl>
              <a:tblPr/>
              <a:tblGrid>
                <a:gridCol w="3429000">
                  <a:extLst>
                    <a:ext uri="{9D8B030D-6E8A-4147-A177-3AD203B41FA5}">
                      <a16:colId xmlns:a16="http://schemas.microsoft.com/office/drawing/2014/main" val="3295427488"/>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1836224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5064987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063982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6270613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9975972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80557084"/>
                  </a:ext>
                </a:extLst>
              </a:tr>
            </a:tbl>
          </a:graphicData>
        </a:graphic>
      </p:graphicFrame>
      <p:sp>
        <p:nvSpPr>
          <p:cNvPr id="276509" name="Text Box 29" descr="Date Placeholder 3">
            <a:extLst>
              <a:ext uri="{FF2B5EF4-FFF2-40B4-BE49-F238E27FC236}">
                <a16:creationId xmlns:a16="http://schemas.microsoft.com/office/drawing/2014/main" id="{39F6A0FA-8FCB-3B95-6F23-406C8F7A831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6510" name="Text Box 30" descr="Slide Number Placeholder 5">
            <a:extLst>
              <a:ext uri="{FF2B5EF4-FFF2-40B4-BE49-F238E27FC236}">
                <a16:creationId xmlns:a16="http://schemas.microsoft.com/office/drawing/2014/main" id="{D5F7CDD8-4B7A-8562-4CD7-02BC83D8BF0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8929B8E-419C-4BF5-AE34-31C34E044AB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259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76511" name="Text Box 31" descr="TextBox 7">
            <a:extLst>
              <a:ext uri="{FF2B5EF4-FFF2-40B4-BE49-F238E27FC236}">
                <a16:creationId xmlns:a16="http://schemas.microsoft.com/office/drawing/2014/main" id="{3020C4BB-177E-475B-BE1A-49EC94247A6C}"/>
              </a:ext>
            </a:extLst>
          </p:cNvPr>
          <p:cNvSpPr txBox="1">
            <a:spLocks/>
          </p:cNvSpPr>
          <p:nvPr/>
        </p:nvSpPr>
        <p:spPr bwMode="auto">
          <a:xfrm>
            <a:off x="800100" y="1127125"/>
            <a:ext cx="7510463"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on stable storage after systems crash,</a:t>
            </a:r>
          </a:p>
          <a:p>
            <a:r>
              <a:rPr lang="en-US" altLang="en-US"/>
              <a:t>then  recovery algorithm should carry out any REDO operation ?</a:t>
            </a:r>
          </a:p>
        </p:txBody>
      </p:sp>
      <p:graphicFrame>
        <p:nvGraphicFramePr>
          <p:cNvPr id="276512" name="Group 32">
            <a:extLst>
              <a:ext uri="{FF2B5EF4-FFF2-40B4-BE49-F238E27FC236}">
                <a16:creationId xmlns:a16="http://schemas.microsoft.com/office/drawing/2014/main" id="{2295F5F3-EEC3-3908-0083-38443BB473B8}"/>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2425937674"/>
                    </a:ext>
                  </a:extLst>
                </a:gridCol>
                <a:gridCol w="2151062">
                  <a:extLst>
                    <a:ext uri="{9D8B030D-6E8A-4147-A177-3AD203B41FA5}">
                      <a16:colId xmlns:a16="http://schemas.microsoft.com/office/drawing/2014/main" val="4013191422"/>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29697575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6855327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56504355"/>
                  </a:ext>
                </a:extLst>
              </a:tr>
            </a:tbl>
          </a:graphicData>
        </a:graphic>
      </p:graphicFrame>
      <p:sp>
        <p:nvSpPr>
          <p:cNvPr id="276536" name="AutoShape 56" descr="Flowchart: Magnetic Disk 9">
            <a:extLst>
              <a:ext uri="{FF2B5EF4-FFF2-40B4-BE49-F238E27FC236}">
                <a16:creationId xmlns:a16="http://schemas.microsoft.com/office/drawing/2014/main" id="{7E8FA8B8-B782-4BA7-9A4C-6FD73D4EF535}"/>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6537" name="Text Box 57" descr="TextBox 10">
            <a:extLst>
              <a:ext uri="{FF2B5EF4-FFF2-40B4-BE49-F238E27FC236}">
                <a16:creationId xmlns:a16="http://schemas.microsoft.com/office/drawing/2014/main" id="{129F6C1C-3DD8-8CA4-FE38-56F62AAC7A0C}"/>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descr="Title 1">
            <a:extLst>
              <a:ext uri="{FF2B5EF4-FFF2-40B4-BE49-F238E27FC236}">
                <a16:creationId xmlns:a16="http://schemas.microsoft.com/office/drawing/2014/main" id="{DA3A7BAB-2FE1-014B-27DC-2C35E91D0153}"/>
              </a:ext>
            </a:extLst>
          </p:cNvPr>
          <p:cNvSpPr>
            <a:spLocks noChangeArrowheads="1"/>
          </p:cNvSpPr>
          <p:nvPr>
            <p:ph type="title"/>
          </p:nvPr>
        </p:nvSpPr>
        <p:spPr/>
        <p:txBody>
          <a:bodyPr/>
          <a:lstStyle/>
          <a:p>
            <a:r>
              <a:rPr lang="en-US" altLang="en-US"/>
              <a:t>Deferred Database Modification</a:t>
            </a:r>
          </a:p>
        </p:txBody>
      </p:sp>
      <p:graphicFrame>
        <p:nvGraphicFramePr>
          <p:cNvPr id="277507" name="Group 3">
            <a:extLst>
              <a:ext uri="{FF2B5EF4-FFF2-40B4-BE49-F238E27FC236}">
                <a16:creationId xmlns:a16="http://schemas.microsoft.com/office/drawing/2014/main" id="{06A06080-1316-63E7-8EE6-7C2BFE37882B}"/>
              </a:ext>
            </a:extLst>
          </p:cNvPr>
          <p:cNvGraphicFramePr>
            <a:graphicFrameLocks noGrp="1"/>
          </p:cNvGraphicFramePr>
          <p:nvPr/>
        </p:nvGraphicFramePr>
        <p:xfrm>
          <a:off x="357188" y="2276475"/>
          <a:ext cx="3278187" cy="2305050"/>
        </p:xfrm>
        <a:graphic>
          <a:graphicData uri="http://schemas.openxmlformats.org/drawingml/2006/table">
            <a:tbl>
              <a:tblPr/>
              <a:tblGrid>
                <a:gridCol w="3278187">
                  <a:extLst>
                    <a:ext uri="{9D8B030D-6E8A-4147-A177-3AD203B41FA5}">
                      <a16:colId xmlns:a16="http://schemas.microsoft.com/office/drawing/2014/main" val="25317109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7350404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680594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9887407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1922547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6442618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95660758"/>
                  </a:ext>
                </a:extLst>
              </a:tr>
            </a:tbl>
          </a:graphicData>
        </a:graphic>
      </p:graphicFrame>
      <p:sp>
        <p:nvSpPr>
          <p:cNvPr id="277533" name="Text Box 29" descr="Date Placeholder 3">
            <a:extLst>
              <a:ext uri="{FF2B5EF4-FFF2-40B4-BE49-F238E27FC236}">
                <a16:creationId xmlns:a16="http://schemas.microsoft.com/office/drawing/2014/main" id="{064A271A-DBC3-046B-6115-0F8C0C3E06D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7534" name="Text Box 30" descr="Slide Number Placeholder 5">
            <a:extLst>
              <a:ext uri="{FF2B5EF4-FFF2-40B4-BE49-F238E27FC236}">
                <a16:creationId xmlns:a16="http://schemas.microsoft.com/office/drawing/2014/main" id="{FE2FFD11-9FAC-668C-47AD-81D1C5B2D20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E0C747D-2A28-4F6E-B19F-2353CD188D6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77535" name="Text Box 31" descr="TextBox 7">
            <a:extLst>
              <a:ext uri="{FF2B5EF4-FFF2-40B4-BE49-F238E27FC236}">
                <a16:creationId xmlns:a16="http://schemas.microsoft.com/office/drawing/2014/main" id="{21DBB0F3-00A1-BD77-7925-088CC8BC1318}"/>
              </a:ext>
            </a:extLst>
          </p:cNvPr>
          <p:cNvSpPr txBox="1">
            <a:spLocks/>
          </p:cNvSpPr>
          <p:nvPr/>
        </p:nvSpPr>
        <p:spPr bwMode="auto">
          <a:xfrm>
            <a:off x="800100" y="1127125"/>
            <a:ext cx="7510463"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on stable storage after systems crash,</a:t>
            </a:r>
          </a:p>
          <a:p>
            <a:r>
              <a:rPr lang="en-US" altLang="en-US"/>
              <a:t>then  recovery algorithm should carry out any REDO operation ?</a:t>
            </a:r>
          </a:p>
        </p:txBody>
      </p:sp>
      <p:sp>
        <p:nvSpPr>
          <p:cNvPr id="277536" name="Text Box 32" descr="TextBox 8">
            <a:extLst>
              <a:ext uri="{FF2B5EF4-FFF2-40B4-BE49-F238E27FC236}">
                <a16:creationId xmlns:a16="http://schemas.microsoft.com/office/drawing/2014/main" id="{681E6207-3EFC-4607-671C-7D83113E70CE}"/>
              </a:ext>
            </a:extLst>
          </p:cNvPr>
          <p:cNvSpPr txBox="1">
            <a:spLocks/>
          </p:cNvSpPr>
          <p:nvPr/>
        </p:nvSpPr>
        <p:spPr bwMode="auto">
          <a:xfrm>
            <a:off x="954088" y="4889500"/>
            <a:ext cx="6662737" cy="928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Answer:</a:t>
            </a:r>
          </a:p>
          <a:p>
            <a:r>
              <a:rPr lang="en-US" altLang="en-US"/>
              <a:t>No REDO operation need to be taken because no commit</a:t>
            </a:r>
          </a:p>
          <a:p>
            <a:r>
              <a:rPr lang="en-US" altLang="en-US"/>
              <a:t>LOG entry found for any transaction</a:t>
            </a:r>
          </a:p>
        </p:txBody>
      </p:sp>
      <p:graphicFrame>
        <p:nvGraphicFramePr>
          <p:cNvPr id="277537" name="Group 33">
            <a:extLst>
              <a:ext uri="{FF2B5EF4-FFF2-40B4-BE49-F238E27FC236}">
                <a16:creationId xmlns:a16="http://schemas.microsoft.com/office/drawing/2014/main" id="{30BC98FF-3FF6-A27A-E1AB-90790A4AD9B9}"/>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3055598058"/>
                    </a:ext>
                  </a:extLst>
                </a:gridCol>
                <a:gridCol w="2151062">
                  <a:extLst>
                    <a:ext uri="{9D8B030D-6E8A-4147-A177-3AD203B41FA5}">
                      <a16:colId xmlns:a16="http://schemas.microsoft.com/office/drawing/2014/main" val="2004042324"/>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9361462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23567813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68509673"/>
                  </a:ext>
                </a:extLst>
              </a:tr>
            </a:tbl>
          </a:graphicData>
        </a:graphic>
      </p:graphicFrame>
      <p:sp>
        <p:nvSpPr>
          <p:cNvPr id="277561" name="AutoShape 57" descr="Flowchart: Magnetic Disk 10">
            <a:extLst>
              <a:ext uri="{FF2B5EF4-FFF2-40B4-BE49-F238E27FC236}">
                <a16:creationId xmlns:a16="http://schemas.microsoft.com/office/drawing/2014/main" id="{3CED401F-6EB9-4DC7-D024-4168A31150DD}"/>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7562" name="Text Box 58" descr="TextBox 11">
            <a:extLst>
              <a:ext uri="{FF2B5EF4-FFF2-40B4-BE49-F238E27FC236}">
                <a16:creationId xmlns:a16="http://schemas.microsoft.com/office/drawing/2014/main" id="{8749977F-7015-DACB-5EC1-237A86A2A1E7}"/>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2" descr="Title 1">
            <a:extLst>
              <a:ext uri="{FF2B5EF4-FFF2-40B4-BE49-F238E27FC236}">
                <a16:creationId xmlns:a16="http://schemas.microsoft.com/office/drawing/2014/main" id="{251C3CDD-8883-78D4-EEA6-F4AF72CCA3E7}"/>
              </a:ext>
            </a:extLst>
          </p:cNvPr>
          <p:cNvSpPr>
            <a:spLocks noChangeArrowheads="1"/>
          </p:cNvSpPr>
          <p:nvPr>
            <p:ph type="title"/>
          </p:nvPr>
        </p:nvSpPr>
        <p:spPr/>
        <p:txBody>
          <a:bodyPr/>
          <a:lstStyle/>
          <a:p>
            <a:r>
              <a:rPr lang="en-US" altLang="en-US"/>
              <a:t>Deferred Database Modification</a:t>
            </a:r>
          </a:p>
        </p:txBody>
      </p:sp>
      <p:graphicFrame>
        <p:nvGraphicFramePr>
          <p:cNvPr id="278531" name="Group 3">
            <a:extLst>
              <a:ext uri="{FF2B5EF4-FFF2-40B4-BE49-F238E27FC236}">
                <a16:creationId xmlns:a16="http://schemas.microsoft.com/office/drawing/2014/main" id="{50A7FDB4-C903-1912-1C35-8C22B8DC01DF}"/>
              </a:ext>
            </a:extLst>
          </p:cNvPr>
          <p:cNvGraphicFramePr>
            <a:graphicFrameLocks noGrp="1"/>
          </p:cNvGraphicFramePr>
          <p:nvPr/>
        </p:nvGraphicFramePr>
        <p:xfrm>
          <a:off x="714375" y="2214563"/>
          <a:ext cx="3457575" cy="2689225"/>
        </p:xfrm>
        <a:graphic>
          <a:graphicData uri="http://schemas.openxmlformats.org/drawingml/2006/table">
            <a:tbl>
              <a:tblPr/>
              <a:tblGrid>
                <a:gridCol w="3457575">
                  <a:extLst>
                    <a:ext uri="{9D8B030D-6E8A-4147-A177-3AD203B41FA5}">
                      <a16:colId xmlns:a16="http://schemas.microsoft.com/office/drawing/2014/main" val="29988382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9311869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8709665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7701491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1641101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090955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515732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38332809"/>
                  </a:ext>
                </a:extLst>
              </a:tr>
            </a:tbl>
          </a:graphicData>
        </a:graphic>
      </p:graphicFrame>
      <p:sp>
        <p:nvSpPr>
          <p:cNvPr id="278561" name="Text Box 33" descr="Date Placeholder 3">
            <a:extLst>
              <a:ext uri="{FF2B5EF4-FFF2-40B4-BE49-F238E27FC236}">
                <a16:creationId xmlns:a16="http://schemas.microsoft.com/office/drawing/2014/main" id="{B0354159-3BB3-76DF-FA1F-31349A77DB3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8562" name="Text Box 34" descr="Slide Number Placeholder 5">
            <a:extLst>
              <a:ext uri="{FF2B5EF4-FFF2-40B4-BE49-F238E27FC236}">
                <a16:creationId xmlns:a16="http://schemas.microsoft.com/office/drawing/2014/main" id="{3E11CB0F-20AA-F595-4EF8-B24DE01E4C0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D585068-1135-4BBA-B5E6-0E2E642A4DF0}"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78563" name="Text Box 35" descr="TextBox 7">
            <a:extLst>
              <a:ext uri="{FF2B5EF4-FFF2-40B4-BE49-F238E27FC236}">
                <a16:creationId xmlns:a16="http://schemas.microsoft.com/office/drawing/2014/main" id="{75F92E28-5A8A-68B0-9C96-F0574DACB889}"/>
              </a:ext>
            </a:extLst>
          </p:cNvPr>
          <p:cNvSpPr txBox="1">
            <a:spLocks/>
          </p:cNvSpPr>
          <p:nvPr/>
        </p:nvSpPr>
        <p:spPr bwMode="auto">
          <a:xfrm>
            <a:off x="800100" y="1127125"/>
            <a:ext cx="7510463"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on stable storage after systems crash,</a:t>
            </a:r>
          </a:p>
          <a:p>
            <a:r>
              <a:rPr lang="en-US" altLang="en-US"/>
              <a:t>then  recovery algorithm should carry out any REDO operation ?</a:t>
            </a:r>
          </a:p>
        </p:txBody>
      </p:sp>
      <p:graphicFrame>
        <p:nvGraphicFramePr>
          <p:cNvPr id="278564" name="Group 36">
            <a:extLst>
              <a:ext uri="{FF2B5EF4-FFF2-40B4-BE49-F238E27FC236}">
                <a16:creationId xmlns:a16="http://schemas.microsoft.com/office/drawing/2014/main" id="{A74AD14D-D4FA-CAA1-72E2-970D0A77D404}"/>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1254876149"/>
                    </a:ext>
                  </a:extLst>
                </a:gridCol>
                <a:gridCol w="2151062">
                  <a:extLst>
                    <a:ext uri="{9D8B030D-6E8A-4147-A177-3AD203B41FA5}">
                      <a16:colId xmlns:a16="http://schemas.microsoft.com/office/drawing/2014/main" val="3861942181"/>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2754928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494996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65737550"/>
                  </a:ext>
                </a:extLst>
              </a:tr>
            </a:tbl>
          </a:graphicData>
        </a:graphic>
      </p:graphicFrame>
      <p:sp>
        <p:nvSpPr>
          <p:cNvPr id="278588" name="AutoShape 60" descr="Flowchart: Magnetic Disk 9">
            <a:extLst>
              <a:ext uri="{FF2B5EF4-FFF2-40B4-BE49-F238E27FC236}">
                <a16:creationId xmlns:a16="http://schemas.microsoft.com/office/drawing/2014/main" id="{8EB3DDB8-BC36-BA30-E3FF-D8E582F9CDF2}"/>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8589" name="Text Box 61" descr="TextBox 10">
            <a:extLst>
              <a:ext uri="{FF2B5EF4-FFF2-40B4-BE49-F238E27FC236}">
                <a16:creationId xmlns:a16="http://schemas.microsoft.com/office/drawing/2014/main" id="{8DBE6C79-C1DF-5306-3806-045053B6DB13}"/>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2" descr="Title 1">
            <a:extLst>
              <a:ext uri="{FF2B5EF4-FFF2-40B4-BE49-F238E27FC236}">
                <a16:creationId xmlns:a16="http://schemas.microsoft.com/office/drawing/2014/main" id="{DB0D0E1F-7535-A526-2AE7-353E627E49CC}"/>
              </a:ext>
            </a:extLst>
          </p:cNvPr>
          <p:cNvSpPr>
            <a:spLocks noChangeArrowheads="1"/>
          </p:cNvSpPr>
          <p:nvPr>
            <p:ph type="title"/>
          </p:nvPr>
        </p:nvSpPr>
        <p:spPr/>
        <p:txBody>
          <a:bodyPr/>
          <a:lstStyle/>
          <a:p>
            <a:r>
              <a:rPr lang="en-US" altLang="en-US"/>
              <a:t>Deferred Database Modification</a:t>
            </a:r>
          </a:p>
        </p:txBody>
      </p:sp>
      <p:graphicFrame>
        <p:nvGraphicFramePr>
          <p:cNvPr id="279555" name="Group 3">
            <a:extLst>
              <a:ext uri="{FF2B5EF4-FFF2-40B4-BE49-F238E27FC236}">
                <a16:creationId xmlns:a16="http://schemas.microsoft.com/office/drawing/2014/main" id="{33BE1DE1-1B83-4AC2-8668-BCD54395E9E9}"/>
              </a:ext>
            </a:extLst>
          </p:cNvPr>
          <p:cNvGraphicFramePr>
            <a:graphicFrameLocks noGrp="1"/>
          </p:cNvGraphicFramePr>
          <p:nvPr/>
        </p:nvGraphicFramePr>
        <p:xfrm>
          <a:off x="785813" y="2214563"/>
          <a:ext cx="3457575" cy="2689225"/>
        </p:xfrm>
        <a:graphic>
          <a:graphicData uri="http://schemas.openxmlformats.org/drawingml/2006/table">
            <a:tbl>
              <a:tblPr/>
              <a:tblGrid>
                <a:gridCol w="3457575">
                  <a:extLst>
                    <a:ext uri="{9D8B030D-6E8A-4147-A177-3AD203B41FA5}">
                      <a16:colId xmlns:a16="http://schemas.microsoft.com/office/drawing/2014/main" val="64888132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393002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9256321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3041862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2762328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711319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9962699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76195529"/>
                  </a:ext>
                </a:extLst>
              </a:tr>
            </a:tbl>
          </a:graphicData>
        </a:graphic>
      </p:graphicFrame>
      <p:sp>
        <p:nvSpPr>
          <p:cNvPr id="279585" name="Text Box 33" descr="Date Placeholder 3">
            <a:extLst>
              <a:ext uri="{FF2B5EF4-FFF2-40B4-BE49-F238E27FC236}">
                <a16:creationId xmlns:a16="http://schemas.microsoft.com/office/drawing/2014/main" id="{9D4AB027-BF0B-FF21-FEB7-5F6C8F91D02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79586" name="Text Box 34" descr="Slide Number Placeholder 5">
            <a:extLst>
              <a:ext uri="{FF2B5EF4-FFF2-40B4-BE49-F238E27FC236}">
                <a16:creationId xmlns:a16="http://schemas.microsoft.com/office/drawing/2014/main" id="{8406D98F-805A-0F22-5691-F1D5E3A9E34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6F03E66-D4A9-4C49-A3A1-3C2FD0E4145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79587" name="Text Box 35" descr="TextBox 7">
            <a:extLst>
              <a:ext uri="{FF2B5EF4-FFF2-40B4-BE49-F238E27FC236}">
                <a16:creationId xmlns:a16="http://schemas.microsoft.com/office/drawing/2014/main" id="{6DD1BDD6-F4B5-F3A6-7C95-4A48238041CA}"/>
              </a:ext>
            </a:extLst>
          </p:cNvPr>
          <p:cNvSpPr txBox="1">
            <a:spLocks/>
          </p:cNvSpPr>
          <p:nvPr/>
        </p:nvSpPr>
        <p:spPr bwMode="auto">
          <a:xfrm>
            <a:off x="800100" y="1127125"/>
            <a:ext cx="7510463"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on stable storage after systems crash,</a:t>
            </a:r>
          </a:p>
          <a:p>
            <a:r>
              <a:rPr lang="en-US" altLang="en-US"/>
              <a:t>then  recovery algorithm should carry out any REDO operation ?</a:t>
            </a:r>
          </a:p>
        </p:txBody>
      </p:sp>
      <p:sp>
        <p:nvSpPr>
          <p:cNvPr id="279588" name="Text Box 36" descr="TextBox 8">
            <a:extLst>
              <a:ext uri="{FF2B5EF4-FFF2-40B4-BE49-F238E27FC236}">
                <a16:creationId xmlns:a16="http://schemas.microsoft.com/office/drawing/2014/main" id="{DB431EFD-DCA0-C694-6975-F7C2FD90070B}"/>
              </a:ext>
            </a:extLst>
          </p:cNvPr>
          <p:cNvSpPr txBox="1">
            <a:spLocks/>
          </p:cNvSpPr>
          <p:nvPr/>
        </p:nvSpPr>
        <p:spPr bwMode="auto">
          <a:xfrm>
            <a:off x="944563" y="4919663"/>
            <a:ext cx="6896100" cy="1208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Answer:</a:t>
            </a:r>
          </a:p>
          <a:p>
            <a:r>
              <a:rPr lang="en-US" altLang="en-US"/>
              <a:t>REDO operation for transaction T1 to data items A and B</a:t>
            </a:r>
          </a:p>
          <a:p>
            <a:r>
              <a:rPr lang="en-US" altLang="en-US"/>
              <a:t>should be performed because commit LOG entry found for </a:t>
            </a:r>
          </a:p>
          <a:p>
            <a:r>
              <a:rPr lang="en-US" altLang="en-US"/>
              <a:t>the transaction T1 &lt;Commit, T1&gt;</a:t>
            </a:r>
          </a:p>
        </p:txBody>
      </p:sp>
      <p:graphicFrame>
        <p:nvGraphicFramePr>
          <p:cNvPr id="279589" name="Group 37">
            <a:extLst>
              <a:ext uri="{FF2B5EF4-FFF2-40B4-BE49-F238E27FC236}">
                <a16:creationId xmlns:a16="http://schemas.microsoft.com/office/drawing/2014/main" id="{0AFB16B5-B6C0-F25B-57AD-C7D26EE0AF11}"/>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334046725"/>
                    </a:ext>
                  </a:extLst>
                </a:gridCol>
                <a:gridCol w="2151062">
                  <a:extLst>
                    <a:ext uri="{9D8B030D-6E8A-4147-A177-3AD203B41FA5}">
                      <a16:colId xmlns:a16="http://schemas.microsoft.com/office/drawing/2014/main" val="1078659930"/>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03685067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8503594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09056010"/>
                  </a:ext>
                </a:extLst>
              </a:tr>
            </a:tbl>
          </a:graphicData>
        </a:graphic>
      </p:graphicFrame>
      <p:sp>
        <p:nvSpPr>
          <p:cNvPr id="279613" name="AutoShape 61" descr="Flowchart: Magnetic Disk 10">
            <a:extLst>
              <a:ext uri="{FF2B5EF4-FFF2-40B4-BE49-F238E27FC236}">
                <a16:creationId xmlns:a16="http://schemas.microsoft.com/office/drawing/2014/main" id="{6357040D-27FD-F6CA-6441-D2EB3743B359}"/>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79614" name="Text Box 62" descr="TextBox 11">
            <a:extLst>
              <a:ext uri="{FF2B5EF4-FFF2-40B4-BE49-F238E27FC236}">
                <a16:creationId xmlns:a16="http://schemas.microsoft.com/office/drawing/2014/main" id="{74B1E8F4-905E-FFFA-94B6-CEA963EED139}"/>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descr="Title 1">
            <a:extLst>
              <a:ext uri="{FF2B5EF4-FFF2-40B4-BE49-F238E27FC236}">
                <a16:creationId xmlns:a16="http://schemas.microsoft.com/office/drawing/2014/main" id="{4D89B7BE-86FB-B397-6950-1D33BE431064}"/>
              </a:ext>
            </a:extLst>
          </p:cNvPr>
          <p:cNvSpPr>
            <a:spLocks noChangeArrowheads="1"/>
          </p:cNvSpPr>
          <p:nvPr>
            <p:ph type="title"/>
          </p:nvPr>
        </p:nvSpPr>
        <p:spPr/>
        <p:txBody>
          <a:bodyPr/>
          <a:lstStyle/>
          <a:p>
            <a:r>
              <a:rPr lang="en-US" altLang="en-US"/>
              <a:t>Deferred Database Modification</a:t>
            </a:r>
          </a:p>
        </p:txBody>
      </p:sp>
      <p:graphicFrame>
        <p:nvGraphicFramePr>
          <p:cNvPr id="280579" name="Group 3">
            <a:extLst>
              <a:ext uri="{FF2B5EF4-FFF2-40B4-BE49-F238E27FC236}">
                <a16:creationId xmlns:a16="http://schemas.microsoft.com/office/drawing/2014/main" id="{F2B08CD4-D172-7EA2-E5AD-F09A202D048C}"/>
              </a:ext>
            </a:extLst>
          </p:cNvPr>
          <p:cNvGraphicFramePr>
            <a:graphicFrameLocks noGrp="1"/>
          </p:cNvGraphicFramePr>
          <p:nvPr/>
        </p:nvGraphicFramePr>
        <p:xfrm>
          <a:off x="1042988" y="2276475"/>
          <a:ext cx="3171825" cy="2689225"/>
        </p:xfrm>
        <a:graphic>
          <a:graphicData uri="http://schemas.openxmlformats.org/drawingml/2006/table">
            <a:tbl>
              <a:tblPr/>
              <a:tblGrid>
                <a:gridCol w="3171825">
                  <a:extLst>
                    <a:ext uri="{9D8B030D-6E8A-4147-A177-3AD203B41FA5}">
                      <a16:colId xmlns:a16="http://schemas.microsoft.com/office/drawing/2014/main" val="415032723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1363641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4745746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5310772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2732062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384391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3129338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05321171"/>
                  </a:ext>
                </a:extLst>
              </a:tr>
            </a:tbl>
          </a:graphicData>
        </a:graphic>
      </p:graphicFrame>
      <p:sp>
        <p:nvSpPr>
          <p:cNvPr id="280609" name="Text Box 33" descr="Date Placeholder 3">
            <a:extLst>
              <a:ext uri="{FF2B5EF4-FFF2-40B4-BE49-F238E27FC236}">
                <a16:creationId xmlns:a16="http://schemas.microsoft.com/office/drawing/2014/main" id="{A1F0DC8A-41A5-7CD9-65BD-DC9A72F34B6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0610" name="Text Box 34" descr="Slide Number Placeholder 5">
            <a:extLst>
              <a:ext uri="{FF2B5EF4-FFF2-40B4-BE49-F238E27FC236}">
                <a16:creationId xmlns:a16="http://schemas.microsoft.com/office/drawing/2014/main" id="{99B0B48E-6B19-F2E9-A092-03963BB132D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3217CC1-4469-4EAA-895D-0C5D26D1B35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80611" name="Text Box 35" descr="TextBox 7">
            <a:extLst>
              <a:ext uri="{FF2B5EF4-FFF2-40B4-BE49-F238E27FC236}">
                <a16:creationId xmlns:a16="http://schemas.microsoft.com/office/drawing/2014/main" id="{ECA7DE8B-436B-16B7-08F3-47AE07A7998F}"/>
              </a:ext>
            </a:extLst>
          </p:cNvPr>
          <p:cNvSpPr txBox="1">
            <a:spLocks/>
          </p:cNvSpPr>
          <p:nvPr/>
        </p:nvSpPr>
        <p:spPr bwMode="auto">
          <a:xfrm>
            <a:off x="800100" y="1127125"/>
            <a:ext cx="7510463"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on stable storage after systems crash,</a:t>
            </a:r>
          </a:p>
          <a:p>
            <a:r>
              <a:rPr lang="en-US" altLang="en-US"/>
              <a:t>then  recovery algorithm should carry out any REDO operation ?</a:t>
            </a:r>
          </a:p>
        </p:txBody>
      </p:sp>
      <p:graphicFrame>
        <p:nvGraphicFramePr>
          <p:cNvPr id="280612" name="Group 36">
            <a:extLst>
              <a:ext uri="{FF2B5EF4-FFF2-40B4-BE49-F238E27FC236}">
                <a16:creationId xmlns:a16="http://schemas.microsoft.com/office/drawing/2014/main" id="{D0E947C0-7035-D4AE-9642-031878D6C71D}"/>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3677210742"/>
                    </a:ext>
                  </a:extLst>
                </a:gridCol>
                <a:gridCol w="2151062">
                  <a:extLst>
                    <a:ext uri="{9D8B030D-6E8A-4147-A177-3AD203B41FA5}">
                      <a16:colId xmlns:a16="http://schemas.microsoft.com/office/drawing/2014/main" val="2556589993"/>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590920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90543930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038725822"/>
                  </a:ext>
                </a:extLst>
              </a:tr>
            </a:tbl>
          </a:graphicData>
        </a:graphic>
      </p:graphicFrame>
      <p:sp>
        <p:nvSpPr>
          <p:cNvPr id="280636" name="AutoShape 60" descr="Flowchart: Magnetic Disk 9">
            <a:extLst>
              <a:ext uri="{FF2B5EF4-FFF2-40B4-BE49-F238E27FC236}">
                <a16:creationId xmlns:a16="http://schemas.microsoft.com/office/drawing/2014/main" id="{A99918C2-46EC-BC56-0597-DC77F7BA099F}"/>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0637" name="Text Box 61" descr="TextBox 10">
            <a:extLst>
              <a:ext uri="{FF2B5EF4-FFF2-40B4-BE49-F238E27FC236}">
                <a16:creationId xmlns:a16="http://schemas.microsoft.com/office/drawing/2014/main" id="{55C63508-0285-BA60-42E6-28F19809B37A}"/>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2" descr="Title 1">
            <a:extLst>
              <a:ext uri="{FF2B5EF4-FFF2-40B4-BE49-F238E27FC236}">
                <a16:creationId xmlns:a16="http://schemas.microsoft.com/office/drawing/2014/main" id="{0586311A-02A1-F4A5-FA2A-853EB4316138}"/>
              </a:ext>
            </a:extLst>
          </p:cNvPr>
          <p:cNvSpPr>
            <a:spLocks noChangeArrowheads="1"/>
          </p:cNvSpPr>
          <p:nvPr>
            <p:ph type="title"/>
          </p:nvPr>
        </p:nvSpPr>
        <p:spPr/>
        <p:txBody>
          <a:bodyPr/>
          <a:lstStyle/>
          <a:p>
            <a:r>
              <a:rPr lang="en-US" altLang="en-US"/>
              <a:t>Deferred Database Modification</a:t>
            </a:r>
          </a:p>
        </p:txBody>
      </p:sp>
      <p:graphicFrame>
        <p:nvGraphicFramePr>
          <p:cNvPr id="281603" name="Group 3">
            <a:extLst>
              <a:ext uri="{FF2B5EF4-FFF2-40B4-BE49-F238E27FC236}">
                <a16:creationId xmlns:a16="http://schemas.microsoft.com/office/drawing/2014/main" id="{260AB903-6787-3459-07E8-3B13E3AD8276}"/>
              </a:ext>
            </a:extLst>
          </p:cNvPr>
          <p:cNvGraphicFramePr>
            <a:graphicFrameLocks noGrp="1"/>
          </p:cNvGraphicFramePr>
          <p:nvPr/>
        </p:nvGraphicFramePr>
        <p:xfrm>
          <a:off x="1042988" y="2276475"/>
          <a:ext cx="3314700" cy="2689225"/>
        </p:xfrm>
        <a:graphic>
          <a:graphicData uri="http://schemas.openxmlformats.org/drawingml/2006/table">
            <a:tbl>
              <a:tblPr/>
              <a:tblGrid>
                <a:gridCol w="3314700">
                  <a:extLst>
                    <a:ext uri="{9D8B030D-6E8A-4147-A177-3AD203B41FA5}">
                      <a16:colId xmlns:a16="http://schemas.microsoft.com/office/drawing/2014/main" val="2302096435"/>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8821755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3583520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2219624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5309616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5527647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7411022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27803243"/>
                  </a:ext>
                </a:extLst>
              </a:tr>
            </a:tbl>
          </a:graphicData>
        </a:graphic>
      </p:graphicFrame>
      <p:sp>
        <p:nvSpPr>
          <p:cNvPr id="281633" name="Text Box 33" descr="Date Placeholder 3">
            <a:extLst>
              <a:ext uri="{FF2B5EF4-FFF2-40B4-BE49-F238E27FC236}">
                <a16:creationId xmlns:a16="http://schemas.microsoft.com/office/drawing/2014/main" id="{BE3DC94D-25D0-89E9-7D3F-A72F380F0F9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1634" name="Text Box 34" descr="Slide Number Placeholder 5">
            <a:extLst>
              <a:ext uri="{FF2B5EF4-FFF2-40B4-BE49-F238E27FC236}">
                <a16:creationId xmlns:a16="http://schemas.microsoft.com/office/drawing/2014/main" id="{DB451C9A-CCB0-D4F7-19B2-264AAE0F3C4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5048F23-91EF-4617-AAF8-F00C30C0856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81635" name="Text Box 35" descr="TextBox 7">
            <a:extLst>
              <a:ext uri="{FF2B5EF4-FFF2-40B4-BE49-F238E27FC236}">
                <a16:creationId xmlns:a16="http://schemas.microsoft.com/office/drawing/2014/main" id="{CFCCE975-E234-B4A4-B749-FE4070A35353}"/>
              </a:ext>
            </a:extLst>
          </p:cNvPr>
          <p:cNvSpPr txBox="1">
            <a:spLocks/>
          </p:cNvSpPr>
          <p:nvPr/>
        </p:nvSpPr>
        <p:spPr bwMode="auto">
          <a:xfrm>
            <a:off x="800100" y="1127125"/>
            <a:ext cx="7510463"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on stable storage after systems crash,</a:t>
            </a:r>
          </a:p>
          <a:p>
            <a:r>
              <a:rPr lang="en-US" altLang="en-US"/>
              <a:t>then  recovery algorithm should carry out any REDO operation ?</a:t>
            </a:r>
          </a:p>
        </p:txBody>
      </p:sp>
      <p:sp>
        <p:nvSpPr>
          <p:cNvPr id="281636" name="Text Box 36" descr="TextBox 8">
            <a:extLst>
              <a:ext uri="{FF2B5EF4-FFF2-40B4-BE49-F238E27FC236}">
                <a16:creationId xmlns:a16="http://schemas.microsoft.com/office/drawing/2014/main" id="{9045C1B7-4374-2BE9-AA0F-14F6A2B0FE58}"/>
              </a:ext>
            </a:extLst>
          </p:cNvPr>
          <p:cNvSpPr txBox="1">
            <a:spLocks/>
          </p:cNvSpPr>
          <p:nvPr/>
        </p:nvSpPr>
        <p:spPr bwMode="auto">
          <a:xfrm>
            <a:off x="730250" y="4919663"/>
            <a:ext cx="8274050" cy="1208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Answer:</a:t>
            </a:r>
          </a:p>
          <a:p>
            <a:r>
              <a:rPr lang="en-US" altLang="en-US"/>
              <a:t>REDO operation  for Transaction T1 must be performed</a:t>
            </a:r>
          </a:p>
          <a:p>
            <a:r>
              <a:rPr lang="en-US" altLang="en-US"/>
              <a:t>followed by the transaction T2 since &lt;Commit, T1&gt; and &lt;Commit,T2&gt;</a:t>
            </a:r>
          </a:p>
          <a:p>
            <a:r>
              <a:rPr lang="en-US" altLang="en-US"/>
              <a:t>are present.</a:t>
            </a:r>
          </a:p>
        </p:txBody>
      </p:sp>
      <p:graphicFrame>
        <p:nvGraphicFramePr>
          <p:cNvPr id="281637" name="Group 37">
            <a:extLst>
              <a:ext uri="{FF2B5EF4-FFF2-40B4-BE49-F238E27FC236}">
                <a16:creationId xmlns:a16="http://schemas.microsoft.com/office/drawing/2014/main" id="{2DD83177-6FA4-A1EB-8BF3-8197B5F49EB9}"/>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1292441305"/>
                    </a:ext>
                  </a:extLst>
                </a:gridCol>
                <a:gridCol w="2151062">
                  <a:extLst>
                    <a:ext uri="{9D8B030D-6E8A-4147-A177-3AD203B41FA5}">
                      <a16:colId xmlns:a16="http://schemas.microsoft.com/office/drawing/2014/main" val="3617093912"/>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1670981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76567297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700 600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82918537"/>
                  </a:ext>
                </a:extLst>
              </a:tr>
            </a:tbl>
          </a:graphicData>
        </a:graphic>
      </p:graphicFrame>
      <p:sp>
        <p:nvSpPr>
          <p:cNvPr id="281661" name="AutoShape 61" descr="Flowchart: Magnetic Disk 10">
            <a:extLst>
              <a:ext uri="{FF2B5EF4-FFF2-40B4-BE49-F238E27FC236}">
                <a16:creationId xmlns:a16="http://schemas.microsoft.com/office/drawing/2014/main" id="{7F5CC29D-C5F8-C2FC-85BD-316B6E8072B6}"/>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1662" name="Text Box 62" descr="TextBox 11">
            <a:extLst>
              <a:ext uri="{FF2B5EF4-FFF2-40B4-BE49-F238E27FC236}">
                <a16:creationId xmlns:a16="http://schemas.microsoft.com/office/drawing/2014/main" id="{C6775471-D071-A033-FF62-2B45681F98D4}"/>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2" descr="Title 1">
            <a:extLst>
              <a:ext uri="{FF2B5EF4-FFF2-40B4-BE49-F238E27FC236}">
                <a16:creationId xmlns:a16="http://schemas.microsoft.com/office/drawing/2014/main" id="{2AAC0AE5-12BB-96B9-5CD4-BF202C17B071}"/>
              </a:ext>
            </a:extLst>
          </p:cNvPr>
          <p:cNvSpPr>
            <a:spLocks noChangeArrowheads="1"/>
          </p:cNvSpPr>
          <p:nvPr>
            <p:ph type="title"/>
          </p:nvPr>
        </p:nvSpPr>
        <p:spPr/>
        <p:txBody>
          <a:bodyPr/>
          <a:lstStyle/>
          <a:p>
            <a:r>
              <a:rPr lang="en-US" altLang="en-US"/>
              <a:t>Immediate Database Modification</a:t>
            </a:r>
          </a:p>
        </p:txBody>
      </p:sp>
      <p:sp>
        <p:nvSpPr>
          <p:cNvPr id="282627" name="Rectangle 3" descr="Content Placeholder 2">
            <a:extLst>
              <a:ext uri="{FF2B5EF4-FFF2-40B4-BE49-F238E27FC236}">
                <a16:creationId xmlns:a16="http://schemas.microsoft.com/office/drawing/2014/main" id="{8FC4749D-7A3C-4BDA-CA10-BBDE05DC8822}"/>
              </a:ext>
            </a:extLst>
          </p:cNvPr>
          <p:cNvSpPr>
            <a:spLocks noChangeArrowheads="1"/>
          </p:cNvSpPr>
          <p:nvPr>
            <p:ph type="body" idx="1"/>
          </p:nvPr>
        </p:nvSpPr>
        <p:spPr/>
        <p:txBody>
          <a:bodyPr/>
          <a:lstStyle/>
          <a:p>
            <a:pPr marL="460375" indent="-460375" defTabSz="895350">
              <a:spcBef>
                <a:spcPts val="400"/>
              </a:spcBef>
            </a:pPr>
            <a:r>
              <a:rPr lang="en-US" altLang="en-US" sz="1700"/>
              <a:t>The immediate database modification scheme allows database updates of an uncommitted transaction to be made as the writes are issued </a:t>
            </a:r>
          </a:p>
          <a:p>
            <a:pPr marL="889000" lvl="1" indent="-427038" defTabSz="895350">
              <a:spcBef>
                <a:spcPts val="300"/>
              </a:spcBef>
            </a:pPr>
            <a:r>
              <a:rPr lang="en-US" altLang="en-US" sz="1500"/>
              <a:t>since undoing may be needed, update logs must have both old value and new value </a:t>
            </a:r>
            <a:endParaRPr lang="en-US" altLang="en-US" sz="2500"/>
          </a:p>
          <a:p>
            <a:pPr marL="460375" indent="-460375" defTabSz="895350">
              <a:spcBef>
                <a:spcPts val="400"/>
              </a:spcBef>
            </a:pPr>
            <a:r>
              <a:rPr lang="en-US" altLang="en-US" sz="1700"/>
              <a:t>Update log record must be written before database item is written </a:t>
            </a:r>
          </a:p>
          <a:p>
            <a:pPr marL="460375" indent="-460375" defTabSz="895350">
              <a:spcBef>
                <a:spcPts val="400"/>
              </a:spcBef>
            </a:pPr>
            <a:r>
              <a:rPr lang="en-US" altLang="en-US" sz="1700"/>
              <a:t>We assume that the log record is output directly to stable storage</a:t>
            </a:r>
          </a:p>
          <a:p>
            <a:pPr marL="460375" indent="-460375" defTabSz="895350">
              <a:spcBef>
                <a:spcPts val="400"/>
              </a:spcBef>
            </a:pPr>
            <a:r>
              <a:rPr lang="en-US" altLang="en-US" sz="1700"/>
              <a:t>Can be extended to postpone log record output, so as long as prior to execution of an output(B) operation for a data block B, all log records corresponding to items B must be flushed to stable storage</a:t>
            </a:r>
          </a:p>
          <a:p>
            <a:pPr marL="460375" indent="-460375" defTabSz="895350">
              <a:spcBef>
                <a:spcPts val="400"/>
              </a:spcBef>
            </a:pPr>
            <a:r>
              <a:rPr lang="en-US" altLang="en-US" sz="1700"/>
              <a:t>Output of updated blocks can take place at any time before or after transaction commit</a:t>
            </a:r>
          </a:p>
          <a:p>
            <a:pPr marL="460375" indent="-460375" defTabSz="895350">
              <a:spcBef>
                <a:spcPts val="400"/>
              </a:spcBef>
            </a:pPr>
            <a:r>
              <a:rPr lang="en-US" altLang="en-US" sz="1700"/>
              <a:t>Order in which blocks are output can be different from the order in which they are written.</a:t>
            </a:r>
          </a:p>
        </p:txBody>
      </p:sp>
      <p:sp>
        <p:nvSpPr>
          <p:cNvPr id="282628" name="Text Box 4" descr="Date Placeholder 3">
            <a:extLst>
              <a:ext uri="{FF2B5EF4-FFF2-40B4-BE49-F238E27FC236}">
                <a16:creationId xmlns:a16="http://schemas.microsoft.com/office/drawing/2014/main" id="{F8763597-907C-1571-72A5-A2C6F6A5EDA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2629" name="Text Box 5" descr="Slide Number Placeholder 5">
            <a:extLst>
              <a:ext uri="{FF2B5EF4-FFF2-40B4-BE49-F238E27FC236}">
                <a16:creationId xmlns:a16="http://schemas.microsoft.com/office/drawing/2014/main" id="{C5EDF1FD-C479-AC1D-B4C8-9F47953AFCA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A0B9ED1-A61E-4D92-AB3B-7AC00C673CA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descr="Title 1">
            <a:extLst>
              <a:ext uri="{FF2B5EF4-FFF2-40B4-BE49-F238E27FC236}">
                <a16:creationId xmlns:a16="http://schemas.microsoft.com/office/drawing/2014/main" id="{6CD3A22F-140E-0CDE-0BEF-91C2152F8135}"/>
              </a:ext>
            </a:extLst>
          </p:cNvPr>
          <p:cNvSpPr>
            <a:spLocks noChangeArrowheads="1"/>
          </p:cNvSpPr>
          <p:nvPr>
            <p:ph type="title"/>
          </p:nvPr>
        </p:nvSpPr>
        <p:spPr/>
        <p:txBody>
          <a:bodyPr/>
          <a:lstStyle/>
          <a:p>
            <a:r>
              <a:rPr lang="en-US" altLang="en-US"/>
              <a:t>Immediate Database Modification</a:t>
            </a:r>
          </a:p>
        </p:txBody>
      </p:sp>
      <p:sp>
        <p:nvSpPr>
          <p:cNvPr id="283651" name="Rectangle 3" descr="Content Placeholder 2">
            <a:extLst>
              <a:ext uri="{FF2B5EF4-FFF2-40B4-BE49-F238E27FC236}">
                <a16:creationId xmlns:a16="http://schemas.microsoft.com/office/drawing/2014/main" id="{C2D1C92E-4C5D-96C0-007A-BD7C50AB9CA2}"/>
              </a:ext>
            </a:extLst>
          </p:cNvPr>
          <p:cNvSpPr>
            <a:spLocks noChangeArrowheads="1"/>
          </p:cNvSpPr>
          <p:nvPr>
            <p:ph type="body" idx="1"/>
          </p:nvPr>
        </p:nvSpPr>
        <p:spPr/>
        <p:txBody>
          <a:bodyPr/>
          <a:lstStyle/>
          <a:p>
            <a:pPr>
              <a:spcBef>
                <a:spcPts val="400"/>
              </a:spcBef>
            </a:pPr>
            <a:r>
              <a:rPr lang="en-US" altLang="en-US" sz="2000"/>
              <a:t>Recovery procedure has two operations instead of one: </a:t>
            </a:r>
          </a:p>
          <a:p>
            <a:pPr marL="908050" lvl="1" indent="-438150">
              <a:spcBef>
                <a:spcPts val="300"/>
              </a:spcBef>
            </a:pPr>
            <a:r>
              <a:rPr lang="en-US" altLang="en-US" sz="1600" b="1"/>
              <a:t>undo(Ti) </a:t>
            </a:r>
            <a:r>
              <a:rPr lang="en-US" altLang="en-US" sz="1600"/>
              <a:t>restores the value of all data items updated by Ti to their </a:t>
            </a:r>
            <a:r>
              <a:rPr lang="en-US" altLang="en-US" sz="1600" b="1"/>
              <a:t>old values</a:t>
            </a:r>
            <a:r>
              <a:rPr lang="en-US" altLang="en-US" sz="1600"/>
              <a:t>, going backwards from the last log record for Ti</a:t>
            </a:r>
            <a:endParaRPr lang="en-US" altLang="en-US" sz="1600" b="1"/>
          </a:p>
          <a:p>
            <a:pPr marL="908050" lvl="1" indent="-438150">
              <a:spcBef>
                <a:spcPts val="300"/>
              </a:spcBef>
            </a:pPr>
            <a:r>
              <a:rPr lang="en-US" altLang="en-US" sz="1600" b="1"/>
              <a:t>redo(Ti)</a:t>
            </a:r>
            <a:r>
              <a:rPr lang="en-US" altLang="en-US" sz="1600"/>
              <a:t> sets the value of all data items updated by Ti to the </a:t>
            </a:r>
            <a:r>
              <a:rPr lang="en-US" altLang="en-US" sz="1600" b="1"/>
              <a:t>new values</a:t>
            </a:r>
            <a:r>
              <a:rPr lang="en-US" altLang="en-US" sz="1600"/>
              <a:t>, going forward from the first log record for Ti </a:t>
            </a:r>
            <a:endParaRPr lang="en-US" altLang="en-US" sz="2600" b="1"/>
          </a:p>
          <a:p>
            <a:pPr>
              <a:spcBef>
                <a:spcPts val="400"/>
              </a:spcBef>
            </a:pPr>
            <a:r>
              <a:rPr lang="en-US" altLang="en-US" sz="2000"/>
              <a:t>Both operations must be idempotent</a:t>
            </a:r>
          </a:p>
          <a:p>
            <a:pPr marL="908050" lvl="1" indent="-438150">
              <a:spcBef>
                <a:spcPts val="300"/>
              </a:spcBef>
            </a:pPr>
            <a:r>
              <a:rPr lang="en-US" altLang="en-US" sz="1600"/>
              <a:t>That is, even if the operation is executed multiple times the effect is the same as if it is executed once</a:t>
            </a:r>
            <a:endParaRPr lang="en-US" altLang="en-US" sz="2600"/>
          </a:p>
          <a:p>
            <a:pPr marL="1304925" lvl="2" indent="-396875">
              <a:spcBef>
                <a:spcPts val="300"/>
              </a:spcBef>
            </a:pPr>
            <a:r>
              <a:rPr lang="en-US" altLang="en-US" sz="1400"/>
              <a:t>Needed since operations may get re-executed during recovery</a:t>
            </a:r>
            <a:endParaRPr lang="en-US" altLang="en-US" sz="2300"/>
          </a:p>
          <a:p>
            <a:pPr>
              <a:spcBef>
                <a:spcPts val="400"/>
              </a:spcBef>
            </a:pPr>
            <a:r>
              <a:rPr lang="en-US" altLang="en-US" sz="2000"/>
              <a:t>When recovering after failure: </a:t>
            </a:r>
          </a:p>
          <a:p>
            <a:pPr marL="908050" lvl="1" indent="-438150">
              <a:spcBef>
                <a:spcPts val="300"/>
              </a:spcBef>
            </a:pPr>
            <a:r>
              <a:rPr lang="en-US" altLang="en-US" sz="1600"/>
              <a:t>Transaction Ti needs to be </a:t>
            </a:r>
            <a:r>
              <a:rPr lang="en-US" altLang="en-US" sz="1600" b="1"/>
              <a:t>undone </a:t>
            </a:r>
            <a:r>
              <a:rPr lang="en-US" altLang="en-US" sz="1600"/>
              <a:t>if the log contains the &lt;start, Ti&gt; record , but </a:t>
            </a:r>
            <a:r>
              <a:rPr lang="en-US" altLang="en-US" sz="1600" b="1"/>
              <a:t>does not contain the &lt;commit, Ti&gt; </a:t>
            </a:r>
            <a:r>
              <a:rPr lang="en-US" altLang="en-US" sz="1600"/>
              <a:t>record .</a:t>
            </a:r>
            <a:endParaRPr lang="en-US" altLang="en-US" sz="2600"/>
          </a:p>
          <a:p>
            <a:pPr marL="908050" lvl="1" indent="-438150">
              <a:spcBef>
                <a:spcPts val="300"/>
              </a:spcBef>
            </a:pPr>
            <a:r>
              <a:rPr lang="en-US" altLang="en-US" sz="1600"/>
              <a:t>Transaction Ti needs to be </a:t>
            </a:r>
            <a:r>
              <a:rPr lang="en-US" altLang="en-US" sz="1600" b="1"/>
              <a:t>redone</a:t>
            </a:r>
            <a:r>
              <a:rPr lang="en-US" altLang="en-US" sz="1600"/>
              <a:t> if the log contains </a:t>
            </a:r>
            <a:r>
              <a:rPr lang="en-US" altLang="en-US" sz="1600" b="1"/>
              <a:t>both the &lt;start, Ti&gt;  record and &lt;commit, Ti&gt;</a:t>
            </a:r>
            <a:r>
              <a:rPr lang="en-US" altLang="en-US" sz="1600"/>
              <a:t> the record . </a:t>
            </a:r>
            <a:endParaRPr lang="en-US" altLang="en-US" sz="2600"/>
          </a:p>
          <a:p>
            <a:pPr>
              <a:spcBef>
                <a:spcPts val="400"/>
              </a:spcBef>
            </a:pPr>
            <a:r>
              <a:rPr lang="en-US" altLang="en-US" sz="2000"/>
              <a:t>Undo operations are performed first, then redo operations.</a:t>
            </a:r>
          </a:p>
        </p:txBody>
      </p:sp>
      <p:sp>
        <p:nvSpPr>
          <p:cNvPr id="283652" name="Text Box 4" descr="Date Placeholder 3">
            <a:extLst>
              <a:ext uri="{FF2B5EF4-FFF2-40B4-BE49-F238E27FC236}">
                <a16:creationId xmlns:a16="http://schemas.microsoft.com/office/drawing/2014/main" id="{28E4556D-BB8A-E11B-6C94-BE2BE085C21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3653" name="Text Box 5" descr="Slide Number Placeholder 5">
            <a:extLst>
              <a:ext uri="{FF2B5EF4-FFF2-40B4-BE49-F238E27FC236}">
                <a16:creationId xmlns:a16="http://schemas.microsoft.com/office/drawing/2014/main" id="{FC8B33CE-D816-3E8C-EDBD-DDA1AD74117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B45C319-96EF-472C-AB7B-DD1EEB355F8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2" descr="Title 1">
            <a:extLst>
              <a:ext uri="{FF2B5EF4-FFF2-40B4-BE49-F238E27FC236}">
                <a16:creationId xmlns:a16="http://schemas.microsoft.com/office/drawing/2014/main" id="{0743BB8E-06DA-4273-AA6D-E116E84E7731}"/>
              </a:ext>
            </a:extLst>
          </p:cNvPr>
          <p:cNvSpPr>
            <a:spLocks noChangeArrowheads="1"/>
          </p:cNvSpPr>
          <p:nvPr>
            <p:ph type="title"/>
          </p:nvPr>
        </p:nvSpPr>
        <p:spPr/>
        <p:txBody>
          <a:bodyPr/>
          <a:lstStyle/>
          <a:p>
            <a:r>
              <a:rPr lang="en-US" altLang="en-US"/>
              <a:t>Immediate Database Modification</a:t>
            </a:r>
          </a:p>
        </p:txBody>
      </p:sp>
      <p:sp>
        <p:nvSpPr>
          <p:cNvPr id="284675" name="Rectangle 3" descr="Content Placeholder 2">
            <a:extLst>
              <a:ext uri="{FF2B5EF4-FFF2-40B4-BE49-F238E27FC236}">
                <a16:creationId xmlns:a16="http://schemas.microsoft.com/office/drawing/2014/main" id="{F15E7187-F96F-AAC9-9CF7-DE75E5753F32}"/>
              </a:ext>
            </a:extLst>
          </p:cNvPr>
          <p:cNvSpPr>
            <a:spLocks noChangeArrowheads="1"/>
          </p:cNvSpPr>
          <p:nvPr>
            <p:ph type="body" idx="1"/>
          </p:nvPr>
        </p:nvSpPr>
        <p:spPr/>
        <p:txBody>
          <a:bodyPr/>
          <a:lstStyle/>
          <a:p>
            <a:pPr marL="187325" indent="-187325">
              <a:spcBef>
                <a:spcPts val="400"/>
              </a:spcBef>
              <a:buSzTx/>
              <a:buFont typeface="Wingdings" panose="05000000000000000000" pitchFamily="2" charset="2"/>
              <a:buNone/>
            </a:pPr>
            <a:r>
              <a:rPr lang="en-US" altLang="en-US" sz="2000"/>
              <a:t>Two main categories of Immediate update algorithm </a:t>
            </a:r>
          </a:p>
          <a:p>
            <a:pPr marL="187325" indent="-187325">
              <a:spcBef>
                <a:spcPts val="400"/>
              </a:spcBef>
              <a:buSzTx/>
              <a:buFont typeface="Wingdings" panose="05000000000000000000" pitchFamily="2" charset="2"/>
              <a:buNone/>
            </a:pPr>
            <a:r>
              <a:rPr lang="en-US" altLang="en-US" sz="2000" b="1"/>
              <a:t>UNDO/No-REDO</a:t>
            </a:r>
          </a:p>
          <a:p>
            <a:pPr marL="187325" indent="-187325">
              <a:spcBef>
                <a:spcPts val="400"/>
              </a:spcBef>
            </a:pPr>
            <a:r>
              <a:rPr lang="en-US" altLang="en-US" sz="2000"/>
              <a:t>If the recovery technique ensures that all updates of a transaction are recorded in the database on disk before the transaction commits, there is never a need to redo any operations of committed transactions. Such an algorithm is called undo/no-redo. </a:t>
            </a:r>
          </a:p>
          <a:p>
            <a:pPr marL="187325" indent="-187325">
              <a:spcBef>
                <a:spcPts val="400"/>
              </a:spcBef>
              <a:buSzTx/>
              <a:buFont typeface="Wingdings" panose="05000000000000000000" pitchFamily="2" charset="2"/>
              <a:buNone/>
            </a:pPr>
            <a:r>
              <a:rPr lang="en-US" altLang="en-US" sz="2000" b="1"/>
              <a:t>UNDO/REDO</a:t>
            </a:r>
          </a:p>
          <a:p>
            <a:pPr marL="187325" indent="-187325">
              <a:spcBef>
                <a:spcPts val="400"/>
              </a:spcBef>
            </a:pPr>
            <a:r>
              <a:rPr lang="en-US" altLang="en-US" sz="2000"/>
              <a:t>On the other hand, if the transaction is allowed to commit before all its changes are written to the database, we have the undo/redo method, the most general recovery algorithm.</a:t>
            </a:r>
          </a:p>
        </p:txBody>
      </p:sp>
      <p:sp>
        <p:nvSpPr>
          <p:cNvPr id="284676" name="Text Box 4" descr="Date Placeholder 3">
            <a:extLst>
              <a:ext uri="{FF2B5EF4-FFF2-40B4-BE49-F238E27FC236}">
                <a16:creationId xmlns:a16="http://schemas.microsoft.com/office/drawing/2014/main" id="{B15BD66A-2FB3-BFBC-C3C1-9EB35B566BB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4677" name="Text Box 5" descr="Slide Number Placeholder 5">
            <a:extLst>
              <a:ext uri="{FF2B5EF4-FFF2-40B4-BE49-F238E27FC236}">
                <a16:creationId xmlns:a16="http://schemas.microsoft.com/office/drawing/2014/main" id="{966460C0-C2D7-35C8-962E-26AA7F61151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7555AC1-1E69-441C-9A6F-3285AB975BD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2" descr="Title 1">
            <a:extLst>
              <a:ext uri="{FF2B5EF4-FFF2-40B4-BE49-F238E27FC236}">
                <a16:creationId xmlns:a16="http://schemas.microsoft.com/office/drawing/2014/main" id="{EAA0519B-8B82-FCA8-613A-5326E599F7FF}"/>
              </a:ext>
            </a:extLst>
          </p:cNvPr>
          <p:cNvSpPr>
            <a:spLocks noChangeArrowheads="1"/>
          </p:cNvSpPr>
          <p:nvPr>
            <p:ph type="title"/>
          </p:nvPr>
        </p:nvSpPr>
        <p:spPr/>
        <p:txBody>
          <a:bodyPr/>
          <a:lstStyle/>
          <a:p>
            <a:r>
              <a:rPr lang="en-US" altLang="en-US"/>
              <a:t>Immediate Database Modification</a:t>
            </a:r>
          </a:p>
        </p:txBody>
      </p:sp>
      <p:sp>
        <p:nvSpPr>
          <p:cNvPr id="285699" name="Rectangle 3" descr="Content Placeholder 2">
            <a:extLst>
              <a:ext uri="{FF2B5EF4-FFF2-40B4-BE49-F238E27FC236}">
                <a16:creationId xmlns:a16="http://schemas.microsoft.com/office/drawing/2014/main" id="{8374F50C-1746-8BDB-731E-4FD1E4B886D4}"/>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Example of Immediate database recovery</a:t>
            </a:r>
          </a:p>
          <a:p>
            <a:pPr marL="234950" indent="-234950">
              <a:spcBef>
                <a:spcPts val="300"/>
              </a:spcBef>
            </a:pPr>
            <a:r>
              <a:rPr lang="en-US" altLang="en-US" sz="1600"/>
              <a:t>Consider log entries for two  transactions T1 and T2 as follows.</a:t>
            </a:r>
          </a:p>
        </p:txBody>
      </p:sp>
      <p:sp>
        <p:nvSpPr>
          <p:cNvPr id="285700" name="Text Box 4" descr="Date Placeholder 3">
            <a:extLst>
              <a:ext uri="{FF2B5EF4-FFF2-40B4-BE49-F238E27FC236}">
                <a16:creationId xmlns:a16="http://schemas.microsoft.com/office/drawing/2014/main" id="{E8AA69E4-98FF-D7FC-CBAE-51F596C3732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5701" name="Text Box 5" descr="Slide Number Placeholder 5">
            <a:extLst>
              <a:ext uri="{FF2B5EF4-FFF2-40B4-BE49-F238E27FC236}">
                <a16:creationId xmlns:a16="http://schemas.microsoft.com/office/drawing/2014/main" id="{777A22BA-2AAE-39FE-16C0-ECC2055F3DF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BC08449-CABC-442D-8DF0-D4FC16F6994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85702" name="Group 6">
            <a:extLst>
              <a:ext uri="{FF2B5EF4-FFF2-40B4-BE49-F238E27FC236}">
                <a16:creationId xmlns:a16="http://schemas.microsoft.com/office/drawing/2014/main" id="{3CBB3F77-8DFD-4A70-CDA0-9B8098E2B210}"/>
              </a:ext>
            </a:extLst>
          </p:cNvPr>
          <p:cNvGraphicFramePr>
            <a:graphicFrameLocks noGrp="1"/>
          </p:cNvGraphicFramePr>
          <p:nvPr/>
        </p:nvGraphicFramePr>
        <p:xfrm>
          <a:off x="1198563" y="2170113"/>
          <a:ext cx="2736850" cy="2241550"/>
        </p:xfrm>
        <a:graphic>
          <a:graphicData uri="http://schemas.openxmlformats.org/drawingml/2006/table">
            <a:tbl>
              <a:tblPr/>
              <a:tblGrid>
                <a:gridCol w="2736850">
                  <a:extLst>
                    <a:ext uri="{9D8B030D-6E8A-4147-A177-3AD203B41FA5}">
                      <a16:colId xmlns:a16="http://schemas.microsoft.com/office/drawing/2014/main" val="3370697834"/>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8354243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T1, Q, 100,50)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0902185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9735993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97546857"/>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T2, P, 55, 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216821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43066073"/>
                  </a:ext>
                </a:extLst>
              </a:tr>
            </a:tbl>
          </a:graphicData>
        </a:graphic>
      </p:graphicFrame>
      <p:sp>
        <p:nvSpPr>
          <p:cNvPr id="285728" name="Line 32" descr="Straight Arrow Connector 8">
            <a:extLst>
              <a:ext uri="{FF2B5EF4-FFF2-40B4-BE49-F238E27FC236}">
                <a16:creationId xmlns:a16="http://schemas.microsoft.com/office/drawing/2014/main" id="{83E6E468-D308-6FA1-1CDD-35D0A51B3AA5}"/>
              </a:ext>
            </a:extLst>
          </p:cNvPr>
          <p:cNvSpPr>
            <a:spLocks noChangeShapeType="1"/>
          </p:cNvSpPr>
          <p:nvPr/>
        </p:nvSpPr>
        <p:spPr bwMode="auto">
          <a:xfrm>
            <a:off x="754063" y="4030663"/>
            <a:ext cx="457200" cy="0"/>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5729" name="Text Box 33" descr="TextBox 10">
            <a:extLst>
              <a:ext uri="{FF2B5EF4-FFF2-40B4-BE49-F238E27FC236}">
                <a16:creationId xmlns:a16="http://schemas.microsoft.com/office/drawing/2014/main" id="{2872E9D8-2828-B5EC-6BFC-E7AE1C63403C}"/>
              </a:ext>
            </a:extLst>
          </p:cNvPr>
          <p:cNvSpPr txBox="1">
            <a:spLocks/>
          </p:cNvSpPr>
          <p:nvPr/>
        </p:nvSpPr>
        <p:spPr bwMode="auto">
          <a:xfrm>
            <a:off x="223838" y="3768725"/>
            <a:ext cx="769937"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FF0000"/>
                </a:solidFill>
              </a:rPr>
              <a:t>System</a:t>
            </a:r>
          </a:p>
          <a:p>
            <a:r>
              <a:rPr lang="en-US" altLang="en-US" sz="1400">
                <a:solidFill>
                  <a:srgbClr val="FF0000"/>
                </a:solidFill>
              </a:rPr>
              <a:t>Crash</a:t>
            </a:r>
          </a:p>
        </p:txBody>
      </p:sp>
      <p:graphicFrame>
        <p:nvGraphicFramePr>
          <p:cNvPr id="285730" name="Group 34">
            <a:extLst>
              <a:ext uri="{FF2B5EF4-FFF2-40B4-BE49-F238E27FC236}">
                <a16:creationId xmlns:a16="http://schemas.microsoft.com/office/drawing/2014/main" id="{6D7EB323-C41A-E479-0F71-0495A49E8456}"/>
              </a:ext>
            </a:extLst>
          </p:cNvPr>
          <p:cNvGraphicFramePr>
            <a:graphicFrameLocks noGrp="1"/>
          </p:cNvGraphicFramePr>
          <p:nvPr/>
        </p:nvGraphicFramePr>
        <p:xfrm>
          <a:off x="5076825" y="3090863"/>
          <a:ext cx="1511300" cy="768350"/>
        </p:xfrm>
        <a:graphic>
          <a:graphicData uri="http://schemas.openxmlformats.org/drawingml/2006/table">
            <a:tbl>
              <a:tblPr/>
              <a:tblGrid>
                <a:gridCol w="487363">
                  <a:extLst>
                    <a:ext uri="{9D8B030D-6E8A-4147-A177-3AD203B41FA5}">
                      <a16:colId xmlns:a16="http://schemas.microsoft.com/office/drawing/2014/main" val="2093955712"/>
                    </a:ext>
                  </a:extLst>
                </a:gridCol>
                <a:gridCol w="1023937">
                  <a:extLst>
                    <a:ext uri="{9D8B030D-6E8A-4147-A177-3AD203B41FA5}">
                      <a16:colId xmlns:a16="http://schemas.microsoft.com/office/drawing/2014/main" val="2239830184"/>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79351254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55 10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41471029"/>
                  </a:ext>
                </a:extLst>
              </a:tr>
            </a:tbl>
          </a:graphicData>
        </a:graphic>
      </p:graphicFrame>
      <p:sp>
        <p:nvSpPr>
          <p:cNvPr id="285747" name="AutoShape 51" descr="Flowchart: Magnetic Disk 12">
            <a:extLst>
              <a:ext uri="{FF2B5EF4-FFF2-40B4-BE49-F238E27FC236}">
                <a16:creationId xmlns:a16="http://schemas.microsoft.com/office/drawing/2014/main" id="{E4AD59C9-F2B5-1C86-D9E0-BF3DC4E126FC}"/>
              </a:ext>
            </a:extLst>
          </p:cNvPr>
          <p:cNvSpPr>
            <a:spLocks/>
          </p:cNvSpPr>
          <p:nvPr/>
        </p:nvSpPr>
        <p:spPr bwMode="auto">
          <a:xfrm>
            <a:off x="4714875" y="2373313"/>
            <a:ext cx="2232025" cy="17033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5748" name="Text Box 52" descr="TextBox 13">
            <a:extLst>
              <a:ext uri="{FF2B5EF4-FFF2-40B4-BE49-F238E27FC236}">
                <a16:creationId xmlns:a16="http://schemas.microsoft.com/office/drawing/2014/main" id="{D6DB6A65-E490-E90B-992C-9F8DD5BBFB1C}"/>
              </a:ext>
            </a:extLst>
          </p:cNvPr>
          <p:cNvSpPr txBox="1">
            <a:spLocks/>
          </p:cNvSpPr>
          <p:nvPr/>
        </p:nvSpPr>
        <p:spPr bwMode="auto">
          <a:xfrm>
            <a:off x="5300663" y="2035175"/>
            <a:ext cx="10604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
        <p:nvSpPr>
          <p:cNvPr id="285749" name="Text Box 53" descr="TextBox 14">
            <a:extLst>
              <a:ext uri="{FF2B5EF4-FFF2-40B4-BE49-F238E27FC236}">
                <a16:creationId xmlns:a16="http://schemas.microsoft.com/office/drawing/2014/main" id="{2B394354-0F7B-1A22-3B27-C831BA4F82EB}"/>
              </a:ext>
            </a:extLst>
          </p:cNvPr>
          <p:cNvSpPr txBox="1">
            <a:spLocks/>
          </p:cNvSpPr>
          <p:nvPr/>
        </p:nvSpPr>
        <p:spPr bwMode="auto">
          <a:xfrm>
            <a:off x="2097088" y="1839913"/>
            <a:ext cx="5318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LOG</a:t>
            </a:r>
          </a:p>
        </p:txBody>
      </p:sp>
      <p:sp>
        <p:nvSpPr>
          <p:cNvPr id="285750" name="Text Box 54" descr="TextBox 15">
            <a:extLst>
              <a:ext uri="{FF2B5EF4-FFF2-40B4-BE49-F238E27FC236}">
                <a16:creationId xmlns:a16="http://schemas.microsoft.com/office/drawing/2014/main" id="{696CEB6C-6521-6AFF-22F2-4A5703E8ABC9}"/>
              </a:ext>
            </a:extLst>
          </p:cNvPr>
          <p:cNvSpPr txBox="1">
            <a:spLocks/>
          </p:cNvSpPr>
          <p:nvPr/>
        </p:nvSpPr>
        <p:spPr bwMode="auto">
          <a:xfrm>
            <a:off x="193675" y="4724400"/>
            <a:ext cx="8662988" cy="160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just"/>
            <a:r>
              <a:rPr lang="en-US" altLang="en-US" sz="1400">
                <a:solidFill>
                  <a:srgbClr val="006600"/>
                </a:solidFill>
              </a:rPr>
              <a:t>Under immediate recovery method, after system crash the  </a:t>
            </a:r>
          </a:p>
          <a:p>
            <a:pPr algn="just"/>
            <a:r>
              <a:rPr lang="en-US" altLang="en-US" sz="1400">
                <a:solidFill>
                  <a:srgbClr val="006600"/>
                </a:solidFill>
              </a:rPr>
              <a:t>algorithm looks at LOG enteries for all transactions Ti </a:t>
            </a:r>
          </a:p>
          <a:p>
            <a:pPr algn="just"/>
            <a:r>
              <a:rPr lang="en-US" altLang="en-US" sz="1400">
                <a:solidFill>
                  <a:srgbClr val="006600"/>
                </a:solidFill>
              </a:rPr>
              <a:t>- if the entry of both &lt;start, Ti&gt; and &lt;commit, Ti&gt; is present then for all write </a:t>
            </a:r>
          </a:p>
          <a:p>
            <a:pPr algn="just"/>
            <a:r>
              <a:rPr lang="en-US" altLang="en-US" sz="1400">
                <a:solidFill>
                  <a:srgbClr val="006600"/>
                </a:solidFill>
              </a:rPr>
              <a:t>operations of Ti REDO will be carried out if updates have not been carried out on stable storage</a:t>
            </a:r>
          </a:p>
          <a:p>
            <a:pPr algn="just"/>
            <a:r>
              <a:rPr lang="en-US" altLang="en-US" sz="1400">
                <a:solidFill>
                  <a:srgbClr val="006600"/>
                </a:solidFill>
              </a:rPr>
              <a:t>of database </a:t>
            </a:r>
          </a:p>
          <a:p>
            <a:pPr algn="just"/>
            <a:r>
              <a:rPr lang="en-US" altLang="en-US" sz="1400">
                <a:solidFill>
                  <a:srgbClr val="006600"/>
                </a:solidFill>
              </a:rPr>
              <a:t>- if the entry of only &lt;start, Ti&gt; is present but not &lt;commit, Ti&gt; then for all write </a:t>
            </a:r>
          </a:p>
          <a:p>
            <a:pPr algn="just"/>
            <a:r>
              <a:rPr lang="en-US" altLang="en-US" sz="1400">
                <a:solidFill>
                  <a:srgbClr val="006600"/>
                </a:solidFill>
              </a:rPr>
              <a:t>operations of Ti UNDO will be carried out </a:t>
            </a:r>
          </a:p>
        </p:txBody>
      </p:sp>
    </p:spTree>
  </p:cSld>
  <p:clrMapOvr>
    <a:masterClrMapping/>
  </p:clrMapOvr>
  <p:transition spd="med"/>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descr="Title 1">
            <a:extLst>
              <a:ext uri="{FF2B5EF4-FFF2-40B4-BE49-F238E27FC236}">
                <a16:creationId xmlns:a16="http://schemas.microsoft.com/office/drawing/2014/main" id="{39DB4734-96AF-4618-D02D-DF149A82E594}"/>
              </a:ext>
            </a:extLst>
          </p:cNvPr>
          <p:cNvSpPr>
            <a:spLocks noChangeArrowheads="1"/>
          </p:cNvSpPr>
          <p:nvPr>
            <p:ph type="title"/>
          </p:nvPr>
        </p:nvSpPr>
        <p:spPr/>
        <p:txBody>
          <a:bodyPr/>
          <a:lstStyle/>
          <a:p>
            <a:r>
              <a:rPr lang="en-US" altLang="en-US"/>
              <a:t>Deferred Database Modification</a:t>
            </a:r>
          </a:p>
        </p:txBody>
      </p:sp>
      <p:sp>
        <p:nvSpPr>
          <p:cNvPr id="286723" name="Rectangle 3" descr="Content Placeholder 2">
            <a:extLst>
              <a:ext uri="{FF2B5EF4-FFF2-40B4-BE49-F238E27FC236}">
                <a16:creationId xmlns:a16="http://schemas.microsoft.com/office/drawing/2014/main" id="{D190139B-0A5C-A8B9-3A88-6DAA90D44399}"/>
              </a:ext>
            </a:extLst>
          </p:cNvPr>
          <p:cNvSpPr>
            <a:spLocks noChangeArrowheads="1"/>
          </p:cNvSpPr>
          <p:nvPr>
            <p:ph type="body" idx="1"/>
          </p:nvPr>
        </p:nvSpPr>
        <p:spPr/>
        <p:txBody>
          <a:bodyPr/>
          <a:lstStyle/>
          <a:p>
            <a:pPr marL="234950" indent="-234950">
              <a:spcBef>
                <a:spcPts val="300"/>
              </a:spcBef>
              <a:buSzTx/>
              <a:buFont typeface="Wingdings" panose="05000000000000000000" pitchFamily="2" charset="2"/>
              <a:buNone/>
            </a:pPr>
            <a:r>
              <a:rPr lang="en-US" altLang="en-US" sz="1600"/>
              <a:t>Example of Deferred based recovery</a:t>
            </a:r>
          </a:p>
          <a:p>
            <a:pPr marL="234950" indent="-234950">
              <a:spcBef>
                <a:spcPts val="300"/>
              </a:spcBef>
            </a:pPr>
            <a:r>
              <a:rPr lang="en-US" altLang="en-US" sz="1600"/>
              <a:t>Consider log entries for two  transactions T1 and T2 as follows.</a:t>
            </a:r>
          </a:p>
        </p:txBody>
      </p:sp>
      <p:sp>
        <p:nvSpPr>
          <p:cNvPr id="286724" name="Text Box 4" descr="Date Placeholder 3">
            <a:extLst>
              <a:ext uri="{FF2B5EF4-FFF2-40B4-BE49-F238E27FC236}">
                <a16:creationId xmlns:a16="http://schemas.microsoft.com/office/drawing/2014/main" id="{194027D3-F5C1-C77F-01FA-4245A1B63F3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6725" name="Text Box 5" descr="Slide Number Placeholder 5">
            <a:extLst>
              <a:ext uri="{FF2B5EF4-FFF2-40B4-BE49-F238E27FC236}">
                <a16:creationId xmlns:a16="http://schemas.microsoft.com/office/drawing/2014/main" id="{A38C59D3-1DF6-8B85-956E-FD634C27780B}"/>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91BD6059-9DFC-4AD7-BC9C-069A3044A27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269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86726" name="Group 6">
            <a:extLst>
              <a:ext uri="{FF2B5EF4-FFF2-40B4-BE49-F238E27FC236}">
                <a16:creationId xmlns:a16="http://schemas.microsoft.com/office/drawing/2014/main" id="{5E567A9F-FC89-1862-5D65-206FCE275AC7}"/>
              </a:ext>
            </a:extLst>
          </p:cNvPr>
          <p:cNvGraphicFramePr>
            <a:graphicFrameLocks noGrp="1"/>
          </p:cNvGraphicFramePr>
          <p:nvPr/>
        </p:nvGraphicFramePr>
        <p:xfrm>
          <a:off x="1198563" y="2170113"/>
          <a:ext cx="2736850" cy="2241550"/>
        </p:xfrm>
        <a:graphic>
          <a:graphicData uri="http://schemas.openxmlformats.org/drawingml/2006/table">
            <a:tbl>
              <a:tblPr/>
              <a:tblGrid>
                <a:gridCol w="2736850">
                  <a:extLst>
                    <a:ext uri="{9D8B030D-6E8A-4147-A177-3AD203B41FA5}">
                      <a16:colId xmlns:a16="http://schemas.microsoft.com/office/drawing/2014/main" val="2501388297"/>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570102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T1, Q, 100,</a:t>
                      </a:r>
                      <a:r>
                        <a:rPr kumimoji="0" lang="en-US" altLang="en-US" sz="1600" b="0" i="0" u="none" strike="noStrike" cap="none" normalizeH="0" baseline="0">
                          <a:ln>
                            <a:noFill/>
                          </a:ln>
                          <a:solidFill>
                            <a:srgbClr val="0066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50</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8699361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(Commit, 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63981269"/>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(Start, 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7434932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 T2, P, 55, 10)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8735506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02188423"/>
                  </a:ext>
                </a:extLst>
              </a:tr>
            </a:tbl>
          </a:graphicData>
        </a:graphic>
      </p:graphicFrame>
      <p:sp>
        <p:nvSpPr>
          <p:cNvPr id="286752" name="Line 32" descr="Straight Arrow Connector 8">
            <a:extLst>
              <a:ext uri="{FF2B5EF4-FFF2-40B4-BE49-F238E27FC236}">
                <a16:creationId xmlns:a16="http://schemas.microsoft.com/office/drawing/2014/main" id="{136C1A1B-9D89-9EA2-9FB6-48CE6E23E597}"/>
              </a:ext>
            </a:extLst>
          </p:cNvPr>
          <p:cNvSpPr>
            <a:spLocks noChangeShapeType="1"/>
          </p:cNvSpPr>
          <p:nvPr/>
        </p:nvSpPr>
        <p:spPr bwMode="auto">
          <a:xfrm>
            <a:off x="754063" y="4030663"/>
            <a:ext cx="457200" cy="0"/>
          </a:xfrm>
          <a:prstGeom prst="line">
            <a:avLst/>
          </a:prstGeom>
          <a:noFill/>
          <a:ln w="28575"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6753" name="Text Box 33" descr="TextBox 10">
            <a:extLst>
              <a:ext uri="{FF2B5EF4-FFF2-40B4-BE49-F238E27FC236}">
                <a16:creationId xmlns:a16="http://schemas.microsoft.com/office/drawing/2014/main" id="{7B46250D-CAE3-0291-306D-D3B9272CF374}"/>
              </a:ext>
            </a:extLst>
          </p:cNvPr>
          <p:cNvSpPr txBox="1">
            <a:spLocks/>
          </p:cNvSpPr>
          <p:nvPr/>
        </p:nvSpPr>
        <p:spPr bwMode="auto">
          <a:xfrm>
            <a:off x="223838" y="3768725"/>
            <a:ext cx="769937"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solidFill>
                  <a:srgbClr val="FF0000"/>
                </a:solidFill>
              </a:rPr>
              <a:t>System</a:t>
            </a:r>
          </a:p>
          <a:p>
            <a:r>
              <a:rPr lang="en-US" altLang="en-US" sz="1400">
                <a:solidFill>
                  <a:srgbClr val="FF0000"/>
                </a:solidFill>
              </a:rPr>
              <a:t>Crash</a:t>
            </a:r>
          </a:p>
        </p:txBody>
      </p:sp>
      <p:graphicFrame>
        <p:nvGraphicFramePr>
          <p:cNvPr id="286754" name="Group 34">
            <a:extLst>
              <a:ext uri="{FF2B5EF4-FFF2-40B4-BE49-F238E27FC236}">
                <a16:creationId xmlns:a16="http://schemas.microsoft.com/office/drawing/2014/main" id="{79CEDDF9-B203-1CE6-31C0-0FBF3C5CA7B7}"/>
              </a:ext>
            </a:extLst>
          </p:cNvPr>
          <p:cNvGraphicFramePr>
            <a:graphicFrameLocks noGrp="1"/>
          </p:cNvGraphicFramePr>
          <p:nvPr/>
        </p:nvGraphicFramePr>
        <p:xfrm>
          <a:off x="4775200" y="3041650"/>
          <a:ext cx="1836738" cy="792163"/>
        </p:xfrm>
        <a:graphic>
          <a:graphicData uri="http://schemas.openxmlformats.org/drawingml/2006/table">
            <a:tbl>
              <a:tblPr/>
              <a:tblGrid>
                <a:gridCol w="592138">
                  <a:extLst>
                    <a:ext uri="{9D8B030D-6E8A-4147-A177-3AD203B41FA5}">
                      <a16:colId xmlns:a16="http://schemas.microsoft.com/office/drawing/2014/main" val="1676622857"/>
                    </a:ext>
                  </a:extLst>
                </a:gridCol>
                <a:gridCol w="1244600">
                  <a:extLst>
                    <a:ext uri="{9D8B030D-6E8A-4147-A177-3AD203B41FA5}">
                      <a16:colId xmlns:a16="http://schemas.microsoft.com/office/drawing/2014/main" val="3359779703"/>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Q</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100 50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12291344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55 10 55</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457895842"/>
                  </a:ext>
                </a:extLst>
              </a:tr>
            </a:tbl>
          </a:graphicData>
        </a:graphic>
      </p:graphicFrame>
      <p:sp>
        <p:nvSpPr>
          <p:cNvPr id="286771" name="AutoShape 51" descr="Flowchart: Magnetic Disk 12">
            <a:extLst>
              <a:ext uri="{FF2B5EF4-FFF2-40B4-BE49-F238E27FC236}">
                <a16:creationId xmlns:a16="http://schemas.microsoft.com/office/drawing/2014/main" id="{B2F07054-1524-E857-0806-7074C6179C2D}"/>
              </a:ext>
            </a:extLst>
          </p:cNvPr>
          <p:cNvSpPr>
            <a:spLocks/>
          </p:cNvSpPr>
          <p:nvPr/>
        </p:nvSpPr>
        <p:spPr bwMode="auto">
          <a:xfrm>
            <a:off x="4714875" y="2373313"/>
            <a:ext cx="2232025" cy="17033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6772" name="Text Box 52" descr="TextBox 13">
            <a:extLst>
              <a:ext uri="{FF2B5EF4-FFF2-40B4-BE49-F238E27FC236}">
                <a16:creationId xmlns:a16="http://schemas.microsoft.com/office/drawing/2014/main" id="{D86CC82D-8574-491A-0B34-D603351E93FA}"/>
              </a:ext>
            </a:extLst>
          </p:cNvPr>
          <p:cNvSpPr txBox="1">
            <a:spLocks/>
          </p:cNvSpPr>
          <p:nvPr/>
        </p:nvSpPr>
        <p:spPr bwMode="auto">
          <a:xfrm>
            <a:off x="5300663" y="2035175"/>
            <a:ext cx="1060450" cy="331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
        <p:nvSpPr>
          <p:cNvPr id="286773" name="Text Box 53" descr="TextBox 14">
            <a:extLst>
              <a:ext uri="{FF2B5EF4-FFF2-40B4-BE49-F238E27FC236}">
                <a16:creationId xmlns:a16="http://schemas.microsoft.com/office/drawing/2014/main" id="{89E69643-6EAA-FF7E-5049-EE12A57FC4DA}"/>
              </a:ext>
            </a:extLst>
          </p:cNvPr>
          <p:cNvSpPr txBox="1">
            <a:spLocks/>
          </p:cNvSpPr>
          <p:nvPr/>
        </p:nvSpPr>
        <p:spPr bwMode="auto">
          <a:xfrm>
            <a:off x="2097088" y="1839913"/>
            <a:ext cx="531812"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LOG</a:t>
            </a:r>
          </a:p>
        </p:txBody>
      </p:sp>
      <p:sp>
        <p:nvSpPr>
          <p:cNvPr id="286774" name="Text Box 54" descr="TextBox 15">
            <a:extLst>
              <a:ext uri="{FF2B5EF4-FFF2-40B4-BE49-F238E27FC236}">
                <a16:creationId xmlns:a16="http://schemas.microsoft.com/office/drawing/2014/main" id="{58092A7B-79A2-C921-A898-6E5D34B28B55}"/>
              </a:ext>
            </a:extLst>
          </p:cNvPr>
          <p:cNvSpPr txBox="1">
            <a:spLocks/>
          </p:cNvSpPr>
          <p:nvPr/>
        </p:nvSpPr>
        <p:spPr bwMode="auto">
          <a:xfrm>
            <a:off x="44450" y="4878388"/>
            <a:ext cx="8664575" cy="160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just"/>
            <a:r>
              <a:rPr lang="en-US" altLang="en-US" sz="1400">
                <a:solidFill>
                  <a:srgbClr val="006600"/>
                </a:solidFill>
              </a:rPr>
              <a:t>Under immediate recovery method, after system crash the  </a:t>
            </a:r>
          </a:p>
          <a:p>
            <a:pPr algn="just"/>
            <a:r>
              <a:rPr lang="en-US" altLang="en-US" sz="1400">
                <a:solidFill>
                  <a:srgbClr val="006600"/>
                </a:solidFill>
              </a:rPr>
              <a:t>algorithm looks at LOG enteries for all transactions Ti </a:t>
            </a:r>
          </a:p>
          <a:p>
            <a:pPr algn="just"/>
            <a:r>
              <a:rPr lang="en-US" altLang="en-US" sz="1400">
                <a:solidFill>
                  <a:srgbClr val="006600"/>
                </a:solidFill>
              </a:rPr>
              <a:t>- if the entry of both &lt;start, Ti&gt; and &lt;commit, Ti&gt; is present then for all write </a:t>
            </a:r>
          </a:p>
          <a:p>
            <a:pPr algn="just"/>
            <a:r>
              <a:rPr lang="en-US" altLang="en-US" sz="1400">
                <a:solidFill>
                  <a:srgbClr val="006600"/>
                </a:solidFill>
              </a:rPr>
              <a:t>operations of Ti REDO will be carried out if updates have not been carried out on stable storage</a:t>
            </a:r>
          </a:p>
          <a:p>
            <a:pPr algn="just"/>
            <a:r>
              <a:rPr lang="en-US" altLang="en-US" sz="1400">
                <a:solidFill>
                  <a:srgbClr val="006600"/>
                </a:solidFill>
              </a:rPr>
              <a:t>of database </a:t>
            </a:r>
          </a:p>
          <a:p>
            <a:pPr algn="just"/>
            <a:r>
              <a:rPr lang="en-US" altLang="en-US" sz="1400">
                <a:solidFill>
                  <a:srgbClr val="006600"/>
                </a:solidFill>
              </a:rPr>
              <a:t>- if the entry of only &lt;start, Ti&gt; is present but not &lt;commit, Ti&gt; then for all write </a:t>
            </a:r>
          </a:p>
          <a:p>
            <a:pPr algn="just"/>
            <a:r>
              <a:rPr lang="en-US" altLang="en-US" sz="1400">
                <a:solidFill>
                  <a:srgbClr val="006600"/>
                </a:solidFill>
              </a:rPr>
              <a:t>operations of Ti UNDO will be carried out </a:t>
            </a:r>
          </a:p>
        </p:txBody>
      </p:sp>
      <p:sp>
        <p:nvSpPr>
          <p:cNvPr id="286775" name="Line 55" descr="Straight Arrow Connector 17">
            <a:extLst>
              <a:ext uri="{FF2B5EF4-FFF2-40B4-BE49-F238E27FC236}">
                <a16:creationId xmlns:a16="http://schemas.microsoft.com/office/drawing/2014/main" id="{59FF8A48-E334-9FF9-A025-C5B38CF17574}"/>
              </a:ext>
            </a:extLst>
          </p:cNvPr>
          <p:cNvSpPr>
            <a:spLocks noChangeShapeType="1"/>
          </p:cNvSpPr>
          <p:nvPr/>
        </p:nvSpPr>
        <p:spPr bwMode="auto">
          <a:xfrm flipH="1">
            <a:off x="6588125" y="3644900"/>
            <a:ext cx="647700" cy="0"/>
          </a:xfrm>
          <a:prstGeom prst="line">
            <a:avLst/>
          </a:prstGeom>
          <a:noFill/>
          <a:ln w="28575" cap="flat" cmpd="sng">
            <a:solidFill>
              <a:srgbClr val="006600"/>
            </a:solidFill>
            <a:prstDash val="solid"/>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6776" name="Text Box 56" descr="TextBox 18">
            <a:extLst>
              <a:ext uri="{FF2B5EF4-FFF2-40B4-BE49-F238E27FC236}">
                <a16:creationId xmlns:a16="http://schemas.microsoft.com/office/drawing/2014/main" id="{514976E0-768D-BD5C-3826-E6A7688C0063}"/>
              </a:ext>
            </a:extLst>
          </p:cNvPr>
          <p:cNvSpPr txBox="1">
            <a:spLocks/>
          </p:cNvSpPr>
          <p:nvPr/>
        </p:nvSpPr>
        <p:spPr bwMode="auto">
          <a:xfrm>
            <a:off x="7281863" y="3438525"/>
            <a:ext cx="798512"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6600"/>
                </a:solidFill>
              </a:rPr>
              <a:t>UNDO</a:t>
            </a:r>
          </a:p>
        </p:txBody>
      </p:sp>
      <p:sp>
        <p:nvSpPr>
          <p:cNvPr id="286777" name="Text Box 57" descr="TextBox 16">
            <a:extLst>
              <a:ext uri="{FF2B5EF4-FFF2-40B4-BE49-F238E27FC236}">
                <a16:creationId xmlns:a16="http://schemas.microsoft.com/office/drawing/2014/main" id="{334BDFB3-BD79-038C-762F-4AB9B2B76C53}"/>
              </a:ext>
            </a:extLst>
          </p:cNvPr>
          <p:cNvSpPr txBox="1">
            <a:spLocks/>
          </p:cNvSpPr>
          <p:nvPr/>
        </p:nvSpPr>
        <p:spPr bwMode="auto">
          <a:xfrm>
            <a:off x="7167563" y="2854325"/>
            <a:ext cx="1760537"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00FF"/>
                </a:solidFill>
              </a:rPr>
              <a:t>RECOVERY after</a:t>
            </a:r>
          </a:p>
          <a:p>
            <a:r>
              <a:rPr lang="en-US" altLang="en-US" sz="1600">
                <a:solidFill>
                  <a:srgbClr val="0000FF"/>
                </a:solidFill>
              </a:rPr>
              <a:t>System Crash</a:t>
            </a:r>
          </a:p>
        </p:txBody>
      </p:sp>
    </p:spTree>
  </p:cSld>
  <p:clrMapOvr>
    <a:masterClrMapping/>
  </p:clrMapOvr>
  <p:transition spd="med"/>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descr="Title 1">
            <a:extLst>
              <a:ext uri="{FF2B5EF4-FFF2-40B4-BE49-F238E27FC236}">
                <a16:creationId xmlns:a16="http://schemas.microsoft.com/office/drawing/2014/main" id="{ED7CA18B-E130-D24D-7F0D-23569558DEA7}"/>
              </a:ext>
            </a:extLst>
          </p:cNvPr>
          <p:cNvSpPr>
            <a:spLocks noChangeArrowheads="1"/>
          </p:cNvSpPr>
          <p:nvPr>
            <p:ph type="title"/>
          </p:nvPr>
        </p:nvSpPr>
        <p:spPr/>
        <p:txBody>
          <a:bodyPr/>
          <a:lstStyle/>
          <a:p>
            <a:r>
              <a:rPr lang="en-US" altLang="en-US"/>
              <a:t>Immediate Database Modification</a:t>
            </a:r>
          </a:p>
        </p:txBody>
      </p:sp>
      <p:sp>
        <p:nvSpPr>
          <p:cNvPr id="287747" name="Text Box 3" descr="Date Placeholder 3">
            <a:extLst>
              <a:ext uri="{FF2B5EF4-FFF2-40B4-BE49-F238E27FC236}">
                <a16:creationId xmlns:a16="http://schemas.microsoft.com/office/drawing/2014/main" id="{2FE7A45B-19B8-CE38-FB1F-821DC49F477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7748" name="Text Box 4" descr="Slide Number Placeholder 5">
            <a:extLst>
              <a:ext uri="{FF2B5EF4-FFF2-40B4-BE49-F238E27FC236}">
                <a16:creationId xmlns:a16="http://schemas.microsoft.com/office/drawing/2014/main" id="{360245B5-0204-774C-A024-7A30287DDB8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C9AC17E-70EA-420C-B567-FD94A0F79C35}"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87749" name="Group 5">
            <a:extLst>
              <a:ext uri="{FF2B5EF4-FFF2-40B4-BE49-F238E27FC236}">
                <a16:creationId xmlns:a16="http://schemas.microsoft.com/office/drawing/2014/main" id="{FEA972B9-F174-2D65-33E1-83F3C4A4865D}"/>
              </a:ext>
            </a:extLst>
          </p:cNvPr>
          <p:cNvGraphicFramePr>
            <a:graphicFrameLocks noGrp="1"/>
          </p:cNvGraphicFramePr>
          <p:nvPr/>
        </p:nvGraphicFramePr>
        <p:xfrm>
          <a:off x="1042988" y="2276475"/>
          <a:ext cx="3240087" cy="2689225"/>
        </p:xfrm>
        <a:graphic>
          <a:graphicData uri="http://schemas.openxmlformats.org/drawingml/2006/table">
            <a:tbl>
              <a:tblPr/>
              <a:tblGrid>
                <a:gridCol w="3240087">
                  <a:extLst>
                    <a:ext uri="{9D8B030D-6E8A-4147-A177-3AD203B41FA5}">
                      <a16:colId xmlns:a16="http://schemas.microsoft.com/office/drawing/2014/main" val="274556132"/>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4867561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0441248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3980920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4001970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867898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1768293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34093949"/>
                  </a:ext>
                </a:extLst>
              </a:tr>
            </a:tbl>
          </a:graphicData>
        </a:graphic>
      </p:graphicFrame>
      <p:sp>
        <p:nvSpPr>
          <p:cNvPr id="287779" name="Text Box 35" descr="TextBox 8">
            <a:extLst>
              <a:ext uri="{FF2B5EF4-FFF2-40B4-BE49-F238E27FC236}">
                <a16:creationId xmlns:a16="http://schemas.microsoft.com/office/drawing/2014/main" id="{19517A99-3F4E-1EAF-5243-47DB6F921439}"/>
              </a:ext>
            </a:extLst>
          </p:cNvPr>
          <p:cNvSpPr txBox="1">
            <a:spLocks/>
          </p:cNvSpPr>
          <p:nvPr/>
        </p:nvSpPr>
        <p:spPr bwMode="auto">
          <a:xfrm>
            <a:off x="431800" y="1127125"/>
            <a:ext cx="87757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and database on stable storage after systems crash,</a:t>
            </a:r>
          </a:p>
          <a:p>
            <a:r>
              <a:rPr lang="en-US" altLang="en-US"/>
              <a:t>then  recovery algorithm should carry out any UNDO/REDO operation ?</a:t>
            </a:r>
          </a:p>
        </p:txBody>
      </p:sp>
      <p:graphicFrame>
        <p:nvGraphicFramePr>
          <p:cNvPr id="287780" name="Group 36">
            <a:extLst>
              <a:ext uri="{FF2B5EF4-FFF2-40B4-BE49-F238E27FC236}">
                <a16:creationId xmlns:a16="http://schemas.microsoft.com/office/drawing/2014/main" id="{01268B37-197D-71C2-5967-1A1C748B7AE1}"/>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1975483571"/>
                    </a:ext>
                  </a:extLst>
                </a:gridCol>
                <a:gridCol w="2151062">
                  <a:extLst>
                    <a:ext uri="{9D8B030D-6E8A-4147-A177-3AD203B41FA5}">
                      <a16:colId xmlns:a16="http://schemas.microsoft.com/office/drawing/2014/main" val="846186420"/>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 </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4644716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 </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4868476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52947391"/>
                  </a:ext>
                </a:extLst>
              </a:tr>
            </a:tbl>
          </a:graphicData>
        </a:graphic>
      </p:graphicFrame>
      <p:sp>
        <p:nvSpPr>
          <p:cNvPr id="287804" name="AutoShape 60" descr="Flowchart: Magnetic Disk 11">
            <a:extLst>
              <a:ext uri="{FF2B5EF4-FFF2-40B4-BE49-F238E27FC236}">
                <a16:creationId xmlns:a16="http://schemas.microsoft.com/office/drawing/2014/main" id="{396650F7-F254-AA9B-0D25-52D1AE769119}"/>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7805" name="Text Box 61" descr="TextBox 12">
            <a:extLst>
              <a:ext uri="{FF2B5EF4-FFF2-40B4-BE49-F238E27FC236}">
                <a16:creationId xmlns:a16="http://schemas.microsoft.com/office/drawing/2014/main" id="{06A69396-4C52-3046-E664-8B6CEEB63D2D}"/>
              </a:ext>
            </a:extLst>
          </p:cNvPr>
          <p:cNvSpPr txBox="1">
            <a:spLocks/>
          </p:cNvSpPr>
          <p:nvPr/>
        </p:nvSpPr>
        <p:spPr bwMode="auto">
          <a:xfrm>
            <a:off x="5697538"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descr="Title 1">
            <a:extLst>
              <a:ext uri="{FF2B5EF4-FFF2-40B4-BE49-F238E27FC236}">
                <a16:creationId xmlns:a16="http://schemas.microsoft.com/office/drawing/2014/main" id="{93988610-A87F-DED7-C8C3-CB44527A7D9A}"/>
              </a:ext>
            </a:extLst>
          </p:cNvPr>
          <p:cNvSpPr>
            <a:spLocks noChangeArrowheads="1"/>
          </p:cNvSpPr>
          <p:nvPr>
            <p:ph type="title"/>
          </p:nvPr>
        </p:nvSpPr>
        <p:spPr/>
        <p:txBody>
          <a:bodyPr/>
          <a:lstStyle/>
          <a:p>
            <a:r>
              <a:rPr lang="en-US" altLang="en-US"/>
              <a:t>Immediate Database Modification</a:t>
            </a:r>
          </a:p>
        </p:txBody>
      </p:sp>
      <p:sp>
        <p:nvSpPr>
          <p:cNvPr id="288771" name="Text Box 3" descr="Date Placeholder 3">
            <a:extLst>
              <a:ext uri="{FF2B5EF4-FFF2-40B4-BE49-F238E27FC236}">
                <a16:creationId xmlns:a16="http://schemas.microsoft.com/office/drawing/2014/main" id="{3024F9E7-53F0-22E8-634E-332FA660B22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8772" name="Text Box 4" descr="Slide Number Placeholder 5">
            <a:extLst>
              <a:ext uri="{FF2B5EF4-FFF2-40B4-BE49-F238E27FC236}">
                <a16:creationId xmlns:a16="http://schemas.microsoft.com/office/drawing/2014/main" id="{ADFDD4F1-E641-4D94-6637-0B50D6E0D61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4144355-0281-450F-8C86-2D0BDC17A82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88773" name="Group 5">
            <a:extLst>
              <a:ext uri="{FF2B5EF4-FFF2-40B4-BE49-F238E27FC236}">
                <a16:creationId xmlns:a16="http://schemas.microsoft.com/office/drawing/2014/main" id="{8ADF2291-F12D-42EC-01E8-145BB064938D}"/>
              </a:ext>
            </a:extLst>
          </p:cNvPr>
          <p:cNvGraphicFramePr>
            <a:graphicFrameLocks noGrp="1"/>
          </p:cNvGraphicFramePr>
          <p:nvPr/>
        </p:nvGraphicFramePr>
        <p:xfrm>
          <a:off x="1042988" y="2276475"/>
          <a:ext cx="3240087" cy="2689225"/>
        </p:xfrm>
        <a:graphic>
          <a:graphicData uri="http://schemas.openxmlformats.org/drawingml/2006/table">
            <a:tbl>
              <a:tblPr/>
              <a:tblGrid>
                <a:gridCol w="3240087">
                  <a:extLst>
                    <a:ext uri="{9D8B030D-6E8A-4147-A177-3AD203B41FA5}">
                      <a16:colId xmlns:a16="http://schemas.microsoft.com/office/drawing/2014/main" val="98697122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8551786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924454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9102327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6964259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1219954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32685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81898375"/>
                  </a:ext>
                </a:extLst>
              </a:tr>
            </a:tbl>
          </a:graphicData>
        </a:graphic>
      </p:graphicFrame>
      <p:sp>
        <p:nvSpPr>
          <p:cNvPr id="288803" name="Text Box 35" descr="TextBox 8">
            <a:extLst>
              <a:ext uri="{FF2B5EF4-FFF2-40B4-BE49-F238E27FC236}">
                <a16:creationId xmlns:a16="http://schemas.microsoft.com/office/drawing/2014/main" id="{6F01E4BA-6EF6-C2F9-69BD-F5C2E6906858}"/>
              </a:ext>
            </a:extLst>
          </p:cNvPr>
          <p:cNvSpPr txBox="1">
            <a:spLocks/>
          </p:cNvSpPr>
          <p:nvPr/>
        </p:nvSpPr>
        <p:spPr bwMode="auto">
          <a:xfrm>
            <a:off x="431800" y="1127125"/>
            <a:ext cx="87757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and database on stable storage after systems crash,</a:t>
            </a:r>
          </a:p>
          <a:p>
            <a:r>
              <a:rPr lang="en-US" altLang="en-US"/>
              <a:t>then  recovery algorithm should carry out any UNDO/REDO operation ?</a:t>
            </a:r>
          </a:p>
        </p:txBody>
      </p:sp>
      <p:sp>
        <p:nvSpPr>
          <p:cNvPr id="288804" name="Text Box 36" descr="TextBox 9">
            <a:extLst>
              <a:ext uri="{FF2B5EF4-FFF2-40B4-BE49-F238E27FC236}">
                <a16:creationId xmlns:a16="http://schemas.microsoft.com/office/drawing/2014/main" id="{341DE146-A0A4-0522-A50B-C33DA2E82EA7}"/>
              </a:ext>
            </a:extLst>
          </p:cNvPr>
          <p:cNvSpPr txBox="1">
            <a:spLocks/>
          </p:cNvSpPr>
          <p:nvPr/>
        </p:nvSpPr>
        <p:spPr bwMode="auto">
          <a:xfrm>
            <a:off x="552450" y="5143500"/>
            <a:ext cx="8093075"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Answer:</a:t>
            </a:r>
          </a:p>
          <a:p>
            <a:r>
              <a:rPr lang="en-US" altLang="en-US"/>
              <a:t>UNDO for T1 because &lt;commit,T1&gt; not found: A should be restored </a:t>
            </a:r>
          </a:p>
          <a:p>
            <a:r>
              <a:rPr lang="en-US" altLang="en-US"/>
              <a:t>to 1000 and B should be restored to 2000</a:t>
            </a:r>
          </a:p>
        </p:txBody>
      </p:sp>
      <p:graphicFrame>
        <p:nvGraphicFramePr>
          <p:cNvPr id="288805" name="Group 37">
            <a:extLst>
              <a:ext uri="{FF2B5EF4-FFF2-40B4-BE49-F238E27FC236}">
                <a16:creationId xmlns:a16="http://schemas.microsoft.com/office/drawing/2014/main" id="{ED8BB3A9-C3A5-7810-28DD-8010264C929D}"/>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308800530"/>
                    </a:ext>
                  </a:extLst>
                </a:gridCol>
                <a:gridCol w="2151062">
                  <a:extLst>
                    <a:ext uri="{9D8B030D-6E8A-4147-A177-3AD203B41FA5}">
                      <a16:colId xmlns:a16="http://schemas.microsoft.com/office/drawing/2014/main" val="1633443527"/>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1000 950 1000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79441773"/>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2000 2050 2000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23569645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421895190"/>
                  </a:ext>
                </a:extLst>
              </a:tr>
            </a:tbl>
          </a:graphicData>
        </a:graphic>
      </p:graphicFrame>
      <p:sp>
        <p:nvSpPr>
          <p:cNvPr id="288829" name="AutoShape 61" descr="Flowchart: Magnetic Disk 11">
            <a:extLst>
              <a:ext uri="{FF2B5EF4-FFF2-40B4-BE49-F238E27FC236}">
                <a16:creationId xmlns:a16="http://schemas.microsoft.com/office/drawing/2014/main" id="{41C1E45E-F8F2-36EB-EF75-043F8AB21198}"/>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8830" name="Text Box 62" descr="TextBox 12">
            <a:extLst>
              <a:ext uri="{FF2B5EF4-FFF2-40B4-BE49-F238E27FC236}">
                <a16:creationId xmlns:a16="http://schemas.microsoft.com/office/drawing/2014/main" id="{6A91EEEB-C8F1-ED06-489D-F456EAB2E1D5}"/>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descr="Title 1">
            <a:extLst>
              <a:ext uri="{FF2B5EF4-FFF2-40B4-BE49-F238E27FC236}">
                <a16:creationId xmlns:a16="http://schemas.microsoft.com/office/drawing/2014/main" id="{2D9EE590-AD37-0C0B-E533-2A8D90ACE1C8}"/>
              </a:ext>
            </a:extLst>
          </p:cNvPr>
          <p:cNvSpPr>
            <a:spLocks noChangeArrowheads="1"/>
          </p:cNvSpPr>
          <p:nvPr>
            <p:ph type="title"/>
          </p:nvPr>
        </p:nvSpPr>
        <p:spPr/>
        <p:txBody>
          <a:bodyPr/>
          <a:lstStyle/>
          <a:p>
            <a:r>
              <a:rPr lang="en-US" altLang="en-US"/>
              <a:t>Immediate Database Modification</a:t>
            </a:r>
          </a:p>
        </p:txBody>
      </p:sp>
      <p:sp>
        <p:nvSpPr>
          <p:cNvPr id="289795" name="Text Box 3" descr="Date Placeholder 3">
            <a:extLst>
              <a:ext uri="{FF2B5EF4-FFF2-40B4-BE49-F238E27FC236}">
                <a16:creationId xmlns:a16="http://schemas.microsoft.com/office/drawing/2014/main" id="{446D7D68-7148-2D2A-2871-CA6F423A4C3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89796" name="Text Box 4" descr="Slide Number Placeholder 5">
            <a:extLst>
              <a:ext uri="{FF2B5EF4-FFF2-40B4-BE49-F238E27FC236}">
                <a16:creationId xmlns:a16="http://schemas.microsoft.com/office/drawing/2014/main" id="{E7CCD26B-EB2E-4CF7-0EEF-D6E9618F3A0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B2C24BC-679E-45BB-96AA-018448138F1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89797" name="Group 5">
            <a:extLst>
              <a:ext uri="{FF2B5EF4-FFF2-40B4-BE49-F238E27FC236}">
                <a16:creationId xmlns:a16="http://schemas.microsoft.com/office/drawing/2014/main" id="{CE5EFFB3-B381-9F18-D391-803CAC8219DC}"/>
              </a:ext>
            </a:extLst>
          </p:cNvPr>
          <p:cNvGraphicFramePr>
            <a:graphicFrameLocks noGrp="1"/>
          </p:cNvGraphicFramePr>
          <p:nvPr/>
        </p:nvGraphicFramePr>
        <p:xfrm>
          <a:off x="1042988" y="2276475"/>
          <a:ext cx="3240087" cy="2689225"/>
        </p:xfrm>
        <a:graphic>
          <a:graphicData uri="http://schemas.openxmlformats.org/drawingml/2006/table">
            <a:tbl>
              <a:tblPr/>
              <a:tblGrid>
                <a:gridCol w="3240087">
                  <a:extLst>
                    <a:ext uri="{9D8B030D-6E8A-4147-A177-3AD203B41FA5}">
                      <a16:colId xmlns:a16="http://schemas.microsoft.com/office/drawing/2014/main" val="961916610"/>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288254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892853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4849169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941372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5730257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 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669833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54258289"/>
                  </a:ext>
                </a:extLst>
              </a:tr>
            </a:tbl>
          </a:graphicData>
        </a:graphic>
      </p:graphicFrame>
      <p:sp>
        <p:nvSpPr>
          <p:cNvPr id="289827" name="Text Box 35" descr="TextBox 8">
            <a:extLst>
              <a:ext uri="{FF2B5EF4-FFF2-40B4-BE49-F238E27FC236}">
                <a16:creationId xmlns:a16="http://schemas.microsoft.com/office/drawing/2014/main" id="{94DCA27C-38EB-BC12-A7A4-D9C674135C01}"/>
              </a:ext>
            </a:extLst>
          </p:cNvPr>
          <p:cNvSpPr txBox="1">
            <a:spLocks/>
          </p:cNvSpPr>
          <p:nvPr/>
        </p:nvSpPr>
        <p:spPr bwMode="auto">
          <a:xfrm>
            <a:off x="431800" y="1127125"/>
            <a:ext cx="87757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and database on stable storage after systems crash,</a:t>
            </a:r>
          </a:p>
          <a:p>
            <a:r>
              <a:rPr lang="en-US" altLang="en-US"/>
              <a:t>then  recovery algorithm should carry out any UNDO/REDO operation ?</a:t>
            </a:r>
          </a:p>
        </p:txBody>
      </p:sp>
      <p:graphicFrame>
        <p:nvGraphicFramePr>
          <p:cNvPr id="289828" name="Group 36">
            <a:extLst>
              <a:ext uri="{FF2B5EF4-FFF2-40B4-BE49-F238E27FC236}">
                <a16:creationId xmlns:a16="http://schemas.microsoft.com/office/drawing/2014/main" id="{54D442CE-CCC1-013C-0787-CD42222B1D2A}"/>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3157821191"/>
                    </a:ext>
                  </a:extLst>
                </a:gridCol>
                <a:gridCol w="2151062">
                  <a:extLst>
                    <a:ext uri="{9D8B030D-6E8A-4147-A177-3AD203B41FA5}">
                      <a16:colId xmlns:a16="http://schemas.microsoft.com/office/drawing/2014/main" val="1906433645"/>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 </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9223886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 </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77854819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700 600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55777559"/>
                  </a:ext>
                </a:extLst>
              </a:tr>
            </a:tbl>
          </a:graphicData>
        </a:graphic>
      </p:graphicFrame>
      <p:sp>
        <p:nvSpPr>
          <p:cNvPr id="289852" name="AutoShape 60" descr="Flowchart: Magnetic Disk 11">
            <a:extLst>
              <a:ext uri="{FF2B5EF4-FFF2-40B4-BE49-F238E27FC236}">
                <a16:creationId xmlns:a16="http://schemas.microsoft.com/office/drawing/2014/main" id="{1CCD961B-0617-B252-132B-0FCADEA3B25B}"/>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89853" name="Text Box 61" descr="TextBox 12">
            <a:extLst>
              <a:ext uri="{FF2B5EF4-FFF2-40B4-BE49-F238E27FC236}">
                <a16:creationId xmlns:a16="http://schemas.microsoft.com/office/drawing/2014/main" id="{357BAF34-8902-E012-51E2-9C956AA9B781}"/>
              </a:ext>
            </a:extLst>
          </p:cNvPr>
          <p:cNvSpPr txBox="1">
            <a:spLocks/>
          </p:cNvSpPr>
          <p:nvPr/>
        </p:nvSpPr>
        <p:spPr bwMode="auto">
          <a:xfrm>
            <a:off x="5697538"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descr="Title 1">
            <a:extLst>
              <a:ext uri="{FF2B5EF4-FFF2-40B4-BE49-F238E27FC236}">
                <a16:creationId xmlns:a16="http://schemas.microsoft.com/office/drawing/2014/main" id="{53E698BD-BF81-72CA-02F4-B2BB5F8DFF9C}"/>
              </a:ext>
            </a:extLst>
          </p:cNvPr>
          <p:cNvSpPr>
            <a:spLocks noChangeArrowheads="1"/>
          </p:cNvSpPr>
          <p:nvPr>
            <p:ph type="title"/>
          </p:nvPr>
        </p:nvSpPr>
        <p:spPr/>
        <p:txBody>
          <a:bodyPr/>
          <a:lstStyle/>
          <a:p>
            <a:r>
              <a:rPr lang="en-US" altLang="en-US"/>
              <a:t>Immediate Database Modification</a:t>
            </a:r>
          </a:p>
        </p:txBody>
      </p:sp>
      <p:sp>
        <p:nvSpPr>
          <p:cNvPr id="290819" name="Text Box 3" descr="Date Placeholder 3">
            <a:extLst>
              <a:ext uri="{FF2B5EF4-FFF2-40B4-BE49-F238E27FC236}">
                <a16:creationId xmlns:a16="http://schemas.microsoft.com/office/drawing/2014/main" id="{1C2C4D29-53FD-A988-75BE-321AEC3DC5E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0820" name="Text Box 4" descr="Slide Number Placeholder 5">
            <a:extLst>
              <a:ext uri="{FF2B5EF4-FFF2-40B4-BE49-F238E27FC236}">
                <a16:creationId xmlns:a16="http://schemas.microsoft.com/office/drawing/2014/main" id="{5681E98D-B76B-181E-29CE-638E84B078E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06B58D4-D85D-4179-A9D1-59EB245391C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90821" name="Group 5">
            <a:extLst>
              <a:ext uri="{FF2B5EF4-FFF2-40B4-BE49-F238E27FC236}">
                <a16:creationId xmlns:a16="http://schemas.microsoft.com/office/drawing/2014/main" id="{B543F7CA-1E47-0FE6-889D-BF93B7DB78B5}"/>
              </a:ext>
            </a:extLst>
          </p:cNvPr>
          <p:cNvGraphicFramePr>
            <a:graphicFrameLocks noGrp="1"/>
          </p:cNvGraphicFramePr>
          <p:nvPr/>
        </p:nvGraphicFramePr>
        <p:xfrm>
          <a:off x="1042988" y="2276475"/>
          <a:ext cx="3240087" cy="2689225"/>
        </p:xfrm>
        <a:graphic>
          <a:graphicData uri="http://schemas.openxmlformats.org/drawingml/2006/table">
            <a:tbl>
              <a:tblPr/>
              <a:tblGrid>
                <a:gridCol w="3240087">
                  <a:extLst>
                    <a:ext uri="{9D8B030D-6E8A-4147-A177-3AD203B41FA5}">
                      <a16:colId xmlns:a16="http://schemas.microsoft.com/office/drawing/2014/main" val="2440312161"/>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410918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862487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715869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1285570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9537091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 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3530972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52639735"/>
                  </a:ext>
                </a:extLst>
              </a:tr>
            </a:tbl>
          </a:graphicData>
        </a:graphic>
      </p:graphicFrame>
      <p:sp>
        <p:nvSpPr>
          <p:cNvPr id="290851" name="Text Box 35" descr="TextBox 8">
            <a:extLst>
              <a:ext uri="{FF2B5EF4-FFF2-40B4-BE49-F238E27FC236}">
                <a16:creationId xmlns:a16="http://schemas.microsoft.com/office/drawing/2014/main" id="{1014A6E2-ED5E-E847-28AF-59232FD6FB79}"/>
              </a:ext>
            </a:extLst>
          </p:cNvPr>
          <p:cNvSpPr txBox="1">
            <a:spLocks/>
          </p:cNvSpPr>
          <p:nvPr/>
        </p:nvSpPr>
        <p:spPr bwMode="auto">
          <a:xfrm>
            <a:off x="431800" y="1127125"/>
            <a:ext cx="87757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and database on stable storage after systems crash,</a:t>
            </a:r>
          </a:p>
          <a:p>
            <a:r>
              <a:rPr lang="en-US" altLang="en-US"/>
              <a:t>then  recovery algorithm should carry out any UNDO/REDO operation ?</a:t>
            </a:r>
          </a:p>
        </p:txBody>
      </p:sp>
      <p:sp>
        <p:nvSpPr>
          <p:cNvPr id="290852" name="Text Box 36" descr="TextBox 9">
            <a:extLst>
              <a:ext uri="{FF2B5EF4-FFF2-40B4-BE49-F238E27FC236}">
                <a16:creationId xmlns:a16="http://schemas.microsoft.com/office/drawing/2014/main" id="{25A2C80C-CCAB-B953-2971-9A427E70C9DE}"/>
              </a:ext>
            </a:extLst>
          </p:cNvPr>
          <p:cNvSpPr txBox="1">
            <a:spLocks/>
          </p:cNvSpPr>
          <p:nvPr/>
        </p:nvSpPr>
        <p:spPr bwMode="auto">
          <a:xfrm>
            <a:off x="442913" y="5132388"/>
            <a:ext cx="7594600"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Answer:</a:t>
            </a:r>
          </a:p>
          <a:p>
            <a:r>
              <a:rPr lang="en-US" altLang="en-US"/>
              <a:t>Recovery actions</a:t>
            </a:r>
          </a:p>
          <a:p>
            <a:r>
              <a:rPr lang="en-US" altLang="en-US"/>
              <a:t>UNDO T2 because &lt;commit, T2&gt; not found: C is restored to 700</a:t>
            </a:r>
          </a:p>
        </p:txBody>
      </p:sp>
      <p:graphicFrame>
        <p:nvGraphicFramePr>
          <p:cNvPr id="290853" name="Group 37">
            <a:extLst>
              <a:ext uri="{FF2B5EF4-FFF2-40B4-BE49-F238E27FC236}">
                <a16:creationId xmlns:a16="http://schemas.microsoft.com/office/drawing/2014/main" id="{4BC9F9D2-0ACD-CEE7-0FA4-4076D6502B79}"/>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1659317180"/>
                    </a:ext>
                  </a:extLst>
                </a:gridCol>
                <a:gridCol w="2151062">
                  <a:extLst>
                    <a:ext uri="{9D8B030D-6E8A-4147-A177-3AD203B41FA5}">
                      <a16:colId xmlns:a16="http://schemas.microsoft.com/office/drawing/2014/main" val="4190187411"/>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 </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828732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 </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23156440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700 600 700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334399790"/>
                  </a:ext>
                </a:extLst>
              </a:tr>
            </a:tbl>
          </a:graphicData>
        </a:graphic>
      </p:graphicFrame>
      <p:sp>
        <p:nvSpPr>
          <p:cNvPr id="290877" name="AutoShape 61" descr="Flowchart: Magnetic Disk 11">
            <a:extLst>
              <a:ext uri="{FF2B5EF4-FFF2-40B4-BE49-F238E27FC236}">
                <a16:creationId xmlns:a16="http://schemas.microsoft.com/office/drawing/2014/main" id="{118A5BAE-134A-C1D5-1510-CDC73F367059}"/>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90878" name="Text Box 62" descr="TextBox 12">
            <a:extLst>
              <a:ext uri="{FF2B5EF4-FFF2-40B4-BE49-F238E27FC236}">
                <a16:creationId xmlns:a16="http://schemas.microsoft.com/office/drawing/2014/main" id="{58AF7687-AFD4-A867-8289-4F7A2DF7EDAF}"/>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descr="Title 1">
            <a:extLst>
              <a:ext uri="{FF2B5EF4-FFF2-40B4-BE49-F238E27FC236}">
                <a16:creationId xmlns:a16="http://schemas.microsoft.com/office/drawing/2014/main" id="{ED5F9AFA-630B-EC4E-280F-B9032771D825}"/>
              </a:ext>
            </a:extLst>
          </p:cNvPr>
          <p:cNvSpPr>
            <a:spLocks noChangeArrowheads="1"/>
          </p:cNvSpPr>
          <p:nvPr>
            <p:ph type="title"/>
          </p:nvPr>
        </p:nvSpPr>
        <p:spPr/>
        <p:txBody>
          <a:bodyPr/>
          <a:lstStyle/>
          <a:p>
            <a:r>
              <a:rPr lang="en-US" altLang="en-US"/>
              <a:t>Immediate Database Modification</a:t>
            </a:r>
          </a:p>
        </p:txBody>
      </p:sp>
      <p:sp>
        <p:nvSpPr>
          <p:cNvPr id="291843" name="Text Box 3" descr="Date Placeholder 3">
            <a:extLst>
              <a:ext uri="{FF2B5EF4-FFF2-40B4-BE49-F238E27FC236}">
                <a16:creationId xmlns:a16="http://schemas.microsoft.com/office/drawing/2014/main" id="{98498BC4-2C79-0A3D-BACC-00A49A2A851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1844" name="Text Box 4" descr="Slide Number Placeholder 5">
            <a:extLst>
              <a:ext uri="{FF2B5EF4-FFF2-40B4-BE49-F238E27FC236}">
                <a16:creationId xmlns:a16="http://schemas.microsoft.com/office/drawing/2014/main" id="{9A560C71-4717-ADD9-677D-698F4B413744}"/>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5B339AF2-2ABB-4E3B-AF8E-602B6AA6D9A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91845" name="Group 5">
            <a:extLst>
              <a:ext uri="{FF2B5EF4-FFF2-40B4-BE49-F238E27FC236}">
                <a16:creationId xmlns:a16="http://schemas.microsoft.com/office/drawing/2014/main" id="{E2C9FFF3-0E1E-3618-D54D-0C24977D204B}"/>
              </a:ext>
            </a:extLst>
          </p:cNvPr>
          <p:cNvGraphicFramePr>
            <a:graphicFrameLocks noGrp="1"/>
          </p:cNvGraphicFramePr>
          <p:nvPr/>
        </p:nvGraphicFramePr>
        <p:xfrm>
          <a:off x="1042988" y="2276475"/>
          <a:ext cx="3240087" cy="2689225"/>
        </p:xfrm>
        <a:graphic>
          <a:graphicData uri="http://schemas.openxmlformats.org/drawingml/2006/table">
            <a:tbl>
              <a:tblPr/>
              <a:tblGrid>
                <a:gridCol w="3240087">
                  <a:extLst>
                    <a:ext uri="{9D8B030D-6E8A-4147-A177-3AD203B41FA5}">
                      <a16:colId xmlns:a16="http://schemas.microsoft.com/office/drawing/2014/main" val="2647302103"/>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4227788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7873609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85948454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5237460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0445137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 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436325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95371917"/>
                  </a:ext>
                </a:extLst>
              </a:tr>
            </a:tbl>
          </a:graphicData>
        </a:graphic>
      </p:graphicFrame>
      <p:sp>
        <p:nvSpPr>
          <p:cNvPr id="291875" name="Text Box 35" descr="TextBox 8">
            <a:extLst>
              <a:ext uri="{FF2B5EF4-FFF2-40B4-BE49-F238E27FC236}">
                <a16:creationId xmlns:a16="http://schemas.microsoft.com/office/drawing/2014/main" id="{CDB8ED51-1956-BB54-CC51-44BC53A60327}"/>
              </a:ext>
            </a:extLst>
          </p:cNvPr>
          <p:cNvSpPr txBox="1">
            <a:spLocks/>
          </p:cNvSpPr>
          <p:nvPr/>
        </p:nvSpPr>
        <p:spPr bwMode="auto">
          <a:xfrm>
            <a:off x="431800" y="1127125"/>
            <a:ext cx="87757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and database on stable storage after systems crash,</a:t>
            </a:r>
          </a:p>
          <a:p>
            <a:r>
              <a:rPr lang="en-US" altLang="en-US"/>
              <a:t>then  recovery algorithm should carry out any UNDO/REDO operation ?</a:t>
            </a:r>
          </a:p>
        </p:txBody>
      </p:sp>
      <p:graphicFrame>
        <p:nvGraphicFramePr>
          <p:cNvPr id="291876" name="Group 36">
            <a:extLst>
              <a:ext uri="{FF2B5EF4-FFF2-40B4-BE49-F238E27FC236}">
                <a16:creationId xmlns:a16="http://schemas.microsoft.com/office/drawing/2014/main" id="{620421B9-986C-A9CC-9D3B-7CD6B8D26778}"/>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1548339740"/>
                    </a:ext>
                  </a:extLst>
                </a:gridCol>
                <a:gridCol w="2151062">
                  <a:extLst>
                    <a:ext uri="{9D8B030D-6E8A-4147-A177-3AD203B41FA5}">
                      <a16:colId xmlns:a16="http://schemas.microsoft.com/office/drawing/2014/main" val="727540440"/>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037337087"/>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1415777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 </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614216223"/>
                  </a:ext>
                </a:extLst>
              </a:tr>
            </a:tbl>
          </a:graphicData>
        </a:graphic>
      </p:graphicFrame>
      <p:sp>
        <p:nvSpPr>
          <p:cNvPr id="291900" name="AutoShape 60" descr="Flowchart: Magnetic Disk 11">
            <a:extLst>
              <a:ext uri="{FF2B5EF4-FFF2-40B4-BE49-F238E27FC236}">
                <a16:creationId xmlns:a16="http://schemas.microsoft.com/office/drawing/2014/main" id="{E240D8C4-2271-B16D-1DB7-68EC89E69A70}"/>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91901" name="Text Box 61" descr="TextBox 12">
            <a:extLst>
              <a:ext uri="{FF2B5EF4-FFF2-40B4-BE49-F238E27FC236}">
                <a16:creationId xmlns:a16="http://schemas.microsoft.com/office/drawing/2014/main" id="{462AA620-E552-863F-A3FB-BC9D5236A2A5}"/>
              </a:ext>
            </a:extLst>
          </p:cNvPr>
          <p:cNvSpPr txBox="1">
            <a:spLocks/>
          </p:cNvSpPr>
          <p:nvPr/>
        </p:nvSpPr>
        <p:spPr bwMode="auto">
          <a:xfrm>
            <a:off x="5624513"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descr="Title 1">
            <a:extLst>
              <a:ext uri="{FF2B5EF4-FFF2-40B4-BE49-F238E27FC236}">
                <a16:creationId xmlns:a16="http://schemas.microsoft.com/office/drawing/2014/main" id="{3BA1E43C-6FAC-0A0D-B645-18BB0A1D613C}"/>
              </a:ext>
            </a:extLst>
          </p:cNvPr>
          <p:cNvSpPr>
            <a:spLocks noChangeArrowheads="1"/>
          </p:cNvSpPr>
          <p:nvPr>
            <p:ph type="title"/>
          </p:nvPr>
        </p:nvSpPr>
        <p:spPr/>
        <p:txBody>
          <a:bodyPr/>
          <a:lstStyle/>
          <a:p>
            <a:r>
              <a:rPr lang="en-US" altLang="en-US"/>
              <a:t>Immediate Database Modification</a:t>
            </a:r>
          </a:p>
        </p:txBody>
      </p:sp>
      <p:sp>
        <p:nvSpPr>
          <p:cNvPr id="292867" name="Text Box 3" descr="Date Placeholder 3">
            <a:extLst>
              <a:ext uri="{FF2B5EF4-FFF2-40B4-BE49-F238E27FC236}">
                <a16:creationId xmlns:a16="http://schemas.microsoft.com/office/drawing/2014/main" id="{66B24473-24E4-60AB-9AF1-2815745F8FF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2868" name="Text Box 4" descr="Slide Number Placeholder 5">
            <a:extLst>
              <a:ext uri="{FF2B5EF4-FFF2-40B4-BE49-F238E27FC236}">
                <a16:creationId xmlns:a16="http://schemas.microsoft.com/office/drawing/2014/main" id="{1FBAE74F-3633-5D0A-03F6-1CEFEE81A1B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1D70623-224E-4D01-98CD-C7FBF52333D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292869" name="Group 5">
            <a:extLst>
              <a:ext uri="{FF2B5EF4-FFF2-40B4-BE49-F238E27FC236}">
                <a16:creationId xmlns:a16="http://schemas.microsoft.com/office/drawing/2014/main" id="{12FBF5B8-15A0-6FD4-A122-B36BB75DC88B}"/>
              </a:ext>
            </a:extLst>
          </p:cNvPr>
          <p:cNvGraphicFramePr>
            <a:graphicFrameLocks noGrp="1"/>
          </p:cNvGraphicFramePr>
          <p:nvPr/>
        </p:nvGraphicFramePr>
        <p:xfrm>
          <a:off x="1042988" y="2276475"/>
          <a:ext cx="3240087" cy="2689225"/>
        </p:xfrm>
        <a:graphic>
          <a:graphicData uri="http://schemas.openxmlformats.org/drawingml/2006/table">
            <a:tbl>
              <a:tblPr/>
              <a:tblGrid>
                <a:gridCol w="3240087">
                  <a:extLst>
                    <a:ext uri="{9D8B030D-6E8A-4147-A177-3AD203B41FA5}">
                      <a16:colId xmlns:a16="http://schemas.microsoft.com/office/drawing/2014/main" val="310865256"/>
                    </a:ext>
                  </a:extLst>
                </a:gridCol>
              </a:tblGrid>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5408892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&lt;write,T1,A,1000,950&gt;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9497868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&lt;write,T1,B,2000,2050&gt;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2360646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T1&gt;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7277338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&lt;Start,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7174638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&lt;write,T2,C,700, 600&gt;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55146936"/>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&lt;Commit, T2&gt;</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66500248"/>
                  </a:ext>
                </a:extLst>
              </a:tr>
            </a:tbl>
          </a:graphicData>
        </a:graphic>
      </p:graphicFrame>
      <p:sp>
        <p:nvSpPr>
          <p:cNvPr id="292899" name="Text Box 35" descr="TextBox 8">
            <a:extLst>
              <a:ext uri="{FF2B5EF4-FFF2-40B4-BE49-F238E27FC236}">
                <a16:creationId xmlns:a16="http://schemas.microsoft.com/office/drawing/2014/main" id="{D8996A43-B6FF-AFF9-4CE0-C069C7D386C2}"/>
              </a:ext>
            </a:extLst>
          </p:cNvPr>
          <p:cNvSpPr txBox="1">
            <a:spLocks/>
          </p:cNvSpPr>
          <p:nvPr/>
        </p:nvSpPr>
        <p:spPr bwMode="auto">
          <a:xfrm>
            <a:off x="431800" y="1127125"/>
            <a:ext cx="8775700" cy="930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FF0000"/>
                </a:solidFill>
              </a:rPr>
              <a:t>Question:</a:t>
            </a:r>
          </a:p>
          <a:p>
            <a:r>
              <a:rPr lang="en-US" altLang="en-US"/>
              <a:t>If following is the LOG and database on stable storage after systems crash,</a:t>
            </a:r>
          </a:p>
          <a:p>
            <a:r>
              <a:rPr lang="en-US" altLang="en-US"/>
              <a:t>then  recovery algorithm should carry out any UNDO/REDO operation ?</a:t>
            </a:r>
          </a:p>
        </p:txBody>
      </p:sp>
      <p:sp>
        <p:nvSpPr>
          <p:cNvPr id="292900" name="Text Box 36" descr="TextBox 9">
            <a:extLst>
              <a:ext uri="{FF2B5EF4-FFF2-40B4-BE49-F238E27FC236}">
                <a16:creationId xmlns:a16="http://schemas.microsoft.com/office/drawing/2014/main" id="{35E1C31F-54A9-5F2D-2787-E72CA419B179}"/>
              </a:ext>
            </a:extLst>
          </p:cNvPr>
          <p:cNvSpPr txBox="1">
            <a:spLocks/>
          </p:cNvSpPr>
          <p:nvPr/>
        </p:nvSpPr>
        <p:spPr bwMode="auto">
          <a:xfrm>
            <a:off x="442913" y="5132388"/>
            <a:ext cx="8077200" cy="1208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Answer: </a:t>
            </a:r>
          </a:p>
          <a:p>
            <a:r>
              <a:rPr lang="en-US" altLang="en-US"/>
              <a:t>Recovery actions</a:t>
            </a:r>
          </a:p>
          <a:p>
            <a:r>
              <a:rPr lang="en-US" altLang="en-US"/>
              <a:t>REDO operation  for Transaction T1 and T2 since &lt;Commit, T1&gt; and </a:t>
            </a:r>
          </a:p>
          <a:p>
            <a:r>
              <a:rPr lang="en-US" altLang="en-US"/>
              <a:t>&lt;Commit,T2&gt; are present.</a:t>
            </a:r>
          </a:p>
        </p:txBody>
      </p:sp>
      <p:graphicFrame>
        <p:nvGraphicFramePr>
          <p:cNvPr id="292901" name="Group 37">
            <a:extLst>
              <a:ext uri="{FF2B5EF4-FFF2-40B4-BE49-F238E27FC236}">
                <a16:creationId xmlns:a16="http://schemas.microsoft.com/office/drawing/2014/main" id="{74B4D05A-AE73-37D1-04AF-99E86597E1B2}"/>
              </a:ext>
            </a:extLst>
          </p:cNvPr>
          <p:cNvGraphicFramePr>
            <a:graphicFrameLocks noGrp="1"/>
          </p:cNvGraphicFramePr>
          <p:nvPr/>
        </p:nvGraphicFramePr>
        <p:xfrm>
          <a:off x="4818063" y="3181350"/>
          <a:ext cx="2995612" cy="1176338"/>
        </p:xfrm>
        <a:graphic>
          <a:graphicData uri="http://schemas.openxmlformats.org/drawingml/2006/table">
            <a:tbl>
              <a:tblPr/>
              <a:tblGrid>
                <a:gridCol w="844550">
                  <a:extLst>
                    <a:ext uri="{9D8B030D-6E8A-4147-A177-3AD203B41FA5}">
                      <a16:colId xmlns:a16="http://schemas.microsoft.com/office/drawing/2014/main" val="4066098750"/>
                    </a:ext>
                  </a:extLst>
                </a:gridCol>
                <a:gridCol w="2151062">
                  <a:extLst>
                    <a:ext uri="{9D8B030D-6E8A-4147-A177-3AD203B41FA5}">
                      <a16:colId xmlns:a16="http://schemas.microsoft.com/office/drawing/2014/main" val="4048139003"/>
                    </a:ext>
                  </a:extLst>
                </a:gridCol>
              </a:tblGrid>
              <a:tr h="407988">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1000 950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30428769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2000 2050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39499541"/>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700 600</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18998913"/>
                  </a:ext>
                </a:extLst>
              </a:tr>
            </a:tbl>
          </a:graphicData>
        </a:graphic>
      </p:graphicFrame>
      <p:sp>
        <p:nvSpPr>
          <p:cNvPr id="292925" name="AutoShape 61" descr="Flowchart: Magnetic Disk 11">
            <a:extLst>
              <a:ext uri="{FF2B5EF4-FFF2-40B4-BE49-F238E27FC236}">
                <a16:creationId xmlns:a16="http://schemas.microsoft.com/office/drawing/2014/main" id="{8BB83CED-29CF-64C7-9305-D7CCF090A28F}"/>
              </a:ext>
            </a:extLst>
          </p:cNvPr>
          <p:cNvSpPr>
            <a:spLocks/>
          </p:cNvSpPr>
          <p:nvPr/>
        </p:nvSpPr>
        <p:spPr bwMode="auto">
          <a:xfrm>
            <a:off x="4714875" y="2373313"/>
            <a:ext cx="3313113" cy="22796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3600"/>
                </a:moveTo>
                <a:cubicBezTo>
                  <a:pt x="21600" y="5588"/>
                  <a:pt x="16765" y="7200"/>
                  <a:pt x="10800" y="7200"/>
                </a:cubicBezTo>
                <a:cubicBezTo>
                  <a:pt x="4835" y="7200"/>
                  <a:pt x="0" y="5588"/>
                  <a:pt x="0" y="3600"/>
                </a:cubicBezTo>
                <a:moveTo>
                  <a:pt x="0" y="3600"/>
                </a:moveTo>
                <a:cubicBezTo>
                  <a:pt x="0" y="1612"/>
                  <a:pt x="4835" y="0"/>
                  <a:pt x="10800" y="0"/>
                </a:cubicBezTo>
                <a:cubicBezTo>
                  <a:pt x="16765" y="0"/>
                  <a:pt x="21600" y="1612"/>
                  <a:pt x="21600" y="3600"/>
                </a:cubicBezTo>
                <a:lnTo>
                  <a:pt x="21600" y="18000"/>
                </a:lnTo>
                <a:cubicBezTo>
                  <a:pt x="21600" y="19988"/>
                  <a:pt x="16765" y="21600"/>
                  <a:pt x="10800" y="21600"/>
                </a:cubicBezTo>
                <a:cubicBezTo>
                  <a:pt x="4835" y="21600"/>
                  <a:pt x="0" y="19988"/>
                  <a:pt x="0" y="18000"/>
                </a:cubicBezTo>
                <a:close/>
              </a:path>
            </a:pathLst>
          </a:custGeom>
          <a:noFill/>
          <a:ln w="9525"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92926" name="Text Box 62" descr="TextBox 12">
            <a:extLst>
              <a:ext uri="{FF2B5EF4-FFF2-40B4-BE49-F238E27FC236}">
                <a16:creationId xmlns:a16="http://schemas.microsoft.com/office/drawing/2014/main" id="{EA974BD4-FB7B-2484-2160-10A6ECF2DFCA}"/>
              </a:ext>
            </a:extLst>
          </p:cNvPr>
          <p:cNvSpPr txBox="1">
            <a:spLocks/>
          </p:cNvSpPr>
          <p:nvPr/>
        </p:nvSpPr>
        <p:spPr bwMode="auto">
          <a:xfrm>
            <a:off x="5553075" y="2563813"/>
            <a:ext cx="106045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Database</a:t>
            </a:r>
          </a:p>
        </p:txBody>
      </p:sp>
    </p:spTree>
  </p:cSld>
  <p:clrMapOvr>
    <a:masterClrMapping/>
  </p:clrMapOvr>
  <p:transition spd="med"/>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descr="Title 1">
            <a:extLst>
              <a:ext uri="{FF2B5EF4-FFF2-40B4-BE49-F238E27FC236}">
                <a16:creationId xmlns:a16="http://schemas.microsoft.com/office/drawing/2014/main" id="{329948F8-4DFC-C23E-92A1-1456198286E2}"/>
              </a:ext>
            </a:extLst>
          </p:cNvPr>
          <p:cNvSpPr>
            <a:spLocks noChangeArrowheads="1"/>
          </p:cNvSpPr>
          <p:nvPr>
            <p:ph type="title"/>
          </p:nvPr>
        </p:nvSpPr>
        <p:spPr/>
        <p:txBody>
          <a:bodyPr/>
          <a:lstStyle/>
          <a:p>
            <a:pPr defTabSz="411163"/>
            <a:br>
              <a:rPr lang="en-US" altLang="en-US" sz="1400"/>
            </a:br>
            <a:br>
              <a:rPr lang="en-US" altLang="en-US" sz="1400"/>
            </a:br>
            <a:r>
              <a:rPr lang="en-US" altLang="en-US" sz="1400" b="1"/>
              <a:t>Checkpoints </a:t>
            </a:r>
            <a:endParaRPr lang="en-US" altLang="en-US" sz="1400"/>
          </a:p>
        </p:txBody>
      </p:sp>
      <p:sp>
        <p:nvSpPr>
          <p:cNvPr id="293891" name="Rectangle 3" descr="Content Placeholder 2">
            <a:extLst>
              <a:ext uri="{FF2B5EF4-FFF2-40B4-BE49-F238E27FC236}">
                <a16:creationId xmlns:a16="http://schemas.microsoft.com/office/drawing/2014/main" id="{3094EB42-683C-2957-16A8-F4C247F9DA78}"/>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1800"/>
              <a:t>Problems in recovery procedure as discussed earlier :</a:t>
            </a:r>
          </a:p>
          <a:p>
            <a:pPr marL="0" indent="0">
              <a:spcBef>
                <a:spcPts val="400"/>
              </a:spcBef>
              <a:buSzTx/>
              <a:buFont typeface="Wingdings" panose="05000000000000000000" pitchFamily="2" charset="2"/>
              <a:buNone/>
            </a:pPr>
            <a:r>
              <a:rPr lang="en-US" altLang="en-US" sz="1800"/>
              <a:t>1.Searching the entire log is time-consuming</a:t>
            </a:r>
          </a:p>
          <a:p>
            <a:pPr marL="0" indent="0">
              <a:spcBef>
                <a:spcPts val="400"/>
              </a:spcBef>
              <a:buSzTx/>
              <a:buFont typeface="Wingdings" panose="05000000000000000000" pitchFamily="2" charset="2"/>
              <a:buNone/>
            </a:pPr>
            <a:r>
              <a:rPr lang="en-US" altLang="en-US" sz="1800"/>
              <a:t>2.We might unnecessarily redo transactions which have already</a:t>
            </a:r>
          </a:p>
          <a:p>
            <a:pPr marL="0" indent="0">
              <a:spcBef>
                <a:spcPts val="400"/>
              </a:spcBef>
              <a:buSzTx/>
              <a:buFont typeface="Wingdings" panose="05000000000000000000" pitchFamily="2" charset="2"/>
              <a:buNone/>
            </a:pPr>
            <a:r>
              <a:rPr lang="en-US" altLang="en-US" sz="1800"/>
              <a:t>output their updates to the database.</a:t>
            </a:r>
          </a:p>
          <a:p>
            <a:pPr marL="0" indent="0">
              <a:spcBef>
                <a:spcPts val="400"/>
              </a:spcBef>
              <a:buSzTx/>
              <a:buFont typeface="Wingdings" panose="05000000000000000000" pitchFamily="2" charset="2"/>
              <a:buNone/>
            </a:pPr>
            <a:r>
              <a:rPr lang="en-US" altLang="en-US" sz="1800"/>
              <a:t>Streamline recovery procedure by periodically performing </a:t>
            </a:r>
            <a:r>
              <a:rPr lang="en-US" altLang="en-US" sz="1800" b="1"/>
              <a:t>checkpointing</a:t>
            </a:r>
            <a:endParaRPr lang="en-US" altLang="en-US" sz="1800"/>
          </a:p>
          <a:p>
            <a:pPr marL="0" indent="0">
              <a:spcBef>
                <a:spcPts val="400"/>
              </a:spcBef>
              <a:buSzTx/>
              <a:buFont typeface="Wingdings" panose="05000000000000000000" pitchFamily="2" charset="2"/>
              <a:buNone/>
            </a:pPr>
            <a:r>
              <a:rPr lang="en-US" altLang="en-US" sz="1800"/>
              <a:t>1.Output all log records currently residing in main memory onto stable storage.</a:t>
            </a:r>
          </a:p>
          <a:p>
            <a:pPr marL="0" indent="0">
              <a:spcBef>
                <a:spcPts val="400"/>
              </a:spcBef>
              <a:buSzTx/>
              <a:buFont typeface="Wingdings" panose="05000000000000000000" pitchFamily="2" charset="2"/>
              <a:buNone/>
            </a:pPr>
            <a:r>
              <a:rPr lang="en-US" altLang="en-US" sz="1800"/>
              <a:t>2.Output all modified buffer blocks to the disk.</a:t>
            </a:r>
          </a:p>
          <a:p>
            <a:pPr marL="0" indent="0">
              <a:spcBef>
                <a:spcPts val="400"/>
              </a:spcBef>
              <a:buSzTx/>
              <a:buFont typeface="Wingdings" panose="05000000000000000000" pitchFamily="2" charset="2"/>
              <a:buNone/>
            </a:pPr>
            <a:r>
              <a:rPr lang="en-US" altLang="en-US" sz="1800"/>
              <a:t>3.Write a log record &lt;</a:t>
            </a:r>
            <a:r>
              <a:rPr lang="en-US" altLang="en-US" sz="1800" b="1"/>
              <a:t>checkpoint</a:t>
            </a:r>
            <a:r>
              <a:rPr lang="en-US" altLang="en-US" sz="1800"/>
              <a:t>&gt; onto stable storage.</a:t>
            </a:r>
          </a:p>
        </p:txBody>
      </p:sp>
      <p:sp>
        <p:nvSpPr>
          <p:cNvPr id="293892" name="Text Box 4" descr="Date Placeholder 3">
            <a:extLst>
              <a:ext uri="{FF2B5EF4-FFF2-40B4-BE49-F238E27FC236}">
                <a16:creationId xmlns:a16="http://schemas.microsoft.com/office/drawing/2014/main" id="{7418C347-E179-26C6-4EF2-B3FF6C5DE8FD}"/>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3893" name="Text Box 5" descr="Slide Number Placeholder 5">
            <a:extLst>
              <a:ext uri="{FF2B5EF4-FFF2-40B4-BE49-F238E27FC236}">
                <a16:creationId xmlns:a16="http://schemas.microsoft.com/office/drawing/2014/main" id="{C8552DED-8DF9-9703-693F-22174B0A132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6B037D4B-AD81-4C30-997B-7D5FAA46653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descr="Title 1">
            <a:extLst>
              <a:ext uri="{FF2B5EF4-FFF2-40B4-BE49-F238E27FC236}">
                <a16:creationId xmlns:a16="http://schemas.microsoft.com/office/drawing/2014/main" id="{891992CE-3CB4-29FB-6FB0-5155255E5393}"/>
              </a:ext>
            </a:extLst>
          </p:cNvPr>
          <p:cNvSpPr>
            <a:spLocks noChangeArrowheads="1"/>
          </p:cNvSpPr>
          <p:nvPr>
            <p:ph type="title"/>
          </p:nvPr>
        </p:nvSpPr>
        <p:spPr/>
        <p:txBody>
          <a:bodyPr/>
          <a:lstStyle/>
          <a:p>
            <a:r>
              <a:rPr lang="en-US" altLang="en-US"/>
              <a:t>Checkpoints</a:t>
            </a:r>
          </a:p>
        </p:txBody>
      </p:sp>
      <p:sp>
        <p:nvSpPr>
          <p:cNvPr id="294915" name="Rectangle 3" descr="Content Placeholder 2">
            <a:extLst>
              <a:ext uri="{FF2B5EF4-FFF2-40B4-BE49-F238E27FC236}">
                <a16:creationId xmlns:a16="http://schemas.microsoft.com/office/drawing/2014/main" id="{14C13F53-0DDB-86E0-2F6A-2EBAE57E8079}"/>
              </a:ext>
            </a:extLst>
          </p:cNvPr>
          <p:cNvSpPr>
            <a:spLocks noChangeArrowheads="1"/>
          </p:cNvSpPr>
          <p:nvPr>
            <p:ph type="body" idx="1"/>
          </p:nvPr>
        </p:nvSpPr>
        <p:spPr/>
        <p:txBody>
          <a:bodyPr/>
          <a:lstStyle/>
          <a:p>
            <a:pPr marL="0" indent="0">
              <a:spcBef>
                <a:spcPts val="400"/>
              </a:spcBef>
              <a:buSzTx/>
              <a:buFont typeface="Wingdings" panose="05000000000000000000" pitchFamily="2" charset="2"/>
              <a:buNone/>
            </a:pPr>
            <a:r>
              <a:rPr lang="en-US" altLang="en-US" sz="1800"/>
              <a:t>During recovery we need to consider only the most recent transaction Ti that started before the checkpoint, and transactions that started after </a:t>
            </a:r>
            <a:r>
              <a:rPr lang="en-US" altLang="en-US" sz="1800" i="1"/>
              <a:t>Ti</a:t>
            </a:r>
            <a:r>
              <a:rPr lang="en-US" altLang="en-US" sz="1800"/>
              <a:t>. </a:t>
            </a:r>
          </a:p>
          <a:p>
            <a:pPr marL="0" indent="0">
              <a:spcBef>
                <a:spcPts val="400"/>
              </a:spcBef>
              <a:buSzTx/>
              <a:buFont typeface="Wingdings" panose="05000000000000000000" pitchFamily="2" charset="2"/>
              <a:buNone/>
            </a:pPr>
            <a:r>
              <a:rPr lang="en-US" altLang="en-US" sz="1800"/>
              <a:t>1. Scan backwards from end of log to find the most recent &lt;</a:t>
            </a:r>
            <a:r>
              <a:rPr lang="en-US" altLang="en-US" sz="1800" b="1"/>
              <a:t>checkpoint</a:t>
            </a:r>
            <a:r>
              <a:rPr lang="en-US" altLang="en-US" sz="1800"/>
              <a:t>&gt; record </a:t>
            </a:r>
          </a:p>
          <a:p>
            <a:pPr marL="0" indent="0">
              <a:spcBef>
                <a:spcPts val="400"/>
              </a:spcBef>
              <a:buSzTx/>
              <a:buFont typeface="Wingdings" panose="05000000000000000000" pitchFamily="2" charset="2"/>
              <a:buNone/>
            </a:pPr>
            <a:r>
              <a:rPr lang="en-US" altLang="en-US" sz="1800"/>
              <a:t>2. Continue scanning backwards till a record </a:t>
            </a:r>
            <a:r>
              <a:rPr lang="en-US" altLang="en-US" sz="1800" i="1"/>
              <a:t>&lt;</a:t>
            </a:r>
            <a:r>
              <a:rPr lang="en-US" altLang="en-US" sz="1800" b="1"/>
              <a:t>start </a:t>
            </a:r>
            <a:r>
              <a:rPr lang="en-US" altLang="en-US" sz="1800" i="1"/>
              <a:t>Ti</a:t>
            </a:r>
            <a:r>
              <a:rPr lang="en-US" altLang="en-US" sz="1800"/>
              <a:t>&gt; is found. </a:t>
            </a:r>
          </a:p>
          <a:p>
            <a:pPr marL="0" indent="0">
              <a:spcBef>
                <a:spcPts val="400"/>
              </a:spcBef>
              <a:buSzTx/>
              <a:buFont typeface="Wingdings" panose="05000000000000000000" pitchFamily="2" charset="2"/>
              <a:buNone/>
            </a:pPr>
            <a:r>
              <a:rPr lang="en-US" altLang="en-US" sz="1800"/>
              <a:t>3.Need only consider the part of log following above </a:t>
            </a:r>
            <a:r>
              <a:rPr lang="en-US" altLang="en-US" sz="1800" b="1"/>
              <a:t>star</a:t>
            </a:r>
            <a:r>
              <a:rPr lang="en-US" altLang="en-US" sz="1800"/>
              <a:t>t record. Earlier part of log can be ignored during recovery, and can be erased whenever desired.</a:t>
            </a:r>
          </a:p>
          <a:p>
            <a:pPr marL="0" indent="0">
              <a:spcBef>
                <a:spcPts val="400"/>
              </a:spcBef>
              <a:buSzTx/>
              <a:buFont typeface="Wingdings" panose="05000000000000000000" pitchFamily="2" charset="2"/>
              <a:buNone/>
            </a:pPr>
            <a:r>
              <a:rPr lang="en-US" altLang="en-US" sz="1800"/>
              <a:t>4.For all transactions (starting from </a:t>
            </a:r>
            <a:r>
              <a:rPr lang="en-US" altLang="en-US" sz="1800" i="1"/>
              <a:t>Ti </a:t>
            </a:r>
            <a:r>
              <a:rPr lang="en-US" altLang="en-US" sz="1800"/>
              <a:t>or later) with no </a:t>
            </a:r>
            <a:r>
              <a:rPr lang="en-US" altLang="en-US" sz="1800" i="1"/>
              <a:t>&lt; </a:t>
            </a:r>
            <a:r>
              <a:rPr lang="en-US" altLang="en-US" sz="1800" b="1"/>
              <a:t>commit </a:t>
            </a:r>
            <a:r>
              <a:rPr lang="en-US" altLang="en-US" sz="1800" i="1"/>
              <a:t>Ti&gt;</a:t>
            </a:r>
            <a:r>
              <a:rPr lang="en-US" altLang="en-US" sz="1800"/>
              <a:t>, execute </a:t>
            </a:r>
            <a:r>
              <a:rPr lang="en-US" altLang="en-US" sz="1800" b="1"/>
              <a:t>undo</a:t>
            </a:r>
            <a:r>
              <a:rPr lang="en-US" altLang="en-US" sz="1800" i="1"/>
              <a:t>(Ti). </a:t>
            </a:r>
            <a:r>
              <a:rPr lang="en-US" altLang="en-US" sz="1800"/>
              <a:t>(Done only in case of immediate modification.)</a:t>
            </a:r>
          </a:p>
          <a:p>
            <a:pPr marL="0" indent="0">
              <a:spcBef>
                <a:spcPts val="400"/>
              </a:spcBef>
              <a:buSzTx/>
              <a:buFont typeface="Wingdings" panose="05000000000000000000" pitchFamily="2" charset="2"/>
              <a:buNone/>
            </a:pPr>
            <a:r>
              <a:rPr lang="en-US" altLang="en-US" sz="1800"/>
              <a:t>5.Scanning forward in the log, for all transactions starting from </a:t>
            </a:r>
            <a:r>
              <a:rPr lang="en-US" altLang="en-US" sz="1800" i="1"/>
              <a:t>Ti </a:t>
            </a:r>
            <a:r>
              <a:rPr lang="en-US" altLang="en-US" sz="1800"/>
              <a:t>or later with a </a:t>
            </a:r>
            <a:r>
              <a:rPr lang="en-US" altLang="en-US" sz="1800" i="1"/>
              <a:t>&lt;</a:t>
            </a:r>
            <a:r>
              <a:rPr lang="en-US" altLang="en-US" sz="1800" b="1"/>
              <a:t>commit </a:t>
            </a:r>
            <a:r>
              <a:rPr lang="en-US" altLang="en-US" sz="1800" i="1"/>
              <a:t>Ti&gt;</a:t>
            </a:r>
            <a:r>
              <a:rPr lang="en-US" altLang="en-US" sz="1800"/>
              <a:t>, execute </a:t>
            </a:r>
            <a:r>
              <a:rPr lang="en-US" altLang="en-US" sz="1800" b="1"/>
              <a:t>redo</a:t>
            </a:r>
            <a:r>
              <a:rPr lang="en-US" altLang="en-US" sz="1800" i="1"/>
              <a:t>(Ti).</a:t>
            </a:r>
            <a:endParaRPr lang="en-US" altLang="en-US" sz="1800"/>
          </a:p>
        </p:txBody>
      </p:sp>
      <p:sp>
        <p:nvSpPr>
          <p:cNvPr id="294916" name="Text Box 4" descr="Date Placeholder 3">
            <a:extLst>
              <a:ext uri="{FF2B5EF4-FFF2-40B4-BE49-F238E27FC236}">
                <a16:creationId xmlns:a16="http://schemas.microsoft.com/office/drawing/2014/main" id="{53CCD5B5-7852-54B9-3721-40E1B93BAC2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4917" name="Text Box 5" descr="Slide Number Placeholder 5">
            <a:extLst>
              <a:ext uri="{FF2B5EF4-FFF2-40B4-BE49-F238E27FC236}">
                <a16:creationId xmlns:a16="http://schemas.microsoft.com/office/drawing/2014/main" id="{2A381CCA-F01B-25A7-BCAC-F2D0B70A53C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C7E6A61-04AF-47AE-B599-BC24658D7F6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descr="Title 1">
            <a:extLst>
              <a:ext uri="{FF2B5EF4-FFF2-40B4-BE49-F238E27FC236}">
                <a16:creationId xmlns:a16="http://schemas.microsoft.com/office/drawing/2014/main" id="{3C575B24-B433-8A1E-6107-22C5F5D15950}"/>
              </a:ext>
            </a:extLst>
          </p:cNvPr>
          <p:cNvSpPr>
            <a:spLocks noChangeArrowheads="1"/>
          </p:cNvSpPr>
          <p:nvPr>
            <p:ph type="title"/>
          </p:nvPr>
        </p:nvSpPr>
        <p:spPr/>
        <p:txBody>
          <a:bodyPr/>
          <a:lstStyle/>
          <a:p>
            <a:r>
              <a:rPr lang="en-US" altLang="en-US" sz="1800"/>
              <a:t>Recovery using Deferred Update with Concurrent Transactions</a:t>
            </a:r>
          </a:p>
        </p:txBody>
      </p:sp>
      <p:sp>
        <p:nvSpPr>
          <p:cNvPr id="295939" name="Text Box 3" descr="Date Placeholder 3">
            <a:extLst>
              <a:ext uri="{FF2B5EF4-FFF2-40B4-BE49-F238E27FC236}">
                <a16:creationId xmlns:a16="http://schemas.microsoft.com/office/drawing/2014/main" id="{B1BA8F7B-A92C-4E18-D9A7-DAB17E93E05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5940" name="Text Box 4" descr="Slide Number Placeholder 5">
            <a:extLst>
              <a:ext uri="{FF2B5EF4-FFF2-40B4-BE49-F238E27FC236}">
                <a16:creationId xmlns:a16="http://schemas.microsoft.com/office/drawing/2014/main" id="{E19371CD-1BD5-7D87-E2F4-9ACACA0E706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E6B26AB-2294-47BC-B17E-BB86A93F4F8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95941" name="Picture 5" descr="Picture 2">
            <a:extLst>
              <a:ext uri="{FF2B5EF4-FFF2-40B4-BE49-F238E27FC236}">
                <a16:creationId xmlns:a16="http://schemas.microsoft.com/office/drawing/2014/main" id="{7C82C7EB-BAE3-3135-0152-30F16CD796B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84225" y="1712913"/>
            <a:ext cx="4073525" cy="3722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95942" name="Text Box 6" descr="TextBox 8">
            <a:extLst>
              <a:ext uri="{FF2B5EF4-FFF2-40B4-BE49-F238E27FC236}">
                <a16:creationId xmlns:a16="http://schemas.microsoft.com/office/drawing/2014/main" id="{1CAA304F-F70D-D816-D25C-797349D7713E}"/>
              </a:ext>
            </a:extLst>
          </p:cNvPr>
          <p:cNvSpPr txBox="1">
            <a:spLocks/>
          </p:cNvSpPr>
          <p:nvPr/>
        </p:nvSpPr>
        <p:spPr bwMode="auto">
          <a:xfrm>
            <a:off x="473075" y="1284288"/>
            <a:ext cx="4222750" cy="371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t>Consider the following LOG enteries</a:t>
            </a:r>
          </a:p>
        </p:txBody>
      </p:sp>
      <p:sp>
        <p:nvSpPr>
          <p:cNvPr id="295943" name="Text Box 7" descr="TextBox 9">
            <a:extLst>
              <a:ext uri="{FF2B5EF4-FFF2-40B4-BE49-F238E27FC236}">
                <a16:creationId xmlns:a16="http://schemas.microsoft.com/office/drawing/2014/main" id="{C8C68E27-293C-74A3-4B9B-4E22584F5F45}"/>
              </a:ext>
            </a:extLst>
          </p:cNvPr>
          <p:cNvSpPr txBox="1">
            <a:spLocks/>
          </p:cNvSpPr>
          <p:nvPr/>
        </p:nvSpPr>
        <p:spPr bwMode="auto">
          <a:xfrm>
            <a:off x="187325" y="5500688"/>
            <a:ext cx="8612188"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T2 and T3 are ignored because they did not reach their commit points</a:t>
            </a:r>
          </a:p>
          <a:p>
            <a:r>
              <a:rPr lang="en-US" altLang="en-US">
                <a:solidFill>
                  <a:srgbClr val="0000FF"/>
                </a:solidFill>
              </a:rPr>
              <a:t>T4 is redone because its commit point is after the last system check point</a:t>
            </a:r>
          </a:p>
        </p:txBody>
      </p:sp>
    </p:spTree>
  </p:cSld>
  <p:clrMapOvr>
    <a:masterClrMapping/>
  </p:clrMapOvr>
  <p:transition spd="med"/>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2" descr="Title 1">
            <a:extLst>
              <a:ext uri="{FF2B5EF4-FFF2-40B4-BE49-F238E27FC236}">
                <a16:creationId xmlns:a16="http://schemas.microsoft.com/office/drawing/2014/main" id="{F70F1050-AEEB-EBFA-0E47-3D0648A23A82}"/>
              </a:ext>
            </a:extLst>
          </p:cNvPr>
          <p:cNvSpPr>
            <a:spLocks noChangeArrowheads="1"/>
          </p:cNvSpPr>
          <p:nvPr>
            <p:ph type="title"/>
          </p:nvPr>
        </p:nvSpPr>
        <p:spPr/>
        <p:txBody>
          <a:bodyPr/>
          <a:lstStyle/>
          <a:p>
            <a:r>
              <a:rPr lang="en-US" altLang="en-US" sz="2000" b="1"/>
              <a:t>Shadow</a:t>
            </a:r>
            <a:r>
              <a:rPr lang="en-US" altLang="en-US" sz="2000"/>
              <a:t> </a:t>
            </a:r>
            <a:r>
              <a:rPr lang="en-US" altLang="en-US" sz="2000" b="1"/>
              <a:t>Paging: </a:t>
            </a:r>
            <a:r>
              <a:rPr lang="en-US" altLang="en-US" sz="2000"/>
              <a:t>Recovery Scheme that does not require log and useful for single-user environment</a:t>
            </a:r>
            <a:endParaRPr lang="en-US" altLang="en-US" sz="2000" b="1"/>
          </a:p>
        </p:txBody>
      </p:sp>
      <p:sp>
        <p:nvSpPr>
          <p:cNvPr id="296963" name="Text Box 3" descr="Date Placeholder 3">
            <a:extLst>
              <a:ext uri="{FF2B5EF4-FFF2-40B4-BE49-F238E27FC236}">
                <a16:creationId xmlns:a16="http://schemas.microsoft.com/office/drawing/2014/main" id="{6B6E226F-9083-9275-D6E4-8A813DE13A3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6964" name="Text Box 4" descr="Slide Number Placeholder 5">
            <a:extLst>
              <a:ext uri="{FF2B5EF4-FFF2-40B4-BE49-F238E27FC236}">
                <a16:creationId xmlns:a16="http://schemas.microsoft.com/office/drawing/2014/main" id="{204613A6-114F-AC3D-0C70-3C9DBB99564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ED705481-1932-4A97-A87C-738440B33FA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279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296965" name="Picture 5" descr="Picture 2">
            <a:extLst>
              <a:ext uri="{FF2B5EF4-FFF2-40B4-BE49-F238E27FC236}">
                <a16:creationId xmlns:a16="http://schemas.microsoft.com/office/drawing/2014/main" id="{9FA9DDE9-6BE8-F71B-925B-DBB6DFE266E0}"/>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98475" y="1484313"/>
            <a:ext cx="7993063" cy="45354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2" descr="Title 1">
            <a:extLst>
              <a:ext uri="{FF2B5EF4-FFF2-40B4-BE49-F238E27FC236}">
                <a16:creationId xmlns:a16="http://schemas.microsoft.com/office/drawing/2014/main" id="{511C7996-A405-607C-916E-C124DC64B406}"/>
              </a:ext>
            </a:extLst>
          </p:cNvPr>
          <p:cNvSpPr>
            <a:spLocks noChangeArrowheads="1"/>
          </p:cNvSpPr>
          <p:nvPr>
            <p:ph type="title"/>
          </p:nvPr>
        </p:nvSpPr>
        <p:spPr/>
        <p:txBody>
          <a:bodyPr/>
          <a:lstStyle/>
          <a:p>
            <a:r>
              <a:rPr lang="en-US" altLang="en-US"/>
              <a:t>Shadow Paging</a:t>
            </a:r>
          </a:p>
        </p:txBody>
      </p:sp>
      <p:sp>
        <p:nvSpPr>
          <p:cNvPr id="297987" name="Text Box 3" descr="Date Placeholder 3">
            <a:extLst>
              <a:ext uri="{FF2B5EF4-FFF2-40B4-BE49-F238E27FC236}">
                <a16:creationId xmlns:a16="http://schemas.microsoft.com/office/drawing/2014/main" id="{8186D128-3E73-375E-987D-F105FDF304A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7988" name="Text Box 4" descr="Slide Number Placeholder 5">
            <a:extLst>
              <a:ext uri="{FF2B5EF4-FFF2-40B4-BE49-F238E27FC236}">
                <a16:creationId xmlns:a16="http://schemas.microsoft.com/office/drawing/2014/main" id="{2BDB808C-CDE5-C00A-A7CF-8DDE65334D2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63692CC-2E76-427E-AE0E-FC6BF1E3280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97989" name="Rectangle 5" descr="Rectangle 6">
            <a:extLst>
              <a:ext uri="{FF2B5EF4-FFF2-40B4-BE49-F238E27FC236}">
                <a16:creationId xmlns:a16="http://schemas.microsoft.com/office/drawing/2014/main" id="{6531C63F-FAAA-3CAF-A616-6A6F14105B3A}"/>
              </a:ext>
            </a:extLst>
          </p:cNvPr>
          <p:cNvSpPr>
            <a:spLocks/>
          </p:cNvSpPr>
          <p:nvPr/>
        </p:nvSpPr>
        <p:spPr bwMode="auto">
          <a:xfrm>
            <a:off x="5357813" y="1069975"/>
            <a:ext cx="3714750" cy="5145088"/>
          </a:xfrm>
          <a:prstGeom prst="rect">
            <a:avLst/>
          </a:prstGeom>
          <a:noFill/>
          <a:ln w="38100"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97990" name="Text Box 6" descr="TextBox 7">
            <a:extLst>
              <a:ext uri="{FF2B5EF4-FFF2-40B4-BE49-F238E27FC236}">
                <a16:creationId xmlns:a16="http://schemas.microsoft.com/office/drawing/2014/main" id="{F0B9C42C-AC21-73F6-72BE-3EE6CF46DA5E}"/>
              </a:ext>
            </a:extLst>
          </p:cNvPr>
          <p:cNvSpPr txBox="1">
            <a:spLocks/>
          </p:cNvSpPr>
          <p:nvPr/>
        </p:nvSpPr>
        <p:spPr bwMode="auto">
          <a:xfrm>
            <a:off x="6759575" y="641350"/>
            <a:ext cx="110331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Hard Disk</a:t>
            </a:r>
          </a:p>
        </p:txBody>
      </p:sp>
      <p:graphicFrame>
        <p:nvGraphicFramePr>
          <p:cNvPr id="297991" name="Group 7">
            <a:extLst>
              <a:ext uri="{FF2B5EF4-FFF2-40B4-BE49-F238E27FC236}">
                <a16:creationId xmlns:a16="http://schemas.microsoft.com/office/drawing/2014/main" id="{4DBA53E3-B7D4-D46C-E201-F4F8306417AD}"/>
              </a:ext>
            </a:extLst>
          </p:cNvPr>
          <p:cNvGraphicFramePr>
            <a:graphicFrameLocks noGrp="1"/>
          </p:cNvGraphicFramePr>
          <p:nvPr/>
        </p:nvGraphicFramePr>
        <p:xfrm>
          <a:off x="5572125" y="1357313"/>
          <a:ext cx="3333750" cy="3222625"/>
        </p:xfrm>
        <a:graphic>
          <a:graphicData uri="http://schemas.openxmlformats.org/drawingml/2006/table">
            <a:tbl>
              <a:tblPr/>
              <a:tblGrid>
                <a:gridCol w="714375">
                  <a:extLst>
                    <a:ext uri="{9D8B030D-6E8A-4147-A177-3AD203B41FA5}">
                      <a16:colId xmlns:a16="http://schemas.microsoft.com/office/drawing/2014/main" val="4190429735"/>
                    </a:ext>
                  </a:extLst>
                </a:gridCol>
                <a:gridCol w="1428750">
                  <a:extLst>
                    <a:ext uri="{9D8B030D-6E8A-4147-A177-3AD203B41FA5}">
                      <a16:colId xmlns:a16="http://schemas.microsoft.com/office/drawing/2014/main" val="1285872428"/>
                    </a:ext>
                  </a:extLst>
                </a:gridCol>
                <a:gridCol w="1190625">
                  <a:extLst>
                    <a:ext uri="{9D8B030D-6E8A-4147-A177-3AD203B41FA5}">
                      <a16:colId xmlns:a16="http://schemas.microsoft.com/office/drawing/2014/main" val="147511984"/>
                    </a:ext>
                  </a:extLst>
                </a:gridCol>
              </a:tblGrid>
              <a:tr h="752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
Sub-table
Data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45241726"/>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Data Item</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5451587"/>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2000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8755370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700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19489172"/>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50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10281770"/>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937868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12795009"/>
                  </a:ext>
                </a:extLst>
              </a:tr>
            </a:tbl>
          </a:graphicData>
        </a:graphic>
      </p:graphicFrame>
      <p:sp>
        <p:nvSpPr>
          <p:cNvPr id="298065" name="Text Box 81" descr="TextBox 9">
            <a:extLst>
              <a:ext uri="{FF2B5EF4-FFF2-40B4-BE49-F238E27FC236}">
                <a16:creationId xmlns:a16="http://schemas.microsoft.com/office/drawing/2014/main" id="{5606E365-BCFB-1E4D-9E1B-427E045D6FC5}"/>
              </a:ext>
            </a:extLst>
          </p:cNvPr>
          <p:cNvSpPr txBox="1">
            <a:spLocks/>
          </p:cNvSpPr>
          <p:nvPr/>
        </p:nvSpPr>
        <p:spPr bwMode="auto">
          <a:xfrm>
            <a:off x="6045200" y="1011238"/>
            <a:ext cx="163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 table</a:t>
            </a:r>
          </a:p>
        </p:txBody>
      </p:sp>
    </p:spTree>
  </p:cSld>
  <p:clrMapOvr>
    <a:masterClrMapping/>
  </p:clrMapOvr>
  <p:transition spd="med"/>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2" descr="Title 1">
            <a:extLst>
              <a:ext uri="{FF2B5EF4-FFF2-40B4-BE49-F238E27FC236}">
                <a16:creationId xmlns:a16="http://schemas.microsoft.com/office/drawing/2014/main" id="{E6506581-58CE-24CC-C944-33A86ED4016D}"/>
              </a:ext>
            </a:extLst>
          </p:cNvPr>
          <p:cNvSpPr>
            <a:spLocks noChangeArrowheads="1"/>
          </p:cNvSpPr>
          <p:nvPr>
            <p:ph type="title"/>
          </p:nvPr>
        </p:nvSpPr>
        <p:spPr/>
        <p:txBody>
          <a:bodyPr/>
          <a:lstStyle/>
          <a:p>
            <a:r>
              <a:rPr lang="en-US" altLang="en-US"/>
              <a:t>Shadow Paging</a:t>
            </a:r>
          </a:p>
        </p:txBody>
      </p:sp>
      <p:sp>
        <p:nvSpPr>
          <p:cNvPr id="299011" name="Text Box 3" descr="Date Placeholder 3">
            <a:extLst>
              <a:ext uri="{FF2B5EF4-FFF2-40B4-BE49-F238E27FC236}">
                <a16:creationId xmlns:a16="http://schemas.microsoft.com/office/drawing/2014/main" id="{3BF7DA84-8E01-7229-F20E-F525D50AA96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299012" name="Text Box 4" descr="Slide Number Placeholder 5">
            <a:extLst>
              <a:ext uri="{FF2B5EF4-FFF2-40B4-BE49-F238E27FC236}">
                <a16:creationId xmlns:a16="http://schemas.microsoft.com/office/drawing/2014/main" id="{4A144CE5-8764-475C-B279-D4B888DB32C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15A1E34-FFEF-48A0-AB90-231A8DC1528F}"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299013" name="Rectangle 5" descr="Rectangle 6">
            <a:extLst>
              <a:ext uri="{FF2B5EF4-FFF2-40B4-BE49-F238E27FC236}">
                <a16:creationId xmlns:a16="http://schemas.microsoft.com/office/drawing/2014/main" id="{7E10F622-8A04-4C91-2C98-D588FCEC8C8D}"/>
              </a:ext>
            </a:extLst>
          </p:cNvPr>
          <p:cNvSpPr>
            <a:spLocks/>
          </p:cNvSpPr>
          <p:nvPr/>
        </p:nvSpPr>
        <p:spPr bwMode="auto">
          <a:xfrm>
            <a:off x="5357813" y="1069975"/>
            <a:ext cx="3714750" cy="5145088"/>
          </a:xfrm>
          <a:prstGeom prst="rect">
            <a:avLst/>
          </a:prstGeom>
          <a:noFill/>
          <a:ln w="38100"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299014" name="Text Box 6" descr="TextBox 7">
            <a:extLst>
              <a:ext uri="{FF2B5EF4-FFF2-40B4-BE49-F238E27FC236}">
                <a16:creationId xmlns:a16="http://schemas.microsoft.com/office/drawing/2014/main" id="{976079E3-FE1B-502D-9DCD-39E0D68A7BE6}"/>
              </a:ext>
            </a:extLst>
          </p:cNvPr>
          <p:cNvSpPr txBox="1">
            <a:spLocks/>
          </p:cNvSpPr>
          <p:nvPr/>
        </p:nvSpPr>
        <p:spPr bwMode="auto">
          <a:xfrm>
            <a:off x="6759575" y="641350"/>
            <a:ext cx="110331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Hard Disk</a:t>
            </a:r>
          </a:p>
        </p:txBody>
      </p:sp>
      <p:graphicFrame>
        <p:nvGraphicFramePr>
          <p:cNvPr id="299015" name="Group 7">
            <a:extLst>
              <a:ext uri="{FF2B5EF4-FFF2-40B4-BE49-F238E27FC236}">
                <a16:creationId xmlns:a16="http://schemas.microsoft.com/office/drawing/2014/main" id="{471EFCE0-D285-A4B7-F24A-9D059EF1C28A}"/>
              </a:ext>
            </a:extLst>
          </p:cNvPr>
          <p:cNvGraphicFramePr>
            <a:graphicFrameLocks noGrp="1"/>
          </p:cNvGraphicFramePr>
          <p:nvPr/>
        </p:nvGraphicFramePr>
        <p:xfrm>
          <a:off x="5572125" y="1357313"/>
          <a:ext cx="3333750" cy="3222625"/>
        </p:xfrm>
        <a:graphic>
          <a:graphicData uri="http://schemas.openxmlformats.org/drawingml/2006/table">
            <a:tbl>
              <a:tblPr/>
              <a:tblGrid>
                <a:gridCol w="714375">
                  <a:extLst>
                    <a:ext uri="{9D8B030D-6E8A-4147-A177-3AD203B41FA5}">
                      <a16:colId xmlns:a16="http://schemas.microsoft.com/office/drawing/2014/main" val="2606288046"/>
                    </a:ext>
                  </a:extLst>
                </a:gridCol>
                <a:gridCol w="1428750">
                  <a:extLst>
                    <a:ext uri="{9D8B030D-6E8A-4147-A177-3AD203B41FA5}">
                      <a16:colId xmlns:a16="http://schemas.microsoft.com/office/drawing/2014/main" val="109697196"/>
                    </a:ext>
                  </a:extLst>
                </a:gridCol>
                <a:gridCol w="1190625">
                  <a:extLst>
                    <a:ext uri="{9D8B030D-6E8A-4147-A177-3AD203B41FA5}">
                      <a16:colId xmlns:a16="http://schemas.microsoft.com/office/drawing/2014/main" val="285895015"/>
                    </a:ext>
                  </a:extLst>
                </a:gridCol>
              </a:tblGrid>
              <a:tr h="752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
Sub-table
Data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71491254"/>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Data Item</a:t>
                      </a:r>
                    </a:p>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1000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5611726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2000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56932397"/>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700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33638247"/>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50</a:t>
                      </a:r>
                      <a:endPar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5234898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1269814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81669513"/>
                  </a:ext>
                </a:extLst>
              </a:tr>
            </a:tbl>
          </a:graphicData>
        </a:graphic>
      </p:graphicFrame>
      <p:sp>
        <p:nvSpPr>
          <p:cNvPr id="299089" name="Text Box 81" descr="TextBox 9">
            <a:extLst>
              <a:ext uri="{FF2B5EF4-FFF2-40B4-BE49-F238E27FC236}">
                <a16:creationId xmlns:a16="http://schemas.microsoft.com/office/drawing/2014/main" id="{6B5747A4-1BFF-9C54-E246-0E906EE4EF38}"/>
              </a:ext>
            </a:extLst>
          </p:cNvPr>
          <p:cNvSpPr txBox="1">
            <a:spLocks/>
          </p:cNvSpPr>
          <p:nvPr/>
        </p:nvSpPr>
        <p:spPr bwMode="auto">
          <a:xfrm>
            <a:off x="6045200" y="1011238"/>
            <a:ext cx="163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 table</a:t>
            </a:r>
          </a:p>
        </p:txBody>
      </p:sp>
      <p:sp>
        <p:nvSpPr>
          <p:cNvPr id="299090" name="Text Box 82" descr="TextBox 16">
            <a:extLst>
              <a:ext uri="{FF2B5EF4-FFF2-40B4-BE49-F238E27FC236}">
                <a16:creationId xmlns:a16="http://schemas.microsoft.com/office/drawing/2014/main" id="{06FD57FD-A4F2-CDE9-EFA5-DB8CAE6E0808}"/>
              </a:ext>
            </a:extLst>
          </p:cNvPr>
          <p:cNvSpPr txBox="1">
            <a:spLocks/>
          </p:cNvSpPr>
          <p:nvPr/>
        </p:nvSpPr>
        <p:spPr bwMode="auto">
          <a:xfrm>
            <a:off x="69850" y="3929063"/>
            <a:ext cx="2405063"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operations</a:t>
            </a:r>
          </a:p>
        </p:txBody>
      </p:sp>
      <p:sp>
        <p:nvSpPr>
          <p:cNvPr id="299091" name="Text Box 83" descr="TextBox 17">
            <a:extLst>
              <a:ext uri="{FF2B5EF4-FFF2-40B4-BE49-F238E27FC236}">
                <a16:creationId xmlns:a16="http://schemas.microsoft.com/office/drawing/2014/main" id="{53040646-9369-79F0-9DD4-09ECACACF200}"/>
              </a:ext>
            </a:extLst>
          </p:cNvPr>
          <p:cNvSpPr txBox="1">
            <a:spLocks/>
          </p:cNvSpPr>
          <p:nvPr/>
        </p:nvSpPr>
        <p:spPr bwMode="auto">
          <a:xfrm>
            <a:off x="69850" y="4286250"/>
            <a:ext cx="2559050" cy="17891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(Start,T1)</a:t>
            </a:r>
          </a:p>
          <a:p>
            <a:r>
              <a:rPr lang="en-US" altLang="en-US" sz="1600"/>
              <a:t>(Write,T1,A,1000,950)</a:t>
            </a:r>
          </a:p>
          <a:p>
            <a:r>
              <a:rPr lang="en-US" altLang="en-US" sz="1600"/>
              <a:t>(Write,T1,B,2000,2050)</a:t>
            </a:r>
          </a:p>
          <a:p>
            <a:r>
              <a:rPr lang="en-US" altLang="en-US" sz="1600"/>
              <a:t>(Commit,T1)</a:t>
            </a:r>
          </a:p>
          <a:p>
            <a:r>
              <a:rPr lang="en-US" altLang="en-US" sz="1600"/>
              <a:t>(Start, T2)</a:t>
            </a:r>
          </a:p>
          <a:p>
            <a:r>
              <a:rPr lang="en-US" altLang="en-US" sz="1600"/>
              <a:t>(Write,T2,C,700,600)</a:t>
            </a:r>
          </a:p>
          <a:p>
            <a:r>
              <a:rPr lang="en-US" altLang="en-US" sz="1600"/>
              <a:t>(Write,T2,D, 50,30)</a:t>
            </a:r>
          </a:p>
        </p:txBody>
      </p:sp>
    </p:spTree>
  </p:cSld>
  <p:clrMapOvr>
    <a:masterClrMapping/>
  </p:clrMapOvr>
  <p:transition spd="med"/>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descr="Title 1">
            <a:extLst>
              <a:ext uri="{FF2B5EF4-FFF2-40B4-BE49-F238E27FC236}">
                <a16:creationId xmlns:a16="http://schemas.microsoft.com/office/drawing/2014/main" id="{F35E5576-4E68-5444-4D14-83E7C51D86D1}"/>
              </a:ext>
            </a:extLst>
          </p:cNvPr>
          <p:cNvSpPr>
            <a:spLocks noChangeArrowheads="1"/>
          </p:cNvSpPr>
          <p:nvPr>
            <p:ph type="title"/>
          </p:nvPr>
        </p:nvSpPr>
        <p:spPr/>
        <p:txBody>
          <a:bodyPr/>
          <a:lstStyle/>
          <a:p>
            <a:r>
              <a:rPr lang="en-US" altLang="en-US"/>
              <a:t>Shadow Paging</a:t>
            </a:r>
          </a:p>
        </p:txBody>
      </p:sp>
      <p:sp>
        <p:nvSpPr>
          <p:cNvPr id="300035" name="Text Box 3" descr="Date Placeholder 3">
            <a:extLst>
              <a:ext uri="{FF2B5EF4-FFF2-40B4-BE49-F238E27FC236}">
                <a16:creationId xmlns:a16="http://schemas.microsoft.com/office/drawing/2014/main" id="{E9EB9156-46CB-4745-EBC9-9B625BF1413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0036" name="Text Box 4" descr="Slide Number Placeholder 5">
            <a:extLst>
              <a:ext uri="{FF2B5EF4-FFF2-40B4-BE49-F238E27FC236}">
                <a16:creationId xmlns:a16="http://schemas.microsoft.com/office/drawing/2014/main" id="{F9F2A2B2-3782-5C1A-D1E6-43022EDB13AF}"/>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92EC3E9-9326-4FBD-B44F-6E4EF155BC0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00037" name="Rectangle 5" descr="Rectangle 6">
            <a:extLst>
              <a:ext uri="{FF2B5EF4-FFF2-40B4-BE49-F238E27FC236}">
                <a16:creationId xmlns:a16="http://schemas.microsoft.com/office/drawing/2014/main" id="{F34C56A8-ABEA-F3F2-B45C-00E6635409B7}"/>
              </a:ext>
            </a:extLst>
          </p:cNvPr>
          <p:cNvSpPr>
            <a:spLocks/>
          </p:cNvSpPr>
          <p:nvPr/>
        </p:nvSpPr>
        <p:spPr bwMode="auto">
          <a:xfrm>
            <a:off x="5357813" y="1069975"/>
            <a:ext cx="3714750" cy="5145088"/>
          </a:xfrm>
          <a:prstGeom prst="rect">
            <a:avLst/>
          </a:prstGeom>
          <a:noFill/>
          <a:ln w="38100"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0038" name="Text Box 6" descr="TextBox 7">
            <a:extLst>
              <a:ext uri="{FF2B5EF4-FFF2-40B4-BE49-F238E27FC236}">
                <a16:creationId xmlns:a16="http://schemas.microsoft.com/office/drawing/2014/main" id="{30F8363C-D164-B50B-7D94-09655C3175A0}"/>
              </a:ext>
            </a:extLst>
          </p:cNvPr>
          <p:cNvSpPr txBox="1">
            <a:spLocks/>
          </p:cNvSpPr>
          <p:nvPr/>
        </p:nvSpPr>
        <p:spPr bwMode="auto">
          <a:xfrm>
            <a:off x="6759575" y="641350"/>
            <a:ext cx="110331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Hard Disk</a:t>
            </a:r>
          </a:p>
        </p:txBody>
      </p:sp>
      <p:graphicFrame>
        <p:nvGraphicFramePr>
          <p:cNvPr id="300039" name="Group 7">
            <a:extLst>
              <a:ext uri="{FF2B5EF4-FFF2-40B4-BE49-F238E27FC236}">
                <a16:creationId xmlns:a16="http://schemas.microsoft.com/office/drawing/2014/main" id="{64AF0F64-D947-FAD5-90B9-683CC3FEA618}"/>
              </a:ext>
            </a:extLst>
          </p:cNvPr>
          <p:cNvGraphicFramePr>
            <a:graphicFrameLocks noGrp="1"/>
          </p:cNvGraphicFramePr>
          <p:nvPr/>
        </p:nvGraphicFramePr>
        <p:xfrm>
          <a:off x="5572125" y="1357313"/>
          <a:ext cx="3333750" cy="3222625"/>
        </p:xfrm>
        <a:graphic>
          <a:graphicData uri="http://schemas.openxmlformats.org/drawingml/2006/table">
            <a:tbl>
              <a:tblPr/>
              <a:tblGrid>
                <a:gridCol w="714375">
                  <a:extLst>
                    <a:ext uri="{9D8B030D-6E8A-4147-A177-3AD203B41FA5}">
                      <a16:colId xmlns:a16="http://schemas.microsoft.com/office/drawing/2014/main" val="607397431"/>
                    </a:ext>
                  </a:extLst>
                </a:gridCol>
                <a:gridCol w="1428750">
                  <a:extLst>
                    <a:ext uri="{9D8B030D-6E8A-4147-A177-3AD203B41FA5}">
                      <a16:colId xmlns:a16="http://schemas.microsoft.com/office/drawing/2014/main" val="2354969785"/>
                    </a:ext>
                  </a:extLst>
                </a:gridCol>
                <a:gridCol w="1190625">
                  <a:extLst>
                    <a:ext uri="{9D8B030D-6E8A-4147-A177-3AD203B41FA5}">
                      <a16:colId xmlns:a16="http://schemas.microsoft.com/office/drawing/2014/main" val="3514700597"/>
                    </a:ext>
                  </a:extLst>
                </a:gridCol>
              </a:tblGrid>
              <a:tr h="752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
Sub-table
Data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20508953"/>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Data Item
A 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42448208"/>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 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3501188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 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4995358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17610919"/>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6981864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5266419"/>
                  </a:ext>
                </a:extLst>
              </a:tr>
            </a:tbl>
          </a:graphicData>
        </a:graphic>
      </p:graphicFrame>
      <p:sp>
        <p:nvSpPr>
          <p:cNvPr id="300113" name="Text Box 81" descr="TextBox 9">
            <a:extLst>
              <a:ext uri="{FF2B5EF4-FFF2-40B4-BE49-F238E27FC236}">
                <a16:creationId xmlns:a16="http://schemas.microsoft.com/office/drawing/2014/main" id="{1D9ACCDD-8631-DC98-F6F7-C92E14A61665}"/>
              </a:ext>
            </a:extLst>
          </p:cNvPr>
          <p:cNvSpPr txBox="1">
            <a:spLocks/>
          </p:cNvSpPr>
          <p:nvPr/>
        </p:nvSpPr>
        <p:spPr bwMode="auto">
          <a:xfrm>
            <a:off x="6045200" y="1011238"/>
            <a:ext cx="163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 table</a:t>
            </a:r>
          </a:p>
        </p:txBody>
      </p:sp>
      <p:sp>
        <p:nvSpPr>
          <p:cNvPr id="300114" name="Text Box 82" descr="TextBox 10">
            <a:extLst>
              <a:ext uri="{FF2B5EF4-FFF2-40B4-BE49-F238E27FC236}">
                <a16:creationId xmlns:a16="http://schemas.microsoft.com/office/drawing/2014/main" id="{7A5E3E19-9E58-8881-1A21-D804BECE07A9}"/>
              </a:ext>
            </a:extLst>
          </p:cNvPr>
          <p:cNvSpPr txBox="1">
            <a:spLocks/>
          </p:cNvSpPr>
          <p:nvPr/>
        </p:nvSpPr>
        <p:spPr bwMode="auto">
          <a:xfrm>
            <a:off x="5973763" y="4714875"/>
            <a:ext cx="2436812"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Shadow Page Directory</a:t>
            </a:r>
          </a:p>
        </p:txBody>
      </p:sp>
      <p:sp>
        <p:nvSpPr>
          <p:cNvPr id="300115" name="Text Box 83" descr="TextBox 11">
            <a:extLst>
              <a:ext uri="{FF2B5EF4-FFF2-40B4-BE49-F238E27FC236}">
                <a16:creationId xmlns:a16="http://schemas.microsoft.com/office/drawing/2014/main" id="{836EC470-28CA-32E9-8F54-7C314429983D}"/>
              </a:ext>
            </a:extLst>
          </p:cNvPr>
          <p:cNvSpPr txBox="1">
            <a:spLocks/>
          </p:cNvSpPr>
          <p:nvPr/>
        </p:nvSpPr>
        <p:spPr bwMode="auto">
          <a:xfrm>
            <a:off x="6500813" y="5000625"/>
            <a:ext cx="1390650" cy="963613"/>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Page 1: Addr1</a:t>
            </a:r>
          </a:p>
          <a:p>
            <a:r>
              <a:rPr lang="en-US" altLang="en-US" sz="1400"/>
              <a:t>Page 2: Addr2</a:t>
            </a:r>
          </a:p>
          <a:p>
            <a:r>
              <a:rPr lang="en-US" altLang="en-US" sz="1400"/>
              <a:t>Page 3: Addr3</a:t>
            </a:r>
          </a:p>
          <a:p>
            <a:r>
              <a:rPr lang="en-US" altLang="en-US" sz="1400"/>
              <a:t>Page 4: Addr4</a:t>
            </a:r>
          </a:p>
        </p:txBody>
      </p:sp>
      <p:sp>
        <p:nvSpPr>
          <p:cNvPr id="300116" name="Text Box 84" descr="TextBox 12">
            <a:extLst>
              <a:ext uri="{FF2B5EF4-FFF2-40B4-BE49-F238E27FC236}">
                <a16:creationId xmlns:a16="http://schemas.microsoft.com/office/drawing/2014/main" id="{D02BB5F0-462F-6865-5145-CB6EE1845422}"/>
              </a:ext>
            </a:extLst>
          </p:cNvPr>
          <p:cNvSpPr txBox="1">
            <a:spLocks/>
          </p:cNvSpPr>
          <p:nvPr/>
        </p:nvSpPr>
        <p:spPr bwMode="auto">
          <a:xfrm>
            <a:off x="1403350" y="1641475"/>
            <a:ext cx="1414463"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sz="1400" b="1"/>
              <a:t>Current Page</a:t>
            </a:r>
          </a:p>
          <a:p>
            <a:pPr algn="ctr"/>
            <a:r>
              <a:rPr lang="en-US" altLang="en-US" sz="1400" b="1"/>
              <a:t>Directory</a:t>
            </a:r>
          </a:p>
        </p:txBody>
      </p:sp>
      <p:sp>
        <p:nvSpPr>
          <p:cNvPr id="300117" name="Text Box 85" descr="TextBox 13">
            <a:extLst>
              <a:ext uri="{FF2B5EF4-FFF2-40B4-BE49-F238E27FC236}">
                <a16:creationId xmlns:a16="http://schemas.microsoft.com/office/drawing/2014/main" id="{66B129AB-093F-FCFA-43DB-90AE688B930E}"/>
              </a:ext>
            </a:extLst>
          </p:cNvPr>
          <p:cNvSpPr txBox="1">
            <a:spLocks/>
          </p:cNvSpPr>
          <p:nvPr/>
        </p:nvSpPr>
        <p:spPr bwMode="auto">
          <a:xfrm>
            <a:off x="1355725" y="2212975"/>
            <a:ext cx="2071688" cy="965200"/>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Page 1: Addr1</a:t>
            </a:r>
          </a:p>
          <a:p>
            <a:r>
              <a:rPr lang="en-US" altLang="en-US" sz="1400"/>
              <a:t>Page 2: Addr2</a:t>
            </a:r>
          </a:p>
          <a:p>
            <a:r>
              <a:rPr lang="en-US" altLang="en-US" sz="1400"/>
              <a:t>Page 3: Addr3</a:t>
            </a:r>
          </a:p>
          <a:p>
            <a:r>
              <a:rPr lang="en-US" altLang="en-US" sz="1400"/>
              <a:t>Page 4: Addr4</a:t>
            </a:r>
          </a:p>
        </p:txBody>
      </p:sp>
      <p:sp>
        <p:nvSpPr>
          <p:cNvPr id="300118" name="Rectangle 86" descr="Rectangle 14">
            <a:extLst>
              <a:ext uri="{FF2B5EF4-FFF2-40B4-BE49-F238E27FC236}">
                <a16:creationId xmlns:a16="http://schemas.microsoft.com/office/drawing/2014/main" id="{0F5EA3A3-EB62-BCB1-DB6A-880565778FDD}"/>
              </a:ext>
            </a:extLst>
          </p:cNvPr>
          <p:cNvSpPr>
            <a:spLocks/>
          </p:cNvSpPr>
          <p:nvPr/>
        </p:nvSpPr>
        <p:spPr bwMode="auto">
          <a:xfrm>
            <a:off x="1069975" y="1570038"/>
            <a:ext cx="2571750" cy="2073275"/>
          </a:xfrm>
          <a:prstGeom prst="rect">
            <a:avLst/>
          </a:prstGeom>
          <a:noFill/>
          <a:ln w="2857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0119" name="Text Box 87" descr="TextBox 15">
            <a:extLst>
              <a:ext uri="{FF2B5EF4-FFF2-40B4-BE49-F238E27FC236}">
                <a16:creationId xmlns:a16="http://schemas.microsoft.com/office/drawing/2014/main" id="{E2DA0E38-0DBA-28B8-A00C-CE226C5E6956}"/>
              </a:ext>
            </a:extLst>
          </p:cNvPr>
          <p:cNvSpPr txBox="1">
            <a:spLocks/>
          </p:cNvSpPr>
          <p:nvPr/>
        </p:nvSpPr>
        <p:spPr bwMode="auto">
          <a:xfrm>
            <a:off x="1616075" y="1212850"/>
            <a:ext cx="14732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Main Memory</a:t>
            </a:r>
          </a:p>
        </p:txBody>
      </p:sp>
      <p:sp>
        <p:nvSpPr>
          <p:cNvPr id="300120" name="Text Box 88" descr="TextBox 16">
            <a:extLst>
              <a:ext uri="{FF2B5EF4-FFF2-40B4-BE49-F238E27FC236}">
                <a16:creationId xmlns:a16="http://schemas.microsoft.com/office/drawing/2014/main" id="{92CF2355-328B-736B-2D8B-E6F09486A091}"/>
              </a:ext>
            </a:extLst>
          </p:cNvPr>
          <p:cNvSpPr txBox="1">
            <a:spLocks/>
          </p:cNvSpPr>
          <p:nvPr/>
        </p:nvSpPr>
        <p:spPr bwMode="auto">
          <a:xfrm>
            <a:off x="69850" y="3929063"/>
            <a:ext cx="2405063"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operations</a:t>
            </a:r>
          </a:p>
        </p:txBody>
      </p:sp>
      <p:sp>
        <p:nvSpPr>
          <p:cNvPr id="300121" name="Text Box 89" descr="TextBox 17">
            <a:extLst>
              <a:ext uri="{FF2B5EF4-FFF2-40B4-BE49-F238E27FC236}">
                <a16:creationId xmlns:a16="http://schemas.microsoft.com/office/drawing/2014/main" id="{996E0EAF-DD39-1F89-3FB9-C7E2579BACF5}"/>
              </a:ext>
            </a:extLst>
          </p:cNvPr>
          <p:cNvSpPr txBox="1">
            <a:spLocks/>
          </p:cNvSpPr>
          <p:nvPr/>
        </p:nvSpPr>
        <p:spPr bwMode="auto">
          <a:xfrm>
            <a:off x="95250" y="4286250"/>
            <a:ext cx="2557463" cy="17891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(Start,T1)</a:t>
            </a:r>
          </a:p>
          <a:p>
            <a:r>
              <a:rPr lang="en-US" altLang="en-US" sz="1600"/>
              <a:t>(Write,T1,A,1000,950)</a:t>
            </a:r>
          </a:p>
          <a:p>
            <a:r>
              <a:rPr lang="en-US" altLang="en-US" sz="1600"/>
              <a:t>(Write,T1,B,2000,2050)</a:t>
            </a:r>
          </a:p>
          <a:p>
            <a:r>
              <a:rPr lang="en-US" altLang="en-US" sz="1600"/>
              <a:t>(Commit,T1)</a:t>
            </a:r>
          </a:p>
          <a:p>
            <a:r>
              <a:rPr lang="en-US" altLang="en-US" sz="1600"/>
              <a:t>(Start, T2)</a:t>
            </a:r>
          </a:p>
          <a:p>
            <a:r>
              <a:rPr lang="en-US" altLang="en-US" sz="1600"/>
              <a:t>(Write,T2,C,700,600)</a:t>
            </a:r>
          </a:p>
          <a:p>
            <a:r>
              <a:rPr lang="en-US" altLang="en-US" sz="1600"/>
              <a:t>(Write,T2,D,50,30)</a:t>
            </a:r>
          </a:p>
        </p:txBody>
      </p:sp>
      <p:sp>
        <p:nvSpPr>
          <p:cNvPr id="300122" name="Text Box 90" descr="TextBox 18">
            <a:extLst>
              <a:ext uri="{FF2B5EF4-FFF2-40B4-BE49-F238E27FC236}">
                <a16:creationId xmlns:a16="http://schemas.microsoft.com/office/drawing/2014/main" id="{8DAD4C6A-F394-685E-75A3-8F1411BD3975}"/>
              </a:ext>
            </a:extLst>
          </p:cNvPr>
          <p:cNvSpPr txBox="1">
            <a:spLocks/>
          </p:cNvSpPr>
          <p:nvPr/>
        </p:nvSpPr>
        <p:spPr bwMode="auto">
          <a:xfrm>
            <a:off x="2743200" y="4500563"/>
            <a:ext cx="2747963" cy="1055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6600"/>
                </a:solidFill>
              </a:rPr>
              <a:t>When transaction starts</a:t>
            </a:r>
          </a:p>
          <a:p>
            <a:r>
              <a:rPr lang="en-US" altLang="en-US" sz="1600">
                <a:solidFill>
                  <a:srgbClr val="006600"/>
                </a:solidFill>
              </a:rPr>
              <a:t>Current Page directory is</a:t>
            </a:r>
          </a:p>
          <a:p>
            <a:r>
              <a:rPr lang="en-US" altLang="en-US" sz="1600">
                <a:solidFill>
                  <a:srgbClr val="006600"/>
                </a:solidFill>
              </a:rPr>
              <a:t>kept in main memory and</a:t>
            </a:r>
          </a:p>
          <a:p>
            <a:r>
              <a:rPr lang="en-US" altLang="en-US" sz="1600">
                <a:solidFill>
                  <a:srgbClr val="006600"/>
                </a:solidFill>
              </a:rPr>
              <a:t>Shadow directory on disk</a:t>
            </a:r>
          </a:p>
        </p:txBody>
      </p:sp>
    </p:spTree>
  </p:cSld>
  <p:clrMapOvr>
    <a:masterClrMapping/>
  </p:clrMapOvr>
  <p:transition spd="med"/>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descr="Title 1">
            <a:extLst>
              <a:ext uri="{FF2B5EF4-FFF2-40B4-BE49-F238E27FC236}">
                <a16:creationId xmlns:a16="http://schemas.microsoft.com/office/drawing/2014/main" id="{F0F732E8-A5EA-159D-A67F-C81B7E1133C4}"/>
              </a:ext>
            </a:extLst>
          </p:cNvPr>
          <p:cNvSpPr>
            <a:spLocks noChangeArrowheads="1"/>
          </p:cNvSpPr>
          <p:nvPr>
            <p:ph type="title"/>
          </p:nvPr>
        </p:nvSpPr>
        <p:spPr/>
        <p:txBody>
          <a:bodyPr/>
          <a:lstStyle/>
          <a:p>
            <a:r>
              <a:rPr lang="en-US" altLang="en-US"/>
              <a:t>Shadow Paging</a:t>
            </a:r>
          </a:p>
        </p:txBody>
      </p:sp>
      <p:sp>
        <p:nvSpPr>
          <p:cNvPr id="301059" name="Text Box 3" descr="Date Placeholder 3">
            <a:extLst>
              <a:ext uri="{FF2B5EF4-FFF2-40B4-BE49-F238E27FC236}">
                <a16:creationId xmlns:a16="http://schemas.microsoft.com/office/drawing/2014/main" id="{99CEC5D7-149A-335A-031F-302CB70ED495}"/>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1060" name="Text Box 4" descr="Slide Number Placeholder 5">
            <a:extLst>
              <a:ext uri="{FF2B5EF4-FFF2-40B4-BE49-F238E27FC236}">
                <a16:creationId xmlns:a16="http://schemas.microsoft.com/office/drawing/2014/main" id="{DFE19F1D-7048-8BC4-AE98-D86C8A4353C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20BD93A-3D3F-4FE4-ADE1-EBD2E75E179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01061" name="Rectangle 5" descr="Rectangle 6">
            <a:extLst>
              <a:ext uri="{FF2B5EF4-FFF2-40B4-BE49-F238E27FC236}">
                <a16:creationId xmlns:a16="http://schemas.microsoft.com/office/drawing/2014/main" id="{12203B8C-8051-798A-B15C-A9381FC5CE2A}"/>
              </a:ext>
            </a:extLst>
          </p:cNvPr>
          <p:cNvSpPr>
            <a:spLocks/>
          </p:cNvSpPr>
          <p:nvPr/>
        </p:nvSpPr>
        <p:spPr bwMode="auto">
          <a:xfrm>
            <a:off x="5357813" y="1069975"/>
            <a:ext cx="3714750" cy="5145088"/>
          </a:xfrm>
          <a:prstGeom prst="rect">
            <a:avLst/>
          </a:prstGeom>
          <a:noFill/>
          <a:ln w="38100"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1062" name="Text Box 6" descr="TextBox 7">
            <a:extLst>
              <a:ext uri="{FF2B5EF4-FFF2-40B4-BE49-F238E27FC236}">
                <a16:creationId xmlns:a16="http://schemas.microsoft.com/office/drawing/2014/main" id="{E72CD130-9D10-7F39-1E20-D206A9F09A8D}"/>
              </a:ext>
            </a:extLst>
          </p:cNvPr>
          <p:cNvSpPr txBox="1">
            <a:spLocks/>
          </p:cNvSpPr>
          <p:nvPr/>
        </p:nvSpPr>
        <p:spPr bwMode="auto">
          <a:xfrm>
            <a:off x="6759575" y="641350"/>
            <a:ext cx="110331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Hard Disk</a:t>
            </a:r>
          </a:p>
        </p:txBody>
      </p:sp>
      <p:graphicFrame>
        <p:nvGraphicFramePr>
          <p:cNvPr id="301063" name="Group 7">
            <a:extLst>
              <a:ext uri="{FF2B5EF4-FFF2-40B4-BE49-F238E27FC236}">
                <a16:creationId xmlns:a16="http://schemas.microsoft.com/office/drawing/2014/main" id="{DABB7306-FA8F-8963-9FE2-D92D0061E600}"/>
              </a:ext>
            </a:extLst>
          </p:cNvPr>
          <p:cNvGraphicFramePr>
            <a:graphicFrameLocks noGrp="1"/>
          </p:cNvGraphicFramePr>
          <p:nvPr/>
        </p:nvGraphicFramePr>
        <p:xfrm>
          <a:off x="5572125" y="1357313"/>
          <a:ext cx="3333750" cy="3209925"/>
        </p:xfrm>
        <a:graphic>
          <a:graphicData uri="http://schemas.openxmlformats.org/drawingml/2006/table">
            <a:tbl>
              <a:tblPr/>
              <a:tblGrid>
                <a:gridCol w="714375">
                  <a:extLst>
                    <a:ext uri="{9D8B030D-6E8A-4147-A177-3AD203B41FA5}">
                      <a16:colId xmlns:a16="http://schemas.microsoft.com/office/drawing/2014/main" val="1940853876"/>
                    </a:ext>
                  </a:extLst>
                </a:gridCol>
                <a:gridCol w="1428750">
                  <a:extLst>
                    <a:ext uri="{9D8B030D-6E8A-4147-A177-3AD203B41FA5}">
                      <a16:colId xmlns:a16="http://schemas.microsoft.com/office/drawing/2014/main" val="2218227030"/>
                    </a:ext>
                  </a:extLst>
                </a:gridCol>
                <a:gridCol w="1190625">
                  <a:extLst>
                    <a:ext uri="{9D8B030D-6E8A-4147-A177-3AD203B41FA5}">
                      <a16:colId xmlns:a16="http://schemas.microsoft.com/office/drawing/2014/main" val="3115774641"/>
                    </a:ext>
                  </a:extLst>
                </a:gridCol>
              </a:tblGrid>
              <a:tr h="752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
Sub-table
Data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5693305"/>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Data Item
A 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45149308"/>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 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1885182"/>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 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8415840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0936224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 </a:t>
                      </a:r>
                      <a:r>
                        <a:rPr kumimoji="0" lang="en-US" altLang="en-US" sz="1600" b="0"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950</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7020227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83935458"/>
                  </a:ext>
                </a:extLst>
              </a:tr>
            </a:tbl>
          </a:graphicData>
        </a:graphic>
      </p:graphicFrame>
      <p:sp>
        <p:nvSpPr>
          <p:cNvPr id="301137" name="Text Box 81" descr="TextBox 9">
            <a:extLst>
              <a:ext uri="{FF2B5EF4-FFF2-40B4-BE49-F238E27FC236}">
                <a16:creationId xmlns:a16="http://schemas.microsoft.com/office/drawing/2014/main" id="{390DF020-307B-D8A3-FF2B-9DE3D5B9F00F}"/>
              </a:ext>
            </a:extLst>
          </p:cNvPr>
          <p:cNvSpPr txBox="1">
            <a:spLocks/>
          </p:cNvSpPr>
          <p:nvPr/>
        </p:nvSpPr>
        <p:spPr bwMode="auto">
          <a:xfrm>
            <a:off x="6045200" y="1011238"/>
            <a:ext cx="163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 table</a:t>
            </a:r>
          </a:p>
        </p:txBody>
      </p:sp>
      <p:sp>
        <p:nvSpPr>
          <p:cNvPr id="301138" name="Text Box 82" descr="TextBox 10">
            <a:extLst>
              <a:ext uri="{FF2B5EF4-FFF2-40B4-BE49-F238E27FC236}">
                <a16:creationId xmlns:a16="http://schemas.microsoft.com/office/drawing/2014/main" id="{5B6C36B2-C037-1BFB-33AF-6452BA3C11B1}"/>
              </a:ext>
            </a:extLst>
          </p:cNvPr>
          <p:cNvSpPr txBox="1">
            <a:spLocks/>
          </p:cNvSpPr>
          <p:nvPr/>
        </p:nvSpPr>
        <p:spPr bwMode="auto">
          <a:xfrm>
            <a:off x="5973763" y="4714875"/>
            <a:ext cx="2436812"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Shadow Page Directory</a:t>
            </a:r>
          </a:p>
        </p:txBody>
      </p:sp>
      <p:sp>
        <p:nvSpPr>
          <p:cNvPr id="301139" name="Text Box 83" descr="TextBox 11">
            <a:extLst>
              <a:ext uri="{FF2B5EF4-FFF2-40B4-BE49-F238E27FC236}">
                <a16:creationId xmlns:a16="http://schemas.microsoft.com/office/drawing/2014/main" id="{568B19D4-6629-47D9-9195-8CCC4CC71B41}"/>
              </a:ext>
            </a:extLst>
          </p:cNvPr>
          <p:cNvSpPr txBox="1">
            <a:spLocks/>
          </p:cNvSpPr>
          <p:nvPr/>
        </p:nvSpPr>
        <p:spPr bwMode="auto">
          <a:xfrm>
            <a:off x="6500813" y="5000625"/>
            <a:ext cx="1390650" cy="963613"/>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Page 1: Addr1</a:t>
            </a:r>
          </a:p>
          <a:p>
            <a:r>
              <a:rPr lang="en-US" altLang="en-US" sz="1400"/>
              <a:t>Page 2: Addr2</a:t>
            </a:r>
          </a:p>
          <a:p>
            <a:r>
              <a:rPr lang="en-US" altLang="en-US" sz="1400"/>
              <a:t>Page 3: Addr3</a:t>
            </a:r>
          </a:p>
          <a:p>
            <a:r>
              <a:rPr lang="en-US" altLang="en-US" sz="1400"/>
              <a:t>Page 4: Addr4</a:t>
            </a:r>
          </a:p>
        </p:txBody>
      </p:sp>
      <p:sp>
        <p:nvSpPr>
          <p:cNvPr id="301140" name="Text Box 84" descr="TextBox 12">
            <a:extLst>
              <a:ext uri="{FF2B5EF4-FFF2-40B4-BE49-F238E27FC236}">
                <a16:creationId xmlns:a16="http://schemas.microsoft.com/office/drawing/2014/main" id="{4496E374-5679-0C9B-D0B4-440BF2A6174A}"/>
              </a:ext>
            </a:extLst>
          </p:cNvPr>
          <p:cNvSpPr txBox="1">
            <a:spLocks/>
          </p:cNvSpPr>
          <p:nvPr/>
        </p:nvSpPr>
        <p:spPr bwMode="auto">
          <a:xfrm>
            <a:off x="1403350" y="1641475"/>
            <a:ext cx="1414463"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sz="1400" b="1"/>
              <a:t>Current Page</a:t>
            </a:r>
          </a:p>
          <a:p>
            <a:pPr algn="ctr"/>
            <a:r>
              <a:rPr lang="en-US" altLang="en-US" sz="1400" b="1"/>
              <a:t>Directory</a:t>
            </a:r>
          </a:p>
        </p:txBody>
      </p:sp>
      <p:sp>
        <p:nvSpPr>
          <p:cNvPr id="301141" name="Text Box 85" descr="TextBox 13">
            <a:extLst>
              <a:ext uri="{FF2B5EF4-FFF2-40B4-BE49-F238E27FC236}">
                <a16:creationId xmlns:a16="http://schemas.microsoft.com/office/drawing/2014/main" id="{6478FE12-91F3-3E6C-CEC0-562AC4FD2E76}"/>
              </a:ext>
            </a:extLst>
          </p:cNvPr>
          <p:cNvSpPr txBox="1">
            <a:spLocks/>
          </p:cNvSpPr>
          <p:nvPr/>
        </p:nvSpPr>
        <p:spPr bwMode="auto">
          <a:xfrm>
            <a:off x="1355725" y="2212975"/>
            <a:ext cx="2071688" cy="965200"/>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Page 1: Addr1 </a:t>
            </a:r>
            <a:r>
              <a:rPr lang="en-US" altLang="en-US" sz="1400">
                <a:solidFill>
                  <a:srgbClr val="FF0000"/>
                </a:solidFill>
              </a:rPr>
              <a:t>Addr5</a:t>
            </a:r>
          </a:p>
          <a:p>
            <a:r>
              <a:rPr lang="en-US" altLang="en-US" sz="1400"/>
              <a:t>Page 2: Addr2</a:t>
            </a:r>
          </a:p>
          <a:p>
            <a:r>
              <a:rPr lang="en-US" altLang="en-US" sz="1400"/>
              <a:t>Page 3: Addr3</a:t>
            </a:r>
          </a:p>
          <a:p>
            <a:r>
              <a:rPr lang="en-US" altLang="en-US" sz="1400"/>
              <a:t>Page 4: Addr4</a:t>
            </a:r>
          </a:p>
        </p:txBody>
      </p:sp>
      <p:sp>
        <p:nvSpPr>
          <p:cNvPr id="301142" name="Rectangle 86" descr="Rectangle 14">
            <a:extLst>
              <a:ext uri="{FF2B5EF4-FFF2-40B4-BE49-F238E27FC236}">
                <a16:creationId xmlns:a16="http://schemas.microsoft.com/office/drawing/2014/main" id="{1BD8DB5B-7EC4-DE7D-C9E2-AD7AAAB8C145}"/>
              </a:ext>
            </a:extLst>
          </p:cNvPr>
          <p:cNvSpPr>
            <a:spLocks/>
          </p:cNvSpPr>
          <p:nvPr/>
        </p:nvSpPr>
        <p:spPr bwMode="auto">
          <a:xfrm>
            <a:off x="1069975" y="1570038"/>
            <a:ext cx="2571750" cy="2073275"/>
          </a:xfrm>
          <a:prstGeom prst="rect">
            <a:avLst/>
          </a:prstGeom>
          <a:noFill/>
          <a:ln w="2857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1143" name="Text Box 87" descr="TextBox 15">
            <a:extLst>
              <a:ext uri="{FF2B5EF4-FFF2-40B4-BE49-F238E27FC236}">
                <a16:creationId xmlns:a16="http://schemas.microsoft.com/office/drawing/2014/main" id="{35BD1462-6E88-AEC6-46E7-BFED3F4A0CB2}"/>
              </a:ext>
            </a:extLst>
          </p:cNvPr>
          <p:cNvSpPr txBox="1">
            <a:spLocks/>
          </p:cNvSpPr>
          <p:nvPr/>
        </p:nvSpPr>
        <p:spPr bwMode="auto">
          <a:xfrm>
            <a:off x="1616075" y="1212850"/>
            <a:ext cx="14732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Main Memory</a:t>
            </a:r>
          </a:p>
        </p:txBody>
      </p:sp>
      <p:sp>
        <p:nvSpPr>
          <p:cNvPr id="301144" name="Text Box 88" descr="TextBox 16">
            <a:extLst>
              <a:ext uri="{FF2B5EF4-FFF2-40B4-BE49-F238E27FC236}">
                <a16:creationId xmlns:a16="http://schemas.microsoft.com/office/drawing/2014/main" id="{8F484BE1-C037-4C2D-E458-819F688348AD}"/>
              </a:ext>
            </a:extLst>
          </p:cNvPr>
          <p:cNvSpPr txBox="1">
            <a:spLocks/>
          </p:cNvSpPr>
          <p:nvPr/>
        </p:nvSpPr>
        <p:spPr bwMode="auto">
          <a:xfrm>
            <a:off x="69850" y="3929063"/>
            <a:ext cx="2405063"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operations</a:t>
            </a:r>
          </a:p>
        </p:txBody>
      </p:sp>
      <p:sp>
        <p:nvSpPr>
          <p:cNvPr id="301145" name="Text Box 89" descr="TextBox 17">
            <a:extLst>
              <a:ext uri="{FF2B5EF4-FFF2-40B4-BE49-F238E27FC236}">
                <a16:creationId xmlns:a16="http://schemas.microsoft.com/office/drawing/2014/main" id="{08A32460-8460-D8CC-7561-E90AB89189A0}"/>
              </a:ext>
            </a:extLst>
          </p:cNvPr>
          <p:cNvSpPr txBox="1">
            <a:spLocks/>
          </p:cNvSpPr>
          <p:nvPr/>
        </p:nvSpPr>
        <p:spPr bwMode="auto">
          <a:xfrm>
            <a:off x="95250" y="4286250"/>
            <a:ext cx="2557463" cy="17891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(Start,T1)</a:t>
            </a:r>
          </a:p>
          <a:p>
            <a:r>
              <a:rPr lang="en-US" altLang="en-US" sz="1600">
                <a:solidFill>
                  <a:srgbClr val="FF0000"/>
                </a:solidFill>
              </a:rPr>
              <a:t>(Write,T1,A,1000,950)</a:t>
            </a:r>
          </a:p>
          <a:p>
            <a:r>
              <a:rPr lang="en-US" altLang="en-US" sz="1600"/>
              <a:t>(Write,T1,B,2000,2050)</a:t>
            </a:r>
          </a:p>
          <a:p>
            <a:r>
              <a:rPr lang="en-US" altLang="en-US" sz="1600"/>
              <a:t>(Commit,T1)</a:t>
            </a:r>
          </a:p>
          <a:p>
            <a:r>
              <a:rPr lang="en-US" altLang="en-US" sz="1600"/>
              <a:t>(Start, T2)</a:t>
            </a:r>
          </a:p>
          <a:p>
            <a:r>
              <a:rPr lang="en-US" altLang="en-US" sz="1600"/>
              <a:t>(Write,T2,C,700,600)</a:t>
            </a:r>
          </a:p>
          <a:p>
            <a:r>
              <a:rPr lang="en-US" altLang="en-US" sz="1600"/>
              <a:t>(Write,T2,D,50,30)</a:t>
            </a:r>
          </a:p>
        </p:txBody>
      </p:sp>
      <p:sp>
        <p:nvSpPr>
          <p:cNvPr id="301146" name="Text Box 90" descr="TextBox 18">
            <a:extLst>
              <a:ext uri="{FF2B5EF4-FFF2-40B4-BE49-F238E27FC236}">
                <a16:creationId xmlns:a16="http://schemas.microsoft.com/office/drawing/2014/main" id="{D82E6ED4-8DCC-8D49-5B49-4250AA6B5EB4}"/>
              </a:ext>
            </a:extLst>
          </p:cNvPr>
          <p:cNvSpPr txBox="1">
            <a:spLocks/>
          </p:cNvSpPr>
          <p:nvPr/>
        </p:nvSpPr>
        <p:spPr bwMode="auto">
          <a:xfrm>
            <a:off x="2757488" y="4143375"/>
            <a:ext cx="2749550" cy="2020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6600"/>
                </a:solidFill>
              </a:rPr>
              <a:t>After execution of</a:t>
            </a:r>
          </a:p>
          <a:p>
            <a:r>
              <a:rPr lang="en-US" altLang="en-US" sz="1600">
                <a:solidFill>
                  <a:srgbClr val="006600"/>
                </a:solidFill>
              </a:rPr>
              <a:t>(write,T1,A,1000,950)</a:t>
            </a:r>
          </a:p>
          <a:p>
            <a:r>
              <a:rPr lang="en-US" altLang="en-US" sz="1600">
                <a:solidFill>
                  <a:srgbClr val="006600"/>
                </a:solidFill>
              </a:rPr>
              <a:t>Then new page table </a:t>
            </a:r>
          </a:p>
          <a:p>
            <a:r>
              <a:rPr lang="en-US" altLang="en-US" sz="1600">
                <a:solidFill>
                  <a:srgbClr val="006600"/>
                </a:solidFill>
              </a:rPr>
              <a:t>is created on disk and</a:t>
            </a:r>
          </a:p>
          <a:p>
            <a:r>
              <a:rPr lang="en-US" altLang="en-US" sz="1600">
                <a:solidFill>
                  <a:srgbClr val="006600"/>
                </a:solidFill>
              </a:rPr>
              <a:t>Current page</a:t>
            </a:r>
          </a:p>
          <a:p>
            <a:r>
              <a:rPr lang="en-US" altLang="en-US" sz="1600">
                <a:solidFill>
                  <a:srgbClr val="006600"/>
                </a:solidFill>
              </a:rPr>
              <a:t>Directory updated. </a:t>
            </a:r>
          </a:p>
          <a:p>
            <a:r>
              <a:rPr lang="en-US" altLang="en-US" sz="1600">
                <a:solidFill>
                  <a:srgbClr val="006600"/>
                </a:solidFill>
              </a:rPr>
              <a:t>But shadow directory will </a:t>
            </a:r>
          </a:p>
          <a:p>
            <a:r>
              <a:rPr lang="en-US" altLang="en-US" sz="1600">
                <a:solidFill>
                  <a:srgbClr val="006600"/>
                </a:solidFill>
              </a:rPr>
              <a:t>not be updated</a:t>
            </a:r>
          </a:p>
        </p:txBody>
      </p:sp>
    </p:spTree>
  </p:cSld>
  <p:clrMapOvr>
    <a:masterClrMapping/>
  </p:clrMapOvr>
  <p:transition spd="med"/>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descr="Title 1">
            <a:extLst>
              <a:ext uri="{FF2B5EF4-FFF2-40B4-BE49-F238E27FC236}">
                <a16:creationId xmlns:a16="http://schemas.microsoft.com/office/drawing/2014/main" id="{BD77EC5D-8FC8-E3CE-2A64-D25D3BC7604E}"/>
              </a:ext>
            </a:extLst>
          </p:cNvPr>
          <p:cNvSpPr>
            <a:spLocks noChangeArrowheads="1"/>
          </p:cNvSpPr>
          <p:nvPr>
            <p:ph type="title"/>
          </p:nvPr>
        </p:nvSpPr>
        <p:spPr/>
        <p:txBody>
          <a:bodyPr/>
          <a:lstStyle/>
          <a:p>
            <a:r>
              <a:rPr lang="en-US" altLang="en-US"/>
              <a:t>Shadow Paging</a:t>
            </a:r>
          </a:p>
        </p:txBody>
      </p:sp>
      <p:sp>
        <p:nvSpPr>
          <p:cNvPr id="302083" name="Text Box 3" descr="Date Placeholder 3">
            <a:extLst>
              <a:ext uri="{FF2B5EF4-FFF2-40B4-BE49-F238E27FC236}">
                <a16:creationId xmlns:a16="http://schemas.microsoft.com/office/drawing/2014/main" id="{527AEE62-AF90-E7E2-4ADE-8FE5B8943DC9}"/>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2084" name="Text Box 4" descr="Slide Number Placeholder 5">
            <a:extLst>
              <a:ext uri="{FF2B5EF4-FFF2-40B4-BE49-F238E27FC236}">
                <a16:creationId xmlns:a16="http://schemas.microsoft.com/office/drawing/2014/main" id="{85524C28-86DF-E49D-8E3E-3A50D39D99CE}"/>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572C984-549D-40F6-92BF-0B702A774EB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02085" name="Rectangle 5" descr="Rectangle 6">
            <a:extLst>
              <a:ext uri="{FF2B5EF4-FFF2-40B4-BE49-F238E27FC236}">
                <a16:creationId xmlns:a16="http://schemas.microsoft.com/office/drawing/2014/main" id="{15CA8D93-DA15-B763-CE51-750CC0255FCA}"/>
              </a:ext>
            </a:extLst>
          </p:cNvPr>
          <p:cNvSpPr>
            <a:spLocks/>
          </p:cNvSpPr>
          <p:nvPr/>
        </p:nvSpPr>
        <p:spPr bwMode="auto">
          <a:xfrm>
            <a:off x="5357813" y="1069975"/>
            <a:ext cx="3714750" cy="5145088"/>
          </a:xfrm>
          <a:prstGeom prst="rect">
            <a:avLst/>
          </a:prstGeom>
          <a:noFill/>
          <a:ln w="38100"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2086" name="Text Box 6" descr="TextBox 7">
            <a:extLst>
              <a:ext uri="{FF2B5EF4-FFF2-40B4-BE49-F238E27FC236}">
                <a16:creationId xmlns:a16="http://schemas.microsoft.com/office/drawing/2014/main" id="{AC275B2C-78E6-E798-CB73-C681D40E19B4}"/>
              </a:ext>
            </a:extLst>
          </p:cNvPr>
          <p:cNvSpPr txBox="1">
            <a:spLocks/>
          </p:cNvSpPr>
          <p:nvPr/>
        </p:nvSpPr>
        <p:spPr bwMode="auto">
          <a:xfrm>
            <a:off x="6759575" y="641350"/>
            <a:ext cx="110331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Hard Disk</a:t>
            </a:r>
          </a:p>
        </p:txBody>
      </p:sp>
      <p:graphicFrame>
        <p:nvGraphicFramePr>
          <p:cNvPr id="302087" name="Group 7">
            <a:extLst>
              <a:ext uri="{FF2B5EF4-FFF2-40B4-BE49-F238E27FC236}">
                <a16:creationId xmlns:a16="http://schemas.microsoft.com/office/drawing/2014/main" id="{80A18269-B817-3BD6-D60A-CF824CE95835}"/>
              </a:ext>
            </a:extLst>
          </p:cNvPr>
          <p:cNvGraphicFramePr>
            <a:graphicFrameLocks noGrp="1"/>
          </p:cNvGraphicFramePr>
          <p:nvPr/>
        </p:nvGraphicFramePr>
        <p:xfrm>
          <a:off x="5572125" y="1357313"/>
          <a:ext cx="3333750" cy="3197225"/>
        </p:xfrm>
        <a:graphic>
          <a:graphicData uri="http://schemas.openxmlformats.org/drawingml/2006/table">
            <a:tbl>
              <a:tblPr/>
              <a:tblGrid>
                <a:gridCol w="714375">
                  <a:extLst>
                    <a:ext uri="{9D8B030D-6E8A-4147-A177-3AD203B41FA5}">
                      <a16:colId xmlns:a16="http://schemas.microsoft.com/office/drawing/2014/main" val="978522883"/>
                    </a:ext>
                  </a:extLst>
                </a:gridCol>
                <a:gridCol w="1428750">
                  <a:extLst>
                    <a:ext uri="{9D8B030D-6E8A-4147-A177-3AD203B41FA5}">
                      <a16:colId xmlns:a16="http://schemas.microsoft.com/office/drawing/2014/main" val="330285674"/>
                    </a:ext>
                  </a:extLst>
                </a:gridCol>
                <a:gridCol w="1190625">
                  <a:extLst>
                    <a:ext uri="{9D8B030D-6E8A-4147-A177-3AD203B41FA5}">
                      <a16:colId xmlns:a16="http://schemas.microsoft.com/office/drawing/2014/main" val="524931747"/>
                    </a:ext>
                  </a:extLst>
                </a:gridCol>
              </a:tblGrid>
              <a:tr h="752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
Sub-table
Data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68871025"/>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Data Item
A 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14443389"/>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 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2859600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 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07186755"/>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49276894"/>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 950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0438516"/>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a:t>
                      </a:r>
                      <a:r>
                        <a:rPr kumimoji="0" lang="en-US" altLang="en-US" sz="1600" b="0"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2050</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FF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93126244"/>
                  </a:ext>
                </a:extLst>
              </a:tr>
            </a:tbl>
          </a:graphicData>
        </a:graphic>
      </p:graphicFrame>
      <p:sp>
        <p:nvSpPr>
          <p:cNvPr id="302161" name="Text Box 81" descr="TextBox 9">
            <a:extLst>
              <a:ext uri="{FF2B5EF4-FFF2-40B4-BE49-F238E27FC236}">
                <a16:creationId xmlns:a16="http://schemas.microsoft.com/office/drawing/2014/main" id="{AB4C8EEB-0549-DF77-EFB6-1269E6A6CDD2}"/>
              </a:ext>
            </a:extLst>
          </p:cNvPr>
          <p:cNvSpPr txBox="1">
            <a:spLocks/>
          </p:cNvSpPr>
          <p:nvPr/>
        </p:nvSpPr>
        <p:spPr bwMode="auto">
          <a:xfrm>
            <a:off x="6045200" y="1011238"/>
            <a:ext cx="163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 table</a:t>
            </a:r>
          </a:p>
        </p:txBody>
      </p:sp>
      <p:sp>
        <p:nvSpPr>
          <p:cNvPr id="302162" name="Text Box 82" descr="TextBox 10">
            <a:extLst>
              <a:ext uri="{FF2B5EF4-FFF2-40B4-BE49-F238E27FC236}">
                <a16:creationId xmlns:a16="http://schemas.microsoft.com/office/drawing/2014/main" id="{C7F42C7A-340F-BFAC-DD9E-AC74DCA8E0E9}"/>
              </a:ext>
            </a:extLst>
          </p:cNvPr>
          <p:cNvSpPr txBox="1">
            <a:spLocks/>
          </p:cNvSpPr>
          <p:nvPr/>
        </p:nvSpPr>
        <p:spPr bwMode="auto">
          <a:xfrm>
            <a:off x="5973763" y="4714875"/>
            <a:ext cx="2436812"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Shadow Page Directory</a:t>
            </a:r>
          </a:p>
        </p:txBody>
      </p:sp>
      <p:sp>
        <p:nvSpPr>
          <p:cNvPr id="302163" name="Text Box 83" descr="TextBox 11">
            <a:extLst>
              <a:ext uri="{FF2B5EF4-FFF2-40B4-BE49-F238E27FC236}">
                <a16:creationId xmlns:a16="http://schemas.microsoft.com/office/drawing/2014/main" id="{10D5DB28-C0F6-7EB8-9F8E-41958B3961FA}"/>
              </a:ext>
            </a:extLst>
          </p:cNvPr>
          <p:cNvSpPr txBox="1">
            <a:spLocks/>
          </p:cNvSpPr>
          <p:nvPr/>
        </p:nvSpPr>
        <p:spPr bwMode="auto">
          <a:xfrm>
            <a:off x="6500813" y="5000625"/>
            <a:ext cx="1390650" cy="963613"/>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a:t>Page 1: Addr1</a:t>
            </a:r>
          </a:p>
          <a:p>
            <a:r>
              <a:rPr lang="en-US" altLang="en-US" sz="1400"/>
              <a:t>Page 2: Addr2</a:t>
            </a:r>
          </a:p>
          <a:p>
            <a:r>
              <a:rPr lang="en-US" altLang="en-US" sz="1400"/>
              <a:t>Page 3: Addr3</a:t>
            </a:r>
          </a:p>
          <a:p>
            <a:r>
              <a:rPr lang="en-US" altLang="en-US" sz="1400"/>
              <a:t>Page 4: Addr4</a:t>
            </a:r>
          </a:p>
        </p:txBody>
      </p:sp>
      <p:sp>
        <p:nvSpPr>
          <p:cNvPr id="302164" name="Text Box 84" descr="TextBox 12">
            <a:extLst>
              <a:ext uri="{FF2B5EF4-FFF2-40B4-BE49-F238E27FC236}">
                <a16:creationId xmlns:a16="http://schemas.microsoft.com/office/drawing/2014/main" id="{1608F9C7-8266-BFCB-4594-F5D84F87987E}"/>
              </a:ext>
            </a:extLst>
          </p:cNvPr>
          <p:cNvSpPr txBox="1">
            <a:spLocks/>
          </p:cNvSpPr>
          <p:nvPr/>
        </p:nvSpPr>
        <p:spPr bwMode="auto">
          <a:xfrm>
            <a:off x="1403350" y="1641475"/>
            <a:ext cx="1414463"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sz="1400" b="1"/>
              <a:t>Current Page</a:t>
            </a:r>
          </a:p>
          <a:p>
            <a:pPr algn="ctr"/>
            <a:r>
              <a:rPr lang="en-US" altLang="en-US" sz="1400" b="1"/>
              <a:t>Directory</a:t>
            </a:r>
          </a:p>
        </p:txBody>
      </p:sp>
      <p:sp>
        <p:nvSpPr>
          <p:cNvPr id="302165" name="Text Box 85" descr="TextBox 13">
            <a:extLst>
              <a:ext uri="{FF2B5EF4-FFF2-40B4-BE49-F238E27FC236}">
                <a16:creationId xmlns:a16="http://schemas.microsoft.com/office/drawing/2014/main" id="{DB6E9B5F-E2F1-BBA8-61AE-94A6B1070676}"/>
              </a:ext>
            </a:extLst>
          </p:cNvPr>
          <p:cNvSpPr txBox="1">
            <a:spLocks/>
          </p:cNvSpPr>
          <p:nvPr/>
        </p:nvSpPr>
        <p:spPr bwMode="auto">
          <a:xfrm>
            <a:off x="1355725" y="2212975"/>
            <a:ext cx="2071688" cy="965200"/>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Page 1: Addr1 Addr5</a:t>
            </a:r>
          </a:p>
          <a:p>
            <a:r>
              <a:rPr lang="en-US" altLang="en-US" sz="1400"/>
              <a:t>Page 2: Addr2 </a:t>
            </a:r>
            <a:r>
              <a:rPr lang="en-US" altLang="en-US" sz="1400">
                <a:solidFill>
                  <a:srgbClr val="FF0000"/>
                </a:solidFill>
              </a:rPr>
              <a:t>Addr6</a:t>
            </a:r>
          </a:p>
          <a:p>
            <a:r>
              <a:rPr lang="en-US" altLang="en-US" sz="1400"/>
              <a:t>Page 3: Addr3</a:t>
            </a:r>
          </a:p>
          <a:p>
            <a:r>
              <a:rPr lang="en-US" altLang="en-US" sz="1400"/>
              <a:t>Page 4: Addr4</a:t>
            </a:r>
          </a:p>
        </p:txBody>
      </p:sp>
      <p:sp>
        <p:nvSpPr>
          <p:cNvPr id="302166" name="Rectangle 86" descr="Rectangle 14">
            <a:extLst>
              <a:ext uri="{FF2B5EF4-FFF2-40B4-BE49-F238E27FC236}">
                <a16:creationId xmlns:a16="http://schemas.microsoft.com/office/drawing/2014/main" id="{ED83FD3D-C216-9178-89A8-1469A09B34CF}"/>
              </a:ext>
            </a:extLst>
          </p:cNvPr>
          <p:cNvSpPr>
            <a:spLocks/>
          </p:cNvSpPr>
          <p:nvPr/>
        </p:nvSpPr>
        <p:spPr bwMode="auto">
          <a:xfrm>
            <a:off x="1069975" y="1570038"/>
            <a:ext cx="2571750" cy="2073275"/>
          </a:xfrm>
          <a:prstGeom prst="rect">
            <a:avLst/>
          </a:prstGeom>
          <a:noFill/>
          <a:ln w="2857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2167" name="Text Box 87" descr="TextBox 15">
            <a:extLst>
              <a:ext uri="{FF2B5EF4-FFF2-40B4-BE49-F238E27FC236}">
                <a16:creationId xmlns:a16="http://schemas.microsoft.com/office/drawing/2014/main" id="{0A67C0C3-98FE-4DFC-28AF-BFA1001412D9}"/>
              </a:ext>
            </a:extLst>
          </p:cNvPr>
          <p:cNvSpPr txBox="1">
            <a:spLocks/>
          </p:cNvSpPr>
          <p:nvPr/>
        </p:nvSpPr>
        <p:spPr bwMode="auto">
          <a:xfrm>
            <a:off x="1616075" y="1212850"/>
            <a:ext cx="14732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Main Memory</a:t>
            </a:r>
          </a:p>
        </p:txBody>
      </p:sp>
      <p:sp>
        <p:nvSpPr>
          <p:cNvPr id="302168" name="Text Box 88" descr="TextBox 16">
            <a:extLst>
              <a:ext uri="{FF2B5EF4-FFF2-40B4-BE49-F238E27FC236}">
                <a16:creationId xmlns:a16="http://schemas.microsoft.com/office/drawing/2014/main" id="{623E4BAE-4CC9-306C-1199-42A11768EBA7}"/>
              </a:ext>
            </a:extLst>
          </p:cNvPr>
          <p:cNvSpPr txBox="1">
            <a:spLocks/>
          </p:cNvSpPr>
          <p:nvPr/>
        </p:nvSpPr>
        <p:spPr bwMode="auto">
          <a:xfrm>
            <a:off x="69850" y="3929063"/>
            <a:ext cx="2405063"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operations</a:t>
            </a:r>
          </a:p>
        </p:txBody>
      </p:sp>
      <p:sp>
        <p:nvSpPr>
          <p:cNvPr id="302169" name="Text Box 89" descr="TextBox 17">
            <a:extLst>
              <a:ext uri="{FF2B5EF4-FFF2-40B4-BE49-F238E27FC236}">
                <a16:creationId xmlns:a16="http://schemas.microsoft.com/office/drawing/2014/main" id="{20DC2C1E-5B50-8AFD-225B-FE2BCEC32FFB}"/>
              </a:ext>
            </a:extLst>
          </p:cNvPr>
          <p:cNvSpPr txBox="1">
            <a:spLocks/>
          </p:cNvSpPr>
          <p:nvPr/>
        </p:nvSpPr>
        <p:spPr bwMode="auto">
          <a:xfrm>
            <a:off x="95250" y="4286250"/>
            <a:ext cx="2557463" cy="17891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(Start,T1)</a:t>
            </a:r>
          </a:p>
          <a:p>
            <a:r>
              <a:rPr lang="en-US" altLang="en-US" sz="1600"/>
              <a:t>(Write,T1,A,1000,950)</a:t>
            </a:r>
          </a:p>
          <a:p>
            <a:r>
              <a:rPr lang="en-US" altLang="en-US" sz="1600">
                <a:solidFill>
                  <a:srgbClr val="FF0000"/>
                </a:solidFill>
              </a:rPr>
              <a:t>(Write,T1,B,2000,2050)</a:t>
            </a:r>
          </a:p>
          <a:p>
            <a:r>
              <a:rPr lang="en-US" altLang="en-US" sz="1600"/>
              <a:t>(Commit,T1)</a:t>
            </a:r>
          </a:p>
          <a:p>
            <a:r>
              <a:rPr lang="en-US" altLang="en-US" sz="1600"/>
              <a:t>(Start, T2)</a:t>
            </a:r>
          </a:p>
          <a:p>
            <a:r>
              <a:rPr lang="en-US" altLang="en-US" sz="1600"/>
              <a:t>(Write,T2,C,700,600)</a:t>
            </a:r>
          </a:p>
          <a:p>
            <a:r>
              <a:rPr lang="en-US" altLang="en-US" sz="1600"/>
              <a:t>(Write,T2,D,50,30)</a:t>
            </a:r>
          </a:p>
        </p:txBody>
      </p:sp>
      <p:sp>
        <p:nvSpPr>
          <p:cNvPr id="302170" name="Text Box 90" descr="TextBox 18">
            <a:extLst>
              <a:ext uri="{FF2B5EF4-FFF2-40B4-BE49-F238E27FC236}">
                <a16:creationId xmlns:a16="http://schemas.microsoft.com/office/drawing/2014/main" id="{B04FE48E-37D4-96C2-690A-39B1CF728944}"/>
              </a:ext>
            </a:extLst>
          </p:cNvPr>
          <p:cNvSpPr txBox="1">
            <a:spLocks/>
          </p:cNvSpPr>
          <p:nvPr/>
        </p:nvSpPr>
        <p:spPr bwMode="auto">
          <a:xfrm>
            <a:off x="2757488" y="4143375"/>
            <a:ext cx="2749550" cy="2020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6600"/>
                </a:solidFill>
              </a:rPr>
              <a:t>After execution of</a:t>
            </a:r>
          </a:p>
          <a:p>
            <a:r>
              <a:rPr lang="en-US" altLang="en-US" sz="1600">
                <a:solidFill>
                  <a:srgbClr val="006600"/>
                </a:solidFill>
              </a:rPr>
              <a:t>(write,T2,2000,2050)</a:t>
            </a:r>
          </a:p>
          <a:p>
            <a:r>
              <a:rPr lang="en-US" altLang="en-US" sz="1600">
                <a:solidFill>
                  <a:srgbClr val="006600"/>
                </a:solidFill>
              </a:rPr>
              <a:t>Then new page table </a:t>
            </a:r>
          </a:p>
          <a:p>
            <a:r>
              <a:rPr lang="en-US" altLang="en-US" sz="1600">
                <a:solidFill>
                  <a:srgbClr val="006600"/>
                </a:solidFill>
              </a:rPr>
              <a:t>is created on disk and</a:t>
            </a:r>
          </a:p>
          <a:p>
            <a:r>
              <a:rPr lang="en-US" altLang="en-US" sz="1600">
                <a:solidFill>
                  <a:srgbClr val="006600"/>
                </a:solidFill>
              </a:rPr>
              <a:t>Current page</a:t>
            </a:r>
          </a:p>
          <a:p>
            <a:r>
              <a:rPr lang="en-US" altLang="en-US" sz="1600">
                <a:solidFill>
                  <a:srgbClr val="006600"/>
                </a:solidFill>
              </a:rPr>
              <a:t>Directory updated. </a:t>
            </a:r>
          </a:p>
          <a:p>
            <a:r>
              <a:rPr lang="en-US" altLang="en-US" sz="1600">
                <a:solidFill>
                  <a:srgbClr val="006600"/>
                </a:solidFill>
              </a:rPr>
              <a:t>But shadow directory will </a:t>
            </a:r>
          </a:p>
          <a:p>
            <a:r>
              <a:rPr lang="en-US" altLang="en-US" sz="1600">
                <a:solidFill>
                  <a:srgbClr val="006600"/>
                </a:solidFill>
              </a:rPr>
              <a:t>not be updated</a:t>
            </a:r>
          </a:p>
        </p:txBody>
      </p:sp>
    </p:spTree>
  </p:cSld>
  <p:clrMapOvr>
    <a:masterClrMapping/>
  </p:clrMapOvr>
  <p:transition spd="med"/>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descr="Title 1">
            <a:extLst>
              <a:ext uri="{FF2B5EF4-FFF2-40B4-BE49-F238E27FC236}">
                <a16:creationId xmlns:a16="http://schemas.microsoft.com/office/drawing/2014/main" id="{DE5790EE-F61E-42E1-F8B7-94155397B463}"/>
              </a:ext>
            </a:extLst>
          </p:cNvPr>
          <p:cNvSpPr>
            <a:spLocks noChangeArrowheads="1"/>
          </p:cNvSpPr>
          <p:nvPr>
            <p:ph type="title"/>
          </p:nvPr>
        </p:nvSpPr>
        <p:spPr/>
        <p:txBody>
          <a:bodyPr/>
          <a:lstStyle/>
          <a:p>
            <a:r>
              <a:rPr lang="en-US" altLang="en-US"/>
              <a:t>Shadow Paging</a:t>
            </a:r>
          </a:p>
        </p:txBody>
      </p:sp>
      <p:sp>
        <p:nvSpPr>
          <p:cNvPr id="303107" name="Text Box 3" descr="Date Placeholder 3">
            <a:extLst>
              <a:ext uri="{FF2B5EF4-FFF2-40B4-BE49-F238E27FC236}">
                <a16:creationId xmlns:a16="http://schemas.microsoft.com/office/drawing/2014/main" id="{437593CE-434C-0133-B955-EB32240432F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3108" name="Text Box 4" descr="Slide Number Placeholder 5">
            <a:extLst>
              <a:ext uri="{FF2B5EF4-FFF2-40B4-BE49-F238E27FC236}">
                <a16:creationId xmlns:a16="http://schemas.microsoft.com/office/drawing/2014/main" id="{43B2E92A-7ABB-7349-2D07-93507884F17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0828172-17CF-48B7-A03A-F27CE3374852}"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
        <p:nvSpPr>
          <p:cNvPr id="303109" name="Rectangle 5" descr="Rectangle 6">
            <a:extLst>
              <a:ext uri="{FF2B5EF4-FFF2-40B4-BE49-F238E27FC236}">
                <a16:creationId xmlns:a16="http://schemas.microsoft.com/office/drawing/2014/main" id="{C0996B77-FEDE-E357-2A7A-2DB56DDD01FA}"/>
              </a:ext>
            </a:extLst>
          </p:cNvPr>
          <p:cNvSpPr>
            <a:spLocks/>
          </p:cNvSpPr>
          <p:nvPr/>
        </p:nvSpPr>
        <p:spPr bwMode="auto">
          <a:xfrm>
            <a:off x="5357813" y="1069975"/>
            <a:ext cx="3714750" cy="5145088"/>
          </a:xfrm>
          <a:prstGeom prst="rect">
            <a:avLst/>
          </a:prstGeom>
          <a:noFill/>
          <a:ln w="38100" cap="flat" cmpd="sng">
            <a:solidFill>
              <a:srgbClr val="FF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3110" name="Text Box 6" descr="TextBox 7">
            <a:extLst>
              <a:ext uri="{FF2B5EF4-FFF2-40B4-BE49-F238E27FC236}">
                <a16:creationId xmlns:a16="http://schemas.microsoft.com/office/drawing/2014/main" id="{5B6CEC70-68DF-FDCD-2E89-FE9BE8622E16}"/>
              </a:ext>
            </a:extLst>
          </p:cNvPr>
          <p:cNvSpPr txBox="1">
            <a:spLocks/>
          </p:cNvSpPr>
          <p:nvPr/>
        </p:nvSpPr>
        <p:spPr bwMode="auto">
          <a:xfrm>
            <a:off x="6759575" y="641350"/>
            <a:ext cx="1103313"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Hard Disk</a:t>
            </a:r>
          </a:p>
        </p:txBody>
      </p:sp>
      <p:graphicFrame>
        <p:nvGraphicFramePr>
          <p:cNvPr id="303111" name="Group 7">
            <a:extLst>
              <a:ext uri="{FF2B5EF4-FFF2-40B4-BE49-F238E27FC236}">
                <a16:creationId xmlns:a16="http://schemas.microsoft.com/office/drawing/2014/main" id="{EDBD112E-9589-F641-EECF-1F2EA72EB466}"/>
              </a:ext>
            </a:extLst>
          </p:cNvPr>
          <p:cNvGraphicFramePr>
            <a:graphicFrameLocks noGrp="1"/>
          </p:cNvGraphicFramePr>
          <p:nvPr/>
        </p:nvGraphicFramePr>
        <p:xfrm>
          <a:off x="5572125" y="1357313"/>
          <a:ext cx="3333750" cy="3197225"/>
        </p:xfrm>
        <a:graphic>
          <a:graphicData uri="http://schemas.openxmlformats.org/drawingml/2006/table">
            <a:tbl>
              <a:tblPr/>
              <a:tblGrid>
                <a:gridCol w="714375">
                  <a:extLst>
                    <a:ext uri="{9D8B030D-6E8A-4147-A177-3AD203B41FA5}">
                      <a16:colId xmlns:a16="http://schemas.microsoft.com/office/drawing/2014/main" val="936461922"/>
                    </a:ext>
                  </a:extLst>
                </a:gridCol>
                <a:gridCol w="1428750">
                  <a:extLst>
                    <a:ext uri="{9D8B030D-6E8A-4147-A177-3AD203B41FA5}">
                      <a16:colId xmlns:a16="http://schemas.microsoft.com/office/drawing/2014/main" val="1319165454"/>
                    </a:ext>
                  </a:extLst>
                </a:gridCol>
                <a:gridCol w="1190625">
                  <a:extLst>
                    <a:ext uri="{9D8B030D-6E8A-4147-A177-3AD203B41FA5}">
                      <a16:colId xmlns:a16="http://schemas.microsoft.com/office/drawing/2014/main" val="865396847"/>
                    </a:ext>
                  </a:extLst>
                </a:gridCol>
              </a:tblGrid>
              <a:tr h="752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PageNo.</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Page/
Sub-table
Data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Location</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32855650"/>
                  </a:ext>
                </a:extLst>
              </a:tr>
              <a:tr h="5873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Data Item
A 1000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Addr1</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0248784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 2000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Addr2</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0888223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C 700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Addr3</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75129421"/>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D 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Addr4</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6358128"/>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 950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Addr5</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59105150"/>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B 2050</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Addr6</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79912997"/>
                  </a:ext>
                </a:extLst>
              </a:tr>
            </a:tbl>
          </a:graphicData>
        </a:graphic>
      </p:graphicFrame>
      <p:sp>
        <p:nvSpPr>
          <p:cNvPr id="303185" name="Text Box 81" descr="TextBox 9">
            <a:extLst>
              <a:ext uri="{FF2B5EF4-FFF2-40B4-BE49-F238E27FC236}">
                <a16:creationId xmlns:a16="http://schemas.microsoft.com/office/drawing/2014/main" id="{3F483617-51B5-590D-3E72-6C1EEA56E06A}"/>
              </a:ext>
            </a:extLst>
          </p:cNvPr>
          <p:cNvSpPr txBox="1">
            <a:spLocks/>
          </p:cNvSpPr>
          <p:nvPr/>
        </p:nvSpPr>
        <p:spPr bwMode="auto">
          <a:xfrm>
            <a:off x="6045200" y="1011238"/>
            <a:ext cx="16383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Database table</a:t>
            </a:r>
          </a:p>
        </p:txBody>
      </p:sp>
      <p:sp>
        <p:nvSpPr>
          <p:cNvPr id="303186" name="Text Box 82" descr="TextBox 10">
            <a:extLst>
              <a:ext uri="{FF2B5EF4-FFF2-40B4-BE49-F238E27FC236}">
                <a16:creationId xmlns:a16="http://schemas.microsoft.com/office/drawing/2014/main" id="{E48D3F8C-7862-628A-71E7-A728046F816F}"/>
              </a:ext>
            </a:extLst>
          </p:cNvPr>
          <p:cNvSpPr txBox="1">
            <a:spLocks/>
          </p:cNvSpPr>
          <p:nvPr/>
        </p:nvSpPr>
        <p:spPr bwMode="auto">
          <a:xfrm>
            <a:off x="5973763" y="4714875"/>
            <a:ext cx="2436812" cy="306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400" b="1"/>
              <a:t>Shadow Page Directory</a:t>
            </a:r>
          </a:p>
        </p:txBody>
      </p:sp>
      <p:sp>
        <p:nvSpPr>
          <p:cNvPr id="303187" name="Text Box 83" descr="TextBox 11">
            <a:extLst>
              <a:ext uri="{FF2B5EF4-FFF2-40B4-BE49-F238E27FC236}">
                <a16:creationId xmlns:a16="http://schemas.microsoft.com/office/drawing/2014/main" id="{BD6CE670-1C7A-5B64-CA70-836A2690C8EF}"/>
              </a:ext>
            </a:extLst>
          </p:cNvPr>
          <p:cNvSpPr txBox="1">
            <a:spLocks/>
          </p:cNvSpPr>
          <p:nvPr/>
        </p:nvSpPr>
        <p:spPr bwMode="auto">
          <a:xfrm>
            <a:off x="6500813" y="5000625"/>
            <a:ext cx="2357437" cy="963613"/>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Page 1: Addr1 </a:t>
            </a:r>
            <a:r>
              <a:rPr lang="en-US" altLang="en-US" sz="1400">
                <a:solidFill>
                  <a:srgbClr val="FF0000"/>
                </a:solidFill>
              </a:rPr>
              <a:t>Addr5</a:t>
            </a:r>
          </a:p>
          <a:p>
            <a:r>
              <a:rPr lang="en-US" altLang="en-US" sz="1400"/>
              <a:t>Page 2: Addr2 </a:t>
            </a:r>
            <a:r>
              <a:rPr lang="en-US" altLang="en-US" sz="1400">
                <a:solidFill>
                  <a:srgbClr val="FF0000"/>
                </a:solidFill>
              </a:rPr>
              <a:t>Addr6</a:t>
            </a:r>
          </a:p>
          <a:p>
            <a:r>
              <a:rPr lang="en-US" altLang="en-US" sz="1400"/>
              <a:t>Page 3: Addr3</a:t>
            </a:r>
          </a:p>
          <a:p>
            <a:r>
              <a:rPr lang="en-US" altLang="en-US" sz="1400"/>
              <a:t>Page 4: Addr4</a:t>
            </a:r>
          </a:p>
        </p:txBody>
      </p:sp>
      <p:sp>
        <p:nvSpPr>
          <p:cNvPr id="303188" name="Text Box 84" descr="TextBox 12">
            <a:extLst>
              <a:ext uri="{FF2B5EF4-FFF2-40B4-BE49-F238E27FC236}">
                <a16:creationId xmlns:a16="http://schemas.microsoft.com/office/drawing/2014/main" id="{5584F19B-10F1-D842-E09A-058C439A4DB3}"/>
              </a:ext>
            </a:extLst>
          </p:cNvPr>
          <p:cNvSpPr txBox="1">
            <a:spLocks/>
          </p:cNvSpPr>
          <p:nvPr/>
        </p:nvSpPr>
        <p:spPr bwMode="auto">
          <a:xfrm>
            <a:off x="1403350" y="1641475"/>
            <a:ext cx="1414463"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ctr"/>
            <a:r>
              <a:rPr lang="en-US" altLang="en-US" sz="1400" b="1"/>
              <a:t>Current Page</a:t>
            </a:r>
          </a:p>
          <a:p>
            <a:pPr algn="ctr"/>
            <a:r>
              <a:rPr lang="en-US" altLang="en-US" sz="1400" b="1"/>
              <a:t>Directory</a:t>
            </a:r>
          </a:p>
        </p:txBody>
      </p:sp>
      <p:sp>
        <p:nvSpPr>
          <p:cNvPr id="303189" name="Text Box 85" descr="TextBox 13">
            <a:extLst>
              <a:ext uri="{FF2B5EF4-FFF2-40B4-BE49-F238E27FC236}">
                <a16:creationId xmlns:a16="http://schemas.microsoft.com/office/drawing/2014/main" id="{32456E5F-CF61-95C9-D8CB-2FB69B1DE0C3}"/>
              </a:ext>
            </a:extLst>
          </p:cNvPr>
          <p:cNvSpPr txBox="1">
            <a:spLocks/>
          </p:cNvSpPr>
          <p:nvPr/>
        </p:nvSpPr>
        <p:spPr bwMode="auto">
          <a:xfrm>
            <a:off x="1355725" y="2212975"/>
            <a:ext cx="2071688" cy="965200"/>
          </a:xfrm>
          <a:prstGeom prst="rect">
            <a:avLst/>
          </a:prstGeom>
          <a:noFill/>
          <a:ln w="9525" cap="flat" cmpd="sng">
            <a:solidFill>
              <a:srgbClr val="0066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400"/>
              <a:t>Page 1: Addr1 Addr5</a:t>
            </a:r>
          </a:p>
          <a:p>
            <a:r>
              <a:rPr lang="en-US" altLang="en-US" sz="1400"/>
              <a:t>Page 2: Addr2 Addr6</a:t>
            </a:r>
          </a:p>
          <a:p>
            <a:r>
              <a:rPr lang="en-US" altLang="en-US" sz="1400"/>
              <a:t>Page 3: Addr3</a:t>
            </a:r>
          </a:p>
          <a:p>
            <a:r>
              <a:rPr lang="en-US" altLang="en-US" sz="1400"/>
              <a:t>Page 4: Addr4</a:t>
            </a:r>
          </a:p>
        </p:txBody>
      </p:sp>
      <p:sp>
        <p:nvSpPr>
          <p:cNvPr id="303190" name="Rectangle 86" descr="Rectangle 14">
            <a:extLst>
              <a:ext uri="{FF2B5EF4-FFF2-40B4-BE49-F238E27FC236}">
                <a16:creationId xmlns:a16="http://schemas.microsoft.com/office/drawing/2014/main" id="{334D985F-B30B-66C1-8F09-8CBE9D0E8F93}"/>
              </a:ext>
            </a:extLst>
          </p:cNvPr>
          <p:cNvSpPr>
            <a:spLocks/>
          </p:cNvSpPr>
          <p:nvPr/>
        </p:nvSpPr>
        <p:spPr bwMode="auto">
          <a:xfrm>
            <a:off x="1069975" y="1570038"/>
            <a:ext cx="2571750" cy="2073275"/>
          </a:xfrm>
          <a:prstGeom prst="rect">
            <a:avLst/>
          </a:prstGeom>
          <a:noFill/>
          <a:ln w="28575" cap="flat"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lstStyle/>
          <a:p>
            <a:endParaRPr lang="en-US" altLang="en-US"/>
          </a:p>
        </p:txBody>
      </p:sp>
      <p:sp>
        <p:nvSpPr>
          <p:cNvPr id="303191" name="Text Box 87" descr="TextBox 15">
            <a:extLst>
              <a:ext uri="{FF2B5EF4-FFF2-40B4-BE49-F238E27FC236}">
                <a16:creationId xmlns:a16="http://schemas.microsoft.com/office/drawing/2014/main" id="{4B3FB55F-00B4-B773-3849-0667FB9F6A80}"/>
              </a:ext>
            </a:extLst>
          </p:cNvPr>
          <p:cNvSpPr txBox="1">
            <a:spLocks/>
          </p:cNvSpPr>
          <p:nvPr/>
        </p:nvSpPr>
        <p:spPr bwMode="auto">
          <a:xfrm>
            <a:off x="1616075" y="1212850"/>
            <a:ext cx="1473200" cy="333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C00000"/>
                </a:solidFill>
              </a:rPr>
              <a:t>Main Memory</a:t>
            </a:r>
          </a:p>
        </p:txBody>
      </p:sp>
      <p:sp>
        <p:nvSpPr>
          <p:cNvPr id="303192" name="Text Box 88" descr="TextBox 16">
            <a:extLst>
              <a:ext uri="{FF2B5EF4-FFF2-40B4-BE49-F238E27FC236}">
                <a16:creationId xmlns:a16="http://schemas.microsoft.com/office/drawing/2014/main" id="{0B4391F7-E2CB-A59E-1341-A18830C5FF8B}"/>
              </a:ext>
            </a:extLst>
          </p:cNvPr>
          <p:cNvSpPr txBox="1">
            <a:spLocks/>
          </p:cNvSpPr>
          <p:nvPr/>
        </p:nvSpPr>
        <p:spPr bwMode="auto">
          <a:xfrm>
            <a:off x="69850" y="3929063"/>
            <a:ext cx="2405063" cy="331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Transaction operations</a:t>
            </a:r>
          </a:p>
        </p:txBody>
      </p:sp>
      <p:sp>
        <p:nvSpPr>
          <p:cNvPr id="303193" name="Text Box 89" descr="TextBox 17">
            <a:extLst>
              <a:ext uri="{FF2B5EF4-FFF2-40B4-BE49-F238E27FC236}">
                <a16:creationId xmlns:a16="http://schemas.microsoft.com/office/drawing/2014/main" id="{E2F84D5F-0636-D3D4-7165-9CDB89909994}"/>
              </a:ext>
            </a:extLst>
          </p:cNvPr>
          <p:cNvSpPr txBox="1">
            <a:spLocks/>
          </p:cNvSpPr>
          <p:nvPr/>
        </p:nvSpPr>
        <p:spPr bwMode="auto">
          <a:xfrm>
            <a:off x="95250" y="4286250"/>
            <a:ext cx="2557463" cy="1789113"/>
          </a:xfrm>
          <a:prstGeom prst="rect">
            <a:avLst/>
          </a:prstGeom>
          <a:noFill/>
          <a:ln w="9525" cap="flat" cmpd="sng">
            <a:solidFill>
              <a:srgbClr val="0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t>(Start,T1)</a:t>
            </a:r>
          </a:p>
          <a:p>
            <a:r>
              <a:rPr lang="en-US" altLang="en-US" sz="1600"/>
              <a:t>(Write,T1,A,1000,950)</a:t>
            </a:r>
          </a:p>
          <a:p>
            <a:r>
              <a:rPr lang="en-US" altLang="en-US" sz="1600"/>
              <a:t>(Write,T1,B,2000,2050)</a:t>
            </a:r>
          </a:p>
          <a:p>
            <a:r>
              <a:rPr lang="en-US" altLang="en-US" sz="1600">
                <a:solidFill>
                  <a:srgbClr val="FF0000"/>
                </a:solidFill>
              </a:rPr>
              <a:t>(Commit,T1)</a:t>
            </a:r>
          </a:p>
          <a:p>
            <a:r>
              <a:rPr lang="en-US" altLang="en-US" sz="1600"/>
              <a:t>(Start, T2)</a:t>
            </a:r>
          </a:p>
          <a:p>
            <a:r>
              <a:rPr lang="en-US" altLang="en-US" sz="1600"/>
              <a:t>(Write,T2,C,700,600)</a:t>
            </a:r>
          </a:p>
          <a:p>
            <a:r>
              <a:rPr lang="en-US" altLang="en-US" sz="1600"/>
              <a:t>(Write,T2,D,50,30)</a:t>
            </a:r>
          </a:p>
        </p:txBody>
      </p:sp>
      <p:sp>
        <p:nvSpPr>
          <p:cNvPr id="303194" name="Text Box 90" descr="TextBox 18">
            <a:extLst>
              <a:ext uri="{FF2B5EF4-FFF2-40B4-BE49-F238E27FC236}">
                <a16:creationId xmlns:a16="http://schemas.microsoft.com/office/drawing/2014/main" id="{3E73C940-F31B-C53E-A0DE-611A3DFD62C9}"/>
              </a:ext>
            </a:extLst>
          </p:cNvPr>
          <p:cNvSpPr txBox="1">
            <a:spLocks/>
          </p:cNvSpPr>
          <p:nvPr/>
        </p:nvSpPr>
        <p:spPr bwMode="auto">
          <a:xfrm>
            <a:off x="2757488" y="4143375"/>
            <a:ext cx="2647950" cy="1779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sz="1600">
                <a:solidFill>
                  <a:srgbClr val="006600"/>
                </a:solidFill>
              </a:rPr>
              <a:t>After execution of</a:t>
            </a:r>
          </a:p>
          <a:p>
            <a:r>
              <a:rPr lang="en-US" altLang="en-US" sz="1600">
                <a:solidFill>
                  <a:srgbClr val="006600"/>
                </a:solidFill>
              </a:rPr>
              <a:t>(commit,T1)</a:t>
            </a:r>
          </a:p>
          <a:p>
            <a:r>
              <a:rPr lang="en-US" altLang="en-US" sz="1600">
                <a:solidFill>
                  <a:srgbClr val="006600"/>
                </a:solidFill>
              </a:rPr>
              <a:t>Shadow directory will </a:t>
            </a:r>
          </a:p>
          <a:p>
            <a:r>
              <a:rPr lang="en-US" altLang="en-US" sz="1600">
                <a:solidFill>
                  <a:srgbClr val="006600"/>
                </a:solidFill>
              </a:rPr>
              <a:t>be updated and old page</a:t>
            </a:r>
          </a:p>
          <a:p>
            <a:r>
              <a:rPr lang="en-US" altLang="en-US" sz="1600">
                <a:solidFill>
                  <a:srgbClr val="006600"/>
                </a:solidFill>
              </a:rPr>
              <a:t>On the hard disk will be </a:t>
            </a:r>
          </a:p>
          <a:p>
            <a:r>
              <a:rPr lang="en-US" altLang="en-US" sz="1600">
                <a:solidFill>
                  <a:srgbClr val="006600"/>
                </a:solidFill>
              </a:rPr>
              <a:t>discarded</a:t>
            </a:r>
          </a:p>
        </p:txBody>
      </p:sp>
    </p:spTree>
  </p:cSld>
  <p:clrMapOvr>
    <a:masterClrMapping/>
  </p:clrMapOvr>
  <p:transition spd="med"/>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2" descr="Title 1">
            <a:extLst>
              <a:ext uri="{FF2B5EF4-FFF2-40B4-BE49-F238E27FC236}">
                <a16:creationId xmlns:a16="http://schemas.microsoft.com/office/drawing/2014/main" id="{550D07BC-F614-3866-16F3-A825D4FD4C10}"/>
              </a:ext>
            </a:extLst>
          </p:cNvPr>
          <p:cNvSpPr>
            <a:spLocks noChangeArrowheads="1"/>
          </p:cNvSpPr>
          <p:nvPr>
            <p:ph type="title"/>
          </p:nvPr>
        </p:nvSpPr>
        <p:spPr/>
        <p:txBody>
          <a:bodyPr/>
          <a:lstStyle/>
          <a:p>
            <a:r>
              <a:rPr lang="en-US" altLang="en-US"/>
              <a:t>Shadow Paging</a:t>
            </a:r>
          </a:p>
        </p:txBody>
      </p:sp>
      <p:sp>
        <p:nvSpPr>
          <p:cNvPr id="304131" name="Text Box 3" descr="Date Placeholder 3">
            <a:extLst>
              <a:ext uri="{FF2B5EF4-FFF2-40B4-BE49-F238E27FC236}">
                <a16:creationId xmlns:a16="http://schemas.microsoft.com/office/drawing/2014/main" id="{79EAB2C2-B131-AF3B-6FEC-B171835269C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4132" name="Text Box 4" descr="Slide Number Placeholder 5">
            <a:extLst>
              <a:ext uri="{FF2B5EF4-FFF2-40B4-BE49-F238E27FC236}">
                <a16:creationId xmlns:a16="http://schemas.microsoft.com/office/drawing/2014/main" id="{CA8B441C-7888-E58C-C94B-3BF52F3ABAC2}"/>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B23137D4-ADE7-444D-8E9A-36E643FC9FCC}"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304133" name="Picture 5" descr="Picture 2">
            <a:extLst>
              <a:ext uri="{FF2B5EF4-FFF2-40B4-BE49-F238E27FC236}">
                <a16:creationId xmlns:a16="http://schemas.microsoft.com/office/drawing/2014/main" id="{5D5B2AE5-D558-801C-9299-4A017EA75F9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69975" y="1317625"/>
            <a:ext cx="7026275" cy="47545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2" descr="Title 1">
            <a:extLst>
              <a:ext uri="{FF2B5EF4-FFF2-40B4-BE49-F238E27FC236}">
                <a16:creationId xmlns:a16="http://schemas.microsoft.com/office/drawing/2014/main" id="{D821A4BB-966F-221C-762C-43A252BCC7F8}"/>
              </a:ext>
            </a:extLst>
          </p:cNvPr>
          <p:cNvSpPr>
            <a:spLocks noChangeArrowheads="1"/>
          </p:cNvSpPr>
          <p:nvPr>
            <p:ph type="title"/>
          </p:nvPr>
        </p:nvSpPr>
        <p:spPr/>
        <p:txBody>
          <a:bodyPr/>
          <a:lstStyle/>
          <a:p>
            <a:r>
              <a:rPr lang="en-US" altLang="en-US"/>
              <a:t>“ARIES” recovery algorithm</a:t>
            </a:r>
          </a:p>
        </p:txBody>
      </p:sp>
      <p:sp>
        <p:nvSpPr>
          <p:cNvPr id="305155" name="Text Box 3" descr="Date Placeholder 3">
            <a:extLst>
              <a:ext uri="{FF2B5EF4-FFF2-40B4-BE49-F238E27FC236}">
                <a16:creationId xmlns:a16="http://schemas.microsoft.com/office/drawing/2014/main" id="{3B6C39A0-EB11-5509-00E4-A345953FA77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5156" name="Text Box 4" descr="Slide Number Placeholder 5">
            <a:extLst>
              <a:ext uri="{FF2B5EF4-FFF2-40B4-BE49-F238E27FC236}">
                <a16:creationId xmlns:a16="http://schemas.microsoft.com/office/drawing/2014/main" id="{EDF01138-87AB-AC53-2CD2-DF0DF38B6713}"/>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E65E350-EDD0-4260-B9FB-5DA7896673A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305157" name="Picture 5" descr="Picture 2">
            <a:extLst>
              <a:ext uri="{FF2B5EF4-FFF2-40B4-BE49-F238E27FC236}">
                <a16:creationId xmlns:a16="http://schemas.microsoft.com/office/drawing/2014/main" id="{93402EF1-E551-1E05-88CA-8221E249528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84225" y="1427163"/>
            <a:ext cx="7872413" cy="407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descr="Title 1">
            <a:extLst>
              <a:ext uri="{FF2B5EF4-FFF2-40B4-BE49-F238E27FC236}">
                <a16:creationId xmlns:a16="http://schemas.microsoft.com/office/drawing/2014/main" id="{9F5111C6-0CA4-C85C-65AF-518261C7250A}"/>
              </a:ext>
            </a:extLst>
          </p:cNvPr>
          <p:cNvSpPr>
            <a:spLocks noChangeArrowheads="1"/>
          </p:cNvSpPr>
          <p:nvPr>
            <p:ph type="title"/>
          </p:nvPr>
        </p:nvSpPr>
        <p:spPr/>
        <p:txBody>
          <a:bodyPr/>
          <a:lstStyle/>
          <a:p>
            <a:r>
              <a:rPr lang="en-US" altLang="en-US"/>
              <a:t>“ARIES” recovery algorithm</a:t>
            </a:r>
          </a:p>
        </p:txBody>
      </p:sp>
      <p:sp>
        <p:nvSpPr>
          <p:cNvPr id="306179" name="Text Box 3" descr="Date Placeholder 3">
            <a:extLst>
              <a:ext uri="{FF2B5EF4-FFF2-40B4-BE49-F238E27FC236}">
                <a16:creationId xmlns:a16="http://schemas.microsoft.com/office/drawing/2014/main" id="{8F1AC0C1-2172-5B2C-7C10-638C8C5C53A2}"/>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6180" name="Text Box 4" descr="Slide Number Placeholder 5">
            <a:extLst>
              <a:ext uri="{FF2B5EF4-FFF2-40B4-BE49-F238E27FC236}">
                <a16:creationId xmlns:a16="http://schemas.microsoft.com/office/drawing/2014/main" id="{5F5BDD19-0A78-A71E-DF84-A4CEAE0DCF6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255A6613-EAF2-42AE-AA58-90652B8F6F28}"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306181" name="Picture 5" descr="Picture 2">
            <a:extLst>
              <a:ext uri="{FF2B5EF4-FFF2-40B4-BE49-F238E27FC236}">
                <a16:creationId xmlns:a16="http://schemas.microsoft.com/office/drawing/2014/main" id="{2D0B0CC8-372A-B745-3457-F6D6A59D02C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84225" y="1570038"/>
            <a:ext cx="7750175" cy="3368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2" descr="Title 1">
            <a:extLst>
              <a:ext uri="{FF2B5EF4-FFF2-40B4-BE49-F238E27FC236}">
                <a16:creationId xmlns:a16="http://schemas.microsoft.com/office/drawing/2014/main" id="{5F31E97E-A836-7A7F-8BDB-EB5316D40618}"/>
              </a:ext>
            </a:extLst>
          </p:cNvPr>
          <p:cNvSpPr>
            <a:spLocks noChangeArrowheads="1"/>
          </p:cNvSpPr>
          <p:nvPr>
            <p:ph type="title"/>
          </p:nvPr>
        </p:nvSpPr>
        <p:spPr/>
        <p:txBody>
          <a:bodyPr/>
          <a:lstStyle/>
          <a:p>
            <a:r>
              <a:rPr lang="en-US" altLang="en-US"/>
              <a:t>“ARIES” recovery algorithm</a:t>
            </a:r>
          </a:p>
        </p:txBody>
      </p:sp>
      <p:sp>
        <p:nvSpPr>
          <p:cNvPr id="307203" name="Text Box 3" descr="Date Placeholder 3">
            <a:extLst>
              <a:ext uri="{FF2B5EF4-FFF2-40B4-BE49-F238E27FC236}">
                <a16:creationId xmlns:a16="http://schemas.microsoft.com/office/drawing/2014/main" id="{E4AA42B3-ACA6-BEA3-6742-4D845705AB33}"/>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7204" name="Text Box 4" descr="Slide Number Placeholder 5">
            <a:extLst>
              <a:ext uri="{FF2B5EF4-FFF2-40B4-BE49-F238E27FC236}">
                <a16:creationId xmlns:a16="http://schemas.microsoft.com/office/drawing/2014/main" id="{900B02B8-27AA-644D-2603-1D04A4A898D0}"/>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56CB501-D534-46C6-A7B6-C357208833AB}"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289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307205" name="Picture 5" descr="Picture 2">
            <a:extLst>
              <a:ext uri="{FF2B5EF4-FFF2-40B4-BE49-F238E27FC236}">
                <a16:creationId xmlns:a16="http://schemas.microsoft.com/office/drawing/2014/main" id="{B4FF0533-CBBC-0D81-DCEB-AACB9A788E4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7038" y="1427163"/>
            <a:ext cx="8274050" cy="3219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2" descr="Rectangle 2">
            <a:extLst>
              <a:ext uri="{FF2B5EF4-FFF2-40B4-BE49-F238E27FC236}">
                <a16:creationId xmlns:a16="http://schemas.microsoft.com/office/drawing/2014/main" id="{7CC8523B-B22A-9EF5-5869-3A952E5F5CE8}"/>
              </a:ext>
            </a:extLst>
          </p:cNvPr>
          <p:cNvSpPr>
            <a:spLocks noChangeArrowheads="1"/>
          </p:cNvSpPr>
          <p:nvPr>
            <p:ph type="title"/>
          </p:nvPr>
        </p:nvSpPr>
        <p:spPr/>
        <p:txBody>
          <a:bodyPr/>
          <a:lstStyle/>
          <a:p>
            <a:r>
              <a:rPr lang="en-US" altLang="en-US" sz="2800"/>
              <a:t>Next we will learn Deadlocks</a:t>
            </a:r>
          </a:p>
        </p:txBody>
      </p:sp>
      <p:sp>
        <p:nvSpPr>
          <p:cNvPr id="308227" name="Rectangle 3" descr="Rectangle 3">
            <a:extLst>
              <a:ext uri="{FF2B5EF4-FFF2-40B4-BE49-F238E27FC236}">
                <a16:creationId xmlns:a16="http://schemas.microsoft.com/office/drawing/2014/main" id="{638C84D8-C8C4-4387-AFBB-EB6A266A5FE7}"/>
              </a:ext>
            </a:extLst>
          </p:cNvPr>
          <p:cNvSpPr>
            <a:spLocks noChangeArrowheads="1"/>
          </p:cNvSpPr>
          <p:nvPr>
            <p:ph type="body" sz="half" idx="1"/>
          </p:nvPr>
        </p:nvSpPr>
        <p:spPr>
          <a:xfrm>
            <a:off x="457200" y="3200400"/>
            <a:ext cx="8382000" cy="1600200"/>
          </a:xfrm>
        </p:spPr>
        <p:txBody>
          <a:bodyPr/>
          <a:lstStyle/>
          <a:p>
            <a:pPr marL="0" indent="0">
              <a:lnSpc>
                <a:spcPct val="80000"/>
              </a:lnSpc>
              <a:spcBef>
                <a:spcPts val="400"/>
              </a:spcBef>
              <a:buClrTx/>
              <a:buSzTx/>
              <a:buFontTx/>
              <a:buNone/>
            </a:pPr>
            <a:r>
              <a:rPr lang="en-US" altLang="en-US" sz="2000"/>
              <a:t>Deadlocks occur when each transaction T in a set of two or more transactions is waiting for some item that is locked by some other transaction T’ in the set.</a:t>
            </a:r>
          </a:p>
        </p:txBody>
      </p:sp>
      <p:sp>
        <p:nvSpPr>
          <p:cNvPr id="308228" name="Text Box 4" descr="Date Placeholder 1">
            <a:extLst>
              <a:ext uri="{FF2B5EF4-FFF2-40B4-BE49-F238E27FC236}">
                <a16:creationId xmlns:a16="http://schemas.microsoft.com/office/drawing/2014/main" id="{356499B7-0C35-A161-2615-40D9CB3F9BB2}"/>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8229" name="Text Box 5" descr="Slide Number Placeholder 2">
            <a:extLst>
              <a:ext uri="{FF2B5EF4-FFF2-40B4-BE49-F238E27FC236}">
                <a16:creationId xmlns:a16="http://schemas.microsoft.com/office/drawing/2014/main" id="{A01C1956-E337-5200-53B7-BDDF4417C8E5}"/>
              </a:ext>
            </a:extLst>
          </p:cNvPr>
          <p:cNvSpPr txBox="1">
            <a:spLocks/>
          </p:cNvSpPr>
          <p:nvPr/>
        </p:nvSpPr>
        <p:spPr bwMode="auto">
          <a:xfrm>
            <a:off x="8099425" y="6248400"/>
            <a:ext cx="35877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96538B0-CEEB-40CB-AA8E-8B45C7401646}"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290</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2" descr="Title 1">
            <a:extLst>
              <a:ext uri="{FF2B5EF4-FFF2-40B4-BE49-F238E27FC236}">
                <a16:creationId xmlns:a16="http://schemas.microsoft.com/office/drawing/2014/main" id="{8E55011D-61C7-0B47-45D4-05FAF2B554A6}"/>
              </a:ext>
            </a:extLst>
          </p:cNvPr>
          <p:cNvSpPr>
            <a:spLocks noChangeArrowheads="1"/>
          </p:cNvSpPr>
          <p:nvPr>
            <p:ph type="title"/>
          </p:nvPr>
        </p:nvSpPr>
        <p:spPr/>
        <p:txBody>
          <a:bodyPr/>
          <a:lstStyle/>
          <a:p>
            <a:r>
              <a:rPr lang="en-US" altLang="en-US"/>
              <a:t>Illustrating Deadlock Problem</a:t>
            </a:r>
          </a:p>
        </p:txBody>
      </p:sp>
      <p:sp>
        <p:nvSpPr>
          <p:cNvPr id="309251" name="Text Box 3" descr="Date Placeholder 3">
            <a:extLst>
              <a:ext uri="{FF2B5EF4-FFF2-40B4-BE49-F238E27FC236}">
                <a16:creationId xmlns:a16="http://schemas.microsoft.com/office/drawing/2014/main" id="{555AB773-0F87-5C92-AD92-FEE6CD5F6D81}"/>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09252" name="Text Box 4" descr="Slide Number Placeholder 5">
            <a:extLst>
              <a:ext uri="{FF2B5EF4-FFF2-40B4-BE49-F238E27FC236}">
                <a16:creationId xmlns:a16="http://schemas.microsoft.com/office/drawing/2014/main" id="{AE8E5BE0-F60E-F4DA-A2C5-AE71E150B36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7B724E75-71E8-470C-B61E-AD730916DE29}"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291</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309253" name="Picture 5" descr="Picture 2">
            <a:extLst>
              <a:ext uri="{FF2B5EF4-FFF2-40B4-BE49-F238E27FC236}">
                <a16:creationId xmlns:a16="http://schemas.microsoft.com/office/drawing/2014/main" id="{EAF44D79-D468-6812-1378-C8FECD86FF8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84663" y="3859213"/>
            <a:ext cx="4645025" cy="2427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aphicFrame>
        <p:nvGraphicFramePr>
          <p:cNvPr id="309254" name="Group 6">
            <a:extLst>
              <a:ext uri="{FF2B5EF4-FFF2-40B4-BE49-F238E27FC236}">
                <a16:creationId xmlns:a16="http://schemas.microsoft.com/office/drawing/2014/main" id="{3F6D1FF8-47AE-13B4-8688-705AF930C2E1}"/>
              </a:ext>
            </a:extLst>
          </p:cNvPr>
          <p:cNvGraphicFramePr>
            <a:graphicFrameLocks noGrp="1"/>
          </p:cNvGraphicFramePr>
          <p:nvPr/>
        </p:nvGraphicFramePr>
        <p:xfrm>
          <a:off x="285750" y="1143000"/>
          <a:ext cx="4643438" cy="2930525"/>
        </p:xfrm>
        <a:graphic>
          <a:graphicData uri="http://schemas.openxmlformats.org/drawingml/2006/table">
            <a:tbl>
              <a:tblPr/>
              <a:tblGrid>
                <a:gridCol w="2071688">
                  <a:extLst>
                    <a:ext uri="{9D8B030D-6E8A-4147-A177-3AD203B41FA5}">
                      <a16:colId xmlns:a16="http://schemas.microsoft.com/office/drawing/2014/main" val="347915659"/>
                    </a:ext>
                  </a:extLst>
                </a:gridCol>
                <a:gridCol w="2571750">
                  <a:extLst>
                    <a:ext uri="{9D8B030D-6E8A-4147-A177-3AD203B41FA5}">
                      <a16:colId xmlns:a16="http://schemas.microsoft.com/office/drawing/2014/main" val="3799206483"/>
                    </a:ext>
                  </a:extLst>
                </a:gridCol>
              </a:tblGrid>
              <a:tr h="3206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A</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Transaction B</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00422808"/>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Read_lock(orders)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72769655"/>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Read_item(orders)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01255934"/>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Read_lock(accounts)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78460822"/>
                  </a:ext>
                </a:extLst>
              </a:tr>
              <a:tr h="3841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Read_item(accounts)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88105001"/>
                  </a:ext>
                </a:extLst>
              </a:tr>
              <a:tr h="536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Write_lock(accounts)
(wait for accounts)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942533752"/>
                  </a:ext>
                </a:extLst>
              </a:tr>
              <a:tr h="5365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l" defTabSz="914400" rtl="0" eaLnBrk="1"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Write_lock(oders)
(wait for oders)</a:t>
                      </a:r>
                      <a:endParaRPr kumimoji="0" lang="en-US" altLang="en-US" sz="1800" b="0" i="0" u="none" strike="noStrike" cap="none" normalizeH="0" baseline="0">
                        <a:ln>
                          <a:noFill/>
                        </a:ln>
                        <a:solidFill>
                          <a:srgbClr val="000000"/>
                        </a:solidFill>
                        <a:effectLst/>
                        <a:latin typeface="+mn-lt" charset="0"/>
                        <a:ea typeface="+mn-ea" charset="0"/>
                        <a:cs typeface="+mn-ea" charset="0"/>
                        <a:sym typeface="Arial" panose="020B060402020202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14471594"/>
                  </a:ext>
                </a:extLst>
              </a:tr>
            </a:tbl>
          </a:graphicData>
        </a:graphic>
      </p:graphicFrame>
      <p:sp>
        <p:nvSpPr>
          <p:cNvPr id="309306" name="Text Box 58" descr="TextBox 9">
            <a:extLst>
              <a:ext uri="{FF2B5EF4-FFF2-40B4-BE49-F238E27FC236}">
                <a16:creationId xmlns:a16="http://schemas.microsoft.com/office/drawing/2014/main" id="{F6AFDC28-7CA1-C7BC-72E5-7EA60F1B1528}"/>
              </a:ext>
            </a:extLst>
          </p:cNvPr>
          <p:cNvSpPr txBox="1">
            <a:spLocks/>
          </p:cNvSpPr>
          <p:nvPr/>
        </p:nvSpPr>
        <p:spPr bwMode="auto">
          <a:xfrm>
            <a:off x="5688013" y="3141663"/>
            <a:ext cx="2389187" cy="65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r>
              <a:rPr lang="en-US" altLang="en-US">
                <a:solidFill>
                  <a:srgbClr val="0000FF"/>
                </a:solidFill>
              </a:rPr>
              <a:t>Deadlock between </a:t>
            </a:r>
          </a:p>
          <a:p>
            <a:r>
              <a:rPr lang="en-US" altLang="en-US">
                <a:solidFill>
                  <a:srgbClr val="0000FF"/>
                </a:solidFill>
              </a:rPr>
              <a:t>Transaction A and B</a:t>
            </a:r>
          </a:p>
        </p:txBody>
      </p:sp>
    </p:spTree>
  </p:cSld>
  <p:clrMapOvr>
    <a:masterClrMapping/>
  </p:clrMapOvr>
  <p:transition spd="med"/>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2" descr="Title 1">
            <a:extLst>
              <a:ext uri="{FF2B5EF4-FFF2-40B4-BE49-F238E27FC236}">
                <a16:creationId xmlns:a16="http://schemas.microsoft.com/office/drawing/2014/main" id="{6D24D9B8-A132-910C-8441-BF5299FFC5C4}"/>
              </a:ext>
            </a:extLst>
          </p:cNvPr>
          <p:cNvSpPr>
            <a:spLocks noChangeArrowheads="1"/>
          </p:cNvSpPr>
          <p:nvPr>
            <p:ph type="title"/>
          </p:nvPr>
        </p:nvSpPr>
        <p:spPr/>
        <p:txBody>
          <a:bodyPr/>
          <a:lstStyle/>
          <a:p>
            <a:r>
              <a:rPr lang="en-US" altLang="en-US" sz="2800"/>
              <a:t>Approaches for dealing with deadlocks</a:t>
            </a:r>
          </a:p>
        </p:txBody>
      </p:sp>
      <p:sp>
        <p:nvSpPr>
          <p:cNvPr id="310275" name="Rectangle 3" descr="Content Placeholder 2">
            <a:extLst>
              <a:ext uri="{FF2B5EF4-FFF2-40B4-BE49-F238E27FC236}">
                <a16:creationId xmlns:a16="http://schemas.microsoft.com/office/drawing/2014/main" id="{3375148D-7394-7D70-13A8-68C45C782F61}"/>
              </a:ext>
            </a:extLst>
          </p:cNvPr>
          <p:cNvSpPr>
            <a:spLocks noChangeArrowheads="1"/>
          </p:cNvSpPr>
          <p:nvPr>
            <p:ph type="body" idx="1"/>
          </p:nvPr>
        </p:nvSpPr>
        <p:spPr/>
        <p:txBody>
          <a:bodyPr/>
          <a:lstStyle/>
          <a:p>
            <a:pPr>
              <a:spcBef>
                <a:spcPts val="400"/>
              </a:spcBef>
              <a:buSzTx/>
              <a:buFont typeface="Wingdings" panose="05000000000000000000" pitchFamily="2" charset="2"/>
              <a:buNone/>
            </a:pPr>
            <a:r>
              <a:rPr lang="en-US" altLang="en-US" sz="2000">
                <a:solidFill>
                  <a:srgbClr val="C00000"/>
                </a:solidFill>
              </a:rPr>
              <a:t>1.</a:t>
            </a:r>
            <a:r>
              <a:rPr lang="en-US" altLang="en-US" sz="2000"/>
              <a:t>Deadlock Prevention Protocols</a:t>
            </a:r>
          </a:p>
          <a:p>
            <a:pPr>
              <a:spcBef>
                <a:spcPts val="400"/>
              </a:spcBef>
              <a:buSzTx/>
              <a:buFont typeface="Wingdings" panose="05000000000000000000" pitchFamily="2" charset="2"/>
              <a:buNone/>
            </a:pPr>
            <a:r>
              <a:rPr lang="en-US" altLang="en-US" sz="2000"/>
              <a:t>	</a:t>
            </a:r>
            <a:r>
              <a:rPr lang="en-US" altLang="en-US" sz="2000">
                <a:solidFill>
                  <a:srgbClr val="C00000"/>
                </a:solidFill>
              </a:rPr>
              <a:t>1.1. </a:t>
            </a:r>
            <a:r>
              <a:rPr lang="en-US" altLang="en-US" sz="2000"/>
              <a:t>Based on Timestamp</a:t>
            </a:r>
          </a:p>
          <a:p>
            <a:pPr>
              <a:spcBef>
                <a:spcPts val="400"/>
              </a:spcBef>
              <a:buSzTx/>
              <a:buFont typeface="Wingdings" panose="05000000000000000000" pitchFamily="2" charset="2"/>
              <a:buNone/>
            </a:pPr>
            <a:r>
              <a:rPr lang="en-US" altLang="en-US" sz="2000"/>
              <a:t>		</a:t>
            </a:r>
            <a:r>
              <a:rPr lang="en-US" altLang="en-US" sz="2000">
                <a:solidFill>
                  <a:srgbClr val="C00000"/>
                </a:solidFill>
              </a:rPr>
              <a:t>1.1.1. </a:t>
            </a:r>
            <a:r>
              <a:rPr lang="en-US" altLang="en-US" sz="2000"/>
              <a:t>Wait-Die</a:t>
            </a:r>
          </a:p>
          <a:p>
            <a:pPr>
              <a:spcBef>
                <a:spcPts val="400"/>
              </a:spcBef>
              <a:buSzTx/>
              <a:buFont typeface="Wingdings" panose="05000000000000000000" pitchFamily="2" charset="2"/>
              <a:buNone/>
            </a:pPr>
            <a:r>
              <a:rPr lang="en-US" altLang="en-US" sz="2000"/>
              <a:t>		</a:t>
            </a:r>
            <a:r>
              <a:rPr lang="en-US" altLang="en-US" sz="2000">
                <a:solidFill>
                  <a:srgbClr val="C00000"/>
                </a:solidFill>
              </a:rPr>
              <a:t>1.1.2. </a:t>
            </a:r>
            <a:r>
              <a:rPr lang="en-US" altLang="en-US" sz="2000"/>
              <a:t>Wound-Wait</a:t>
            </a:r>
          </a:p>
          <a:p>
            <a:pPr>
              <a:spcBef>
                <a:spcPts val="400"/>
              </a:spcBef>
              <a:buSzTx/>
              <a:buFont typeface="Wingdings" panose="05000000000000000000" pitchFamily="2" charset="2"/>
              <a:buNone/>
            </a:pPr>
            <a:r>
              <a:rPr lang="en-US" altLang="en-US" sz="2000"/>
              <a:t>	</a:t>
            </a:r>
            <a:r>
              <a:rPr lang="en-US" altLang="en-US" sz="2000">
                <a:solidFill>
                  <a:srgbClr val="C00000"/>
                </a:solidFill>
              </a:rPr>
              <a:t>1.2</a:t>
            </a:r>
            <a:r>
              <a:rPr lang="en-US" altLang="en-US" sz="2000"/>
              <a:t> Without using timestamp</a:t>
            </a:r>
          </a:p>
          <a:p>
            <a:pPr>
              <a:spcBef>
                <a:spcPts val="400"/>
              </a:spcBef>
              <a:buSzTx/>
              <a:buFont typeface="Wingdings" panose="05000000000000000000" pitchFamily="2" charset="2"/>
              <a:buNone/>
            </a:pPr>
            <a:r>
              <a:rPr lang="en-US" altLang="en-US" sz="2000"/>
              <a:t>		</a:t>
            </a:r>
            <a:r>
              <a:rPr lang="en-US" altLang="en-US" sz="2000">
                <a:solidFill>
                  <a:srgbClr val="C00000"/>
                </a:solidFill>
              </a:rPr>
              <a:t>1.2.1. </a:t>
            </a:r>
            <a:r>
              <a:rPr lang="en-US" altLang="en-US" sz="2000"/>
              <a:t>No-waiting</a:t>
            </a:r>
          </a:p>
          <a:p>
            <a:pPr>
              <a:spcBef>
                <a:spcPts val="400"/>
              </a:spcBef>
              <a:buSzTx/>
              <a:buFont typeface="Wingdings" panose="05000000000000000000" pitchFamily="2" charset="2"/>
              <a:buNone/>
            </a:pPr>
            <a:r>
              <a:rPr lang="en-US" altLang="en-US" sz="2000"/>
              <a:t>		</a:t>
            </a:r>
            <a:r>
              <a:rPr lang="en-US" altLang="en-US" sz="2000">
                <a:solidFill>
                  <a:srgbClr val="C00000"/>
                </a:solidFill>
              </a:rPr>
              <a:t>1.2.2. </a:t>
            </a:r>
            <a:r>
              <a:rPr lang="en-US" altLang="en-US" sz="2000"/>
              <a:t>Cautious waiting</a:t>
            </a:r>
          </a:p>
          <a:p>
            <a:pPr>
              <a:buSzTx/>
              <a:buFont typeface="Wingdings" panose="05000000000000000000" pitchFamily="2" charset="2"/>
              <a:buNone/>
            </a:pPr>
            <a:endParaRPr lang="en-US" altLang="en-US" sz="2000"/>
          </a:p>
          <a:p>
            <a:pPr>
              <a:spcBef>
                <a:spcPts val="400"/>
              </a:spcBef>
              <a:buSzTx/>
              <a:buFont typeface="Wingdings" panose="05000000000000000000" pitchFamily="2" charset="2"/>
              <a:buNone/>
            </a:pPr>
            <a:r>
              <a:rPr lang="en-US" altLang="en-US" sz="2000">
                <a:solidFill>
                  <a:srgbClr val="C00000"/>
                </a:solidFill>
              </a:rPr>
              <a:t>2. </a:t>
            </a:r>
            <a:r>
              <a:rPr lang="en-US" altLang="en-US" sz="2000"/>
              <a:t>Deadlock Detection Protocols</a:t>
            </a:r>
          </a:p>
          <a:p>
            <a:pPr>
              <a:spcBef>
                <a:spcPts val="400"/>
              </a:spcBef>
              <a:buSzTx/>
              <a:buFont typeface="Wingdings" panose="05000000000000000000" pitchFamily="2" charset="2"/>
              <a:buNone/>
            </a:pPr>
            <a:r>
              <a:rPr lang="en-US" altLang="en-US" sz="2000"/>
              <a:t>	</a:t>
            </a:r>
            <a:r>
              <a:rPr lang="en-US" altLang="en-US" sz="2000">
                <a:solidFill>
                  <a:srgbClr val="C00000"/>
                </a:solidFill>
              </a:rPr>
              <a:t>2.1. </a:t>
            </a:r>
            <a:r>
              <a:rPr lang="en-US" altLang="en-US" sz="2000"/>
              <a:t>Using wait-for graph</a:t>
            </a:r>
          </a:p>
          <a:p>
            <a:pPr>
              <a:buSzTx/>
              <a:buFont typeface="Wingdings" panose="05000000000000000000" pitchFamily="2" charset="2"/>
              <a:buNone/>
            </a:pPr>
            <a:endParaRPr lang="en-US" altLang="en-US" sz="2000"/>
          </a:p>
          <a:p>
            <a:pPr>
              <a:spcBef>
                <a:spcPts val="400"/>
              </a:spcBef>
              <a:buSzTx/>
              <a:buFont typeface="Wingdings" panose="05000000000000000000" pitchFamily="2" charset="2"/>
              <a:buNone/>
            </a:pPr>
            <a:r>
              <a:rPr lang="en-US" altLang="en-US" sz="2000">
                <a:solidFill>
                  <a:srgbClr val="C00000"/>
                </a:solidFill>
              </a:rPr>
              <a:t>3.</a:t>
            </a:r>
            <a:r>
              <a:rPr lang="en-US" altLang="en-US" sz="2000"/>
              <a:t> Timeouts</a:t>
            </a:r>
            <a:endParaRPr lang="en-US" altLang="en-US" sz="2000">
              <a:solidFill>
                <a:srgbClr val="C00000"/>
              </a:solidFill>
            </a:endParaRPr>
          </a:p>
        </p:txBody>
      </p:sp>
      <p:sp>
        <p:nvSpPr>
          <p:cNvPr id="310276" name="Text Box 4" descr="Date Placeholder 3">
            <a:extLst>
              <a:ext uri="{FF2B5EF4-FFF2-40B4-BE49-F238E27FC236}">
                <a16:creationId xmlns:a16="http://schemas.microsoft.com/office/drawing/2014/main" id="{59379789-1C43-5CD7-8E7D-C6BA00030FE8}"/>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0277" name="Text Box 5" descr="Slide Number Placeholder 5">
            <a:extLst>
              <a:ext uri="{FF2B5EF4-FFF2-40B4-BE49-F238E27FC236}">
                <a16:creationId xmlns:a16="http://schemas.microsoft.com/office/drawing/2014/main" id="{89DD419C-47E7-70CA-9061-EE860CF7CC4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4FA8E987-A51B-4394-8758-21BA3D41E79A}"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292</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2" descr="Title 1">
            <a:extLst>
              <a:ext uri="{FF2B5EF4-FFF2-40B4-BE49-F238E27FC236}">
                <a16:creationId xmlns:a16="http://schemas.microsoft.com/office/drawing/2014/main" id="{89945575-C275-84BC-B7B2-7F84DF9CAEFF}"/>
              </a:ext>
            </a:extLst>
          </p:cNvPr>
          <p:cNvSpPr>
            <a:spLocks noChangeArrowheads="1"/>
          </p:cNvSpPr>
          <p:nvPr>
            <p:ph type="title"/>
          </p:nvPr>
        </p:nvSpPr>
        <p:spPr/>
        <p:txBody>
          <a:bodyPr/>
          <a:lstStyle/>
          <a:p>
            <a:r>
              <a:rPr lang="en-US" altLang="en-US"/>
              <a:t>Deadlock Prevention Protocols</a:t>
            </a:r>
          </a:p>
        </p:txBody>
      </p:sp>
      <p:sp>
        <p:nvSpPr>
          <p:cNvPr id="311299" name="Rectangle 3" descr="Content Placeholder 2">
            <a:extLst>
              <a:ext uri="{FF2B5EF4-FFF2-40B4-BE49-F238E27FC236}">
                <a16:creationId xmlns:a16="http://schemas.microsoft.com/office/drawing/2014/main" id="{D1786FCA-ACAE-051B-5ED4-FC1E911E6145}"/>
              </a:ext>
            </a:extLst>
          </p:cNvPr>
          <p:cNvSpPr>
            <a:spLocks noChangeArrowheads="1"/>
          </p:cNvSpPr>
          <p:nvPr>
            <p:ph type="body" idx="1"/>
          </p:nvPr>
        </p:nvSpPr>
        <p:spPr/>
        <p:txBody>
          <a:bodyPr/>
          <a:lstStyle/>
          <a:p>
            <a:pPr>
              <a:spcBef>
                <a:spcPts val="400"/>
              </a:spcBef>
              <a:buSzTx/>
              <a:buFont typeface="Wingdings" panose="05000000000000000000" pitchFamily="2" charset="2"/>
              <a:buNone/>
            </a:pPr>
            <a:r>
              <a:rPr lang="en-US" altLang="en-US" sz="2000" b="1"/>
              <a:t>Based on Timestamp</a:t>
            </a:r>
            <a:r>
              <a:rPr lang="en-US" altLang="en-US" sz="2000"/>
              <a:t>: </a:t>
            </a:r>
            <a:r>
              <a:rPr lang="en-US" altLang="en-US" sz="2000">
                <a:solidFill>
                  <a:srgbClr val="C00000"/>
                </a:solidFill>
              </a:rPr>
              <a:t>1. </a:t>
            </a:r>
            <a:r>
              <a:rPr lang="en-US" altLang="en-US" sz="2000"/>
              <a:t>Wait-Die 	</a:t>
            </a:r>
            <a:r>
              <a:rPr lang="en-US" altLang="en-US" sz="2000">
                <a:solidFill>
                  <a:srgbClr val="C00000"/>
                </a:solidFill>
              </a:rPr>
              <a:t>2.</a:t>
            </a:r>
            <a:r>
              <a:rPr lang="en-US" altLang="en-US" sz="2000"/>
              <a:t>Wound-Wait</a:t>
            </a:r>
          </a:p>
          <a:p>
            <a:pPr>
              <a:lnSpc>
                <a:spcPct val="80000"/>
              </a:lnSpc>
              <a:spcBef>
                <a:spcPts val="400"/>
              </a:spcBef>
              <a:buSzTx/>
              <a:buFont typeface="Wingdings" panose="05000000000000000000" pitchFamily="2" charset="2"/>
              <a:buNone/>
            </a:pPr>
            <a:r>
              <a:rPr lang="en-US" altLang="en-US" sz="1800"/>
              <a:t>Suppose Ti tries to lock an item X but is not able because X is </a:t>
            </a:r>
          </a:p>
          <a:p>
            <a:pPr>
              <a:lnSpc>
                <a:spcPct val="80000"/>
              </a:lnSpc>
              <a:spcBef>
                <a:spcPts val="400"/>
              </a:spcBef>
              <a:buSzTx/>
              <a:buFont typeface="Wingdings" panose="05000000000000000000" pitchFamily="2" charset="2"/>
              <a:buNone/>
            </a:pPr>
            <a:r>
              <a:rPr lang="en-US" altLang="en-US" sz="1800"/>
              <a:t>locked by some other transaction Tj.</a:t>
            </a:r>
          </a:p>
          <a:p>
            <a:pPr>
              <a:lnSpc>
                <a:spcPct val="80000"/>
              </a:lnSpc>
              <a:spcBef>
                <a:spcPts val="400"/>
              </a:spcBef>
              <a:buSzTx/>
              <a:buFont typeface="Wingdings" panose="05000000000000000000" pitchFamily="2" charset="2"/>
              <a:buNone/>
            </a:pPr>
            <a:r>
              <a:rPr lang="en-US" altLang="en-US" sz="1800">
                <a:solidFill>
                  <a:srgbClr val="C00000"/>
                </a:solidFill>
              </a:rPr>
              <a:t>1. wait-die:</a:t>
            </a:r>
          </a:p>
          <a:p>
            <a:pPr marL="704850" lvl="1" indent="-234950">
              <a:lnSpc>
                <a:spcPct val="80000"/>
              </a:lnSpc>
              <a:spcBef>
                <a:spcPts val="300"/>
              </a:spcBef>
            </a:pPr>
            <a:r>
              <a:rPr lang="en-US" altLang="en-US" sz="1600"/>
              <a:t>If TS(Ti) &lt; TS(Tj), then (Ti older than Tj), Ti is allowed to wait</a:t>
            </a:r>
            <a:endParaRPr lang="en-US" altLang="en-US" sz="2600"/>
          </a:p>
          <a:p>
            <a:pPr marL="704850" lvl="1" indent="-234950">
              <a:lnSpc>
                <a:spcPct val="80000"/>
              </a:lnSpc>
              <a:spcBef>
                <a:spcPts val="300"/>
              </a:spcBef>
            </a:pPr>
            <a:r>
              <a:rPr lang="en-US" altLang="en-US" sz="1600"/>
              <a:t>Otherwise (Ti younger than Tj) abort &amp; rollback Ti and restart it using the same timestamp</a:t>
            </a:r>
            <a:endParaRPr lang="en-US" altLang="en-US" sz="2600"/>
          </a:p>
          <a:p>
            <a:pPr marL="704850" lvl="1" indent="-234950">
              <a:lnSpc>
                <a:spcPct val="80000"/>
              </a:lnSpc>
              <a:spcBef>
                <a:spcPts val="600"/>
              </a:spcBef>
              <a:buSzTx/>
              <a:buFont typeface="Wingdings" panose="05000000000000000000" pitchFamily="2" charset="2"/>
              <a:buNone/>
            </a:pPr>
            <a:endParaRPr lang="en-US" altLang="en-US" sz="1600"/>
          </a:p>
          <a:p>
            <a:pPr marL="704850" lvl="1" indent="-234950">
              <a:lnSpc>
                <a:spcPct val="80000"/>
              </a:lnSpc>
              <a:spcBef>
                <a:spcPts val="600"/>
              </a:spcBef>
              <a:buSzTx/>
              <a:buFont typeface="Wingdings" panose="05000000000000000000" pitchFamily="2" charset="2"/>
              <a:buNone/>
            </a:pPr>
            <a:endParaRPr lang="en-US" altLang="en-US" sz="1600"/>
          </a:p>
          <a:p>
            <a:pPr marL="704850" lvl="1" indent="-234950">
              <a:lnSpc>
                <a:spcPct val="80000"/>
              </a:lnSpc>
              <a:spcBef>
                <a:spcPts val="600"/>
              </a:spcBef>
              <a:buSzTx/>
              <a:buFont typeface="Wingdings" panose="05000000000000000000" pitchFamily="2" charset="2"/>
              <a:buNone/>
            </a:pPr>
            <a:endParaRPr lang="en-US" altLang="en-US" sz="1600"/>
          </a:p>
          <a:p>
            <a:pPr>
              <a:lnSpc>
                <a:spcPct val="80000"/>
              </a:lnSpc>
              <a:buSzTx/>
              <a:buFont typeface="Wingdings" panose="05000000000000000000" pitchFamily="2" charset="2"/>
              <a:buNone/>
            </a:pPr>
            <a:endParaRPr lang="en-US" altLang="en-US" sz="1800"/>
          </a:p>
          <a:p>
            <a:pPr>
              <a:lnSpc>
                <a:spcPct val="80000"/>
              </a:lnSpc>
              <a:buSzTx/>
              <a:buFont typeface="Wingdings" panose="05000000000000000000" pitchFamily="2" charset="2"/>
              <a:buNone/>
            </a:pPr>
            <a:endParaRPr lang="en-US" altLang="en-US" sz="1000"/>
          </a:p>
          <a:p>
            <a:pPr>
              <a:lnSpc>
                <a:spcPct val="80000"/>
              </a:lnSpc>
              <a:spcBef>
                <a:spcPts val="400"/>
              </a:spcBef>
              <a:buSzTx/>
              <a:buFont typeface="Wingdings" panose="05000000000000000000" pitchFamily="2" charset="2"/>
              <a:buNone/>
            </a:pPr>
            <a:r>
              <a:rPr lang="en-US" altLang="en-US" sz="1800">
                <a:solidFill>
                  <a:srgbClr val="C00000"/>
                </a:solidFill>
              </a:rPr>
              <a:t>2. wound-wait:</a:t>
            </a:r>
          </a:p>
          <a:p>
            <a:pPr marL="704850" lvl="1" indent="-234950">
              <a:lnSpc>
                <a:spcPct val="80000"/>
              </a:lnSpc>
              <a:spcBef>
                <a:spcPts val="300"/>
              </a:spcBef>
            </a:pPr>
            <a:r>
              <a:rPr lang="en-US" altLang="en-US" sz="1600"/>
              <a:t>If TS(Ti) &lt; TS(Tj), then (Ti older than Tj), abort &amp; rollback Tj, and restart it using the same timestamp</a:t>
            </a:r>
            <a:endParaRPr lang="en-US" altLang="en-US" sz="2600"/>
          </a:p>
          <a:p>
            <a:pPr marL="704850" lvl="1" indent="-234950">
              <a:lnSpc>
                <a:spcPct val="80000"/>
              </a:lnSpc>
              <a:spcBef>
                <a:spcPts val="300"/>
              </a:spcBef>
            </a:pPr>
            <a:r>
              <a:rPr lang="en-US" altLang="en-US" sz="1600"/>
              <a:t>Otherwise (Ti younger than Tj), Ti is allowed to wait</a:t>
            </a:r>
          </a:p>
        </p:txBody>
      </p:sp>
      <p:sp>
        <p:nvSpPr>
          <p:cNvPr id="311300" name="Text Box 4" descr="Date Placeholder 3">
            <a:extLst>
              <a:ext uri="{FF2B5EF4-FFF2-40B4-BE49-F238E27FC236}">
                <a16:creationId xmlns:a16="http://schemas.microsoft.com/office/drawing/2014/main" id="{0906EA80-D5FF-35F2-4319-93CD4775368B}"/>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1301" name="Text Box 5" descr="Slide Number Placeholder 5">
            <a:extLst>
              <a:ext uri="{FF2B5EF4-FFF2-40B4-BE49-F238E27FC236}">
                <a16:creationId xmlns:a16="http://schemas.microsoft.com/office/drawing/2014/main" id="{B7DA9C77-CF8B-AC83-8D0E-2450D5130206}"/>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350702F-7F06-4FA9-A1F8-374E727C8097}"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293</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graphicFrame>
        <p:nvGraphicFramePr>
          <p:cNvPr id="311302" name="Group 6">
            <a:extLst>
              <a:ext uri="{FF2B5EF4-FFF2-40B4-BE49-F238E27FC236}">
                <a16:creationId xmlns:a16="http://schemas.microsoft.com/office/drawing/2014/main" id="{3EC1E38F-2D99-9886-D9AE-89FAC119A775}"/>
              </a:ext>
            </a:extLst>
          </p:cNvPr>
          <p:cNvGraphicFramePr>
            <a:graphicFrameLocks noGrp="1"/>
          </p:cNvGraphicFramePr>
          <p:nvPr/>
        </p:nvGraphicFramePr>
        <p:xfrm>
          <a:off x="1143000" y="3121025"/>
          <a:ext cx="7096125" cy="1038225"/>
        </p:xfrm>
        <a:graphic>
          <a:graphicData uri="http://schemas.openxmlformats.org/drawingml/2006/table">
            <a:tbl>
              <a:tblPr/>
              <a:tblGrid>
                <a:gridCol w="3286125">
                  <a:extLst>
                    <a:ext uri="{9D8B030D-6E8A-4147-A177-3AD203B41FA5}">
                      <a16:colId xmlns:a16="http://schemas.microsoft.com/office/drawing/2014/main" val="2844517034"/>
                    </a:ext>
                  </a:extLst>
                </a:gridCol>
                <a:gridCol w="3810000">
                  <a:extLst>
                    <a:ext uri="{9D8B030D-6E8A-4147-A177-3AD203B41FA5}">
                      <a16:colId xmlns:a16="http://schemas.microsoft.com/office/drawing/2014/main" val="81725805"/>
                    </a:ext>
                  </a:extLst>
                </a:gridCol>
              </a:tblGrid>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 Older Transaction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To</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 Younger transaction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90002277"/>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Then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waits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If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holds X</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65886432"/>
                  </a:ext>
                </a:extLst>
              </a:tr>
              <a:tr h="3460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If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holds X</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Then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is discarded (die)</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928212415"/>
                  </a:ext>
                </a:extLst>
              </a:tr>
            </a:tbl>
          </a:graphicData>
        </a:graphic>
      </p:graphicFrame>
      <p:graphicFrame>
        <p:nvGraphicFramePr>
          <p:cNvPr id="311326" name="Group 30">
            <a:extLst>
              <a:ext uri="{FF2B5EF4-FFF2-40B4-BE49-F238E27FC236}">
                <a16:creationId xmlns:a16="http://schemas.microsoft.com/office/drawing/2014/main" id="{A88655E1-46A7-F4BD-CFC2-F21F3F9130DE}"/>
              </a:ext>
            </a:extLst>
          </p:cNvPr>
          <p:cNvGraphicFramePr>
            <a:graphicFrameLocks noGrp="1"/>
          </p:cNvGraphicFramePr>
          <p:nvPr/>
        </p:nvGraphicFramePr>
        <p:xfrm>
          <a:off x="868363" y="5300663"/>
          <a:ext cx="7596187" cy="1114425"/>
        </p:xfrm>
        <a:graphic>
          <a:graphicData uri="http://schemas.openxmlformats.org/drawingml/2006/table">
            <a:tbl>
              <a:tblPr/>
              <a:tblGrid>
                <a:gridCol w="3857625">
                  <a:extLst>
                    <a:ext uri="{9D8B030D-6E8A-4147-A177-3AD203B41FA5}">
                      <a16:colId xmlns:a16="http://schemas.microsoft.com/office/drawing/2014/main" val="3148432446"/>
                    </a:ext>
                  </a:extLst>
                </a:gridCol>
                <a:gridCol w="3738562">
                  <a:extLst>
                    <a:ext uri="{9D8B030D-6E8A-4147-A177-3AD203B41FA5}">
                      <a16:colId xmlns:a16="http://schemas.microsoft.com/office/drawing/2014/main" val="3944779918"/>
                    </a:ext>
                  </a:extLst>
                </a:gridCol>
              </a:tblGrid>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4:00pm, Older Transaction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To</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4:05pm, Younger transaction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533252467"/>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If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holds X</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Then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waits</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54091398"/>
                  </a:ext>
                </a:extLst>
              </a:tr>
              <a:tr h="371475">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Then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To</a:t>
                      </a:r>
                      <a:r>
                        <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pre-empts (wounds) </a:t>
                      </a:r>
                      <a:r>
                        <a:rPr kumimoji="0" lang="en-US" altLang="en-US" sz="1600" b="1"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endParaRPr kumimoji="0" lang="en-US" altLang="en-US" sz="1600" b="0" i="0" u="none" strike="noStrike" cap="none" normalizeH="0" baseline="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1pPr>
                      <a:lvl2pPr marL="974725" indent="-5048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2pPr>
                      <a:lvl3pPr marL="1423988" indent="-515938">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3pPr>
                      <a:lvl4pPr marL="1887538" indent="-581025">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4pPr>
                      <a:lvl5pPr marL="2292350" indent="-596900">
                        <a:spcBef>
                          <a:spcPts val="700"/>
                        </a:spcBef>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5pPr>
                      <a:lvl6pPr marL="27495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6pPr>
                      <a:lvl7pPr marL="32067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7pPr>
                      <a:lvl8pPr marL="36639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8pPr>
                      <a:lvl9pPr marL="4121150" indent="-596900" fontAlgn="base" hangingPunct="0">
                        <a:spcBef>
                          <a:spcPts val="700"/>
                        </a:spcBef>
                        <a:spcAft>
                          <a:spcPct val="0"/>
                        </a:spcAft>
                        <a:buClr>
                          <a:schemeClr val="accent2"/>
                        </a:buClr>
                        <a:buSzPct val="100000"/>
                        <a:defRPr sz="2600">
                          <a:solidFill>
                            <a:srgbClr val="003366"/>
                          </a:solidFill>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lvl9pPr>
                    </a:lstStyle>
                    <a:p>
                      <a:pPr marL="0" marR="0" lvl="0" indent="0" algn="ctr" defTabSz="914400" rtl="0" eaLnBrk="1"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If </a:t>
                      </a:r>
                      <a:r>
                        <a:rPr kumimoji="0" lang="en-US" altLang="en-US" sz="1600" b="1" i="0" u="none" strike="noStrike" cap="none" normalizeH="0" baseline="0" dirty="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Ty</a:t>
                      </a:r>
                      <a:r>
                        <a:rPr kumimoji="0" lang="en-US" altLang="en-US" sz="1600" b="0" i="0" u="none" strike="noStrike" cap="none" normalizeH="0" baseline="0" dirty="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rPr>
                        <a:t> holds X</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00791870"/>
                  </a:ext>
                </a:extLst>
              </a:tr>
            </a:tbl>
          </a:graphicData>
        </a:graphic>
      </p:graphicFrame>
    </p:spTree>
  </p:cSld>
  <p:clrMapOvr>
    <a:masterClrMapping/>
  </p:clrMapOvr>
  <p:transition spd="med"/>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2" descr="Title 1">
            <a:extLst>
              <a:ext uri="{FF2B5EF4-FFF2-40B4-BE49-F238E27FC236}">
                <a16:creationId xmlns:a16="http://schemas.microsoft.com/office/drawing/2014/main" id="{C4CFE7C8-4EB3-DA0B-EE3F-D3D0DF128E1A}"/>
              </a:ext>
            </a:extLst>
          </p:cNvPr>
          <p:cNvSpPr>
            <a:spLocks noChangeArrowheads="1"/>
          </p:cNvSpPr>
          <p:nvPr>
            <p:ph type="title"/>
          </p:nvPr>
        </p:nvSpPr>
        <p:spPr/>
        <p:txBody>
          <a:bodyPr/>
          <a:lstStyle/>
          <a:p>
            <a:r>
              <a:rPr lang="en-US" altLang="en-US"/>
              <a:t>Deadlock Prevention protocol</a:t>
            </a:r>
          </a:p>
        </p:txBody>
      </p:sp>
      <p:sp>
        <p:nvSpPr>
          <p:cNvPr id="312323" name="Rectangle 3" descr="Content Placeholder 2">
            <a:extLst>
              <a:ext uri="{FF2B5EF4-FFF2-40B4-BE49-F238E27FC236}">
                <a16:creationId xmlns:a16="http://schemas.microsoft.com/office/drawing/2014/main" id="{837FBEE1-F7F7-3759-3BAD-80339EDB3764}"/>
              </a:ext>
            </a:extLst>
          </p:cNvPr>
          <p:cNvSpPr>
            <a:spLocks noChangeArrowheads="1"/>
          </p:cNvSpPr>
          <p:nvPr>
            <p:ph type="body" idx="1"/>
          </p:nvPr>
        </p:nvSpPr>
        <p:spPr/>
        <p:txBody>
          <a:bodyPr/>
          <a:lstStyle/>
          <a:p>
            <a:pPr marL="508000" indent="-508000">
              <a:spcBef>
                <a:spcPts val="400"/>
              </a:spcBef>
              <a:buSzTx/>
              <a:buFont typeface="Wingdings" panose="05000000000000000000" pitchFamily="2" charset="2"/>
              <a:buNone/>
            </a:pPr>
            <a:r>
              <a:rPr lang="en-US" altLang="en-US" sz="2000" b="1"/>
              <a:t>Without using Timestamp</a:t>
            </a:r>
          </a:p>
          <a:p>
            <a:pPr marL="508000" indent="-508000">
              <a:spcBef>
                <a:spcPts val="400"/>
              </a:spcBef>
              <a:buFontTx/>
              <a:buAutoNum type="arabicPeriod"/>
            </a:pPr>
            <a:r>
              <a:rPr lang="en-US" altLang="en-US" sz="2000"/>
              <a:t>No-Waiting: If transaction cannot get lock it assumes deadlock. So it dies, waits and restarts later</a:t>
            </a:r>
          </a:p>
          <a:p>
            <a:pPr marL="508000" indent="-508000">
              <a:buFontTx/>
              <a:buAutoNum type="arabicPeriod"/>
            </a:pPr>
            <a:endParaRPr lang="en-US" altLang="en-US" sz="2000"/>
          </a:p>
          <a:p>
            <a:pPr marL="508000" indent="-508000">
              <a:spcBef>
                <a:spcPts val="400"/>
              </a:spcBef>
              <a:buFontTx/>
              <a:buAutoNum type="arabicPeriod" startAt="2"/>
            </a:pPr>
            <a:r>
              <a:rPr lang="en-US" altLang="en-US" sz="2000"/>
              <a:t>Cautious Waiting</a:t>
            </a:r>
          </a:p>
          <a:p>
            <a:pPr marL="508000" indent="-508000">
              <a:spcBef>
                <a:spcPts val="400"/>
              </a:spcBef>
              <a:buSzTx/>
              <a:buFont typeface="Wingdings" panose="05000000000000000000" pitchFamily="2" charset="2"/>
              <a:buNone/>
            </a:pPr>
            <a:r>
              <a:rPr lang="en-US" altLang="en-US" sz="2000"/>
              <a:t>If transaction cannot get lock, it check the lock holder</a:t>
            </a:r>
          </a:p>
          <a:p>
            <a:pPr marL="508000" indent="-508000">
              <a:spcBef>
                <a:spcPts val="400"/>
              </a:spcBef>
              <a:buSzTx/>
              <a:buFont typeface="Wingdings" panose="05000000000000000000" pitchFamily="2" charset="2"/>
              <a:buNone/>
            </a:pPr>
            <a:r>
              <a:rPr lang="en-US" altLang="en-US" sz="2000"/>
              <a:t>	- If lock holder is already waiting then transaction dies and restarts later</a:t>
            </a:r>
          </a:p>
          <a:p>
            <a:pPr marL="508000" indent="-508000">
              <a:spcBef>
                <a:spcPts val="400"/>
              </a:spcBef>
              <a:buSzTx/>
              <a:buFont typeface="Wingdings" panose="05000000000000000000" pitchFamily="2" charset="2"/>
              <a:buNone/>
            </a:pPr>
            <a:r>
              <a:rPr lang="en-US" altLang="en-US" sz="2000"/>
              <a:t>	 - If Lock holder is active then transaction waits</a:t>
            </a:r>
          </a:p>
        </p:txBody>
      </p:sp>
      <p:sp>
        <p:nvSpPr>
          <p:cNvPr id="312324" name="Text Box 4" descr="Date Placeholder 3">
            <a:extLst>
              <a:ext uri="{FF2B5EF4-FFF2-40B4-BE49-F238E27FC236}">
                <a16:creationId xmlns:a16="http://schemas.microsoft.com/office/drawing/2014/main" id="{6DB6FCB6-FD4A-5AB0-22E8-473F245B5960}"/>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2325" name="Text Box 5" descr="Slide Number Placeholder 5">
            <a:extLst>
              <a:ext uri="{FF2B5EF4-FFF2-40B4-BE49-F238E27FC236}">
                <a16:creationId xmlns:a16="http://schemas.microsoft.com/office/drawing/2014/main" id="{7F1E8F30-B1AA-6156-B260-F893B96662C5}"/>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83394A1C-98A9-4B15-AB74-D2E280C991E4}"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294</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descr="Title 1">
            <a:extLst>
              <a:ext uri="{FF2B5EF4-FFF2-40B4-BE49-F238E27FC236}">
                <a16:creationId xmlns:a16="http://schemas.microsoft.com/office/drawing/2014/main" id="{05E0C1C5-83FE-182A-EA0B-84FCE2E7BAC2}"/>
              </a:ext>
            </a:extLst>
          </p:cNvPr>
          <p:cNvSpPr>
            <a:spLocks noChangeArrowheads="1"/>
          </p:cNvSpPr>
          <p:nvPr>
            <p:ph type="title"/>
          </p:nvPr>
        </p:nvSpPr>
        <p:spPr/>
        <p:txBody>
          <a:bodyPr/>
          <a:lstStyle/>
          <a:p>
            <a:r>
              <a:rPr lang="en-US" altLang="en-US"/>
              <a:t>Deadlock Prevention protocol</a:t>
            </a:r>
          </a:p>
        </p:txBody>
      </p:sp>
      <p:sp>
        <p:nvSpPr>
          <p:cNvPr id="313347" name="Rectangle 3" descr="Content Placeholder 2">
            <a:extLst>
              <a:ext uri="{FF2B5EF4-FFF2-40B4-BE49-F238E27FC236}">
                <a16:creationId xmlns:a16="http://schemas.microsoft.com/office/drawing/2014/main" id="{4D830958-E66B-DDBD-222E-803CBFDB308B}"/>
              </a:ext>
            </a:extLst>
          </p:cNvPr>
          <p:cNvSpPr>
            <a:spLocks noChangeArrowheads="1"/>
          </p:cNvSpPr>
          <p:nvPr>
            <p:ph type="body" idx="1"/>
          </p:nvPr>
        </p:nvSpPr>
        <p:spPr/>
        <p:txBody>
          <a:bodyPr/>
          <a:lstStyle/>
          <a:p>
            <a:pPr>
              <a:spcBef>
                <a:spcPts val="500"/>
              </a:spcBef>
            </a:pPr>
            <a:r>
              <a:rPr lang="en-US" altLang="en-US" sz="2400" b="1"/>
              <a:t>Timeouts</a:t>
            </a:r>
            <a:r>
              <a:rPr lang="en-US" altLang="en-US" sz="2400"/>
              <a:t>: If a transaction waits for a period longer than a </a:t>
            </a:r>
            <a:r>
              <a:rPr lang="en-US" altLang="en-US" sz="2400" b="1"/>
              <a:t>system-defined timeout period</a:t>
            </a:r>
            <a:r>
              <a:rPr lang="en-US" altLang="en-US" sz="2400"/>
              <a:t>, the system assumes that the transaction may deadlocked and aborts it – regardless of whether a deadlock actually exists or not</a:t>
            </a:r>
            <a:endParaRPr lang="en-US" altLang="en-US" sz="2400" b="1"/>
          </a:p>
        </p:txBody>
      </p:sp>
      <p:sp>
        <p:nvSpPr>
          <p:cNvPr id="313348" name="Text Box 4" descr="Date Placeholder 3">
            <a:extLst>
              <a:ext uri="{FF2B5EF4-FFF2-40B4-BE49-F238E27FC236}">
                <a16:creationId xmlns:a16="http://schemas.microsoft.com/office/drawing/2014/main" id="{34BD5C5A-2E15-04E9-3E04-FE9CAAC337A7}"/>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3349" name="Text Box 5" descr="Slide Number Placeholder 5">
            <a:extLst>
              <a:ext uri="{FF2B5EF4-FFF2-40B4-BE49-F238E27FC236}">
                <a16:creationId xmlns:a16="http://schemas.microsoft.com/office/drawing/2014/main" id="{AF9AD7F9-87D3-5198-6E4A-A6252EF5C2F9}"/>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A54631D0-95A2-4FE9-B16F-5C1E28874B01}"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295</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2" descr="Title 1">
            <a:extLst>
              <a:ext uri="{FF2B5EF4-FFF2-40B4-BE49-F238E27FC236}">
                <a16:creationId xmlns:a16="http://schemas.microsoft.com/office/drawing/2014/main" id="{8A3AAE78-F55C-2FDA-C02D-F3E4DCCB30C9}"/>
              </a:ext>
            </a:extLst>
          </p:cNvPr>
          <p:cNvSpPr>
            <a:spLocks noChangeArrowheads="1"/>
          </p:cNvSpPr>
          <p:nvPr>
            <p:ph type="title"/>
          </p:nvPr>
        </p:nvSpPr>
        <p:spPr/>
        <p:txBody>
          <a:bodyPr/>
          <a:lstStyle/>
          <a:p>
            <a:r>
              <a:rPr lang="en-US" altLang="en-US"/>
              <a:t>Deadlock Detection protocols</a:t>
            </a:r>
          </a:p>
        </p:txBody>
      </p:sp>
      <p:sp>
        <p:nvSpPr>
          <p:cNvPr id="314371" name="Rectangle 3" descr="Content Placeholder 2">
            <a:extLst>
              <a:ext uri="{FF2B5EF4-FFF2-40B4-BE49-F238E27FC236}">
                <a16:creationId xmlns:a16="http://schemas.microsoft.com/office/drawing/2014/main" id="{6CBF8C25-D339-344C-FAAC-418F7AEAE283}"/>
              </a:ext>
            </a:extLst>
          </p:cNvPr>
          <p:cNvSpPr>
            <a:spLocks noChangeArrowheads="1"/>
          </p:cNvSpPr>
          <p:nvPr>
            <p:ph type="body" idx="1"/>
          </p:nvPr>
        </p:nvSpPr>
        <p:spPr/>
        <p:txBody>
          <a:bodyPr/>
          <a:lstStyle/>
          <a:p>
            <a:pPr>
              <a:spcBef>
                <a:spcPts val="400"/>
              </a:spcBef>
            </a:pPr>
            <a:r>
              <a:rPr lang="en-US" altLang="en-US" sz="1800"/>
              <a:t>In this approach, deadlocks are allowed to happen.  The scheduler maintains a </a:t>
            </a:r>
            <a:r>
              <a:rPr lang="en-US" altLang="en-US" sz="1800" b="1"/>
              <a:t>wait-for-graph</a:t>
            </a:r>
            <a:r>
              <a:rPr lang="en-US" altLang="en-US" sz="1800"/>
              <a:t> for detecting cycle.  </a:t>
            </a:r>
            <a:r>
              <a:rPr lang="en-US" altLang="en-US" sz="1800" b="1"/>
              <a:t>If a cycle exists</a:t>
            </a:r>
            <a:r>
              <a:rPr lang="en-US" altLang="en-US" sz="1800"/>
              <a:t>, then one transaction involved in the cycle is selected (victim) and rolled-back.</a:t>
            </a:r>
          </a:p>
          <a:p>
            <a:pPr>
              <a:spcBef>
                <a:spcPts val="400"/>
              </a:spcBef>
            </a:pPr>
            <a:r>
              <a:rPr lang="en-US" altLang="en-US" sz="1800"/>
              <a:t>A wait-for-graph is created using the lock table.  As soon as a transaction is blocked, it is added to the graph.  When a chain like: Ti waits for Tj waits for Tk waits for Ti or Tj occurs, then this creates a cycle. One of the transaction of the cycle is selected and rolled back.</a:t>
            </a:r>
          </a:p>
        </p:txBody>
      </p:sp>
      <p:sp>
        <p:nvSpPr>
          <p:cNvPr id="314372" name="Text Box 4" descr="Date Placeholder 3">
            <a:extLst>
              <a:ext uri="{FF2B5EF4-FFF2-40B4-BE49-F238E27FC236}">
                <a16:creationId xmlns:a16="http://schemas.microsoft.com/office/drawing/2014/main" id="{761AA055-CCE4-0D03-4FBF-737B432BE66F}"/>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4373" name="Text Box 5" descr="Slide Number Placeholder 5">
            <a:extLst>
              <a:ext uri="{FF2B5EF4-FFF2-40B4-BE49-F238E27FC236}">
                <a16:creationId xmlns:a16="http://schemas.microsoft.com/office/drawing/2014/main" id="{EC2FAAD1-C25A-C67F-7914-1C320929C72C}"/>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C2951204-B8D7-46A6-B2E7-244FD82A1F5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296</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pic>
        <p:nvPicPr>
          <p:cNvPr id="314374" name="Picture 6" descr="Picture 3">
            <a:extLst>
              <a:ext uri="{FF2B5EF4-FFF2-40B4-BE49-F238E27FC236}">
                <a16:creationId xmlns:a16="http://schemas.microsoft.com/office/drawing/2014/main" id="{C0565FBD-A5F5-DDCE-74D8-B02FA379F43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70038" y="3929063"/>
            <a:ext cx="5145087" cy="2168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2" descr="Title 1">
            <a:extLst>
              <a:ext uri="{FF2B5EF4-FFF2-40B4-BE49-F238E27FC236}">
                <a16:creationId xmlns:a16="http://schemas.microsoft.com/office/drawing/2014/main" id="{2ED8ACE1-7131-1B1D-7C37-763EE87FB8C1}"/>
              </a:ext>
            </a:extLst>
          </p:cNvPr>
          <p:cNvSpPr>
            <a:spLocks noChangeArrowheads="1"/>
          </p:cNvSpPr>
          <p:nvPr>
            <p:ph type="title"/>
          </p:nvPr>
        </p:nvSpPr>
        <p:spPr/>
        <p:txBody>
          <a:bodyPr/>
          <a:lstStyle/>
          <a:p>
            <a:r>
              <a:rPr lang="en-US" altLang="en-US"/>
              <a:t>Starvation</a:t>
            </a:r>
          </a:p>
        </p:txBody>
      </p:sp>
      <p:sp>
        <p:nvSpPr>
          <p:cNvPr id="315395" name="Rectangle 3" descr="Content Placeholder 2">
            <a:extLst>
              <a:ext uri="{FF2B5EF4-FFF2-40B4-BE49-F238E27FC236}">
                <a16:creationId xmlns:a16="http://schemas.microsoft.com/office/drawing/2014/main" id="{C2E5DED5-D3EA-EBC0-64F2-330B474F31EE}"/>
              </a:ext>
            </a:extLst>
          </p:cNvPr>
          <p:cNvSpPr>
            <a:spLocks noChangeArrowheads="1"/>
          </p:cNvSpPr>
          <p:nvPr>
            <p:ph type="body" idx="1"/>
          </p:nvPr>
        </p:nvSpPr>
        <p:spPr/>
        <p:txBody>
          <a:bodyPr/>
          <a:lstStyle/>
          <a:p>
            <a:pPr>
              <a:spcBef>
                <a:spcPts val="400"/>
              </a:spcBef>
            </a:pPr>
            <a:r>
              <a:rPr lang="en-US" altLang="en-US" sz="2000"/>
              <a:t>Starvation occurs when a particular transaction consistently waits or restarted and never gets a chance to proceed further. </a:t>
            </a:r>
          </a:p>
          <a:p>
            <a:pPr>
              <a:spcBef>
                <a:spcPts val="400"/>
              </a:spcBef>
            </a:pPr>
            <a:r>
              <a:rPr lang="en-US" altLang="en-US" sz="2000"/>
              <a:t>In a deadlock resolution it is possible that the same transaction may consistently be selected as victim and rolled-back.</a:t>
            </a:r>
          </a:p>
          <a:p>
            <a:pPr>
              <a:spcBef>
                <a:spcPts val="400"/>
              </a:spcBef>
            </a:pPr>
            <a:r>
              <a:rPr lang="en-US" altLang="en-US" sz="2000"/>
              <a:t>This limitation is inherent in all priority based scheduling mechanisms.</a:t>
            </a:r>
          </a:p>
          <a:p>
            <a:pPr>
              <a:spcBef>
                <a:spcPts val="400"/>
              </a:spcBef>
            </a:pPr>
            <a:r>
              <a:rPr lang="en-US" altLang="en-US" sz="2000"/>
              <a:t>In Wound-Wait scheme a younger transaction may always be wounded (aborted) by a long running older transaction which may create starvation.</a:t>
            </a:r>
          </a:p>
          <a:p>
            <a:pPr>
              <a:spcBef>
                <a:spcPts val="400"/>
              </a:spcBef>
            </a:pPr>
            <a:r>
              <a:rPr lang="en-US" altLang="en-US" sz="2000"/>
              <a:t>The algorithm can use higher priorities for transactions that have been aborted multiple times to avoid starvation problem.</a:t>
            </a:r>
          </a:p>
        </p:txBody>
      </p:sp>
      <p:sp>
        <p:nvSpPr>
          <p:cNvPr id="315396" name="Text Box 4" descr="Date Placeholder 3">
            <a:extLst>
              <a:ext uri="{FF2B5EF4-FFF2-40B4-BE49-F238E27FC236}">
                <a16:creationId xmlns:a16="http://schemas.microsoft.com/office/drawing/2014/main" id="{DCC8405A-8040-0C7A-76BC-15A01F23BC6C}"/>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5397" name="Text Box 5" descr="Slide Number Placeholder 5">
            <a:extLst>
              <a:ext uri="{FF2B5EF4-FFF2-40B4-BE49-F238E27FC236}">
                <a16:creationId xmlns:a16="http://schemas.microsoft.com/office/drawing/2014/main" id="{9E1C79D2-5ED3-C5E6-7107-E50E726A39B1}"/>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35EC3D6F-3751-4796-B495-526792EA63CE}"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297</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2" descr="Title 1">
            <a:extLst>
              <a:ext uri="{FF2B5EF4-FFF2-40B4-BE49-F238E27FC236}">
                <a16:creationId xmlns:a16="http://schemas.microsoft.com/office/drawing/2014/main" id="{72C4979A-41E1-29C4-6320-111CB91A56EA}"/>
              </a:ext>
            </a:extLst>
          </p:cNvPr>
          <p:cNvSpPr>
            <a:spLocks noChangeArrowheads="1"/>
          </p:cNvSpPr>
          <p:nvPr>
            <p:ph type="title"/>
          </p:nvPr>
        </p:nvSpPr>
        <p:spPr/>
        <p:txBody>
          <a:bodyPr/>
          <a:lstStyle/>
          <a:p>
            <a:r>
              <a:rPr lang="en-US" altLang="en-US" sz="2800"/>
              <a:t>Approaches for dealing with deadlocks</a:t>
            </a:r>
          </a:p>
        </p:txBody>
      </p:sp>
      <p:sp>
        <p:nvSpPr>
          <p:cNvPr id="316419" name="Rectangle 3" descr="Content Placeholder 2">
            <a:extLst>
              <a:ext uri="{FF2B5EF4-FFF2-40B4-BE49-F238E27FC236}">
                <a16:creationId xmlns:a16="http://schemas.microsoft.com/office/drawing/2014/main" id="{C01BE482-9941-3A1F-807D-566F8562EB45}"/>
              </a:ext>
            </a:extLst>
          </p:cNvPr>
          <p:cNvSpPr>
            <a:spLocks noChangeArrowheads="1"/>
          </p:cNvSpPr>
          <p:nvPr>
            <p:ph type="body" idx="1"/>
          </p:nvPr>
        </p:nvSpPr>
        <p:spPr/>
        <p:txBody>
          <a:bodyPr/>
          <a:lstStyle/>
          <a:p>
            <a:pPr>
              <a:spcBef>
                <a:spcPts val="400"/>
              </a:spcBef>
              <a:buSzTx/>
              <a:buFont typeface="Wingdings" panose="05000000000000000000" pitchFamily="2" charset="2"/>
              <a:buNone/>
            </a:pPr>
            <a:r>
              <a:rPr lang="en-US" altLang="en-US" sz="2000">
                <a:solidFill>
                  <a:srgbClr val="C00000"/>
                </a:solidFill>
              </a:rPr>
              <a:t>1.</a:t>
            </a:r>
            <a:r>
              <a:rPr lang="en-US" altLang="en-US" sz="2000"/>
              <a:t>Deadlock Prevention Protocols</a:t>
            </a:r>
          </a:p>
          <a:p>
            <a:pPr>
              <a:spcBef>
                <a:spcPts val="400"/>
              </a:spcBef>
              <a:buSzTx/>
              <a:buFont typeface="Wingdings" panose="05000000000000000000" pitchFamily="2" charset="2"/>
              <a:buNone/>
            </a:pPr>
            <a:r>
              <a:rPr lang="en-US" altLang="en-US" sz="2000"/>
              <a:t>	</a:t>
            </a:r>
            <a:r>
              <a:rPr lang="en-US" altLang="en-US" sz="2000">
                <a:solidFill>
                  <a:srgbClr val="C00000"/>
                </a:solidFill>
              </a:rPr>
              <a:t>1.1. </a:t>
            </a:r>
            <a:r>
              <a:rPr lang="en-US" altLang="en-US" sz="2000"/>
              <a:t>Based on Timestamp</a:t>
            </a:r>
          </a:p>
          <a:p>
            <a:pPr>
              <a:spcBef>
                <a:spcPts val="400"/>
              </a:spcBef>
              <a:buSzTx/>
              <a:buFont typeface="Wingdings" panose="05000000000000000000" pitchFamily="2" charset="2"/>
              <a:buNone/>
            </a:pPr>
            <a:r>
              <a:rPr lang="en-US" altLang="en-US" sz="2000"/>
              <a:t>		</a:t>
            </a:r>
            <a:r>
              <a:rPr lang="en-US" altLang="en-US" sz="2000">
                <a:solidFill>
                  <a:srgbClr val="C00000"/>
                </a:solidFill>
              </a:rPr>
              <a:t>1.1.1. </a:t>
            </a:r>
            <a:r>
              <a:rPr lang="en-US" altLang="en-US" sz="2000"/>
              <a:t>Wait-Die</a:t>
            </a:r>
          </a:p>
          <a:p>
            <a:pPr>
              <a:spcBef>
                <a:spcPts val="400"/>
              </a:spcBef>
              <a:buSzTx/>
              <a:buFont typeface="Wingdings" panose="05000000000000000000" pitchFamily="2" charset="2"/>
              <a:buNone/>
            </a:pPr>
            <a:r>
              <a:rPr lang="en-US" altLang="en-US" sz="2000"/>
              <a:t>		</a:t>
            </a:r>
            <a:r>
              <a:rPr lang="en-US" altLang="en-US" sz="2000">
                <a:solidFill>
                  <a:srgbClr val="C00000"/>
                </a:solidFill>
              </a:rPr>
              <a:t>1.1.2. </a:t>
            </a:r>
            <a:r>
              <a:rPr lang="en-US" altLang="en-US" sz="2000"/>
              <a:t>Wound-Wait</a:t>
            </a:r>
          </a:p>
          <a:p>
            <a:pPr>
              <a:spcBef>
                <a:spcPts val="400"/>
              </a:spcBef>
              <a:buSzTx/>
              <a:buFont typeface="Wingdings" panose="05000000000000000000" pitchFamily="2" charset="2"/>
              <a:buNone/>
            </a:pPr>
            <a:r>
              <a:rPr lang="en-US" altLang="en-US" sz="2000"/>
              <a:t>	</a:t>
            </a:r>
            <a:r>
              <a:rPr lang="en-US" altLang="en-US" sz="2000">
                <a:solidFill>
                  <a:srgbClr val="C00000"/>
                </a:solidFill>
              </a:rPr>
              <a:t>1.2</a:t>
            </a:r>
            <a:r>
              <a:rPr lang="en-US" altLang="en-US" sz="2000"/>
              <a:t> Without using timestamp</a:t>
            </a:r>
          </a:p>
          <a:p>
            <a:pPr>
              <a:spcBef>
                <a:spcPts val="400"/>
              </a:spcBef>
              <a:buSzTx/>
              <a:buFont typeface="Wingdings" panose="05000000000000000000" pitchFamily="2" charset="2"/>
              <a:buNone/>
            </a:pPr>
            <a:r>
              <a:rPr lang="en-US" altLang="en-US" sz="2000"/>
              <a:t>		</a:t>
            </a:r>
            <a:r>
              <a:rPr lang="en-US" altLang="en-US" sz="2000">
                <a:solidFill>
                  <a:srgbClr val="C00000"/>
                </a:solidFill>
              </a:rPr>
              <a:t>1.2.1. </a:t>
            </a:r>
            <a:r>
              <a:rPr lang="en-US" altLang="en-US" sz="2000"/>
              <a:t>No-waiting</a:t>
            </a:r>
          </a:p>
          <a:p>
            <a:pPr>
              <a:spcBef>
                <a:spcPts val="400"/>
              </a:spcBef>
              <a:buSzTx/>
              <a:buFont typeface="Wingdings" panose="05000000000000000000" pitchFamily="2" charset="2"/>
              <a:buNone/>
            </a:pPr>
            <a:r>
              <a:rPr lang="en-US" altLang="en-US" sz="2000"/>
              <a:t>		</a:t>
            </a:r>
            <a:r>
              <a:rPr lang="en-US" altLang="en-US" sz="2000">
                <a:solidFill>
                  <a:srgbClr val="C00000"/>
                </a:solidFill>
              </a:rPr>
              <a:t>1.2.2. </a:t>
            </a:r>
            <a:r>
              <a:rPr lang="en-US" altLang="en-US" sz="2000"/>
              <a:t>Cautious waiting</a:t>
            </a:r>
          </a:p>
          <a:p>
            <a:pPr>
              <a:buSzTx/>
              <a:buFont typeface="Wingdings" panose="05000000000000000000" pitchFamily="2" charset="2"/>
              <a:buNone/>
            </a:pPr>
            <a:endParaRPr lang="en-US" altLang="en-US" sz="2000"/>
          </a:p>
          <a:p>
            <a:pPr>
              <a:spcBef>
                <a:spcPts val="400"/>
              </a:spcBef>
              <a:buSzTx/>
              <a:buFont typeface="Wingdings" panose="05000000000000000000" pitchFamily="2" charset="2"/>
              <a:buNone/>
            </a:pPr>
            <a:r>
              <a:rPr lang="en-US" altLang="en-US" sz="2000">
                <a:solidFill>
                  <a:srgbClr val="C00000"/>
                </a:solidFill>
              </a:rPr>
              <a:t>2. </a:t>
            </a:r>
            <a:r>
              <a:rPr lang="en-US" altLang="en-US" sz="2000"/>
              <a:t>Deadlock Detection Protocols</a:t>
            </a:r>
          </a:p>
          <a:p>
            <a:pPr>
              <a:spcBef>
                <a:spcPts val="400"/>
              </a:spcBef>
              <a:buSzTx/>
              <a:buFont typeface="Wingdings" panose="05000000000000000000" pitchFamily="2" charset="2"/>
              <a:buNone/>
            </a:pPr>
            <a:r>
              <a:rPr lang="en-US" altLang="en-US" sz="2000"/>
              <a:t>	</a:t>
            </a:r>
            <a:r>
              <a:rPr lang="en-US" altLang="en-US" sz="2000">
                <a:solidFill>
                  <a:srgbClr val="C00000"/>
                </a:solidFill>
              </a:rPr>
              <a:t>2.1. </a:t>
            </a:r>
            <a:r>
              <a:rPr lang="en-US" altLang="en-US" sz="2000"/>
              <a:t>Using wait-for graph</a:t>
            </a:r>
          </a:p>
          <a:p>
            <a:pPr>
              <a:buSzTx/>
              <a:buFont typeface="Wingdings" panose="05000000000000000000" pitchFamily="2" charset="2"/>
              <a:buNone/>
            </a:pPr>
            <a:endParaRPr lang="en-US" altLang="en-US" sz="2000"/>
          </a:p>
          <a:p>
            <a:pPr>
              <a:spcBef>
                <a:spcPts val="400"/>
              </a:spcBef>
              <a:buSzTx/>
              <a:buFont typeface="Wingdings" panose="05000000000000000000" pitchFamily="2" charset="2"/>
              <a:buNone/>
            </a:pPr>
            <a:r>
              <a:rPr lang="en-US" altLang="en-US" sz="2000">
                <a:solidFill>
                  <a:srgbClr val="C00000"/>
                </a:solidFill>
              </a:rPr>
              <a:t>3.</a:t>
            </a:r>
            <a:r>
              <a:rPr lang="en-US" altLang="en-US" sz="2000"/>
              <a:t> Timeouts</a:t>
            </a:r>
            <a:endParaRPr lang="en-US" altLang="en-US" sz="2000">
              <a:solidFill>
                <a:srgbClr val="C00000"/>
              </a:solidFill>
            </a:endParaRPr>
          </a:p>
        </p:txBody>
      </p:sp>
      <p:sp>
        <p:nvSpPr>
          <p:cNvPr id="316420" name="Text Box 4" descr="Date Placeholder 3">
            <a:extLst>
              <a:ext uri="{FF2B5EF4-FFF2-40B4-BE49-F238E27FC236}">
                <a16:creationId xmlns:a16="http://schemas.microsoft.com/office/drawing/2014/main" id="{13BC2800-7727-500A-4DFC-D3A4ED3FB454}"/>
              </a:ext>
            </a:extLst>
          </p:cNvPr>
          <p:cNvSpPr txBox="1">
            <a:spLocks/>
          </p:cNvSpPr>
          <p:nvPr/>
        </p:nvSpPr>
        <p:spPr bwMode="auto">
          <a:xfrm>
            <a:off x="654050" y="6402388"/>
            <a:ext cx="18907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6421" name="Text Box 5" descr="Slide Number Placeholder 5">
            <a:extLst>
              <a:ext uri="{FF2B5EF4-FFF2-40B4-BE49-F238E27FC236}">
                <a16:creationId xmlns:a16="http://schemas.microsoft.com/office/drawing/2014/main" id="{DB33632C-A79D-6A88-9254-FA6078742108}"/>
              </a:ext>
            </a:extLst>
          </p:cNvPr>
          <p:cNvSpPr txBox="1">
            <a:spLocks/>
          </p:cNvSpPr>
          <p:nvPr/>
        </p:nvSpPr>
        <p:spPr bwMode="auto">
          <a:xfrm>
            <a:off x="8175625" y="6400800"/>
            <a:ext cx="357188"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1B1ADE60-58B9-4A5F-8069-21B4B77B0F53}"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298</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2" descr="Rectangle 2">
            <a:extLst>
              <a:ext uri="{FF2B5EF4-FFF2-40B4-BE49-F238E27FC236}">
                <a16:creationId xmlns:a16="http://schemas.microsoft.com/office/drawing/2014/main" id="{AFCD305D-6852-B66B-0D7C-1CD782FDFEA9}"/>
              </a:ext>
            </a:extLst>
          </p:cNvPr>
          <p:cNvSpPr>
            <a:spLocks noChangeArrowheads="1"/>
          </p:cNvSpPr>
          <p:nvPr>
            <p:ph type="title"/>
          </p:nvPr>
        </p:nvSpPr>
        <p:spPr/>
        <p:txBody>
          <a:bodyPr/>
          <a:lstStyle/>
          <a:p>
            <a:r>
              <a:rPr lang="en-US" altLang="en-US" sz="2800"/>
              <a:t>Thanks for Listening</a:t>
            </a:r>
          </a:p>
        </p:txBody>
      </p:sp>
      <p:sp>
        <p:nvSpPr>
          <p:cNvPr id="317443" name="Rectangle 3" descr="Rectangle 3">
            <a:extLst>
              <a:ext uri="{FF2B5EF4-FFF2-40B4-BE49-F238E27FC236}">
                <a16:creationId xmlns:a16="http://schemas.microsoft.com/office/drawing/2014/main" id="{A7C2E575-00A5-0D6C-ABA0-6A5BEBA974A4}"/>
              </a:ext>
            </a:extLst>
          </p:cNvPr>
          <p:cNvSpPr>
            <a:spLocks noChangeArrowheads="1"/>
          </p:cNvSpPr>
          <p:nvPr>
            <p:ph type="body" sz="half" idx="1"/>
          </p:nvPr>
        </p:nvSpPr>
        <p:spPr>
          <a:xfrm>
            <a:off x="457200" y="3200400"/>
            <a:ext cx="8382000" cy="1600200"/>
          </a:xfrm>
        </p:spPr>
        <p:txBody>
          <a:bodyPr/>
          <a:lstStyle/>
          <a:p>
            <a:pPr marL="0" indent="0" algn="ctr">
              <a:lnSpc>
                <a:spcPct val="80000"/>
              </a:lnSpc>
              <a:spcBef>
                <a:spcPts val="600"/>
              </a:spcBef>
              <a:buClrTx/>
              <a:buSzTx/>
              <a:buFontTx/>
              <a:buNone/>
            </a:pPr>
            <a:endParaRPr lang="en-US" altLang="en-US" sz="2000"/>
          </a:p>
        </p:txBody>
      </p:sp>
      <p:sp>
        <p:nvSpPr>
          <p:cNvPr id="317444" name="Text Box 4" descr="Date Placeholder 1">
            <a:extLst>
              <a:ext uri="{FF2B5EF4-FFF2-40B4-BE49-F238E27FC236}">
                <a16:creationId xmlns:a16="http://schemas.microsoft.com/office/drawing/2014/main" id="{FC6E0373-5564-458A-108F-13667E54B82E}"/>
              </a:ext>
            </a:extLst>
          </p:cNvPr>
          <p:cNvSpPr txBox="1">
            <a:spLocks/>
          </p:cNvSpPr>
          <p:nvPr/>
        </p:nvSpPr>
        <p:spPr bwMode="auto">
          <a:xfrm>
            <a:off x="730250" y="6248400"/>
            <a:ext cx="1814513"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r>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t>13 January 2023</a:t>
            </a:r>
          </a:p>
        </p:txBody>
      </p:sp>
      <p:sp>
        <p:nvSpPr>
          <p:cNvPr id="317445" name="Text Box 5" descr="Slide Number Placeholder 2">
            <a:extLst>
              <a:ext uri="{FF2B5EF4-FFF2-40B4-BE49-F238E27FC236}">
                <a16:creationId xmlns:a16="http://schemas.microsoft.com/office/drawing/2014/main" id="{E51E84CB-4538-F6D6-5574-1112A003DBCB}"/>
              </a:ext>
            </a:extLst>
          </p:cNvPr>
          <p:cNvSpPr txBox="1">
            <a:spLocks/>
          </p:cNvSpPr>
          <p:nvPr/>
        </p:nvSpPr>
        <p:spPr bwMode="auto">
          <a:xfrm>
            <a:off x="8099425" y="6248400"/>
            <a:ext cx="358775" cy="263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algn="r"/>
            <a:fld id="{0FCDAD6D-3CD7-4FCB-81D2-A58C8FA448CD}" type="slidenum">
              <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rPr>
              <a:pPr algn="r"/>
              <a:t>299</a:t>
            </a:fld>
            <a:endParaRPr lang="en-US" altLang="en-US" sz="1200">
              <a:solidFill>
                <a:srgbClr val="003366"/>
              </a:solidFill>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sld>
</file>

<file path=ppt/theme/theme1.xml><?xml version="1.0" encoding="utf-8"?>
<a:theme xmlns:a="http://schemas.openxmlformats.org/drawingml/2006/main" name="Theme1">
  <a:themeElements>
    <a:clrScheme name="">
      <a:dk1>
        <a:srgbClr val="000000"/>
      </a:dk1>
      <a:lt1>
        <a:srgbClr val="FFFFFF"/>
      </a:lt1>
      <a:dk2>
        <a:srgbClr val="A7A7A7"/>
      </a:dk2>
      <a:lt2>
        <a:srgbClr val="535353"/>
      </a:lt2>
      <a:accent1>
        <a:srgbClr val="A3B2C1"/>
      </a:accent1>
      <a:accent2>
        <a:srgbClr val="CC0000"/>
      </a:accent2>
      <a:accent3>
        <a:srgbClr val="FFFFFF"/>
      </a:accent3>
      <a:accent4>
        <a:srgbClr val="000000"/>
      </a:accent4>
      <a:accent5>
        <a:srgbClr val="CED5DD"/>
      </a:accent5>
      <a:accent6>
        <a:srgbClr val="B90000"/>
      </a:accent6>
      <a:hlink>
        <a:srgbClr val="0000FF"/>
      </a:hlink>
      <a:folHlink>
        <a:srgbClr val="FF00FF"/>
      </a:folHlink>
    </a:clrScheme>
    <a:fontScheme name="Theme1">
      <a:majorFont>
        <a:latin typeface="Verdana"/>
        <a:ea typeface="Verdana"/>
        <a:cs typeface="Verdana"/>
      </a:majorFont>
      <a:minorFont>
        <a:latin typeface="Verdana"/>
        <a:ea typeface="Verdana"/>
        <a:cs typeface="Verdan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707070"/>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1800" b="0" i="0" u="none" strike="noStrike" cap="none" normalizeH="0" baseline="0" smtClean="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defPPr>
      </a:lstStyle>
    </a:spDef>
    <a:lnDef>
      <a:spPr bwMode="auto">
        <a:xfrm>
          <a:off x="0" y="0"/>
          <a:ext cx="1" cy="1"/>
        </a:xfrm>
        <a:custGeom>
          <a:avLst/>
          <a:gdLst/>
          <a:ahLst/>
          <a:cxnLst/>
          <a:rect l="0" t="0" r="0" b="0"/>
          <a:pathLst/>
        </a:custGeom>
        <a:solidFill>
          <a:srgbClr val="707070"/>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1800" b="0" i="0" u="none" strike="noStrike" cap="none" normalizeH="0" baseline="0" smtClean="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heme1 - Title Slide">
  <a:themeElements>
    <a:clrScheme name="">
      <a:dk1>
        <a:srgbClr val="000000"/>
      </a:dk1>
      <a:lt1>
        <a:srgbClr val="FFFFFF"/>
      </a:lt1>
      <a:dk2>
        <a:srgbClr val="A7A7A7"/>
      </a:dk2>
      <a:lt2>
        <a:srgbClr val="535353"/>
      </a:lt2>
      <a:accent1>
        <a:srgbClr val="A3B2C1"/>
      </a:accent1>
      <a:accent2>
        <a:srgbClr val="CC0000"/>
      </a:accent2>
      <a:accent3>
        <a:srgbClr val="FFFFFF"/>
      </a:accent3>
      <a:accent4>
        <a:srgbClr val="000000"/>
      </a:accent4>
      <a:accent5>
        <a:srgbClr val="CED5DD"/>
      </a:accent5>
      <a:accent6>
        <a:srgbClr val="B90000"/>
      </a:accent6>
      <a:hlink>
        <a:srgbClr val="0000FF"/>
      </a:hlink>
      <a:folHlink>
        <a:srgbClr val="FF00FF"/>
      </a:folHlink>
    </a:clrScheme>
    <a:fontScheme name="Theme1 - Title Slide">
      <a:majorFont>
        <a:latin typeface="Verdana"/>
        <a:ea typeface="Verdana"/>
        <a:cs typeface="Verdana"/>
      </a:majorFont>
      <a:minorFont>
        <a:latin typeface="Verdana"/>
        <a:ea typeface="Verdana"/>
        <a:cs typeface="Verdan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707070"/>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1800" b="0" i="0" u="none" strike="noStrike" cap="none" normalizeH="0" baseline="0" smtClean="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defPPr>
      </a:lstStyle>
    </a:spDef>
    <a:lnDef>
      <a:spPr bwMode="auto">
        <a:xfrm>
          <a:off x="0" y="0"/>
          <a:ext cx="1" cy="1"/>
        </a:xfrm>
        <a:custGeom>
          <a:avLst/>
          <a:gdLst/>
          <a:ahLst/>
          <a:cxnLst/>
          <a:rect l="0" t="0" r="0" b="0"/>
          <a:pathLst/>
        </a:custGeom>
        <a:solidFill>
          <a:srgbClr val="707070"/>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1800" b="0" i="0" u="none" strike="noStrike" cap="none" normalizeH="0" baseline="0" smtClean="0">
            <a:ln>
              <a:noFill/>
            </a:ln>
            <a:solidFill>
              <a:srgbClr val="000000"/>
            </a:solidFill>
            <a:effectLst/>
            <a:latin typeface="Verdana" panose="020B0604030504040204" pitchFamily="34" charset="0"/>
            <a:ea typeface="Verdana" panose="020B0604030504040204" pitchFamily="34" charset="0"/>
            <a:cs typeface="Verdana" panose="020B0604030504040204" pitchFamily="34" charset="0"/>
            <a:sym typeface="Verdana" panose="020B0604030504040204" pitchFamily="34"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
      <a:dk1>
        <a:srgbClr val="000000"/>
      </a:dk1>
      <a:lt1>
        <a:srgbClr val="FFFFFF"/>
      </a:lt1>
      <a:dk2>
        <a:srgbClr val="A7A7A7"/>
      </a:dk2>
      <a:lt2>
        <a:srgbClr val="535353"/>
      </a:lt2>
      <a:accent1>
        <a:srgbClr val="A3B2C1"/>
      </a:accent1>
      <a:accent2>
        <a:srgbClr val="CC0000"/>
      </a:accent2>
      <a:accent3>
        <a:srgbClr val="FFFFFF"/>
      </a:accent3>
      <a:accent4>
        <a:srgbClr val="000000"/>
      </a:accent4>
      <a:accent5>
        <a:srgbClr val="CED5DD"/>
      </a:accent5>
      <a:accent6>
        <a:srgbClr val="B90000"/>
      </a:accent6>
      <a:hlink>
        <a:srgbClr val="0000FF"/>
      </a:hlink>
      <a:folHlink>
        <a:srgbClr val="FF00FF"/>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TotalTime>
  <Words>25425</Words>
  <Application>Microsoft Office PowerPoint</Application>
  <PresentationFormat>On-screen Show (4:3)</PresentationFormat>
  <Paragraphs>4837</Paragraphs>
  <Slides>299</Slides>
  <Notes>8</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299</vt:i4>
      </vt:variant>
    </vt:vector>
  </HeadingPairs>
  <TitlesOfParts>
    <vt:vector size="310" baseType="lpstr">
      <vt:lpstr>Verdana</vt:lpstr>
      <vt:lpstr>Calibri</vt:lpstr>
      <vt:lpstr>Arial</vt:lpstr>
      <vt:lpstr>+mn-lt</vt:lpstr>
      <vt:lpstr>+mn-ea</vt:lpstr>
      <vt:lpstr>Wingdings</vt:lpstr>
      <vt:lpstr>Menlo Regular</vt:lpstr>
      <vt:lpstr>urw-din</vt:lpstr>
      <vt:lpstr>Helvetica</vt:lpstr>
      <vt:lpstr>Theme1</vt:lpstr>
      <vt:lpstr>Theme1 - Title Slide</vt:lpstr>
      <vt:lpstr>Course – DBMS</vt:lpstr>
      <vt:lpstr>Instruction to Students</vt:lpstr>
      <vt:lpstr>Unit 5</vt:lpstr>
      <vt:lpstr>Why you should Learn Transaction Processing in Database ?</vt:lpstr>
      <vt:lpstr>Transactions : Introduction</vt:lpstr>
      <vt:lpstr>Transactions : Introduction</vt:lpstr>
      <vt:lpstr>Transactions : Introduction</vt:lpstr>
      <vt:lpstr>Transactions : Introduction</vt:lpstr>
      <vt:lpstr>Transactions : Introduction</vt:lpstr>
      <vt:lpstr>Transactions : Introduction</vt:lpstr>
      <vt:lpstr>Transactions : Introduction</vt:lpstr>
      <vt:lpstr>Transactions : Introduction</vt:lpstr>
      <vt:lpstr>Transactions : Introduction</vt:lpstr>
      <vt:lpstr>Demonstration</vt:lpstr>
      <vt:lpstr>Demonstration</vt:lpstr>
      <vt:lpstr>Demonstration</vt:lpstr>
      <vt:lpstr>Demonstration</vt:lpstr>
      <vt:lpstr>Demonstration</vt:lpstr>
      <vt:lpstr>Demonstration</vt:lpstr>
      <vt:lpstr>Demonstration</vt:lpstr>
      <vt:lpstr>Transactions</vt:lpstr>
      <vt:lpstr>Transactions : Basic Definition</vt:lpstr>
      <vt:lpstr>Transactions in SQL</vt:lpstr>
      <vt:lpstr>Model of Transaction</vt:lpstr>
      <vt:lpstr>Model of Transaction: Read-Write Operations</vt:lpstr>
      <vt:lpstr>Model of Transaction: Read-Write Operations</vt:lpstr>
      <vt:lpstr>Model of Transaction: Read Operations</vt:lpstr>
      <vt:lpstr>Model of Transaction: Read Operations</vt:lpstr>
      <vt:lpstr>Model of Transaction: Read Operations</vt:lpstr>
      <vt:lpstr>Model of Transaction: Read Operations</vt:lpstr>
      <vt:lpstr>Model of Transaction: Read-Write Operations</vt:lpstr>
      <vt:lpstr>Model of Transaction: Read-Write Operations</vt:lpstr>
      <vt:lpstr>Model of Transaction: Read-Write Operations</vt:lpstr>
      <vt:lpstr>Model of Transaction: Read-Write Operations</vt:lpstr>
      <vt:lpstr>Model of Transaction: Read-Write Operations</vt:lpstr>
      <vt:lpstr>Problems with Concurrent Execution</vt:lpstr>
      <vt:lpstr>To Understand problems with concurrent executions</vt:lpstr>
      <vt:lpstr>To Understand problems with concurrent executions</vt:lpstr>
      <vt:lpstr>To Understand problems with concurrent executions</vt:lpstr>
      <vt:lpstr>To Understand problems with concurrent executions</vt:lpstr>
      <vt:lpstr>To Understand problems with concurrent executions</vt:lpstr>
      <vt:lpstr>To Understand problems with concurrent executions</vt:lpstr>
      <vt:lpstr>Non-interleaved vs Interleaved transactions</vt:lpstr>
      <vt:lpstr>Lost Update Problem: Example</vt:lpstr>
      <vt:lpstr>Problems with Concurrent Execution</vt:lpstr>
      <vt:lpstr>Lost Update Problem: Example</vt:lpstr>
      <vt:lpstr>Lost Update Problem: We are Loosing update</vt:lpstr>
      <vt:lpstr>Problems with Concurrent Execution</vt:lpstr>
      <vt:lpstr>Dirty Read (or Temporary Update ) Problem</vt:lpstr>
      <vt:lpstr>Dirty Read (or Temporary Update ) Problem</vt:lpstr>
      <vt:lpstr>Dirty Read (or Temporary Update ) Problem</vt:lpstr>
      <vt:lpstr>Example</vt:lpstr>
      <vt:lpstr>Problems with Concurrent Execution</vt:lpstr>
      <vt:lpstr>Problems with Concurrent Execution</vt:lpstr>
      <vt:lpstr>Example</vt:lpstr>
      <vt:lpstr>Example</vt:lpstr>
      <vt:lpstr>Example</vt:lpstr>
      <vt:lpstr>Problems with Concurrent Execution</vt:lpstr>
      <vt:lpstr>Incorrect Summary Problem</vt:lpstr>
      <vt:lpstr>Incorrect Summary Problem</vt:lpstr>
      <vt:lpstr>Incorrect Summary Problem</vt:lpstr>
      <vt:lpstr>Problems with Concurrent Execution</vt:lpstr>
      <vt:lpstr>Unrepeatable Read</vt:lpstr>
      <vt:lpstr>Unrepeatable Read: Example</vt:lpstr>
      <vt:lpstr>Why Concurrency Control is needed ?</vt:lpstr>
      <vt:lpstr>Next we  will Understand Schedules</vt:lpstr>
      <vt:lpstr>Transaction Schedules </vt:lpstr>
      <vt:lpstr>Transaction Schedules</vt:lpstr>
      <vt:lpstr>Transaction Schedules</vt:lpstr>
      <vt:lpstr>Different Possible Schedules for given set of transactions</vt:lpstr>
      <vt:lpstr>Transaction Schedules</vt:lpstr>
      <vt:lpstr>Transaction Schedules</vt:lpstr>
      <vt:lpstr>Serial Schedule vs Interleaved Schedule</vt:lpstr>
      <vt:lpstr>Question</vt:lpstr>
      <vt:lpstr>Question</vt:lpstr>
      <vt:lpstr>Scheduling Definitions</vt:lpstr>
      <vt:lpstr>Question: Schedule-1 and Schedule-2 are result Equivalent</vt:lpstr>
      <vt:lpstr>Example for Equivalent Schedules</vt:lpstr>
      <vt:lpstr>Scheduling Definitions</vt:lpstr>
      <vt:lpstr>Problem to Solve</vt:lpstr>
      <vt:lpstr>Example- consider two TXNs:</vt:lpstr>
      <vt:lpstr>Example- consider two Transactions (T1 and T2):</vt:lpstr>
      <vt:lpstr>PowerPoint Presentation</vt:lpstr>
      <vt:lpstr>PowerPoint Presentation</vt:lpstr>
      <vt:lpstr>Example- consider two Transactions (T1 and T2):</vt:lpstr>
      <vt:lpstr>PowerPoint Presentation</vt:lpstr>
      <vt:lpstr>Problem to Solve</vt:lpstr>
      <vt:lpstr>Serializable, Yes</vt:lpstr>
      <vt:lpstr>Problem to Solve</vt:lpstr>
      <vt:lpstr>Serializable, No</vt:lpstr>
      <vt:lpstr>Complete Schedule</vt:lpstr>
      <vt:lpstr>Properties of Transactions</vt:lpstr>
      <vt:lpstr>Properties of Transactions</vt:lpstr>
      <vt:lpstr>Properties of Transactions</vt:lpstr>
      <vt:lpstr>Properties of Transactions</vt:lpstr>
      <vt:lpstr>Properties of Transactions</vt:lpstr>
      <vt:lpstr>Properties of Transactions</vt:lpstr>
      <vt:lpstr>Properties of Transactions</vt:lpstr>
      <vt:lpstr>Properties of Transactions</vt:lpstr>
      <vt:lpstr>Summarizing Properties of Transactions</vt:lpstr>
      <vt:lpstr>Transaction</vt:lpstr>
      <vt:lpstr>State transition diagram illustrating the states for transaction execution</vt:lpstr>
      <vt:lpstr>State transition diagram illustrating the states for transaction execution</vt:lpstr>
      <vt:lpstr>Next we will Understand</vt:lpstr>
      <vt:lpstr>Conflicting Operations in Schedules</vt:lpstr>
      <vt:lpstr>Conflicting Operations in Schedules</vt:lpstr>
      <vt:lpstr>Conflicting Operations in Schedules</vt:lpstr>
      <vt:lpstr>Conflicting Operations in Schedules</vt:lpstr>
      <vt:lpstr>Conflicting Operations in Schedules</vt:lpstr>
      <vt:lpstr>Conflicting Operations in Schedules</vt:lpstr>
      <vt:lpstr>Conflicting Operations in Schedules</vt:lpstr>
      <vt:lpstr>Conflicting Operations in Schedules</vt:lpstr>
      <vt:lpstr>Conflicting Operations in Schedules</vt:lpstr>
      <vt:lpstr>Conflicting Operations in Schedules</vt:lpstr>
      <vt:lpstr>Serializibility</vt:lpstr>
      <vt:lpstr>Serializibility</vt:lpstr>
      <vt:lpstr>Serializibility</vt:lpstr>
      <vt:lpstr>Serializibility</vt:lpstr>
      <vt:lpstr>Serializibility</vt:lpstr>
      <vt:lpstr>Characterizing Schedules based on Serializibility</vt:lpstr>
      <vt:lpstr>Conflict Serializibility Schedule</vt:lpstr>
      <vt:lpstr>Check whether the given Two schedules are conflict equivalent ?</vt:lpstr>
      <vt:lpstr>Check whether the given Two schedules are conflict equivalent ?</vt:lpstr>
      <vt:lpstr>Check whether the given Two schedules are conflict equivalent ?</vt:lpstr>
      <vt:lpstr>Check whether the given Two schedules are conflict equivalent ?</vt:lpstr>
      <vt:lpstr>Check whether the given Two schedules are conflict equivalent ?</vt:lpstr>
      <vt:lpstr>Problem to Solve </vt:lpstr>
      <vt:lpstr>Problem to Solve </vt:lpstr>
      <vt:lpstr>Problem to Solve </vt:lpstr>
      <vt:lpstr>Testing for conflict-serializability of a schedule</vt:lpstr>
      <vt:lpstr>Algorithm Testing for conflict-serializability</vt:lpstr>
      <vt:lpstr>Problem To Solve</vt:lpstr>
      <vt:lpstr>Solution</vt:lpstr>
      <vt:lpstr>PowerPoint Presentation</vt:lpstr>
      <vt:lpstr>Problem To Solve</vt:lpstr>
      <vt:lpstr>Problem To Solve</vt:lpstr>
      <vt:lpstr>Problem To Solve</vt:lpstr>
      <vt:lpstr>Problem To Solve</vt:lpstr>
      <vt:lpstr>Problem To Solve</vt:lpstr>
      <vt:lpstr>Solution</vt:lpstr>
      <vt:lpstr>Problem To Solve</vt:lpstr>
      <vt:lpstr>Problem To Solve</vt:lpstr>
      <vt:lpstr>Problem to Solve </vt:lpstr>
      <vt:lpstr>Solution</vt:lpstr>
      <vt:lpstr>Problem to Solve</vt:lpstr>
      <vt:lpstr>Solution</vt:lpstr>
      <vt:lpstr>What you have learned until now in Unit4:Transactions</vt:lpstr>
      <vt:lpstr>Characterizing Schedules based on Serializibility</vt:lpstr>
      <vt:lpstr>View Serializability Schedule</vt:lpstr>
      <vt:lpstr>View Serializability Schedule</vt:lpstr>
      <vt:lpstr>View Serializability Schedule</vt:lpstr>
      <vt:lpstr>View Serializability Schedule</vt:lpstr>
      <vt:lpstr>View Equivalence Schedules</vt:lpstr>
      <vt:lpstr>View Equivalence Schedules</vt:lpstr>
      <vt:lpstr>View Equivalence Schedules</vt:lpstr>
      <vt:lpstr>View Equivalence Schedules</vt:lpstr>
      <vt:lpstr>View Equivalence</vt:lpstr>
      <vt:lpstr>Summarizing Serializability Schedules</vt:lpstr>
      <vt:lpstr>Characterizing Schedules</vt:lpstr>
      <vt:lpstr>Note</vt:lpstr>
      <vt:lpstr>Characterizing Schedules based on Recoverability </vt:lpstr>
      <vt:lpstr>Recoverable Schedule</vt:lpstr>
      <vt:lpstr>Recoverable Schedule</vt:lpstr>
      <vt:lpstr>Recoverable Schedule</vt:lpstr>
      <vt:lpstr>Recoverable Schedule</vt:lpstr>
      <vt:lpstr>Recoverable Schedule</vt:lpstr>
      <vt:lpstr>Recoverable Schedule</vt:lpstr>
      <vt:lpstr>Problem to Solve on Recoverable Schedules</vt:lpstr>
      <vt:lpstr>Problem to Solve on Recoverable Schedules</vt:lpstr>
      <vt:lpstr>Problem to Solve </vt:lpstr>
      <vt:lpstr>Problem to Solve </vt:lpstr>
      <vt:lpstr>Problem to Solve on Recoverable Schedules</vt:lpstr>
      <vt:lpstr>Problem to Solve on Recoverable Schedules</vt:lpstr>
      <vt:lpstr>Characterizing Schedules based on Recoverability </vt:lpstr>
      <vt:lpstr>Cascading Abort</vt:lpstr>
      <vt:lpstr>Cascading Abort</vt:lpstr>
      <vt:lpstr>Cascadeless Schedule</vt:lpstr>
      <vt:lpstr>Problem to Solve on Cascadeless Schedules</vt:lpstr>
      <vt:lpstr>Problem to Solve on Cascadeless Schedules</vt:lpstr>
      <vt:lpstr>Characterizing Schedules based on Recoverability </vt:lpstr>
      <vt:lpstr>Strict Schedule </vt:lpstr>
      <vt:lpstr>Problem to Solve on Strict Schedules</vt:lpstr>
      <vt:lpstr>Problem to Solve on Strict Schedules</vt:lpstr>
      <vt:lpstr>Problem to Solve on Strict Schedules</vt:lpstr>
      <vt:lpstr>Problem to Solve on Strict Schedules</vt:lpstr>
      <vt:lpstr>Problem to Solve on Strict Schedules</vt:lpstr>
      <vt:lpstr>Problem to Solve on Strict Schedules</vt:lpstr>
      <vt:lpstr>Summary of Schedules based on Recoverability</vt:lpstr>
      <vt:lpstr>Transactions and Schedule</vt:lpstr>
      <vt:lpstr>Next what you are going learn is………</vt:lpstr>
      <vt:lpstr>Why we need Concurrency Control Protocols ?</vt:lpstr>
      <vt:lpstr>Why we need Concurrency Control Protocols ?</vt:lpstr>
      <vt:lpstr>Why we need Concurrency Control Protocols ?</vt:lpstr>
      <vt:lpstr>Why we need Concurrency Control Protocols ?</vt:lpstr>
      <vt:lpstr>Why we need Concurrency Control Protocols ?</vt:lpstr>
      <vt:lpstr>Why we need Concurrency Control Protocols ?</vt:lpstr>
      <vt:lpstr>Why we need Concurrency Control Protocols ?</vt:lpstr>
      <vt:lpstr>Concurrency Control Protocol: LOCK based</vt:lpstr>
      <vt:lpstr>Concurrency Control Protocol: LOCK based</vt:lpstr>
      <vt:lpstr>Concurrency Control Protocol: LOCK based</vt:lpstr>
      <vt:lpstr>Concurrency Control Protocol: LOCK based</vt:lpstr>
      <vt:lpstr>Concurrency Control Protocol: LOCK based</vt:lpstr>
      <vt:lpstr>Concurrency Control Protocol: LOCK based</vt:lpstr>
      <vt:lpstr>Lock-based Protocols</vt:lpstr>
      <vt:lpstr>Lock-based Protocols</vt:lpstr>
      <vt:lpstr>Lock-based Protocols</vt:lpstr>
      <vt:lpstr>Lock-based Protocols</vt:lpstr>
      <vt:lpstr>Lock-based Protocols</vt:lpstr>
      <vt:lpstr>Lock-based Protocols</vt:lpstr>
      <vt:lpstr>Lock instructions</vt:lpstr>
      <vt:lpstr>Lock instructions</vt:lpstr>
      <vt:lpstr>Lock-based Protocols</vt:lpstr>
      <vt:lpstr>Lock-based Protocols</vt:lpstr>
      <vt:lpstr>Two-Phase Locking Protocol (2PL)</vt:lpstr>
      <vt:lpstr>Two-Phase Locking Protocol (2PL)</vt:lpstr>
      <vt:lpstr>Two-Phase Locking Protocol (2PL)</vt:lpstr>
      <vt:lpstr>Two-Phase Locking Protocol (2PL)</vt:lpstr>
      <vt:lpstr>Variations of 2PL</vt:lpstr>
      <vt:lpstr>Database Recovery Systems</vt:lpstr>
      <vt:lpstr>Why recovery is Needed ?</vt:lpstr>
      <vt:lpstr>Failure Classification</vt:lpstr>
      <vt:lpstr>Recovery Algorithms</vt:lpstr>
      <vt:lpstr>Example: Database Transaction</vt:lpstr>
      <vt:lpstr>Example: Database Transaction</vt:lpstr>
      <vt:lpstr>Example: Database Transaction</vt:lpstr>
      <vt:lpstr>Example: Database Transaction</vt:lpstr>
      <vt:lpstr>Database Recovery Mechanisms</vt:lpstr>
      <vt:lpstr>Recovery using Shadowing</vt:lpstr>
      <vt:lpstr>Recovery using Shadowing</vt:lpstr>
      <vt:lpstr>Recovery using Shadowing</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Entries</vt:lpstr>
      <vt:lpstr>Recovery using LOG enteries</vt:lpstr>
      <vt:lpstr>Recovery using LOG enteries</vt:lpstr>
      <vt:lpstr>Recovery using LOG enteries</vt:lpstr>
      <vt:lpstr>Recovery using LOG enteries</vt:lpstr>
      <vt:lpstr>Recovery using LOG enteries</vt:lpstr>
      <vt:lpstr>Recovery using LOG enteries</vt:lpstr>
      <vt:lpstr>Recovery using LOG enteries</vt:lpstr>
      <vt:lpstr>Problem to Solve</vt:lpstr>
      <vt:lpstr>Answer</vt:lpstr>
      <vt:lpstr>Problem to Solve</vt:lpstr>
      <vt:lpstr>Answer</vt:lpstr>
      <vt:lpstr>Approaches to Recovery</vt:lpstr>
      <vt:lpstr>Log-Based Recovery</vt:lpstr>
      <vt:lpstr>Deferred Database Modification</vt:lpstr>
      <vt:lpstr>Deferred Database Modification</vt:lpstr>
      <vt:lpstr>Deferred Database Modification</vt:lpstr>
      <vt:lpstr>Deferred Database Modification</vt:lpstr>
      <vt:lpstr>Deferred Database Modification</vt:lpstr>
      <vt:lpstr>Deferred Database Modification</vt:lpstr>
      <vt:lpstr>Deferred Database Modification</vt:lpstr>
      <vt:lpstr>Deferred Database Modification</vt:lpstr>
      <vt:lpstr>Deferred Database Modification</vt:lpstr>
      <vt:lpstr>Immediate Database Modification</vt:lpstr>
      <vt:lpstr>Immediate Database Modification</vt:lpstr>
      <vt:lpstr>Immediate Database Modification</vt:lpstr>
      <vt:lpstr>Immediate Database Modification</vt:lpstr>
      <vt:lpstr>Deferred Database Modification</vt:lpstr>
      <vt:lpstr>Immediate Database Modification</vt:lpstr>
      <vt:lpstr>Immediate Database Modification</vt:lpstr>
      <vt:lpstr>Immediate Database Modification</vt:lpstr>
      <vt:lpstr>Immediate Database Modification</vt:lpstr>
      <vt:lpstr>Immediate Database Modification</vt:lpstr>
      <vt:lpstr>Immediate Database Modification</vt:lpstr>
      <vt:lpstr>  Checkpoints </vt:lpstr>
      <vt:lpstr>Checkpoints</vt:lpstr>
      <vt:lpstr>Recovery using Deferred Update with Concurrent Transactions</vt:lpstr>
      <vt:lpstr>Shadow Paging: Recovery Scheme that does not require log and useful for single-user environment</vt:lpstr>
      <vt:lpstr>Shadow Paging</vt:lpstr>
      <vt:lpstr>Shadow Paging</vt:lpstr>
      <vt:lpstr>Shadow Paging</vt:lpstr>
      <vt:lpstr>Shadow Paging</vt:lpstr>
      <vt:lpstr>Shadow Paging</vt:lpstr>
      <vt:lpstr>Shadow Paging</vt:lpstr>
      <vt:lpstr>Shadow Paging</vt:lpstr>
      <vt:lpstr>“ARIES” recovery algorithm</vt:lpstr>
      <vt:lpstr>“ARIES” recovery algorithm</vt:lpstr>
      <vt:lpstr>“ARIES” recovery algorithm</vt:lpstr>
      <vt:lpstr>Next we will learn Deadlocks</vt:lpstr>
      <vt:lpstr>Illustrating Deadlock Problem</vt:lpstr>
      <vt:lpstr>Approaches for dealing with deadlocks</vt:lpstr>
      <vt:lpstr>Deadlock Prevention Protocols</vt:lpstr>
      <vt:lpstr>Deadlock Prevention protocol</vt:lpstr>
      <vt:lpstr>Deadlock Prevention protocol</vt:lpstr>
      <vt:lpstr>Deadlock Detection protocols</vt:lpstr>
      <vt:lpstr>Starvation</vt:lpstr>
      <vt:lpstr>Approaches for dealing with deadlocks</vt:lpstr>
      <vt:lpstr>Thanks for Listening</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prart</dc:creator>
  <cp:lastModifiedBy>prarthana.kulkarni@hotmail.com</cp:lastModifiedBy>
  <cp:revision>2</cp:revision>
  <dcterms:modified xsi:type="dcterms:W3CDTF">2026-01-29T15:52:39Z</dcterms:modified>
</cp:coreProperties>
</file>